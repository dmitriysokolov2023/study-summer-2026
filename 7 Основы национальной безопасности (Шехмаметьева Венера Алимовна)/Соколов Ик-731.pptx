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20"/>
  </p:notesMasterIdLst>
  <p:sldIdLst>
    <p:sldId id="256" r:id="rId2"/>
    <p:sldId id="269" r:id="rId3"/>
    <p:sldId id="354" r:id="rId4"/>
    <p:sldId id="351" r:id="rId5"/>
    <p:sldId id="352" r:id="rId6"/>
    <p:sldId id="353" r:id="rId7"/>
    <p:sldId id="355" r:id="rId8"/>
    <p:sldId id="356" r:id="rId9"/>
    <p:sldId id="357" r:id="rId10"/>
    <p:sldId id="358" r:id="rId11"/>
    <p:sldId id="359" r:id="rId12"/>
    <p:sldId id="360" r:id="rId13"/>
    <p:sldId id="361" r:id="rId14"/>
    <p:sldId id="362" r:id="rId15"/>
    <p:sldId id="363" r:id="rId16"/>
    <p:sldId id="365" r:id="rId17"/>
    <p:sldId id="366" r:id="rId18"/>
    <p:sldId id="346" r:id="rId19"/>
  </p:sldIdLst>
  <p:sldSz cx="12960350" cy="6840538"/>
  <p:notesSz cx="6797675" cy="987266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Начало" id="{BA418856-1B13-0E4D-B8D9-6D6ECDDA5229}">
          <p14:sldIdLst>
            <p14:sldId id="256"/>
            <p14:sldId id="269"/>
            <p14:sldId id="354"/>
            <p14:sldId id="351"/>
            <p14:sldId id="352"/>
            <p14:sldId id="353"/>
            <p14:sldId id="355"/>
            <p14:sldId id="356"/>
            <p14:sldId id="357"/>
            <p14:sldId id="358"/>
            <p14:sldId id="359"/>
            <p14:sldId id="360"/>
            <p14:sldId id="361"/>
            <p14:sldId id="362"/>
            <p14:sldId id="363"/>
            <p14:sldId id="365"/>
            <p14:sldId id="366"/>
          </p14:sldIdLst>
        </p14:section>
        <p14:section name="Раздел без заголовка" id="{FED790F9-8494-46E1-B83E-DB16908DF66B}">
          <p14:sldIdLst>
            <p14:sldId id="346"/>
          </p14:sldIdLst>
        </p14:section>
        <p14:section name="Основные стили" id="{9C5DBF73-5C8C-8D4C-BB54-DF085EC13081}">
          <p14:sldIdLst/>
        </p14:section>
      </p14:sectionLst>
    </p:ext>
    <p:ext uri="{EFAFB233-063F-42B5-8137-9DF3F51BA10A}">
      <p15:sldGuideLst xmlns:p15="http://schemas.microsoft.com/office/powerpoint/2012/main">
        <p15:guide id="1" pos="657" userDrawn="1">
          <p15:clr>
            <a:srgbClr val="A4A3A4"/>
          </p15:clr>
        </p15:guide>
        <p15:guide id="2" orient="horz" pos="703" userDrawn="1">
          <p15:clr>
            <a:srgbClr val="A4A3A4"/>
          </p15:clr>
        </p15:guide>
        <p15:guide id="3" pos="7212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Елена Елена" initials="ЕЕ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E003E"/>
    <a:srgbClr val="E0150F"/>
    <a:srgbClr val="E6E6E6"/>
    <a:srgbClr val="AFABAB"/>
    <a:srgbClr val="6D6D6D"/>
    <a:srgbClr val="EB5E3F"/>
    <a:srgbClr val="48494A"/>
    <a:srgbClr val="061A6C"/>
    <a:srgbClr val="404040"/>
    <a:srgbClr val="2626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666" autoAdjust="0"/>
    <p:restoredTop sz="57519" autoAdjust="0"/>
  </p:normalViewPr>
  <p:slideViewPr>
    <p:cSldViewPr snapToGrid="0">
      <p:cViewPr varScale="1">
        <p:scale>
          <a:sx n="66" d="100"/>
          <a:sy n="66" d="100"/>
        </p:scale>
        <p:origin x="2460" y="66"/>
      </p:cViewPr>
      <p:guideLst>
        <p:guide pos="657"/>
        <p:guide orient="horz" pos="703"/>
        <p:guide pos="721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534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534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3B0AE3-F1A2-394F-BC18-67F76EFC1ECD}" type="datetimeFigureOut">
              <a:rPr lang="ru-RU" smtClean="0"/>
              <a:t>11.05.2026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242888" y="1233488"/>
            <a:ext cx="6311900" cy="33321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79768" y="4751219"/>
            <a:ext cx="5438140" cy="388736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377317"/>
            <a:ext cx="2945659" cy="49534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50443" y="9377317"/>
            <a:ext cx="2945659" cy="49534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29C60B-6F98-8646-A41A-70FA44D3BD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23233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Тема моего доклада - военные конфликты во второй половине XX - первой четверти XXI века. В работе рассматриваются основные причины и особенности вооруженных конфликтов этого периода, а также приводится подробный пример Афганской войны 1979-1989 годов.</a:t>
            </a:r>
          </a:p>
          <a:p>
            <a:r>
              <a:rPr lang="ru-RU" dirty="0"/>
              <a:t>Актуальность темы связана с тем, что после Второй мировой войны человечество избежало новой мировой войны, но вооруженные конфликты не исчезли. Они приобрели иной характер: стали локальными, региональными, часто связанными с противостоянием крупных держав, распадом колониальных империй, этническими противоречиями и борьбой за влияние.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29C60B-6F98-8646-A41A-70FA44D3BDF6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226889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После окончания Второй мировой войны многие ожидали, что мир станет более стабильным. Однако на практике вторая половина XX века оказалась временем многочисленных локальных и региональных конфликтов. Прямого столкновения между СССР и США не произошло во многом из-за ядерного сдерживания, но противостояние между ними продолжалось в других формах.</a:t>
            </a:r>
          </a:p>
          <a:p>
            <a:r>
              <a:rPr lang="ru-RU" dirty="0"/>
              <a:t>Крупные державы поддерживали союзников, участвовали в политическом давлении, гонке вооружений, поставках оружия и военных операциях. Поэтому многие конфликты формально происходили на территории отдельных государств, но фактически затрагивали интересы всего международного сообщества.</a:t>
            </a:r>
          </a:p>
          <a:p>
            <a:r>
              <a:rPr lang="ru-RU" dirty="0"/>
              <a:t>В XXI веке характер конфликтов еще больше усложнился. К обычным боевым действиям добавились информационное противоборство, санкции, кибератаки, использование беспилотников и активное внешнее вмешательство.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29C60B-6F98-8646-A41A-70FA44D3BDF6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152861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Перед рассмотрением конкретных конфликтов важно определить основные понятия. Военный конфликт - это форма разрешения межгосударственных или внутригосударственных противоречий с применением военной силы.</a:t>
            </a:r>
          </a:p>
          <a:p>
            <a:r>
              <a:rPr lang="ru-RU" dirty="0"/>
              <a:t>Локальная война обычно ограничена территорией, составом участников и политическими целями. Однако во второй половине XX века даже локальные войны часто имели международное значение. Например, Корейская война и война во Вьетнаме проходили в конкретных регионах, но были связаны с глобальным противостоянием социалистического и капиталистического блоков.</a:t>
            </a:r>
          </a:p>
          <a:p>
            <a:r>
              <a:rPr lang="ru-RU" dirty="0"/>
              <a:t>Региональный конфликт влияет не только на одну страну, но и на безопасность всего региона. Гражданская война начинается как внутреннее противостояние, но при поддержке внешних сил может перерасти в международную проблему.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29C60B-6F98-8646-A41A-70FA44D3BDF6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27163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Военные конфликты второй половины XX - первой четверти XXI века имели разные причины, но можно выделить несколько общих групп.</a:t>
            </a:r>
          </a:p>
          <a:p>
            <a:endParaRPr lang="ru-RU" dirty="0"/>
          </a:p>
          <a:p>
            <a:r>
              <a:rPr lang="ru-RU" dirty="0"/>
              <a:t>Первая причина - идеологическое противостояние. После Второй мировой войны мир оказался разделен на два блока: социалистический во главе с СССР и капиталистический во главе с США. Это противостояние получило название холодной войны.</a:t>
            </a:r>
          </a:p>
          <a:p>
            <a:endParaRPr lang="ru-RU" dirty="0"/>
          </a:p>
          <a:p>
            <a:r>
              <a:rPr lang="ru-RU" dirty="0"/>
              <a:t>Вторая причина - распад колониальной системы. Многие страны Азии и Африки получили независимость, но столкнулись с внутренней нестабильностью, борьбой за власть и экономической зависимостью.</a:t>
            </a:r>
          </a:p>
          <a:p>
            <a:endParaRPr lang="ru-RU" dirty="0"/>
          </a:p>
          <a:p>
            <a:r>
              <a:rPr lang="ru-RU" dirty="0"/>
              <a:t>Третья причина - геополитика. Государства стремились контролировать важные территории, военные базы, транспортные пути и зоны влияния.</a:t>
            </a:r>
          </a:p>
          <a:p>
            <a:endParaRPr lang="ru-RU" dirty="0"/>
          </a:p>
          <a:p>
            <a:r>
              <a:rPr lang="ru-RU" dirty="0"/>
              <a:t>Также важную роль играли этнические и религиозные противоречия, особенно после распада многонациональных государств. Наконец, многие конфликты затягивались из-за внешнего вмешательства: поставок оружия, финансирования, политической поддержки и прямого военного участия.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29C60B-6F98-8646-A41A-70FA44D3BDF6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66615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Военные конфликты рассматриваемого периода можно условно разделить на несколько крупных групп.</a:t>
            </a:r>
          </a:p>
          <a:p>
            <a:endParaRPr lang="ru-RU" dirty="0"/>
          </a:p>
          <a:p>
            <a:r>
              <a:rPr lang="ru-RU" dirty="0"/>
              <a:t>Первая группа - конфликты холодной войны. Они были связаны с противостоянием СССР и США, а также их союзников.</a:t>
            </a:r>
          </a:p>
          <a:p>
            <a:endParaRPr lang="ru-RU" dirty="0"/>
          </a:p>
          <a:p>
            <a:r>
              <a:rPr lang="ru-RU" dirty="0"/>
              <a:t>Вторая группа - конфликты на Ближнем Востоке. Этот регион стал одним из самых нестабильных из-за территориальных, религиозных, нефтяных и политических противоречий.</a:t>
            </a:r>
          </a:p>
          <a:p>
            <a:endParaRPr lang="ru-RU" dirty="0"/>
          </a:p>
          <a:p>
            <a:r>
              <a:rPr lang="ru-RU" dirty="0"/>
              <a:t>Третья группа - конфликты после распада социалистического блока и СССР. Здесь на первый план вышли национальные, этнические и территориальные споры.</a:t>
            </a:r>
          </a:p>
          <a:p>
            <a:endParaRPr lang="ru-RU" dirty="0"/>
          </a:p>
          <a:p>
            <a:r>
              <a:rPr lang="ru-RU" dirty="0"/>
              <a:t>Четвертая группа - конфликты первой четверти XXI века. Они отличаются особой комплексностью: сочетают военные действия, информационную борьбу, санкции, терроризм и внешнее вмешательство.</a:t>
            </a:r>
          </a:p>
          <a:p>
            <a:endParaRPr lang="ru-RU" dirty="0"/>
          </a:p>
          <a:p>
            <a:r>
              <a:rPr lang="ru-RU" dirty="0"/>
              <a:t>Отдельно в докладе рассматривается Афганская война 1979-1989 годов как один из наиболее показательных конфликтов второй половины XX века.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29C60B-6F98-8646-A41A-70FA44D3BDF6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377048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Конфликты холодной войны были связаны с противостоянием двух мировых систем. СССР и США старались не вступать в прямую войну друг с другом, но поддерживали союзников в разных регионах мира.</a:t>
            </a:r>
          </a:p>
          <a:p>
            <a:endParaRPr lang="ru-RU" dirty="0"/>
          </a:p>
          <a:p>
            <a:r>
              <a:rPr lang="ru-RU" dirty="0"/>
              <a:t>Корейская война стала одним из первых крупных военных столкновений периода холодной войны. Она показала, что после Второй мировой войны мир может снова оказаться на грани масштабного международного конфликта.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Корейская война (1950–1953) — конфликт между Северной Кореей (КНДР) при поддержке Китая и СССР и Южной Кореей при поддержке сил ООН (в основном США).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Суть кратко: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После Второй мировой Корею разделили по 38-й параллели на советскую и американскую зоны оккупации. Возникли два государства: коммунистический Север (КНДР) и прозападный Юг.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25 июня 1950 года северокорейская армия вторглась на Юг, стремясь объединить страну силой.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Вмешательство ООН (фактически США) отбросило северян почти до границы с Китаем. Китай в ответ ввел добровольцев и оттеснил войска ООН обратно к 38-й параллели.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Война превратилась в позиционную, с огромными жертвами (около 2,5 млн человек) и массовыми разрушениями.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27 июля 1953 года подписано перемирие: граница осталась почти той же (38-я параллель), вокруг создана демилитаризованная зона. Мирный договор не подписан — технически Корея до сих пор в состоянии войны.</a:t>
            </a:r>
          </a:p>
          <a:p>
            <a:endParaRPr lang="ru-RU" dirty="0"/>
          </a:p>
          <a:p>
            <a:endParaRPr lang="ru-RU" dirty="0"/>
          </a:p>
          <a:p>
            <a:r>
              <a:rPr lang="ru-RU" dirty="0"/>
              <a:t>Война во Вьетнаме стала примером длительной войны, в которой военные действия сочетались с идеологической борьбой и массовым антивоенным движением.</a:t>
            </a:r>
          </a:p>
          <a:p>
            <a:endParaRPr lang="ru-RU" dirty="0"/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 была 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прокси-война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в рамках «Холодной войны». После раздела Вьетнама по 17-й параллели США вмешались, чтобы остановить распространение коммунизма в регионе (теория «домино»). Это привело к прямому столкновению: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Северный Вьетнам (ДРВ)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поддерживали СССР и Китай.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Южный Вьетнам (РВ)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поддерживали США и их союзники (Австралия, Южная Корея и др.).</a:t>
            </a:r>
          </a:p>
          <a:p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Участие и роль сторон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Военные действия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США развернули более 2,5 млн военных и вели интенсивные бомбардировки, но на земле столкнулись с партизанской войной во вьетнамских джунглях.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Роль СССР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Ключевая и масштабная. СССР поставил тысячи единиц техники (танки, самолеты, артиллерию) и отправил около 11 тыс. военных специалистов, в основном в ПВО. Советские расчеты сбили тысячи американских самолетов и вертолетов, потери же СССР были минимальны — 16 человек.</a:t>
            </a:r>
          </a:p>
          <a:p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Итоги войны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Победа Севера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30 апреля 1975 года войска Северного Вьетнама взяли Сайгон, что привело к объединению Вьетнама под властью коммунистов.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Поражение США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Это стало крупнейшим военным и политическим поражением США, нанесшим серьезный удар по их престижу.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Человеческие жертвы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Огромные. Потери США — свыше 58 тыс. погибших. Общее число погибших вьетнамцев (как военных, так и гражданских) оценивается более чем в 3 миллиона человек.</a:t>
            </a:r>
          </a:p>
          <a:p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Карибский кризис (1962)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Что произошло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СССР разместил ядерные ракеты на Кубе (в ответ на американские ракеты в Турции). США обнаружили это и объявили морскую блокаду Кубы.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Со стороны холодной войны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 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Прямое ядерное противостояние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мир стоял на пороге Третьей мировой. Кризис показал, как близко сверхдержавы подошли к взаимному уничтожению.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Итог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Договорённость: СССР убирает ракеты с Кубы, США — из Турции. Введена прямая линия связи между Кремлём и Белым домом.</a:t>
            </a:r>
          </a:p>
          <a:p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Войны в Индокитае (1946–1975, включая Вьетнам)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Что произошло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Войны за независимость стран Индокитая (Вьетнам, Лаос, Камбоджа) от Франции, а затем между Севером и Югом Вьетнама.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Со стороны холодной войны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 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Классическая прокси-война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pPr lvl="1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СССР и Китай поддерживали Северный Вьетнам (оружие, специалисты).</a:t>
            </a:r>
          </a:p>
          <a:p>
            <a:pPr lvl="1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США поддерживали Южный Вьетнам (войска, бомбардировки).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Итог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Победа Севера (1975), объединение Вьетнама под коммунистами. Поражение США — символический перелом в холодной войне в пользу СССР.</a:t>
            </a:r>
          </a:p>
          <a:p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ru-RU" dirty="0"/>
          </a:p>
          <a:p>
            <a:endParaRPr lang="ru-RU" dirty="0"/>
          </a:p>
          <a:p>
            <a:r>
              <a:rPr lang="ru-RU" dirty="0"/>
              <a:t>Афганская война стала одним из наиболее тяжелых конфликтов позднего периода холодной войны. Она показала сложность вмешательства во внутренний кризис другого государства.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29C60B-6F98-8646-A41A-70FA44D3BDF6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568905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Ближний Восток стал одним из самых конфликтных регионов мира. Здесь пересекались территориальные, религиозные, экономические и геополитические интересы.</a:t>
            </a:r>
          </a:p>
          <a:p>
            <a:endParaRPr lang="ru-RU" dirty="0"/>
          </a:p>
          <a:p>
            <a:r>
              <a:rPr lang="ru-RU" dirty="0"/>
              <a:t>Арабо-израильские войны были связаны с проблемой создания и признания государства Израиль, а также с палестинским вопросом. Суэцкий кризис показал значение контроля над важнейшими транспортными путями.</a:t>
            </a:r>
          </a:p>
          <a:p>
            <a:endParaRPr lang="ru-RU" dirty="0"/>
          </a:p>
          <a:p>
            <a:r>
              <a:rPr lang="ru-RU" dirty="0"/>
              <a:t>Позже большое значение приобрели войны в Персидском заливе, связанные с нефтью, региональным лидерством и вмешательством внешних держав.</a:t>
            </a:r>
          </a:p>
          <a:p>
            <a:endParaRPr lang="ru-RU" dirty="0"/>
          </a:p>
          <a:p>
            <a:r>
              <a:rPr lang="ru-RU" dirty="0"/>
              <a:t>В XXI веке одним из самых тяжелых конфликтов региона стала гражданская война в Сирии. Она объединила в себе признаки внутреннего конфликта, борьбы с терроризмом и международного противостояния.</a:t>
            </a:r>
          </a:p>
          <a:p>
            <a:endParaRPr lang="ru-RU" dirty="0"/>
          </a:p>
          <a:p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Арабо-израильские войны (1948, 1956, 1967, 1973)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Кто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Арабские страны (Египет, Сирия, Иордания, Ирак) против Израиля. За спиной арабов — СССР (поставлял оружие, позже — Египту и Сирии). За Израилем — США (сначала неофициально, после 1967 — полноценно).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Что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Попытки арабов уничтожить Израиль и вернуть территории для палестинцев.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Зачем (для арабов/СССР)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Уничтожить «осколок западного империализма»; получить контроль над территорией; СССР стремился укрепить влияние в арабском мире (в противовес США).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Зачем (для Израиля/США)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Выжить, закрепиться как государство; США — сдержать советское влияние на Ближнем Востоке и обеспечить безопасность союзника.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Почему началось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Отказ арабов признать резолюцию ООН о разделе Палестины 1947 года. После победы Израиля в 1948 году — неутихающее желание реванша.</a:t>
            </a:r>
          </a:p>
          <a:p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Суэцкий кризис (1956)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Кто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Египет (Насер) против тройственной коалиции: Великобритания, Франция, Израиль. СССР и США вмешались дипломатически.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Что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Насер национализировал Суэцкий канал (принадлежал англо-французской компании). Англия, Франция и Израиль вторглись в Египет, чтобы вернуть контроль.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Зачем Египту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Получить доходы от канала на строительство (в т.ч. Асуанской плотины) и утвердить независимость от Запада.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Зачем Англии/Франции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Вернуть стратегический путь к нефти и колониальные привилегии.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Роль СССР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Пригрозил ракетными ударами по Лондону и Парижу, заставил агрессоров уйти — резкий рост авторитета СССР в арабском мире.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Почему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Ослабление колониальных империй после Второй мировой. Насер искал опору у СССР, когда США отказали в финансировании плотины.</a:t>
            </a:r>
          </a:p>
          <a:p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Войны в Персидском заливе (Ирано-иракская 1980–88, Война в Кувейте 1990–91)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Кто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pPr lvl="1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Ирано-иракская: Иран (Хомейни) против Ирака (Саддам Хусейн).</a:t>
            </a:r>
          </a:p>
          <a:p>
            <a:pPr lvl="1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Кувейтская: Ирак против коалиции под эгидой США (с одобрения ООН).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Что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Затяжная позиционная война (Иран–Ирак); захват Ираком Кувейта и его освобождение коалицией.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Зачем Ираку (в первой войне)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Остановить экспорт исламской революции на арабские страны; отвоевать спорные территории и гегемонию в Заливе.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Зачем США и СССР там?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В ирано-иракской — 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оба поддерживали Ирак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(СССР — оружие, США — разведка и кредиты), потому что боялись победы Хомейни больше, чем Саддама.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Зачем Ираку (в агрессии против Кувейта)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Контроль над нефтью, списание долгов, выход к морю.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Почему конфликт стал глобальным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Нефть (запас мира → вмешательство сверхдержав). После 1991 года США закрепили военное присутствие в заливе.</a:t>
            </a:r>
          </a:p>
          <a:p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4. Гражданская война в Сирии (с 2011)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Кто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Правительство Асада (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Алавиты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против оппозиции (сунниты, повстанцы), курдов, исламистов (ИГИЛ, Хайят Тахрир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аш-Шам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 Внешние игроки: Иран, Россия (за Асада); США, Турция, страны Залива (против Асада, разрозненно).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Что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Жестокое подавление протестов переросло в многостороннюю войну с применением оружия массового поражения.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Зачем Асаду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Удержать власть любой ценой.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Зачем России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Сохранить военно-морскую базу в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Тартусе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не допустить ливийского сценария (свержения союзника), показать возвращение на Ближний Восток как глобального игрока.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Зачем Ирану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Обеспечить «шиитский мост» от Тегерана до «Хезболлы» в Ливане, нанести ответный удар Израилю и США.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Зачем США (изначально)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Свергнуть Асада, поставить прозападное правительство, ослабить иранскую ось.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Почему затянулась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Разногласия России и США в СБ ООН; внешняя подпитка сторон; расплывчатость целей оппозиции.</a:t>
            </a:r>
          </a:p>
          <a:p>
            <a:endParaRPr lang="ru-RU" dirty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29C60B-6F98-8646-A41A-70FA44D3BDF6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97532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конце XX века произошел распад социалистической системы и Советского Союза. Это радикально изменило международный порядок. Однако исчезновение противостояния СССР и США не привело к полному прекращению войн.</a:t>
            </a:r>
          </a:p>
          <a:p>
            <a:endParaRPr lang="ru-RU" dirty="0"/>
          </a:p>
          <a:p>
            <a:r>
              <a:rPr lang="ru-RU" dirty="0"/>
              <a:t>На первый план вышли новые противоречия: национальные, этнические, территориальные и религиозные. Особенно ярко это проявилось в войнах на Балканах после распада Югославии.</a:t>
            </a:r>
          </a:p>
          <a:p>
            <a:endParaRPr lang="ru-RU" dirty="0"/>
          </a:p>
          <a:p>
            <a:r>
              <a:rPr lang="ru-RU" dirty="0"/>
              <a:t>Также конфликты возникали на постсоветском пространстве. Они были связаны с границами, статусом отдельных территорий, национальной идентичностью и слабостью новых государственных институтов.</a:t>
            </a:r>
          </a:p>
          <a:p>
            <a:endParaRPr lang="ru-RU" dirty="0"/>
          </a:p>
          <a:p>
            <a:r>
              <a:rPr lang="ru-RU" dirty="0"/>
              <a:t>Таким образом, конец холодной войны не решил проблему вооруженных конфликтов, а только изменил их причины и форму.</a:t>
            </a:r>
          </a:p>
          <a:p>
            <a:endParaRPr lang="ru-RU" dirty="0"/>
          </a:p>
          <a:p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Войны на Балканах (1991–2001, распад Югославии)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Кто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Бывшие югославские республики — Словения, Хорватия, Босния и Герцеговина, Сербия (и Черногория), Косово, Македония. Вмешательство НАТО (1999 — бомбардировки Сербии), ООН, Россия (дипломатически поддерживала Сербию).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Что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Серия этнических и гражданских войн — десять дней в Словении, война в Хорватии (1991–1995), Боснийская война (1992–1995), Косовская война (1998–1999), конфликт в Македонии (2001).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Зачем (сторонам)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pPr lvl="1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Хорватия, Босния, Косово — выход из федерации, независимость от сербского доминирования.</a:t>
            </a:r>
          </a:p>
          <a:p>
            <a:pPr lvl="1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Сербия — сохранение единой Югославии (Великая Сербия) на территориях с сербским населением.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Почему началось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Смерть Тито (1980), подъём национализма, ослабление федерации, референдумы о независимости, которые Сербия не признала. Этнические чистки и террор — «мясорубка» с 100+ тысячами погибших.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Роль внешних сил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pPr lvl="1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НАТО (особенно США) — поддержка хорватов, боснийцев (Дейтонские соглашения 1995) и косовских албанцев (бомбардировки Сербии 1999, вывод сербских войск из Косова).</a:t>
            </a:r>
          </a:p>
          <a:p>
            <a:pPr lvl="1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Россия — формально против бомбардировок, но не смогла помешать; ввод российских десантников в Приштину (1999) — символический жест.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Итог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Распад Югославии на независимые государства. Косово под управлением ООН (частично признано). Тысячи убитых, беженцы.</a:t>
            </a:r>
          </a:p>
          <a:p>
            <a:endParaRPr lang="ru-RU" sz="12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Конфликты на постсоветском пространстве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Общая причина (кто, что, зачем, почему)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Кто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Бывшие союзные республики СССР (Молдова, Грузия, Азербайджан, Армения, Таджикистан, Россия — Чечня).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Что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Территориальные споры, борьба за независимость малых народов, слабость новых государств, отсутствие легитимных границ.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Зачем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Одна сторона — сохранить территориальную целостность; другая — создать собственное государство.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Почему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При распаде СССР границы между республиками были административными, не учитывали этническое расселение. Армии развалились, оружие осталось. Экономический хаос.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29C60B-6F98-8646-A41A-70FA44D3BDF6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87759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первой четверти XXI века военные конфликты стали более сложными. Если во второй половине XX века многие войны объяснялись прежде всего холодной войной, то в XXI веке причин стало больше.</a:t>
            </a:r>
          </a:p>
          <a:p>
            <a:endParaRPr lang="ru-RU" dirty="0"/>
          </a:p>
          <a:p>
            <a:r>
              <a:rPr lang="ru-RU" dirty="0"/>
              <a:t>На первый план вышли международный терроризм, разрушение государственных институтов, внутренние гражданские противоречия, борьба за влияние в отдельных регионах и внешнее вмешательство.</a:t>
            </a:r>
          </a:p>
          <a:p>
            <a:endParaRPr lang="ru-RU" dirty="0"/>
          </a:p>
          <a:p>
            <a:r>
              <a:rPr lang="ru-RU" dirty="0"/>
              <a:t>Современные конфликты редко ограничиваются только боевыми действиями. Они сопровождаются информационными кампаниями, санкциями, дипломатическим давлением, кибератаками и борьбой за общественное мнение.</a:t>
            </a:r>
          </a:p>
          <a:p>
            <a:endParaRPr lang="ru-RU" dirty="0"/>
          </a:p>
          <a:p>
            <a:r>
              <a:rPr lang="ru-RU" dirty="0"/>
              <a:t>Также большое значение получили новые технологии: беспилотные летательные аппараты, высокоточное оружие, средства радиоэлектронной борьбы, спутниковая разведка и цифровые системы управления.</a:t>
            </a:r>
          </a:p>
          <a:p>
            <a:endParaRPr lang="ru-RU" dirty="0"/>
          </a:p>
          <a:p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Гражданская война в Сирии (2011 – наст. время) — «классика» современных конфликтов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Кто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Правительство Асада (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асадовцы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против множества оппозиционных групп (умеренная оппозиция, исламисты, курды), а также внешние игроки: Россия, Иран (за Асада), США, Турция, страны Залива (против Асада, но по разным причинам).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Что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Многосторонняя война с элементами гражданской, международной и террористической (ИГИЛ, Аль-Каида). С 2015 года — прямой военный контингент России.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Почему началось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(причины): Арабская весна, подавление протестов Асадом → радикализация части протестующих → внешнее вмешательство → распад государственных институтов.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Новые черты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pPr lvl="1"/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Информационная война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Фейки с обеих сторон (белые каски, химические атаки).</a:t>
            </a:r>
          </a:p>
          <a:p>
            <a:pPr lvl="1"/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Санкции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США и ЕС против Сирии и России, неэффективность в остановке войны.</a:t>
            </a:r>
          </a:p>
          <a:p>
            <a:pPr lvl="1"/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Дроны и высокоточное оружие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Российская авиация и крылатые ракеты, американские удары дронами по лидерам террористов.</a:t>
            </a:r>
          </a:p>
          <a:p>
            <a:pPr lvl="1"/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Кибератаки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Хакеры атакуют инфраструктуру и СМИ сторон.</a:t>
            </a:r>
          </a:p>
          <a:p>
            <a:pPr lvl="1"/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Разрушение институтов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Государство перестало контролировать большую часть территории, власть перешла к полевым командирам и внешним кураторам.</a:t>
            </a:r>
          </a:p>
          <a:p>
            <a:endParaRPr lang="ru-RU" sz="12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ru-RU" sz="12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Вторая карабахская война (сентябрь–ноябрь 2020) — «война нового поколения»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Кто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Азербайджан (при поддержке Турции и поставках из Израиля) против Армении (формально при поддержке ОДКБ, но Россия не вмешалась).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Что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44-дневная война за контроль над Нагорным Карабахом (Азербайджан вернул территории, потерянные в 1994 году).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Зачем Азербайджану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Восстановить территориальную целостность, отомстить за поражение в первой войне.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Новые черты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pPr lvl="1"/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Массированное применение беспилотников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(турецкие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Bayraktar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израильские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kamikaze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-дроны). Армянские танки, артиллерия и ПВО уничтожались без вступления в прямой контакт.</a:t>
            </a:r>
          </a:p>
          <a:p>
            <a:pPr lvl="1"/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Кибератаки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Хакерские атаки на армянские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госсайты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банки, энергосети.</a:t>
            </a:r>
          </a:p>
          <a:p>
            <a:pPr lvl="1"/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Информационная война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Азербайджан транслировал кадры уничтожения армянской техники в соцсетях (психологическое давление).</a:t>
            </a:r>
          </a:p>
          <a:p>
            <a:pPr lvl="1"/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Санкции и дипломатия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Россия посредничала, но не применила ОДКБ; Турция оказывала прямую военную поддержку; Франция и США только осуждали.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Почему это важно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Война показала, что даже малые страны с доступом к новым технологиям могут кардинально изменить баланс сил без участия сверхдержав.</a:t>
            </a:r>
          </a:p>
          <a:p>
            <a:endParaRPr lang="ru-RU" sz="12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ru-RU" sz="12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</a:t>
            </a:r>
            <a:r>
              <a:rPr lang="ru-RU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Сахаро-сахельский</a:t>
            </a:r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регион (Мали, Буркина-Фасо, Нигер) — «терроризм + разрушение институтов»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Кто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Джихадистские группы (связанные с ИГИЛ, Аль-Каидой), этнические ополчения, правительственные армии, французская операция «Бархан» (до 2022), российские ЧВК (Вагнер с 2021).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Что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Перманентная асимметричная война без фронтов: засады, взрывы, захват деревень, этнические чистки.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Почему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Слабость государств после деколонизации, коррупция, отсутствие институтов, засуха и борьба за ресурсы, распространение радикального ислама.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Новые черты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pPr lvl="1"/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Терроризм как инструмент регионального влияния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(ИГИЛ и Аль-Каида конкурируют).</a:t>
            </a:r>
          </a:p>
          <a:p>
            <a:pPr lvl="1"/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ЧВК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вместо регулярных армий (Россия через Вагнера вытеснила Францию).</a:t>
            </a:r>
          </a:p>
          <a:p>
            <a:pPr lvl="1"/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Информационно-психологические операции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(обвинения в неоколониализме, вербовка местных через мессенджеры).</a:t>
            </a:r>
          </a:p>
          <a:p>
            <a:pPr lvl="1"/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Борьба за общественное мнение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Францию изгнали из Мали под лозунгами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антиколониализма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при этом РФ предстала «защитником традиционных ценностей».</a:t>
            </a:r>
          </a:p>
          <a:p>
            <a:endParaRPr lang="ru-RU" sz="12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ru-RU" sz="12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4. Гибридная война России и Запада (с 2014, Украина – отдельная история, но её элементы типичны)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Кто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Россия и коллективный Запад (США, ЕС, НАТО) без прямого военного столкновения.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Что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Кибератаки, вмешательство в выборы (обвинения в адрес России), санкционные войны, пропаганда в соцсетях, дипломатические высылки, убийства оппозиционеров за рубежом, провокации с отравлениями (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Скрипали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Навальный).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Новые черты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(идеально подходят под ваш список):</a:t>
            </a:r>
          </a:p>
          <a:p>
            <a:pPr lvl="1"/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Информационная кампания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(фейки, тролли-фабрики, телеканалы RT и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Sputnik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</a:t>
            </a:r>
          </a:p>
          <a:p>
            <a:pPr lvl="1"/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Кибератаки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на инфраструктуру (электросети, банки, больницы,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госсайты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</a:t>
            </a:r>
          </a:p>
          <a:p>
            <a:pPr lvl="1"/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Санкции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как основное оружие (заморозка активов, отключение SWIFT).</a:t>
            </a:r>
          </a:p>
          <a:p>
            <a:pPr lvl="1"/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Дипломатическое давление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(высылка дипломатов, закрытие консульств).</a:t>
            </a:r>
          </a:p>
          <a:p>
            <a:pPr lvl="1"/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Борьба за общественное мнение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через соцсети (мобилизация сторонников, деморализация противника).</a:t>
            </a:r>
          </a:p>
          <a:p>
            <a:endParaRPr lang="ru-RU" dirty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29C60B-6F98-8646-A41A-70FA44D3BDF6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56852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 конфликтам первой четверти XXI века можно отнести несколько крупных примеров.</a:t>
            </a:r>
          </a:p>
          <a:p>
            <a:endParaRPr lang="ru-RU" dirty="0"/>
          </a:p>
          <a:p>
            <a:r>
              <a:rPr lang="ru-RU" dirty="0"/>
              <a:t>Военная операция в Афганистане после 2001 года была связана с борьбой против международного терроризма, но со временем конфликт приобрел затяжной характер.</a:t>
            </a:r>
          </a:p>
          <a:p>
            <a:endParaRPr lang="ru-RU" dirty="0"/>
          </a:p>
          <a:p>
            <a:r>
              <a:rPr lang="ru-RU" dirty="0"/>
              <a:t>Война в Ираке 2003 года привела к разрушению прежней системы власти и длительной нестабильности в стране.</a:t>
            </a:r>
          </a:p>
          <a:p>
            <a:endParaRPr lang="ru-RU" dirty="0"/>
          </a:p>
          <a:p>
            <a:r>
              <a:rPr lang="ru-RU" dirty="0"/>
              <a:t>В Ливии в 2011 году внутренний кризис сопровождался внешним военным вмешательством, что привело к тяжелым последствиям для государственности и безопасности региона.</a:t>
            </a:r>
          </a:p>
          <a:p>
            <a:endParaRPr lang="ru-RU" dirty="0"/>
          </a:p>
          <a:p>
            <a:r>
              <a:rPr lang="ru-RU" dirty="0"/>
              <a:t>Сирийский конфликт стал примером сочетания гражданской войны, борьбы с терроризмом и участия внешних сил.</a:t>
            </a:r>
          </a:p>
          <a:p>
            <a:endParaRPr lang="ru-RU" dirty="0"/>
          </a:p>
          <a:p>
            <a:r>
              <a:rPr lang="ru-RU" dirty="0" err="1"/>
              <a:t>Нагорно-карабахский</a:t>
            </a:r>
            <a:r>
              <a:rPr lang="ru-RU" dirty="0"/>
              <a:t> конфликт показал, что нерешенные территориальные споры могут быстро переходить в масштабные боевые действия.</a:t>
            </a:r>
          </a:p>
          <a:p>
            <a:endParaRPr lang="ru-RU" dirty="0"/>
          </a:p>
          <a:p>
            <a:r>
              <a:rPr lang="ru-RU" dirty="0"/>
              <a:t>Также сохраняет высокую напряженность палестино-израильское противостояние. Отдельно можно выделить конфликт на территории Украины, который стал одним из ключевых конфликтов первой четверти XXI века.</a:t>
            </a:r>
          </a:p>
          <a:p>
            <a:endParaRPr lang="ru-RU" dirty="0"/>
          </a:p>
          <a:p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🇦🇫 Афганистан (2001–2021)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Кто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Международные силы под эгидой США/НАТО (ISAF, затем «Решительная поддержка») против движения «Талибан» (запрещено в РФ) и его союзников (сеть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Хаккани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Аль-Каида). С 2021 власть полностью перешла к талибам.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Что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Операция «Несокрушимая свобода» — вторжение в Афганистан после терактов 11 сентября 2001 года с целью уничтожить Аль-Каиду и свергнуть режим талибов. Затяжная партизанская война, вывод войск США/НАТО в 2021 году, коллапс проамериканского правительства.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Почему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Возмездие за 9/11, стремление США уничтожить убежище террористов, установить демократическое правительство.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Новые черты XXI века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pPr lvl="1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Затяжной характер (20 лет) при отсутствии чёткой линии фронта.</a:t>
            </a:r>
          </a:p>
          <a:p>
            <a:pPr lvl="1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Масштабное применение дронов для точечных ликвидаций.</a:t>
            </a:r>
          </a:p>
          <a:p>
            <a:pPr lvl="1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Крупнейшая небоевая операция по эвакуации (август 2021).</a:t>
            </a:r>
          </a:p>
          <a:p>
            <a:pPr lvl="1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Информационная война вокруг «экспорта демократии» и прав женщин.</a:t>
            </a:r>
          </a:p>
          <a:p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🇮🇶 Ирак (2003–2011, затем 2014–2017)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Кто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Коалиция во главе с США (Великобритания и др.) против режима Саддама Хусейна. Затем — межконфессиональная война: шииты, сунниты, курды; появление ИГИЛ (запрещено в РФ) 2014–2017.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Что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Вторжение для свержения Саддама Хусейна (обвинение в наличии ОМП, связях с террористами — не подтвердилось). Быстрый разгром армии Ирака, оккупация, демонтаж баасистского государства → хаос, партизанская война, гражданское противостояние, появление ИГИЛ, интервенция против ИГИЛ.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Почему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Нефть? Геополитика (убрать неудобного диктатора, угрожавшего Израилю и Саудовской Аравии). Реальная причина — «смена режима» как инструмент распространения влияния.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Новые черты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pPr lvl="1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Разрушение государственных институтов «в ноль» (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дебаасификация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роспуск армии) → анархия.</a:t>
            </a:r>
          </a:p>
          <a:p>
            <a:pPr lvl="1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Возникновение террористического квази-государства ИГИЛ с захватом городов.</a:t>
            </a:r>
          </a:p>
          <a:p>
            <a:pPr lvl="1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Применение самодельных взрывных устройств (СВУ) как основного оружия повстанцев.</a:t>
            </a:r>
          </a:p>
          <a:p>
            <a:pPr lvl="1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Информационное сопровождение: казни на видеокамеру, пропаганда в соцсетях.</a:t>
            </a:r>
          </a:p>
          <a:p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🇱🇾 Ливия (2011)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Кто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Повстанцы (Переходный национальный совет) при поддержке НАТО (США, Франция, Великобритания) против режима Муаммара Каддафи.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Что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Восстание в рамках «Арабской весны» → интервенция НАТО под мандатом ООН «защита гражданского населения» → бомбардировки войск Каддафи → свержение и убийство Каддафи → распад страны на враждующие милиции и феодальные анклавы (Триполи,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Тобрук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Бенгази), затяжной хаос.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Почему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С одной стороны — народное недовольство диктатурой, с другой — желание Франции (нефть, влияние в бывшей колонии) и США (свержение антизападного лидера) решить вопрос силой.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Новые черты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pPr lvl="1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Полное разрушение государственности (отсутствие армии, полиции, бюрократии) — «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failed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state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».</a:t>
            </a:r>
          </a:p>
          <a:p>
            <a:pPr lvl="1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Отсутствие плана постконфликтного восстановления.</a:t>
            </a:r>
          </a:p>
          <a:p>
            <a:pPr lvl="1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Работорговля и контрабанда людей как экономическая основа.</a:t>
            </a:r>
          </a:p>
          <a:p>
            <a:pPr lvl="1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Роль беспилотной авиации и французских истребителей в подавлении ПВО.</a:t>
            </a:r>
          </a:p>
          <a:p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🇸🇾 Сирия (с 2011)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Кто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Правительство Асада (армия, «Хезболла», Иран, с 2015 — Россия) против оппозиции (умеренная, затем исламисты), курдов (SDF, поддержка США), террористов (ИГИЛ, Хайят Тахрир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аш-Шам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Что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Гражданская война, начавшаяся с подавления протестов. Быстро превратилась в многостороннюю прокси-войну. Вмешательство России (2015) переломило ход в пользу Асада. Террористы разгромлены (2017–2019), но часть территорий вне контроля (север — Турция, северо-восток — курды под защитой США).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Почему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Арабская весна + жестокость Асада → радикализация → внешние силы. Важность для России — базы (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Тартус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Хмеймим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), сдерживание влияния США, демонстрация возвращения в мир. Для Ирана — «шиитский коридор». Для США — сдерживание Ирана и попытка задавить Асада.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Новые черты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pPr lvl="1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Одновременная гражданская война, терроризм и международное противостояние.</a:t>
            </a:r>
          </a:p>
          <a:p>
            <a:pPr lvl="1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Применение химического оружия и дискуссии о «красных линиях».</a:t>
            </a:r>
          </a:p>
          <a:p>
            <a:pPr lvl="1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Информационная война: «Белые каски», фейки о химических атаках.</a:t>
            </a:r>
          </a:p>
          <a:p>
            <a:pPr lvl="1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Большое количество беженцев (&gt;6 млн) как фактор давления на Европу.</a:t>
            </a:r>
          </a:p>
          <a:p>
            <a:pPr lvl="1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Активное использование частных военных компаний (ЧВК Вагнера со стороны РФ).</a:t>
            </a:r>
          </a:p>
          <a:p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🇦🇲🇦🇿 Нагорный Карабах (2020, вторая война)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Кто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Азербайджан (при поддержке Турции, поставках оружия из Израиля) против Армении (формально союзник по ОДКБ, но Россия не вмешалась).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Что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44-дневная война за контроль над Нагорным Карабахом и прилегающими территориями. Азербайджан при массированном применении дронов разгромил армянскую армию, вернул контроль над большей частью региона. При посредничестве России подписано перемирие, в зону вошли российские миротворцы.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Почему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Нерешённый статус Карабаха после первой войны (1994). Азербайджан накопил силы, использовал технологическое преимущество (дроны), застал Армению врасплох.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Новые черты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pPr lvl="1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Полное доминирование беспилотной авиации (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Bayraktar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kamikaze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-дроны) — танки и артиллерия стали уязвимы.</a:t>
            </a:r>
          </a:p>
          <a:p>
            <a:pPr lvl="1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Война в реальном времени через соцсети: Азербайджан публиковал кадры уничтожения армянской техники.</a:t>
            </a:r>
          </a:p>
          <a:p>
            <a:pPr lvl="1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Отсутствие прямого вмешательства сверхдержав (Россия ограничилась гуманитарной и дипломатической ролью).</a:t>
            </a:r>
          </a:p>
          <a:p>
            <a:pPr lvl="1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Применение израильских БПЛА-снарядов («роя» дронов).</a:t>
            </a:r>
          </a:p>
          <a:p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🇮🇱🇵🇸 Палестино-израильский конфликт (эскалации 2008, 2012, 2014, 2021, 2023)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Кто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Государство Израиль против палестинских группировок (ХАМАС в секторе Газа, ФАТХ на Западном берегу). Внешние игроки: США (за Израиль), Иран (поддержка ХАМАС и «Исламского джихада»), арабские страны (по-разному).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Что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Многолетний территориально-религиозный конфликт из-за создания двух государств. Периодические войны (операции в Газе: «Литой свинец», «Облачный столп», «Нерушимая скала», «Страж стен»). Самая острая эскалация — октябрь 2023 года (атака ХАМАС на юг Израиля → ответная операция в Газе с массовыми жертвами).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Почему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Нежелание обеих сторон идти на компромисс, рост ультраправых в Израиле, радикализация палестинцев, отсутствие мирного процесса, блокирование Газы Израилем и Египтом.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Новые черты XXI века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pPr lvl="1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Асимметричная война: ракетные обстрелы (тысячи примитивных ракет) против точечных ударов с воздуха и артиллерии.</a:t>
            </a:r>
          </a:p>
          <a:p>
            <a:pPr lvl="1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Использование системы ПРО «Железный купол» (перехват ракет).</a:t>
            </a:r>
          </a:p>
          <a:p>
            <a:pPr lvl="1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Туннельная война (подземные тоннели в Газе для контрабанды и нападений).</a:t>
            </a:r>
          </a:p>
          <a:p>
            <a:pPr lvl="1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Информационная война (сравнение жертв, обвинения в военных преступлениях, суды в ICC).</a:t>
            </a:r>
          </a:p>
          <a:p>
            <a:pPr lvl="1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Технологии: дроны-камикадзе, системы радиоэлектронной борьбы, массовое наблюдение на границе.</a:t>
            </a:r>
          </a:p>
          <a:p>
            <a:endParaRPr lang="ru-RU" dirty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29C60B-6F98-8646-A41A-70FA44D3BDF6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13043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Одним из ключевых конфликтов первой четверти XXI века стал конфликт на территории Украины. Его предпосылки формировались после событий 2014 года. К основным факторам относятся кризис отношений между Россией и Украиной, вооруженное противостояние в Донбассе, проблема выполнения Минских соглашений и ухудшение отношений России с западными странами.</a:t>
            </a:r>
          </a:p>
          <a:p>
            <a:endParaRPr lang="ru-RU" dirty="0"/>
          </a:p>
          <a:p>
            <a:r>
              <a:rPr lang="ru-RU" dirty="0"/>
              <a:t>21 февраля 2022 года Россия признала Донецкую Народную Республику и Луганскую Народную Республику. 24 февраля 2022 года было объявлено о начале специальной военной операции.</a:t>
            </a:r>
          </a:p>
          <a:p>
            <a:endParaRPr lang="ru-RU" dirty="0"/>
          </a:p>
          <a:p>
            <a:r>
              <a:rPr lang="ru-RU" dirty="0"/>
              <a:t>Этот конфликт показывает характерные особенности войн XXI века. В нем активно используются беспилотные летательные аппараты, средства разведки, радиоэлектронной борьбы, высокоточное оружие и информационные технологии.</a:t>
            </a:r>
          </a:p>
          <a:p>
            <a:endParaRPr lang="ru-RU" dirty="0"/>
          </a:p>
          <a:p>
            <a:r>
              <a:rPr lang="ru-RU" dirty="0"/>
              <a:t>Кроме того, конфликт имеет международно-политическое и экономическое измерение. Он связан с отношениями России, Украины, стран НАТО и Европейского союза, а также с санкционным давлением и внешней поддержкой Украины со стороны западных стран.</a:t>
            </a:r>
          </a:p>
          <a:p>
            <a:endParaRPr lang="ru-RU" dirty="0"/>
          </a:p>
          <a:p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🇺🇦 Конфликт на территории Украины (с 2014, полномасштабная фаза с 2022)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Кто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Россия и поддерживаемые ею силы (в 2014–2015 «ополченцы» ДНР/ЛНР, с 2022 — регулярная армия РФ) против Украины (при западной военной, финансовой, разведывательной поддержке США, Великобритании, ЕС, НАТО).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Что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Началось с аннексии Крыма (март 2014) и войны в Донбассе (апрель 2014 – февраль 2022). С 24 февраля 2022 — полномасштабное вторжение России на большей части территории Украины. Переросло в позиционную войну на истощение с применением высокоточного оружия, дронов, артиллерии, ракетных ударов по городам и инфраструктуре.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Почему (для России)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Заявленные цели — денацификация, демилитаризация, недопущение вступления Украины в НАТО, защита русскоязычного населения (по версии России). Для Запада — сохранение суверенитета Украины, сдерживание российской агрессии, недопущение пересмотра границ силой. Фактически — конфликт о сферах влияния в Европе, столкновение российской концепции «ближнего зарубежья» и евроатлантической интеграции.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Новые черты XXI века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(это ключевой пример гибридной войны нового поколения):</a:t>
            </a:r>
          </a:p>
          <a:p>
            <a:pPr lvl="1"/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Массированное применение БПЛА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как разведки, так и ударных (камикадзе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Lancets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«Герань», а также гражданские дроны, переделанные в боевые).</a:t>
            </a:r>
          </a:p>
          <a:p>
            <a:pPr lvl="1"/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Кибервойна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атаки на энергосети, банки,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госсайты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блокировка спутников (хакерские группы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Killnet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IT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Army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Ukraine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</a:t>
            </a:r>
          </a:p>
          <a:p>
            <a:pPr lvl="1"/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Информационно-психологическая операция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глобального масштаба: фейки, пропаганда через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телеграм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-каналы, борьба за нарративы в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Global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South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lvl="1"/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Санкции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беспрецедентной интенсивности (около 20 тыс. санкций против РФ) и ответные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контрсанкции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lvl="1"/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Спутниковая разведка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Maxar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Planet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Labs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Starlink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как военная связь).</a:t>
            </a:r>
          </a:p>
          <a:p>
            <a:pPr lvl="1"/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Высокоточное оружие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(HIMARS,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Storm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Shadow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Калибр, Искандер).</a:t>
            </a:r>
          </a:p>
          <a:p>
            <a:pPr lvl="1"/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Роль частных военных компаний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(Вагнер,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Redut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«Энергия» — с российской стороны; иностранные наёмники — с украинской).</a:t>
            </a:r>
          </a:p>
          <a:p>
            <a:pPr lvl="1"/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Зерновая сделка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и продовольственная безопасность мира как элемент дипломатии.</a:t>
            </a:r>
          </a:p>
          <a:p>
            <a:pPr lvl="1"/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Вовлечение НАТО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без прямого вступления в войну (поставки вооружений, разведка, обучение, советники).</a:t>
            </a:r>
          </a:p>
          <a:p>
            <a:pPr lvl="1"/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Цифровые армии волонтёров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(IT-специалисты,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хактивисты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координация через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Discord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Telegram).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29C60B-6F98-8646-A41A-70FA44D3BDF6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596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Афганская война 1979-1989 годов является одним из наиболее показательных конфликтов второй половины XX века. Она началась в условиях холодной войны и внутреннего кризиса Афганистана.</a:t>
            </a:r>
          </a:p>
          <a:p>
            <a:endParaRPr lang="ru-RU" dirty="0"/>
          </a:p>
          <a:p>
            <a:r>
              <a:rPr lang="ru-RU" dirty="0"/>
              <a:t>С одной стороны, это был внутренний конфликт в афганском обществе. В стране происходила борьба между правительством, которое пыталось проводить радикальные реформы, и вооруженной оппозицией, опиравшейся на традиционные и религиозные силы.</a:t>
            </a:r>
          </a:p>
          <a:p>
            <a:endParaRPr lang="ru-RU" dirty="0"/>
          </a:p>
          <a:p>
            <a:r>
              <a:rPr lang="ru-RU" dirty="0"/>
              <a:t>С другой стороны, Афганистан имел важное стратегическое значение для СССР, потому что находился рядом с южными границами Советского Союза. Поэтому советское руководство рассматривало ситуацию в Афганистане как вопрос безопасности.</a:t>
            </a:r>
          </a:p>
          <a:p>
            <a:endParaRPr lang="ru-RU" dirty="0"/>
          </a:p>
          <a:p>
            <a:r>
              <a:rPr lang="ru-RU" dirty="0"/>
              <a:t>Афганская война показывает, как внутренний кризис одного государства может стать частью международного противостояния.</a:t>
            </a:r>
          </a:p>
          <a:p>
            <a:endParaRPr lang="ru-RU" dirty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29C60B-6F98-8646-A41A-70FA44D3BDF6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894751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Причины Афганской войны можно разделить на внутренние и внешние.</a:t>
            </a:r>
          </a:p>
          <a:p>
            <a:endParaRPr lang="ru-RU" dirty="0"/>
          </a:p>
          <a:p>
            <a:r>
              <a:rPr lang="ru-RU" dirty="0"/>
              <a:t>К внутренним причинам относится политический кризис в Афганистане. После Апрельской революции 1978 года к власти пришло руководство, которое пыталось проводить радикальные реформы. Эти реформы затрагивали землю, образование, религию и систему власти. Для значительной части традиционного афганского общества они выглядели навязанными сверху.</a:t>
            </a:r>
          </a:p>
          <a:p>
            <a:endParaRPr lang="ru-RU" dirty="0"/>
          </a:p>
          <a:p>
            <a:r>
              <a:rPr lang="ru-RU" dirty="0"/>
              <a:t>Это вызвало сопротивление и привело к вооруженной борьбе. Кроме того, внутри правящей Народно-Демократической партии Афганистана существовали серьезные противоречия.</a:t>
            </a:r>
          </a:p>
          <a:p>
            <a:endParaRPr lang="ru-RU" dirty="0"/>
          </a:p>
          <a:p>
            <a:r>
              <a:rPr lang="ru-RU" dirty="0"/>
              <a:t>К внешним причинам относилась стратегическая важность Афганистана. СССР опасался нестабильности у своих южных границ и возможного усиления влияния США и их союзников в регионе.</a:t>
            </a:r>
          </a:p>
          <a:p>
            <a:endParaRPr lang="ru-RU" dirty="0"/>
          </a:p>
          <a:p>
            <a:r>
              <a:rPr lang="ru-RU" dirty="0"/>
              <a:t>Также афганское руководство неоднократно обращалось к СССР с просьбами о помощи. В результате внутренний кризис Афганистана был втянут в логику холодной войны.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29C60B-6F98-8646-A41A-70FA44D3BDF6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6890581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Решение о вводе советских войск в Афганистан было принято в декабре 1979 года. После этого началось размещение советского контингента на территории Афганистана.</a:t>
            </a:r>
          </a:p>
          <a:p>
            <a:endParaRPr lang="ru-RU" dirty="0"/>
          </a:p>
          <a:p>
            <a:r>
              <a:rPr lang="ru-RU" dirty="0"/>
              <a:t>Первоначально предполагалось, что присутствие советских войск поможет стабилизировать ситуацию. Однако быстро стало понятно, что конфликт имеет глубокие внутренние причины и не может быть решен быстро.</a:t>
            </a:r>
          </a:p>
          <a:p>
            <a:endParaRPr lang="ru-RU" dirty="0"/>
          </a:p>
          <a:p>
            <a:r>
              <a:rPr lang="ru-RU" dirty="0"/>
              <a:t>В начале 1980-х годов советские войска участвовали в активных боевых действиях против вооруженной оппозиции. Особую сложность представляла горная местность, слабая инфраструктура и партизанская тактика противника.</a:t>
            </a:r>
          </a:p>
          <a:p>
            <a:endParaRPr lang="ru-RU" dirty="0"/>
          </a:p>
          <a:p>
            <a:r>
              <a:rPr lang="ru-RU" dirty="0"/>
              <a:t>Со временем стало ясно, что военного решения у конфликта нет. В середине 1980-х годов начались попытки политического урегулирования. В 1988 году были заключены Женевские соглашения, которые определили порядок вывода советских войск.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29C60B-6F98-8646-A41A-70FA44D3BDF6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9000481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Афганская война имела тяжелые последствия для СССР, Афганистана и международных отношений.</a:t>
            </a:r>
          </a:p>
          <a:p>
            <a:endParaRPr lang="ru-RU" dirty="0"/>
          </a:p>
          <a:p>
            <a:r>
              <a:rPr lang="ru-RU" dirty="0"/>
              <a:t>Военные последствия заключались в том, что советская армия получила опыт ведения боевых действий в горной местности, борьбы с партизанскими формированиями, организации снабжения и применения авиации. Но этот опыт был получен высокой ценой.</a:t>
            </a:r>
          </a:p>
          <a:p>
            <a:endParaRPr lang="ru-RU" dirty="0"/>
          </a:p>
          <a:p>
            <a:r>
              <a:rPr lang="ru-RU" dirty="0"/>
              <a:t>Человеческие потери стали одной из самых болезненных сторон войны. Погибли тысячи советских военнослужащих, многие вернулись с ранениями и психологическими травмами.</a:t>
            </a:r>
          </a:p>
          <a:p>
            <a:endParaRPr lang="ru-RU" dirty="0"/>
          </a:p>
          <a:p>
            <a:r>
              <a:rPr lang="ru-RU" dirty="0"/>
              <a:t>Политически война ухудшила международное положение СССР. Она стала одним из факторов роста напряженности в отношениях с западными странами.</a:t>
            </a:r>
          </a:p>
          <a:p>
            <a:endParaRPr lang="ru-RU" dirty="0"/>
          </a:p>
          <a:p>
            <a:r>
              <a:rPr lang="ru-RU" dirty="0"/>
              <a:t>Для Афганистана война также имела тяжелые последствия. После вывода советских войск внутренний конфликт не был полностью прекращен, и страна еще долго оставалась нестабильной.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29C60B-6F98-8646-A41A-70FA44D3BDF6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807205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На примере Афганской войны и других конфликтов можно выделить несколько общих особенностей.</a:t>
            </a:r>
          </a:p>
          <a:p>
            <a:endParaRPr lang="ru-RU" dirty="0"/>
          </a:p>
          <a:p>
            <a:r>
              <a:rPr lang="ru-RU" dirty="0"/>
              <a:t>Во-первых, локальный конфликт может иметь мировое значение. Даже если боевые действия происходят на территории одного государства, они часто затрагивают интересы крупных держав.</a:t>
            </a:r>
          </a:p>
          <a:p>
            <a:endParaRPr lang="ru-RU" dirty="0"/>
          </a:p>
          <a:p>
            <a:r>
              <a:rPr lang="ru-RU" dirty="0"/>
              <a:t>Во-вторых, военная сила не всегда решает политическую проблему. Если конфликт имеет глубокие социальные, религиозные и политические причины, то одними военными методами добиться устойчивого мира сложно.</a:t>
            </a:r>
          </a:p>
          <a:p>
            <a:endParaRPr lang="ru-RU" dirty="0"/>
          </a:p>
          <a:p>
            <a:r>
              <a:rPr lang="ru-RU" dirty="0"/>
              <a:t>В-третьих, внешняя поддержка делает конфликт более длительным. Когда стороны получают оружие, деньги, политическую и информационную поддержку извне, война может продолжаться годами.</a:t>
            </a:r>
          </a:p>
          <a:p>
            <a:endParaRPr lang="ru-RU" dirty="0"/>
          </a:p>
          <a:p>
            <a:r>
              <a:rPr lang="ru-RU" dirty="0"/>
              <a:t>В-четвертых, большое значение имеет общественное мнение. В XXI веке оно формируется не только через телевидение и печать, но и через интернет, социальные сети и цифровые платформы.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29C60B-6F98-8646-A41A-70FA44D3BDF6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683501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Подводя итог, можно сказать, что военные конфликты второй половины XX - первой четверти XXI века показывают: после Второй мировой войны мир не стал полностью безопасным.</a:t>
            </a:r>
          </a:p>
          <a:p>
            <a:endParaRPr lang="ru-RU" dirty="0"/>
          </a:p>
          <a:p>
            <a:r>
              <a:rPr lang="ru-RU" dirty="0"/>
              <a:t>Глобальная война между сверхдержавами была предотвращена, но вместо нее распространились локальные и региональные войны. Они часто имели международное значение и были связаны с борьбой за влияние, распадом колониальной системы, этническими и религиозными противоречиями, слабостью государственных институтов и внешним вмешательством.</a:t>
            </a:r>
          </a:p>
          <a:p>
            <a:endParaRPr lang="ru-RU" dirty="0"/>
          </a:p>
          <a:p>
            <a:r>
              <a:rPr lang="ru-RU" dirty="0"/>
              <a:t>Афганская война 1979-1989 годов является одним из наиболее ярких примеров такого конфликта. Она началась как попытка стабилизировать ситуацию у южных границ СССР и поддержать союзное афганское руководство, но превратилась в длительную и тяжелую войну.</a:t>
            </a:r>
          </a:p>
          <a:p>
            <a:endParaRPr lang="ru-RU" dirty="0"/>
          </a:p>
          <a:p>
            <a:r>
              <a:rPr lang="ru-RU" dirty="0"/>
              <a:t>Главный вывод состоит в том, что любой военный конфликт нужно рассматривать не только как столкновение армий, но и как сложное историческое явление. Для предотвращения войн необходимы дипломатия, устойчивые государственные институты, учет интересов общества и политическое урегулирование.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29C60B-6F98-8646-A41A-70FA44D3BDF6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178088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29C60B-6F98-8646-A41A-70FA44D3BDF6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775994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0044" y="1119505"/>
            <a:ext cx="9720263" cy="2381521"/>
          </a:xfrm>
        </p:spPr>
        <p:txBody>
          <a:bodyPr anchor="b"/>
          <a:lstStyle>
            <a:lvl1pPr algn="ctr">
              <a:defRPr sz="5985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0044" y="3592866"/>
            <a:ext cx="9720263" cy="1651546"/>
          </a:xfrm>
        </p:spPr>
        <p:txBody>
          <a:bodyPr/>
          <a:lstStyle>
            <a:lvl1pPr marL="0" indent="0" algn="ctr">
              <a:buNone/>
              <a:defRPr sz="2394"/>
            </a:lvl1pPr>
            <a:lvl2pPr marL="456057" indent="0" algn="ctr">
              <a:buNone/>
              <a:defRPr sz="1995"/>
            </a:lvl2pPr>
            <a:lvl3pPr marL="912114" indent="0" algn="ctr">
              <a:buNone/>
              <a:defRPr sz="1795"/>
            </a:lvl3pPr>
            <a:lvl4pPr marL="1368171" indent="0" algn="ctr">
              <a:buNone/>
              <a:defRPr sz="1596"/>
            </a:lvl4pPr>
            <a:lvl5pPr marL="1824228" indent="0" algn="ctr">
              <a:buNone/>
              <a:defRPr sz="1596"/>
            </a:lvl5pPr>
            <a:lvl6pPr marL="2280285" indent="0" algn="ctr">
              <a:buNone/>
              <a:defRPr sz="1596"/>
            </a:lvl6pPr>
            <a:lvl7pPr marL="2736342" indent="0" algn="ctr">
              <a:buNone/>
              <a:defRPr sz="1596"/>
            </a:lvl7pPr>
            <a:lvl8pPr marL="3192399" indent="0" algn="ctr">
              <a:buNone/>
              <a:defRPr sz="1596"/>
            </a:lvl8pPr>
            <a:lvl9pPr marL="3648456" indent="0" algn="ctr">
              <a:buNone/>
              <a:defRPr sz="1596"/>
            </a:lvl9pPr>
          </a:lstStyle>
          <a:p>
            <a:r>
              <a:rPr lang="ru-RU"/>
              <a:t>Образец подзаголовка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B2549-D5F9-604B-9EB9-69E1A6399CB9}" type="datetimeFigureOut">
              <a:rPr lang="ru-RU" smtClean="0"/>
              <a:t>11.05.2026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4391C-B8C0-B24A-A837-3162674174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70674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B2549-D5F9-604B-9EB9-69E1A6399CB9}" type="datetimeFigureOut">
              <a:rPr lang="ru-RU" smtClean="0"/>
              <a:t>11.05.2026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4391C-B8C0-B24A-A837-3162674174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52267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4274" y="1705385"/>
            <a:ext cx="11178302" cy="2845473"/>
          </a:xfrm>
        </p:spPr>
        <p:txBody>
          <a:bodyPr anchor="b"/>
          <a:lstStyle>
            <a:lvl1pPr>
              <a:defRPr sz="5985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4274" y="4577778"/>
            <a:ext cx="11178302" cy="1496367"/>
          </a:xfrm>
        </p:spPr>
        <p:txBody>
          <a:bodyPr/>
          <a:lstStyle>
            <a:lvl1pPr marL="0" indent="0">
              <a:buNone/>
              <a:defRPr sz="2394">
                <a:solidFill>
                  <a:schemeClr val="tx1">
                    <a:tint val="75000"/>
                  </a:schemeClr>
                </a:solidFill>
              </a:defRPr>
            </a:lvl1pPr>
            <a:lvl2pPr marL="456057" indent="0">
              <a:buNone/>
              <a:defRPr sz="1995">
                <a:solidFill>
                  <a:schemeClr val="tx1">
                    <a:tint val="75000"/>
                  </a:schemeClr>
                </a:solidFill>
              </a:defRPr>
            </a:lvl2pPr>
            <a:lvl3pPr marL="912114" indent="0">
              <a:buNone/>
              <a:defRPr sz="1795">
                <a:solidFill>
                  <a:schemeClr val="tx1">
                    <a:tint val="75000"/>
                  </a:schemeClr>
                </a:solidFill>
              </a:defRPr>
            </a:lvl3pPr>
            <a:lvl4pPr marL="1368171" indent="0">
              <a:buNone/>
              <a:defRPr sz="1596">
                <a:solidFill>
                  <a:schemeClr val="tx1">
                    <a:tint val="75000"/>
                  </a:schemeClr>
                </a:solidFill>
              </a:defRPr>
            </a:lvl4pPr>
            <a:lvl5pPr marL="1824228" indent="0">
              <a:buNone/>
              <a:defRPr sz="1596">
                <a:solidFill>
                  <a:schemeClr val="tx1">
                    <a:tint val="75000"/>
                  </a:schemeClr>
                </a:solidFill>
              </a:defRPr>
            </a:lvl5pPr>
            <a:lvl6pPr marL="2280285" indent="0">
              <a:buNone/>
              <a:defRPr sz="1596">
                <a:solidFill>
                  <a:schemeClr val="tx1">
                    <a:tint val="75000"/>
                  </a:schemeClr>
                </a:solidFill>
              </a:defRPr>
            </a:lvl6pPr>
            <a:lvl7pPr marL="2736342" indent="0">
              <a:buNone/>
              <a:defRPr sz="1596">
                <a:solidFill>
                  <a:schemeClr val="tx1">
                    <a:tint val="75000"/>
                  </a:schemeClr>
                </a:solidFill>
              </a:defRPr>
            </a:lvl7pPr>
            <a:lvl8pPr marL="3192399" indent="0">
              <a:buNone/>
              <a:defRPr sz="1596">
                <a:solidFill>
                  <a:schemeClr val="tx1">
                    <a:tint val="75000"/>
                  </a:schemeClr>
                </a:solidFill>
              </a:defRPr>
            </a:lvl8pPr>
            <a:lvl9pPr marL="3648456" indent="0">
              <a:buNone/>
              <a:defRPr sz="159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B2549-D5F9-604B-9EB9-69E1A6399CB9}" type="datetimeFigureOut">
              <a:rPr lang="ru-RU" smtClean="0"/>
              <a:t>11.05.2026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4391C-B8C0-B24A-A837-3162674174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674649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91024" y="1820976"/>
            <a:ext cx="5508149" cy="434025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61177" y="1820976"/>
            <a:ext cx="5508149" cy="434025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B2549-D5F9-604B-9EB9-69E1A6399CB9}" type="datetimeFigureOut">
              <a:rPr lang="ru-RU" smtClean="0"/>
              <a:t>11.05.2026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4391C-B8C0-B24A-A837-3162674174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801029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2712" y="364196"/>
            <a:ext cx="11178302" cy="1322188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92713" y="1676882"/>
            <a:ext cx="5482835" cy="821814"/>
          </a:xfrm>
        </p:spPr>
        <p:txBody>
          <a:bodyPr anchor="b"/>
          <a:lstStyle>
            <a:lvl1pPr marL="0" indent="0">
              <a:buNone/>
              <a:defRPr sz="2394" b="1"/>
            </a:lvl1pPr>
            <a:lvl2pPr marL="456057" indent="0">
              <a:buNone/>
              <a:defRPr sz="1995" b="1"/>
            </a:lvl2pPr>
            <a:lvl3pPr marL="912114" indent="0">
              <a:buNone/>
              <a:defRPr sz="1795" b="1"/>
            </a:lvl3pPr>
            <a:lvl4pPr marL="1368171" indent="0">
              <a:buNone/>
              <a:defRPr sz="1596" b="1"/>
            </a:lvl4pPr>
            <a:lvl5pPr marL="1824228" indent="0">
              <a:buNone/>
              <a:defRPr sz="1596" b="1"/>
            </a:lvl5pPr>
            <a:lvl6pPr marL="2280285" indent="0">
              <a:buNone/>
              <a:defRPr sz="1596" b="1"/>
            </a:lvl6pPr>
            <a:lvl7pPr marL="2736342" indent="0">
              <a:buNone/>
              <a:defRPr sz="1596" b="1"/>
            </a:lvl7pPr>
            <a:lvl8pPr marL="3192399" indent="0">
              <a:buNone/>
              <a:defRPr sz="1596" b="1"/>
            </a:lvl8pPr>
            <a:lvl9pPr marL="3648456" indent="0">
              <a:buNone/>
              <a:defRPr sz="1596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92713" y="2498697"/>
            <a:ext cx="5482835" cy="367520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61177" y="1676882"/>
            <a:ext cx="5509837" cy="821814"/>
          </a:xfrm>
        </p:spPr>
        <p:txBody>
          <a:bodyPr anchor="b"/>
          <a:lstStyle>
            <a:lvl1pPr marL="0" indent="0">
              <a:buNone/>
              <a:defRPr sz="2394" b="1"/>
            </a:lvl1pPr>
            <a:lvl2pPr marL="456057" indent="0">
              <a:buNone/>
              <a:defRPr sz="1995" b="1"/>
            </a:lvl2pPr>
            <a:lvl3pPr marL="912114" indent="0">
              <a:buNone/>
              <a:defRPr sz="1795" b="1"/>
            </a:lvl3pPr>
            <a:lvl4pPr marL="1368171" indent="0">
              <a:buNone/>
              <a:defRPr sz="1596" b="1"/>
            </a:lvl4pPr>
            <a:lvl5pPr marL="1824228" indent="0">
              <a:buNone/>
              <a:defRPr sz="1596" b="1"/>
            </a:lvl5pPr>
            <a:lvl6pPr marL="2280285" indent="0">
              <a:buNone/>
              <a:defRPr sz="1596" b="1"/>
            </a:lvl6pPr>
            <a:lvl7pPr marL="2736342" indent="0">
              <a:buNone/>
              <a:defRPr sz="1596" b="1"/>
            </a:lvl7pPr>
            <a:lvl8pPr marL="3192399" indent="0">
              <a:buNone/>
              <a:defRPr sz="1596" b="1"/>
            </a:lvl8pPr>
            <a:lvl9pPr marL="3648456" indent="0">
              <a:buNone/>
              <a:defRPr sz="1596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61177" y="2498697"/>
            <a:ext cx="5509837" cy="367520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B2549-D5F9-604B-9EB9-69E1A6399CB9}" type="datetimeFigureOut">
              <a:rPr lang="ru-RU" smtClean="0"/>
              <a:t>11.05.2026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4391C-B8C0-B24A-A837-3162674174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401843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B2549-D5F9-604B-9EB9-69E1A6399CB9}" type="datetimeFigureOut">
              <a:rPr lang="ru-RU" smtClean="0"/>
              <a:t>11.05.2026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4391C-B8C0-B24A-A837-3162674174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84481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DB7F7827-21D6-5054-F4C6-CF3F1E1A331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902204" y="0"/>
            <a:ext cx="1058146" cy="6840538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59761A6D-E025-ED50-4287-24ECE36ED86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3243" y="239405"/>
            <a:ext cx="894267" cy="319820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1A0C2274-20E7-0C84-678A-7BC227870B3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856488" y="124477"/>
            <a:ext cx="1574789" cy="687181"/>
          </a:xfrm>
          <a:prstGeom prst="rect">
            <a:avLst/>
          </a:prstGeom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E5AA3578-2E3E-AC0A-C0A4-03BA169D6B14}"/>
              </a:ext>
            </a:extLst>
          </p:cNvPr>
          <p:cNvSpPr/>
          <p:nvPr userDrawn="1"/>
        </p:nvSpPr>
        <p:spPr>
          <a:xfrm>
            <a:off x="-3243" y="239405"/>
            <a:ext cx="894267" cy="319820"/>
          </a:xfrm>
          <a:prstGeom prst="rect">
            <a:avLst/>
          </a:prstGeom>
          <a:solidFill>
            <a:srgbClr val="BE00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871911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2713" y="456036"/>
            <a:ext cx="4180050" cy="1596126"/>
          </a:xfrm>
        </p:spPr>
        <p:txBody>
          <a:bodyPr anchor="b"/>
          <a:lstStyle>
            <a:lvl1pPr>
              <a:defRPr sz="3192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09837" y="984911"/>
            <a:ext cx="6561177" cy="4861216"/>
          </a:xfrm>
        </p:spPr>
        <p:txBody>
          <a:bodyPr/>
          <a:lstStyle>
            <a:lvl1pPr>
              <a:defRPr sz="3192"/>
            </a:lvl1pPr>
            <a:lvl2pPr>
              <a:defRPr sz="2793"/>
            </a:lvl2pPr>
            <a:lvl3pPr>
              <a:defRPr sz="2394"/>
            </a:lvl3pPr>
            <a:lvl4pPr>
              <a:defRPr sz="1995"/>
            </a:lvl4pPr>
            <a:lvl5pPr>
              <a:defRPr sz="1995"/>
            </a:lvl5pPr>
            <a:lvl6pPr>
              <a:defRPr sz="1995"/>
            </a:lvl6pPr>
            <a:lvl7pPr>
              <a:defRPr sz="1995"/>
            </a:lvl7pPr>
            <a:lvl8pPr>
              <a:defRPr sz="1995"/>
            </a:lvl8pPr>
            <a:lvl9pPr>
              <a:defRPr sz="1995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92713" y="2052161"/>
            <a:ext cx="4180050" cy="3801883"/>
          </a:xfrm>
        </p:spPr>
        <p:txBody>
          <a:bodyPr/>
          <a:lstStyle>
            <a:lvl1pPr marL="0" indent="0">
              <a:buNone/>
              <a:defRPr sz="1596"/>
            </a:lvl1pPr>
            <a:lvl2pPr marL="456057" indent="0">
              <a:buNone/>
              <a:defRPr sz="1397"/>
            </a:lvl2pPr>
            <a:lvl3pPr marL="912114" indent="0">
              <a:buNone/>
              <a:defRPr sz="1197"/>
            </a:lvl3pPr>
            <a:lvl4pPr marL="1368171" indent="0">
              <a:buNone/>
              <a:defRPr sz="998"/>
            </a:lvl4pPr>
            <a:lvl5pPr marL="1824228" indent="0">
              <a:buNone/>
              <a:defRPr sz="998"/>
            </a:lvl5pPr>
            <a:lvl6pPr marL="2280285" indent="0">
              <a:buNone/>
              <a:defRPr sz="998"/>
            </a:lvl6pPr>
            <a:lvl7pPr marL="2736342" indent="0">
              <a:buNone/>
              <a:defRPr sz="998"/>
            </a:lvl7pPr>
            <a:lvl8pPr marL="3192399" indent="0">
              <a:buNone/>
              <a:defRPr sz="998"/>
            </a:lvl8pPr>
            <a:lvl9pPr marL="3648456" indent="0">
              <a:buNone/>
              <a:defRPr sz="998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B2549-D5F9-604B-9EB9-69E1A6399CB9}" type="datetimeFigureOut">
              <a:rPr lang="ru-RU" smtClean="0"/>
              <a:t>11.05.2026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4391C-B8C0-B24A-A837-3162674174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05454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2713" y="456036"/>
            <a:ext cx="4180050" cy="1596126"/>
          </a:xfrm>
        </p:spPr>
        <p:txBody>
          <a:bodyPr anchor="b"/>
          <a:lstStyle>
            <a:lvl1pPr>
              <a:defRPr sz="3192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09837" y="984911"/>
            <a:ext cx="6561177" cy="4861216"/>
          </a:xfrm>
        </p:spPr>
        <p:txBody>
          <a:bodyPr anchor="t"/>
          <a:lstStyle>
            <a:lvl1pPr marL="0" indent="0">
              <a:buNone/>
              <a:defRPr sz="3192"/>
            </a:lvl1pPr>
            <a:lvl2pPr marL="456057" indent="0">
              <a:buNone/>
              <a:defRPr sz="2793"/>
            </a:lvl2pPr>
            <a:lvl3pPr marL="912114" indent="0">
              <a:buNone/>
              <a:defRPr sz="2394"/>
            </a:lvl3pPr>
            <a:lvl4pPr marL="1368171" indent="0">
              <a:buNone/>
              <a:defRPr sz="1995"/>
            </a:lvl4pPr>
            <a:lvl5pPr marL="1824228" indent="0">
              <a:buNone/>
              <a:defRPr sz="1995"/>
            </a:lvl5pPr>
            <a:lvl6pPr marL="2280285" indent="0">
              <a:buNone/>
              <a:defRPr sz="1995"/>
            </a:lvl6pPr>
            <a:lvl7pPr marL="2736342" indent="0">
              <a:buNone/>
              <a:defRPr sz="1995"/>
            </a:lvl7pPr>
            <a:lvl8pPr marL="3192399" indent="0">
              <a:buNone/>
              <a:defRPr sz="1995"/>
            </a:lvl8pPr>
            <a:lvl9pPr marL="3648456" indent="0">
              <a:buNone/>
              <a:defRPr sz="1995"/>
            </a:lvl9pPr>
          </a:lstStyle>
          <a:p>
            <a:r>
              <a:rPr lang="ru-RU"/>
              <a:t>Вставка рисунка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92713" y="2052161"/>
            <a:ext cx="4180050" cy="3801883"/>
          </a:xfrm>
        </p:spPr>
        <p:txBody>
          <a:bodyPr/>
          <a:lstStyle>
            <a:lvl1pPr marL="0" indent="0">
              <a:buNone/>
              <a:defRPr sz="1596"/>
            </a:lvl1pPr>
            <a:lvl2pPr marL="456057" indent="0">
              <a:buNone/>
              <a:defRPr sz="1397"/>
            </a:lvl2pPr>
            <a:lvl3pPr marL="912114" indent="0">
              <a:buNone/>
              <a:defRPr sz="1197"/>
            </a:lvl3pPr>
            <a:lvl4pPr marL="1368171" indent="0">
              <a:buNone/>
              <a:defRPr sz="998"/>
            </a:lvl4pPr>
            <a:lvl5pPr marL="1824228" indent="0">
              <a:buNone/>
              <a:defRPr sz="998"/>
            </a:lvl5pPr>
            <a:lvl6pPr marL="2280285" indent="0">
              <a:buNone/>
              <a:defRPr sz="998"/>
            </a:lvl6pPr>
            <a:lvl7pPr marL="2736342" indent="0">
              <a:buNone/>
              <a:defRPr sz="998"/>
            </a:lvl7pPr>
            <a:lvl8pPr marL="3192399" indent="0">
              <a:buNone/>
              <a:defRPr sz="998"/>
            </a:lvl8pPr>
            <a:lvl9pPr marL="3648456" indent="0">
              <a:buNone/>
              <a:defRPr sz="998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B2549-D5F9-604B-9EB9-69E1A6399CB9}" type="datetimeFigureOut">
              <a:rPr lang="ru-RU" smtClean="0"/>
              <a:t>11.05.2026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4391C-B8C0-B24A-A837-3162674174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68050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B2549-D5F9-604B-9EB9-69E1A6399CB9}" type="datetimeFigureOut">
              <a:rPr lang="ru-RU" smtClean="0"/>
              <a:t>11.05.2026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4391C-B8C0-B24A-A837-3162674174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88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74751" y="364195"/>
            <a:ext cx="2794575" cy="579704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91024" y="364195"/>
            <a:ext cx="8221722" cy="579704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B2549-D5F9-604B-9EB9-69E1A6399CB9}" type="datetimeFigureOut">
              <a:rPr lang="ru-RU" smtClean="0"/>
              <a:t>11.05.2026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4391C-B8C0-B24A-A837-3162674174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36188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91024" y="364196"/>
            <a:ext cx="11178302" cy="1322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91024" y="1820976"/>
            <a:ext cx="11178302" cy="43402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91024" y="6340166"/>
            <a:ext cx="2916079" cy="3641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9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EB2549-D5F9-604B-9EB9-69E1A6399CB9}" type="datetimeFigureOut">
              <a:rPr lang="ru-RU" smtClean="0"/>
              <a:t>11.05.2026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93116" y="6340166"/>
            <a:ext cx="4374118" cy="3641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9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153247" y="6340166"/>
            <a:ext cx="2916079" cy="3641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9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D4391C-B8C0-B24A-A837-3162674174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26088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2114" rtl="0" eaLnBrk="1" latinLnBrk="0" hangingPunct="1">
        <a:lnSpc>
          <a:spcPct val="90000"/>
        </a:lnSpc>
        <a:spcBef>
          <a:spcPct val="0"/>
        </a:spcBef>
        <a:buNone/>
        <a:defRPr sz="438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029" indent="-228029" algn="l" defTabSz="912114" rtl="0" eaLnBrk="1" latinLnBrk="0" hangingPunct="1">
        <a:lnSpc>
          <a:spcPct val="90000"/>
        </a:lnSpc>
        <a:spcBef>
          <a:spcPts val="998"/>
        </a:spcBef>
        <a:buFont typeface="Arial" panose="020B0604020202020204" pitchFamily="34" charset="0"/>
        <a:buChar char="•"/>
        <a:defRPr sz="2793" kern="1200">
          <a:solidFill>
            <a:schemeClr val="tx1"/>
          </a:solidFill>
          <a:latin typeface="+mn-lt"/>
          <a:ea typeface="+mn-ea"/>
          <a:cs typeface="+mn-cs"/>
        </a:defRPr>
      </a:lvl1pPr>
      <a:lvl2pPr marL="684086" indent="-228029" algn="l" defTabSz="912114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2394" kern="1200">
          <a:solidFill>
            <a:schemeClr val="tx1"/>
          </a:solidFill>
          <a:latin typeface="+mn-lt"/>
          <a:ea typeface="+mn-ea"/>
          <a:cs typeface="+mn-cs"/>
        </a:defRPr>
      </a:lvl2pPr>
      <a:lvl3pPr marL="1140143" indent="-228029" algn="l" defTabSz="912114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995" kern="1200">
          <a:solidFill>
            <a:schemeClr val="tx1"/>
          </a:solidFill>
          <a:latin typeface="+mn-lt"/>
          <a:ea typeface="+mn-ea"/>
          <a:cs typeface="+mn-cs"/>
        </a:defRPr>
      </a:lvl3pPr>
      <a:lvl4pPr marL="1596200" indent="-228029" algn="l" defTabSz="912114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+mn-lt"/>
          <a:ea typeface="+mn-ea"/>
          <a:cs typeface="+mn-cs"/>
        </a:defRPr>
      </a:lvl4pPr>
      <a:lvl5pPr marL="2052257" indent="-228029" algn="l" defTabSz="912114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+mn-lt"/>
          <a:ea typeface="+mn-ea"/>
          <a:cs typeface="+mn-cs"/>
        </a:defRPr>
      </a:lvl5pPr>
      <a:lvl6pPr marL="2508314" indent="-228029" algn="l" defTabSz="912114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+mn-lt"/>
          <a:ea typeface="+mn-ea"/>
          <a:cs typeface="+mn-cs"/>
        </a:defRPr>
      </a:lvl6pPr>
      <a:lvl7pPr marL="2964371" indent="-228029" algn="l" defTabSz="912114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+mn-lt"/>
          <a:ea typeface="+mn-ea"/>
          <a:cs typeface="+mn-cs"/>
        </a:defRPr>
      </a:lvl7pPr>
      <a:lvl8pPr marL="3420428" indent="-228029" algn="l" defTabSz="912114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+mn-lt"/>
          <a:ea typeface="+mn-ea"/>
          <a:cs typeface="+mn-cs"/>
        </a:defRPr>
      </a:lvl8pPr>
      <a:lvl9pPr marL="3876485" indent="-228029" algn="l" defTabSz="912114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2114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1pPr>
      <a:lvl2pPr marL="456057" algn="l" defTabSz="912114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2pPr>
      <a:lvl3pPr marL="912114" algn="l" defTabSz="912114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3pPr>
      <a:lvl4pPr marL="1368171" algn="l" defTabSz="912114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4pPr>
      <a:lvl5pPr marL="1824228" algn="l" defTabSz="912114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5pPr>
      <a:lvl6pPr marL="2280285" algn="l" defTabSz="912114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6pPr>
      <a:lvl7pPr marL="2736342" algn="l" defTabSz="912114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7pPr>
      <a:lvl8pPr marL="3192399" algn="l" defTabSz="912114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8pPr>
      <a:lvl9pPr marL="3648456" algn="l" defTabSz="912114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E00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C1650DA2-9DD9-C801-FC5D-C65322C767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0520" y="0"/>
            <a:ext cx="4189830" cy="6840538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B280AF07-DD1E-10D4-3116-A6219A3795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760" y="329338"/>
            <a:ext cx="1862895" cy="81967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FE81354-8EDC-4655-989B-D0FE31D3760F}"/>
              </a:ext>
            </a:extLst>
          </p:cNvPr>
          <p:cNvSpPr txBox="1"/>
          <p:nvPr/>
        </p:nvSpPr>
        <p:spPr>
          <a:xfrm>
            <a:off x="9503238" y="5126528"/>
            <a:ext cx="3123264" cy="123110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spcBef>
                <a:spcPct val="50000"/>
              </a:spcBef>
            </a:pPr>
            <a:r>
              <a:rPr lang="ru-RU" sz="2000" b="1" dirty="0">
                <a:solidFill>
                  <a:schemeClr val="bg1"/>
                </a:solidFill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</a:rPr>
              <a:t>Выполнил Соколов Д.</a:t>
            </a:r>
          </a:p>
          <a:p>
            <a:pPr>
              <a:spcBef>
                <a:spcPct val="50000"/>
              </a:spcBef>
            </a:pPr>
            <a:r>
              <a:rPr lang="ru-RU" sz="2000" b="1" dirty="0">
                <a:solidFill>
                  <a:schemeClr val="bg1"/>
                </a:solidFill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</a:rPr>
              <a:t>Группа Ик-731 </a:t>
            </a:r>
          </a:p>
          <a:p>
            <a:pPr>
              <a:spcBef>
                <a:spcPct val="50000"/>
              </a:spcBef>
            </a:pPr>
            <a:r>
              <a:rPr lang="ru-RU" sz="2000" b="1" dirty="0">
                <a:solidFill>
                  <a:schemeClr val="bg1"/>
                </a:solidFill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</a:rPr>
              <a:t>07.05.2026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482B66F-7238-4D02-B8AE-B900D9B050B4}"/>
              </a:ext>
            </a:extLst>
          </p:cNvPr>
          <p:cNvSpPr txBox="1"/>
          <p:nvPr/>
        </p:nvSpPr>
        <p:spPr>
          <a:xfrm>
            <a:off x="2097842" y="2558495"/>
            <a:ext cx="9098892" cy="178510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ru-RU" sz="2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Военные конфликты во второй половине XX – первой четверти XXI вв. </a:t>
            </a:r>
          </a:p>
          <a:p>
            <a:pPr algn="ctr">
              <a:spcBef>
                <a:spcPct val="50000"/>
              </a:spcBef>
            </a:pPr>
            <a:r>
              <a:rPr lang="ru-RU" sz="2400" dirty="0">
                <a:solidFill>
                  <a:schemeClr val="bg1"/>
                </a:solidFill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</a:rPr>
              <a:t>На примере общего обзора конфликтов периода и Афганской войны 1979-1989 гг.</a:t>
            </a:r>
          </a:p>
        </p:txBody>
      </p:sp>
    </p:spTree>
    <p:extLst>
      <p:ext uri="{BB962C8B-B14F-4D97-AF65-F5344CB8AC3E}">
        <p14:creationId xmlns:p14="http://schemas.microsoft.com/office/powerpoint/2010/main" val="33172034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987F6F4-3E08-9CA9-878F-C90083D41B41}"/>
              </a:ext>
            </a:extLst>
          </p:cNvPr>
          <p:cNvSpPr txBox="1"/>
          <p:nvPr/>
        </p:nvSpPr>
        <p:spPr>
          <a:xfrm>
            <a:off x="1042988" y="1116013"/>
            <a:ext cx="6421951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825500"/>
            <a:r>
              <a:rPr lang="ru-RU" sz="2800" b="1" dirty="0">
                <a:solidFill>
                  <a:srgbClr val="BE003E"/>
                </a:solidFill>
                <a:latin typeface="Arial"/>
                <a:cs typeface="Arial"/>
              </a:rPr>
              <a:t>Актуальность темы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94D925-F08B-D8B4-8DC2-EFF70BD6C46C}"/>
              </a:ext>
            </a:extLst>
          </p:cNvPr>
          <p:cNvSpPr txBox="1"/>
          <p:nvPr/>
        </p:nvSpPr>
        <p:spPr>
          <a:xfrm>
            <a:off x="1042988" y="2318014"/>
            <a:ext cx="6256170" cy="338554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spcBef>
                <a:spcPts val="1200"/>
              </a:spcBef>
              <a:buClr>
                <a:srgbClr val="BE003E"/>
              </a:buClr>
              <a:buFont typeface="Arial" panose="020B0604020202020204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После 1945 года мировой войны не было, но конфликты продолжались.</a:t>
            </a:r>
          </a:p>
          <a:p>
            <a:pPr marL="342900" indent="-342900">
              <a:spcBef>
                <a:spcPts val="1200"/>
              </a:spcBef>
              <a:buClr>
                <a:srgbClr val="BE003E"/>
              </a:buClr>
              <a:buFont typeface="Arial" panose="020B0604020202020204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Ядерное оружие сдерживало прямое столкновение сверхдержав.</a:t>
            </a:r>
          </a:p>
          <a:p>
            <a:pPr marL="342900" indent="-342900">
              <a:spcBef>
                <a:spcPts val="1200"/>
              </a:spcBef>
              <a:buClr>
                <a:srgbClr val="BE003E"/>
              </a:buClr>
              <a:buFont typeface="Arial" panose="020B0604020202020204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Локальные войны часто становились частью мировой политики.</a:t>
            </a:r>
          </a:p>
          <a:p>
            <a:pPr marL="342900" indent="-342900">
              <a:spcBef>
                <a:spcPts val="1200"/>
              </a:spcBef>
              <a:buClr>
                <a:srgbClr val="BE003E"/>
              </a:buClr>
              <a:buFont typeface="Arial" panose="020B0604020202020204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Конфликты влияли на безопасность целых регионов.</a:t>
            </a:r>
          </a:p>
          <a:p>
            <a:pPr marL="342900" indent="-342900">
              <a:spcBef>
                <a:spcPts val="1200"/>
              </a:spcBef>
              <a:buClr>
                <a:srgbClr val="BE003E"/>
              </a:buClr>
              <a:buFont typeface="Arial" panose="020B0604020202020204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В XXI веке войны стали более комплексными.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47C652-AB45-4ADB-9C54-E611BE0CEAD0}"/>
              </a:ext>
            </a:extLst>
          </p:cNvPr>
          <p:cNvSpPr txBox="1"/>
          <p:nvPr/>
        </p:nvSpPr>
        <p:spPr>
          <a:xfrm>
            <a:off x="600116" y="244575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489686F7-2497-4469-82D5-97564EC7885C}" type="slidenum">
              <a:rPr lang="en-US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fld>
            <a:endParaRPr lang="ru-RU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05E6C4E9-DEB7-854F-6029-730704DA0E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9158" y="1922816"/>
            <a:ext cx="3658696" cy="3600000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18150706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987F6F4-3E08-9CA9-878F-C90083D41B41}"/>
              </a:ext>
            </a:extLst>
          </p:cNvPr>
          <p:cNvSpPr txBox="1"/>
          <p:nvPr/>
        </p:nvSpPr>
        <p:spPr>
          <a:xfrm>
            <a:off x="1042988" y="1116013"/>
            <a:ext cx="6421951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825500"/>
            <a:r>
              <a:rPr lang="ru-RU" sz="2800" b="1" dirty="0">
                <a:solidFill>
                  <a:srgbClr val="BE003E"/>
                </a:solidFill>
                <a:latin typeface="Arial"/>
                <a:cs typeface="Arial"/>
              </a:rPr>
              <a:t>Основные понятия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94D925-F08B-D8B4-8DC2-EFF70BD6C46C}"/>
              </a:ext>
            </a:extLst>
          </p:cNvPr>
          <p:cNvSpPr txBox="1"/>
          <p:nvPr/>
        </p:nvSpPr>
        <p:spPr>
          <a:xfrm>
            <a:off x="1042988" y="2318014"/>
            <a:ext cx="6256170" cy="369331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spcBef>
                <a:spcPts val="1200"/>
              </a:spcBef>
              <a:buClr>
                <a:srgbClr val="BE003E"/>
              </a:buClr>
              <a:buFont typeface="Arial" panose="020B0604020202020204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Военный конфликт - противоборство с применением военной силы.</a:t>
            </a:r>
          </a:p>
          <a:p>
            <a:pPr marL="342900" indent="-342900">
              <a:spcBef>
                <a:spcPts val="1200"/>
              </a:spcBef>
              <a:buClr>
                <a:srgbClr val="BE003E"/>
              </a:buClr>
              <a:buFont typeface="Arial" panose="020B0604020202020204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Локальная война - конфликт, ограниченный территорией и целями.</a:t>
            </a:r>
          </a:p>
          <a:p>
            <a:pPr marL="342900" indent="-342900">
              <a:spcBef>
                <a:spcPts val="1200"/>
              </a:spcBef>
              <a:buClr>
                <a:srgbClr val="BE003E"/>
              </a:buClr>
              <a:buFont typeface="Arial" panose="020B0604020202020204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Региональный конфликт - влияет на безопасность целого региона.</a:t>
            </a:r>
          </a:p>
          <a:p>
            <a:pPr marL="342900" indent="-342900">
              <a:spcBef>
                <a:spcPts val="1200"/>
              </a:spcBef>
              <a:buClr>
                <a:srgbClr val="BE003E"/>
              </a:buClr>
              <a:buFont typeface="Arial" panose="020B0604020202020204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Гражданская война - вооруженная борьба внутри государства.</a:t>
            </a:r>
          </a:p>
          <a:p>
            <a:pPr marL="342900" indent="-342900">
              <a:spcBef>
                <a:spcPts val="1200"/>
              </a:spcBef>
              <a:buClr>
                <a:srgbClr val="BE003E"/>
              </a:buClr>
              <a:buFont typeface="Arial" panose="020B0604020202020204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В XX-XXI вв. внутренние конфликты часто становились международными.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47C652-AB45-4ADB-9C54-E611BE0CEAD0}"/>
              </a:ext>
            </a:extLst>
          </p:cNvPr>
          <p:cNvSpPr txBox="1"/>
          <p:nvPr/>
        </p:nvSpPr>
        <p:spPr>
          <a:xfrm>
            <a:off x="600116" y="244575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489686F7-2497-4469-82D5-97564EC7885C}" type="slidenum">
              <a:rPr lang="en-US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fld>
            <a:endParaRPr lang="ru-RU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2A7F13C-E021-4AA0-26E6-BE5075D801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2958" y="1546900"/>
            <a:ext cx="3981000" cy="39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91385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987F6F4-3E08-9CA9-878F-C90083D41B41}"/>
              </a:ext>
            </a:extLst>
          </p:cNvPr>
          <p:cNvSpPr txBox="1"/>
          <p:nvPr/>
        </p:nvSpPr>
        <p:spPr>
          <a:xfrm>
            <a:off x="1042988" y="1116013"/>
            <a:ext cx="6421951" cy="8617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825500"/>
            <a:r>
              <a:rPr lang="ru-RU" sz="2800" b="1" dirty="0">
                <a:solidFill>
                  <a:srgbClr val="BE003E"/>
                </a:solidFill>
                <a:latin typeface="Arial"/>
                <a:cs typeface="Arial"/>
              </a:rPr>
              <a:t>Причины военных конфликтов периода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94D925-F08B-D8B4-8DC2-EFF70BD6C46C}"/>
              </a:ext>
            </a:extLst>
          </p:cNvPr>
          <p:cNvSpPr txBox="1"/>
          <p:nvPr/>
        </p:nvSpPr>
        <p:spPr>
          <a:xfrm>
            <a:off x="1042988" y="2279914"/>
            <a:ext cx="6256170" cy="307776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spcBef>
                <a:spcPts val="1200"/>
              </a:spcBef>
              <a:buClr>
                <a:srgbClr val="BE003E"/>
              </a:buClr>
              <a:buFont typeface="Arial" panose="020B0604020202020204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Идеологическое противостояние.</a:t>
            </a:r>
          </a:p>
          <a:p>
            <a:pPr marL="342900" indent="-342900">
              <a:spcBef>
                <a:spcPts val="1200"/>
              </a:spcBef>
              <a:buClr>
                <a:srgbClr val="BE003E"/>
              </a:buClr>
              <a:buFont typeface="Arial" panose="020B0604020202020204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Распад колониальной системы.</a:t>
            </a:r>
          </a:p>
          <a:p>
            <a:pPr marL="342900" indent="-342900">
              <a:spcBef>
                <a:spcPts val="1200"/>
              </a:spcBef>
              <a:buClr>
                <a:srgbClr val="BE003E"/>
              </a:buClr>
              <a:buFont typeface="Arial" panose="020B0604020202020204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Борьба за геополитическое влияние.</a:t>
            </a:r>
          </a:p>
          <a:p>
            <a:pPr marL="342900" indent="-342900">
              <a:spcBef>
                <a:spcPts val="1200"/>
              </a:spcBef>
              <a:buClr>
                <a:srgbClr val="BE003E"/>
              </a:buClr>
              <a:buFont typeface="Arial" panose="020B0604020202020204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Этнические и религиозные противоречия.</a:t>
            </a:r>
          </a:p>
          <a:p>
            <a:pPr marL="342900" indent="-342900">
              <a:spcBef>
                <a:spcPts val="1200"/>
              </a:spcBef>
              <a:buClr>
                <a:srgbClr val="BE003E"/>
              </a:buClr>
              <a:buFont typeface="Arial" panose="020B0604020202020204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Внешнее вмешательство.</a:t>
            </a:r>
          </a:p>
          <a:p>
            <a:pPr marL="342900" indent="-342900">
              <a:spcBef>
                <a:spcPts val="1200"/>
              </a:spcBef>
              <a:buClr>
                <a:srgbClr val="BE003E"/>
              </a:buClr>
              <a:buFont typeface="Arial" panose="020B0604020202020204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Слабость государственных институтов.</a:t>
            </a:r>
          </a:p>
          <a:p>
            <a:pPr marL="342900" indent="-342900">
              <a:spcBef>
                <a:spcPts val="1200"/>
              </a:spcBef>
              <a:buClr>
                <a:srgbClr val="BE003E"/>
              </a:buClr>
              <a:buFont typeface="Arial" panose="020B0604020202020204" pitchFamily="34" charset="0"/>
              <a:buChar char="•"/>
            </a:pP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47C652-AB45-4ADB-9C54-E611BE0CEAD0}"/>
              </a:ext>
            </a:extLst>
          </p:cNvPr>
          <p:cNvSpPr txBox="1"/>
          <p:nvPr/>
        </p:nvSpPr>
        <p:spPr>
          <a:xfrm>
            <a:off x="600116" y="244575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489686F7-2497-4469-82D5-97564EC7885C}" type="slidenum">
              <a:rPr lang="en-US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fld>
            <a:endParaRPr lang="ru-RU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05D0E8CA-858C-1CC5-34FC-2CA7A66E6E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1247" y="1757680"/>
            <a:ext cx="3595122" cy="3600000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6053336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987F6F4-3E08-9CA9-878F-C90083D41B41}"/>
              </a:ext>
            </a:extLst>
          </p:cNvPr>
          <p:cNvSpPr txBox="1"/>
          <p:nvPr/>
        </p:nvSpPr>
        <p:spPr>
          <a:xfrm>
            <a:off x="1042988" y="1116013"/>
            <a:ext cx="7456435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825500"/>
            <a:r>
              <a:rPr lang="ru-RU" sz="2800" b="1" dirty="0">
                <a:solidFill>
                  <a:srgbClr val="BE003E"/>
                </a:solidFill>
                <a:latin typeface="Arial"/>
                <a:cs typeface="Arial"/>
              </a:rPr>
              <a:t>Основные группы конфликтов периода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94D925-F08B-D8B4-8DC2-EFF70BD6C46C}"/>
              </a:ext>
            </a:extLst>
          </p:cNvPr>
          <p:cNvSpPr txBox="1"/>
          <p:nvPr/>
        </p:nvSpPr>
        <p:spPr>
          <a:xfrm>
            <a:off x="1042988" y="2318014"/>
            <a:ext cx="6256170" cy="292387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spcBef>
                <a:spcPts val="1200"/>
              </a:spcBef>
              <a:buClr>
                <a:srgbClr val="BE003E"/>
              </a:buClr>
              <a:buFont typeface="Arial" panose="020B0604020202020204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Конфликты холодной войны.</a:t>
            </a:r>
          </a:p>
          <a:p>
            <a:pPr marL="342900" indent="-342900">
              <a:spcBef>
                <a:spcPts val="1200"/>
              </a:spcBef>
              <a:buClr>
                <a:srgbClr val="BE003E"/>
              </a:buClr>
              <a:buFont typeface="Arial" panose="020B0604020202020204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Конфликты на Ближнем Востоке.</a:t>
            </a:r>
          </a:p>
          <a:p>
            <a:pPr marL="342900" indent="-342900">
              <a:spcBef>
                <a:spcPts val="1200"/>
              </a:spcBef>
              <a:buClr>
                <a:srgbClr val="BE003E"/>
              </a:buClr>
              <a:buFont typeface="Arial" panose="020B0604020202020204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Конфликты после распада социалистического блока.</a:t>
            </a:r>
          </a:p>
          <a:p>
            <a:pPr marL="342900" indent="-342900">
              <a:spcBef>
                <a:spcPts val="1200"/>
              </a:spcBef>
              <a:buClr>
                <a:srgbClr val="BE003E"/>
              </a:buClr>
              <a:buFont typeface="Arial" panose="020B0604020202020204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Конфликты первой четверти XXI века.</a:t>
            </a:r>
          </a:p>
          <a:p>
            <a:pPr marL="342900" indent="-342900">
              <a:spcBef>
                <a:spcPts val="1200"/>
              </a:spcBef>
              <a:buClr>
                <a:srgbClr val="BE003E"/>
              </a:buClr>
              <a:buFont typeface="Arial" panose="020B0604020202020204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Афганская война как подробный пример.</a:t>
            </a:r>
          </a:p>
          <a:p>
            <a:pPr marL="342900" indent="-342900">
              <a:spcBef>
                <a:spcPts val="1200"/>
              </a:spcBef>
              <a:buClr>
                <a:srgbClr val="BE003E"/>
              </a:buClr>
              <a:buFont typeface="Arial" panose="020B0604020202020204" pitchFamily="34" charset="0"/>
              <a:buChar char="•"/>
            </a:pP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47C652-AB45-4ADB-9C54-E611BE0CEAD0}"/>
              </a:ext>
            </a:extLst>
          </p:cNvPr>
          <p:cNvSpPr txBox="1"/>
          <p:nvPr/>
        </p:nvSpPr>
        <p:spPr>
          <a:xfrm>
            <a:off x="600116" y="244575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489686F7-2497-4469-82D5-97564EC7885C}" type="slidenum">
              <a:rPr lang="en-US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fld>
            <a:endParaRPr lang="ru-RU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8AB7BA8-AB05-68D8-9A7C-CE2D830C3C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8528" y="1598647"/>
            <a:ext cx="1978947" cy="1800000"/>
          </a:xfrm>
          <a:prstGeom prst="round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3938653-620E-C6EB-87B4-D68D547B5C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4959" y="2123691"/>
            <a:ext cx="1747059" cy="1800000"/>
          </a:xfrm>
          <a:prstGeom prst="round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56A56565-6152-0CCC-4071-6570AB2929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39730" y="3548735"/>
            <a:ext cx="1807965" cy="1800000"/>
          </a:xfrm>
          <a:prstGeom prst="round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1337B7BD-26AA-1EDA-DC96-C3250A26347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0901" y="4073779"/>
            <a:ext cx="2015173" cy="1800000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40812852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987F6F4-3E08-9CA9-878F-C90083D41B41}"/>
              </a:ext>
            </a:extLst>
          </p:cNvPr>
          <p:cNvSpPr txBox="1"/>
          <p:nvPr/>
        </p:nvSpPr>
        <p:spPr>
          <a:xfrm>
            <a:off x="1042988" y="1116013"/>
            <a:ext cx="6421951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825500"/>
            <a:r>
              <a:rPr lang="ru-RU" sz="2800" b="1" dirty="0">
                <a:solidFill>
                  <a:srgbClr val="BE003E"/>
                </a:solidFill>
                <a:latin typeface="Arial"/>
                <a:cs typeface="Arial"/>
              </a:rPr>
              <a:t>Конфликты холодной войны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94D925-F08B-D8B4-8DC2-EFF70BD6C46C}"/>
              </a:ext>
            </a:extLst>
          </p:cNvPr>
          <p:cNvSpPr txBox="1"/>
          <p:nvPr/>
        </p:nvSpPr>
        <p:spPr>
          <a:xfrm>
            <a:off x="1042988" y="2318014"/>
            <a:ext cx="6256170" cy="384720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spcBef>
                <a:spcPts val="1200"/>
              </a:spcBef>
              <a:buClr>
                <a:srgbClr val="BE003E"/>
              </a:buClr>
              <a:buFont typeface="Arial" panose="020B0604020202020204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Корейская война 1950-1953 гг.</a:t>
            </a:r>
          </a:p>
          <a:p>
            <a:pPr marL="342900" indent="-342900">
              <a:spcBef>
                <a:spcPts val="1200"/>
              </a:spcBef>
              <a:buClr>
                <a:srgbClr val="BE003E"/>
              </a:buClr>
              <a:buFont typeface="Arial" panose="020B0604020202020204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Война во Вьетнаме.</a:t>
            </a:r>
          </a:p>
          <a:p>
            <a:pPr marL="342900" indent="-342900">
              <a:spcBef>
                <a:spcPts val="1200"/>
              </a:spcBef>
              <a:buClr>
                <a:srgbClr val="BE003E"/>
              </a:buClr>
              <a:buFont typeface="Arial" panose="020B0604020202020204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Карибский кризис.</a:t>
            </a:r>
          </a:p>
          <a:p>
            <a:pPr marL="342900" indent="-342900">
              <a:spcBef>
                <a:spcPts val="1200"/>
              </a:spcBef>
              <a:buClr>
                <a:srgbClr val="BE003E"/>
              </a:buClr>
              <a:buFont typeface="Arial" panose="020B0604020202020204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Войны в Индокитае.</a:t>
            </a:r>
          </a:p>
          <a:p>
            <a:pPr marL="342900" indent="-342900">
              <a:spcBef>
                <a:spcPts val="1200"/>
              </a:spcBef>
              <a:buClr>
                <a:srgbClr val="BE003E"/>
              </a:buClr>
              <a:buFont typeface="Arial" panose="020B0604020202020204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Афганская война 1979-1989 гг.</a:t>
            </a:r>
          </a:p>
          <a:p>
            <a:pPr marL="342900" indent="-342900">
              <a:spcBef>
                <a:spcPts val="1200"/>
              </a:spcBef>
              <a:buClr>
                <a:srgbClr val="BE003E"/>
              </a:buClr>
              <a:buFont typeface="Arial" panose="020B0604020202020204" pitchFamily="34" charset="0"/>
              <a:buChar char="•"/>
            </a:pP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ts val="1200"/>
              </a:spcBef>
              <a:buClr>
                <a:srgbClr val="BE003E"/>
              </a:buClr>
            </a:pPr>
            <a:r>
              <a:rPr lang="ru-RU" sz="2000" b="1" dirty="0">
                <a:solidFill>
                  <a:srgbClr val="BE00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Особенность: локальные конфликты отражали глобальное противостояние СССР и США.</a:t>
            </a:r>
          </a:p>
          <a:p>
            <a:pPr marL="342900" indent="-342900">
              <a:spcBef>
                <a:spcPts val="1200"/>
              </a:spcBef>
              <a:buClr>
                <a:srgbClr val="BE003E"/>
              </a:buClr>
              <a:buFont typeface="Arial" panose="020B0604020202020204" pitchFamily="34" charset="0"/>
              <a:buChar char="•"/>
            </a:pP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47C652-AB45-4ADB-9C54-E611BE0CEAD0}"/>
              </a:ext>
            </a:extLst>
          </p:cNvPr>
          <p:cNvSpPr txBox="1"/>
          <p:nvPr/>
        </p:nvSpPr>
        <p:spPr>
          <a:xfrm>
            <a:off x="600116" y="244575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489686F7-2497-4469-82D5-97564EC7885C}" type="slidenum">
              <a:rPr lang="en-US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fld>
            <a:endParaRPr lang="ru-RU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A20D7F1-6354-1E6C-7710-96B394D1C4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4939" y="1546900"/>
            <a:ext cx="3595095" cy="3600000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34469383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987F6F4-3E08-9CA9-878F-C90083D41B41}"/>
              </a:ext>
            </a:extLst>
          </p:cNvPr>
          <p:cNvSpPr txBox="1"/>
          <p:nvPr/>
        </p:nvSpPr>
        <p:spPr>
          <a:xfrm>
            <a:off x="1042988" y="1116013"/>
            <a:ext cx="6421951" cy="8617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825500"/>
            <a:r>
              <a:rPr lang="ru-RU" sz="2800" b="1" dirty="0">
                <a:solidFill>
                  <a:srgbClr val="BE003E"/>
                </a:solidFill>
                <a:latin typeface="Arial"/>
                <a:cs typeface="Arial"/>
              </a:rPr>
              <a:t>Конфликты на Ближнем Востоке</a:t>
            </a:r>
          </a:p>
          <a:p>
            <a:pPr defTabSz="825500"/>
            <a:endParaRPr lang="ru-RU" sz="2800" b="1" dirty="0">
              <a:solidFill>
                <a:srgbClr val="BE003E"/>
              </a:solidFill>
              <a:latin typeface="Arial"/>
              <a:cs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94D925-F08B-D8B4-8DC2-EFF70BD6C46C}"/>
              </a:ext>
            </a:extLst>
          </p:cNvPr>
          <p:cNvSpPr txBox="1"/>
          <p:nvPr/>
        </p:nvSpPr>
        <p:spPr>
          <a:xfrm>
            <a:off x="1042988" y="2318014"/>
            <a:ext cx="6256170" cy="338554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spcBef>
                <a:spcPts val="1200"/>
              </a:spcBef>
              <a:buClr>
                <a:srgbClr val="BE003E"/>
              </a:buClr>
              <a:buFont typeface="Arial" panose="020B0604020202020204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Арабо-израильские войны.</a:t>
            </a:r>
          </a:p>
          <a:p>
            <a:pPr marL="342900" indent="-342900">
              <a:spcBef>
                <a:spcPts val="1200"/>
              </a:spcBef>
              <a:buClr>
                <a:srgbClr val="BE003E"/>
              </a:buClr>
              <a:buFont typeface="Arial" panose="020B0604020202020204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Суэцкий кризис.</a:t>
            </a:r>
          </a:p>
          <a:p>
            <a:pPr marL="342900" indent="-342900">
              <a:spcBef>
                <a:spcPts val="1200"/>
              </a:spcBef>
              <a:buClr>
                <a:srgbClr val="BE003E"/>
              </a:buClr>
              <a:buFont typeface="Arial" panose="020B0604020202020204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Войны в Персидском заливе.</a:t>
            </a:r>
          </a:p>
          <a:p>
            <a:pPr marL="342900" indent="-342900">
              <a:spcBef>
                <a:spcPts val="1200"/>
              </a:spcBef>
              <a:buClr>
                <a:srgbClr val="BE003E"/>
              </a:buClr>
              <a:buFont typeface="Arial" panose="020B0604020202020204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Палестинская проблема.</a:t>
            </a:r>
          </a:p>
          <a:p>
            <a:pPr marL="342900" indent="-342900">
              <a:spcBef>
                <a:spcPts val="1200"/>
              </a:spcBef>
              <a:buClr>
                <a:srgbClr val="BE003E"/>
              </a:buClr>
              <a:buFont typeface="Arial" panose="020B0604020202020204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Гражданская война в Сирии.</a:t>
            </a:r>
          </a:p>
          <a:p>
            <a:pPr marL="342900" indent="-342900">
              <a:spcBef>
                <a:spcPts val="1200"/>
              </a:spcBef>
              <a:buClr>
                <a:srgbClr val="BE003E"/>
              </a:buClr>
              <a:buFont typeface="Arial" panose="020B0604020202020204" pitchFamily="34" charset="0"/>
              <a:buChar char="•"/>
            </a:pP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ts val="1200"/>
              </a:spcBef>
              <a:buClr>
                <a:srgbClr val="BE003E"/>
              </a:buClr>
            </a:pPr>
            <a:r>
              <a:rPr lang="ru-RU" sz="2000" b="1" dirty="0">
                <a:solidFill>
                  <a:srgbClr val="BE00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Причины: территории, религия, нефть, внешнее влияние, борьба за лидерство.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47C652-AB45-4ADB-9C54-E611BE0CEAD0}"/>
              </a:ext>
            </a:extLst>
          </p:cNvPr>
          <p:cNvSpPr txBox="1"/>
          <p:nvPr/>
        </p:nvSpPr>
        <p:spPr>
          <a:xfrm>
            <a:off x="600116" y="244575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489686F7-2497-4469-82D5-97564EC7885C}" type="slidenum">
              <a:rPr lang="en-US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</a:t>
            </a:fld>
            <a:endParaRPr lang="ru-RU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B142E58-845F-394A-1CE4-07D8208251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9739" y="1461969"/>
            <a:ext cx="3616843" cy="3651336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41228823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987F6F4-3E08-9CA9-878F-C90083D41B41}"/>
              </a:ext>
            </a:extLst>
          </p:cNvPr>
          <p:cNvSpPr txBox="1"/>
          <p:nvPr/>
        </p:nvSpPr>
        <p:spPr>
          <a:xfrm>
            <a:off x="1042988" y="1116013"/>
            <a:ext cx="9834562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825500"/>
            <a:r>
              <a:rPr lang="ru-RU" sz="2800" b="1" dirty="0">
                <a:solidFill>
                  <a:srgbClr val="BE003E"/>
                </a:solidFill>
                <a:latin typeface="Arial"/>
                <a:cs typeface="Arial"/>
              </a:rPr>
              <a:t>Конфликты после распада социалистического блока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94D925-F08B-D8B4-8DC2-EFF70BD6C46C}"/>
              </a:ext>
            </a:extLst>
          </p:cNvPr>
          <p:cNvSpPr txBox="1"/>
          <p:nvPr/>
        </p:nvSpPr>
        <p:spPr>
          <a:xfrm>
            <a:off x="1042988" y="1879864"/>
            <a:ext cx="6256170" cy="477053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spcBef>
                <a:spcPts val="1200"/>
              </a:spcBef>
              <a:buClr>
                <a:srgbClr val="BE003E"/>
              </a:buClr>
            </a:pPr>
            <a:r>
              <a:rPr lang="ru-RU" sz="2000" b="1" dirty="0">
                <a:solidFill>
                  <a:srgbClr val="BE00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Конец XX века</a:t>
            </a:r>
          </a:p>
          <a:p>
            <a:pPr marL="342900" indent="-342900">
              <a:spcBef>
                <a:spcPts val="1200"/>
              </a:spcBef>
              <a:buClr>
                <a:srgbClr val="BE003E"/>
              </a:buClr>
              <a:buFont typeface="Arial" panose="020B0604020202020204" pitchFamily="34" charset="0"/>
              <a:buChar char="•"/>
            </a:pP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Bef>
                <a:spcPts val="1200"/>
              </a:spcBef>
              <a:buClr>
                <a:srgbClr val="BE003E"/>
              </a:buClr>
              <a:buFont typeface="Arial" panose="020B0604020202020204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Распад СССР и социалистической системы.</a:t>
            </a:r>
          </a:p>
          <a:p>
            <a:pPr marL="342900" indent="-342900">
              <a:spcBef>
                <a:spcPts val="1200"/>
              </a:spcBef>
              <a:buClr>
                <a:srgbClr val="BE003E"/>
              </a:buClr>
              <a:buFont typeface="Arial" panose="020B0604020202020204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Изменение международного порядка.</a:t>
            </a:r>
          </a:p>
          <a:p>
            <a:pPr marL="342900" indent="-342900">
              <a:spcBef>
                <a:spcPts val="1200"/>
              </a:spcBef>
              <a:buClr>
                <a:srgbClr val="BE003E"/>
              </a:buClr>
              <a:buFont typeface="Arial" panose="020B0604020202020204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Рост национальных и этнических противоречий.</a:t>
            </a:r>
          </a:p>
          <a:p>
            <a:pPr marL="342900" indent="-342900">
              <a:spcBef>
                <a:spcPts val="1200"/>
              </a:spcBef>
              <a:buClr>
                <a:srgbClr val="BE003E"/>
              </a:buClr>
              <a:buFont typeface="Arial" panose="020B0604020202020204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Войны на Балканах.</a:t>
            </a:r>
          </a:p>
          <a:p>
            <a:pPr marL="342900" indent="-342900">
              <a:spcBef>
                <a:spcPts val="1200"/>
              </a:spcBef>
              <a:buClr>
                <a:srgbClr val="BE003E"/>
              </a:buClr>
              <a:buFont typeface="Arial" panose="020B0604020202020204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Конфликты на постсоветском пространстве.</a:t>
            </a:r>
          </a:p>
          <a:p>
            <a:pPr marL="342900" indent="-342900">
              <a:spcBef>
                <a:spcPts val="1200"/>
              </a:spcBef>
              <a:buClr>
                <a:srgbClr val="BE003E"/>
              </a:buClr>
              <a:buFont typeface="Arial" panose="020B0604020202020204" pitchFamily="34" charset="0"/>
              <a:buChar char="•"/>
            </a:pP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ts val="1200"/>
              </a:spcBef>
              <a:buClr>
                <a:srgbClr val="BE003E"/>
              </a:buClr>
            </a:pPr>
            <a:r>
              <a:rPr lang="ru-RU" sz="2000" b="1" dirty="0">
                <a:solidFill>
                  <a:srgbClr val="BE00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Вывод: окончание холодной войны не означало наступления полного мира.</a:t>
            </a:r>
          </a:p>
          <a:p>
            <a:pPr marL="342900" indent="-342900">
              <a:spcBef>
                <a:spcPts val="1200"/>
              </a:spcBef>
              <a:buClr>
                <a:srgbClr val="BE003E"/>
              </a:buClr>
              <a:buFont typeface="Arial" panose="020B0604020202020204" pitchFamily="34" charset="0"/>
              <a:buChar char="•"/>
            </a:pP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47C652-AB45-4ADB-9C54-E611BE0CEAD0}"/>
              </a:ext>
            </a:extLst>
          </p:cNvPr>
          <p:cNvSpPr txBox="1"/>
          <p:nvPr/>
        </p:nvSpPr>
        <p:spPr>
          <a:xfrm>
            <a:off x="600116" y="244575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489686F7-2497-4469-82D5-97564EC7885C}" type="slidenum">
              <a:rPr lang="en-US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</a:t>
            </a:fld>
            <a:endParaRPr lang="ru-RU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0139CBA-E013-38A5-393C-06CDC9DE13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5342" y="2099389"/>
            <a:ext cx="3539750" cy="3600000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174315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987F6F4-3E08-9CA9-878F-C90083D41B41}"/>
              </a:ext>
            </a:extLst>
          </p:cNvPr>
          <p:cNvSpPr txBox="1"/>
          <p:nvPr/>
        </p:nvSpPr>
        <p:spPr>
          <a:xfrm>
            <a:off x="1042988" y="1116013"/>
            <a:ext cx="6958012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825500"/>
            <a:r>
              <a:rPr lang="ru-RU" sz="2800" b="1" dirty="0">
                <a:solidFill>
                  <a:srgbClr val="BE003E"/>
                </a:solidFill>
                <a:latin typeface="Arial"/>
                <a:cs typeface="Arial"/>
              </a:rPr>
              <a:t>Конфликты первой четверти XXI века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94D925-F08B-D8B4-8DC2-EFF70BD6C46C}"/>
              </a:ext>
            </a:extLst>
          </p:cNvPr>
          <p:cNvSpPr txBox="1"/>
          <p:nvPr/>
        </p:nvSpPr>
        <p:spPr>
          <a:xfrm>
            <a:off x="1042988" y="2318014"/>
            <a:ext cx="6256170" cy="261610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spcBef>
                <a:spcPts val="1200"/>
              </a:spcBef>
              <a:buClr>
                <a:srgbClr val="BE003E"/>
              </a:buClr>
              <a:buFont typeface="Arial" panose="020B0604020202020204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Международный терроризм.</a:t>
            </a:r>
          </a:p>
          <a:p>
            <a:pPr marL="342900" indent="-342900">
              <a:spcBef>
                <a:spcPts val="1200"/>
              </a:spcBef>
              <a:buClr>
                <a:srgbClr val="BE003E"/>
              </a:buClr>
              <a:buFont typeface="Arial" panose="020B0604020202020204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Распад государственных институтов.</a:t>
            </a:r>
          </a:p>
          <a:p>
            <a:pPr marL="342900" indent="-342900">
              <a:spcBef>
                <a:spcPts val="1200"/>
              </a:spcBef>
              <a:buClr>
                <a:srgbClr val="BE003E"/>
              </a:buClr>
              <a:buFont typeface="Arial" panose="020B0604020202020204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Гражданские войны и внешнее вмешательство.</a:t>
            </a:r>
          </a:p>
          <a:p>
            <a:pPr marL="342900" indent="-342900">
              <a:spcBef>
                <a:spcPts val="1200"/>
              </a:spcBef>
              <a:buClr>
                <a:srgbClr val="BE003E"/>
              </a:buClr>
              <a:buFont typeface="Arial" panose="020B0604020202020204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Санкции и экономическое давление.</a:t>
            </a:r>
          </a:p>
          <a:p>
            <a:pPr marL="342900" indent="-342900">
              <a:spcBef>
                <a:spcPts val="1200"/>
              </a:spcBef>
              <a:buClr>
                <a:srgbClr val="BE003E"/>
              </a:buClr>
              <a:buFont typeface="Arial" panose="020B0604020202020204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Информационное противоборство.</a:t>
            </a:r>
          </a:p>
          <a:p>
            <a:pPr marL="342900" indent="-342900">
              <a:spcBef>
                <a:spcPts val="1200"/>
              </a:spcBef>
              <a:buClr>
                <a:srgbClr val="BE003E"/>
              </a:buClr>
              <a:buFont typeface="Arial" panose="020B0604020202020204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Новые технологии: БПЛА, РЭБ, </a:t>
            </a:r>
            <a:r>
              <a:rPr 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киберсредства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47C652-AB45-4ADB-9C54-E611BE0CEAD0}"/>
              </a:ext>
            </a:extLst>
          </p:cNvPr>
          <p:cNvSpPr txBox="1"/>
          <p:nvPr/>
        </p:nvSpPr>
        <p:spPr>
          <a:xfrm>
            <a:off x="600116" y="244575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489686F7-2497-4469-82D5-97564EC7885C}" type="slidenum">
              <a:rPr lang="en-US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</a:t>
            </a:fld>
            <a:endParaRPr lang="ru-RU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3F5209A-835A-BC57-7865-2BE6A5504B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6278" y="1826064"/>
            <a:ext cx="3594768" cy="3600000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3120050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987F6F4-3E08-9CA9-878F-C90083D41B41}"/>
              </a:ext>
            </a:extLst>
          </p:cNvPr>
          <p:cNvSpPr txBox="1"/>
          <p:nvPr/>
        </p:nvSpPr>
        <p:spPr>
          <a:xfrm>
            <a:off x="1042988" y="1116013"/>
            <a:ext cx="6421951" cy="8617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825500"/>
            <a:r>
              <a:rPr lang="ru-RU" sz="2800" b="1" dirty="0">
                <a:solidFill>
                  <a:srgbClr val="BE003E"/>
                </a:solidFill>
                <a:latin typeface="Arial"/>
                <a:cs typeface="Arial"/>
              </a:rPr>
              <a:t>Примеры конфликтов </a:t>
            </a:r>
            <a:r>
              <a:rPr lang="en-US" sz="2800" b="1" dirty="0">
                <a:solidFill>
                  <a:srgbClr val="BE003E"/>
                </a:solidFill>
                <a:latin typeface="Arial"/>
                <a:cs typeface="Arial"/>
              </a:rPr>
              <a:t>XXI </a:t>
            </a:r>
            <a:r>
              <a:rPr lang="ru-RU" sz="2800" b="1" dirty="0">
                <a:solidFill>
                  <a:srgbClr val="BE003E"/>
                </a:solidFill>
                <a:latin typeface="Arial"/>
                <a:cs typeface="Arial"/>
              </a:rPr>
              <a:t>века</a:t>
            </a:r>
          </a:p>
          <a:p>
            <a:pPr defTabSz="825500"/>
            <a:endParaRPr lang="ru-RU" sz="2800" b="1" dirty="0">
              <a:solidFill>
                <a:srgbClr val="BE003E"/>
              </a:solidFill>
              <a:latin typeface="Arial"/>
              <a:cs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94D925-F08B-D8B4-8DC2-EFF70BD6C46C}"/>
              </a:ext>
            </a:extLst>
          </p:cNvPr>
          <p:cNvSpPr txBox="1"/>
          <p:nvPr/>
        </p:nvSpPr>
        <p:spPr>
          <a:xfrm>
            <a:off x="1042988" y="2318014"/>
            <a:ext cx="6256170" cy="400109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spcBef>
                <a:spcPts val="1200"/>
              </a:spcBef>
              <a:buClr>
                <a:srgbClr val="BE003E"/>
              </a:buClr>
            </a:pPr>
            <a:r>
              <a:rPr lang="ru-RU" sz="2000" b="1" dirty="0">
                <a:solidFill>
                  <a:srgbClr val="BE00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Крупные конфликты XXI века</a:t>
            </a:r>
          </a:p>
          <a:p>
            <a:pPr marL="342900" indent="-342900">
              <a:spcBef>
                <a:spcPts val="1200"/>
              </a:spcBef>
              <a:buClr>
                <a:srgbClr val="BE003E"/>
              </a:buClr>
              <a:buFont typeface="Arial" panose="020B0604020202020204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Афганистан после 2001 г.</a:t>
            </a:r>
          </a:p>
          <a:p>
            <a:pPr marL="342900" indent="-342900">
              <a:spcBef>
                <a:spcPts val="1200"/>
              </a:spcBef>
              <a:buClr>
                <a:srgbClr val="BE003E"/>
              </a:buClr>
              <a:buFont typeface="Arial" panose="020B0604020202020204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Ирак, 2003 г.</a:t>
            </a:r>
          </a:p>
          <a:p>
            <a:pPr marL="342900" indent="-342900">
              <a:spcBef>
                <a:spcPts val="1200"/>
              </a:spcBef>
              <a:buClr>
                <a:srgbClr val="BE003E"/>
              </a:buClr>
              <a:buFont typeface="Arial" panose="020B0604020202020204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Ливия, 2011 г.</a:t>
            </a:r>
          </a:p>
          <a:p>
            <a:pPr marL="342900" indent="-342900">
              <a:spcBef>
                <a:spcPts val="1200"/>
              </a:spcBef>
              <a:buClr>
                <a:srgbClr val="BE003E"/>
              </a:buClr>
              <a:buFont typeface="Arial" panose="020B0604020202020204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Сирия, с 2011 г.</a:t>
            </a:r>
          </a:p>
          <a:p>
            <a:pPr marL="342900" indent="-342900">
              <a:spcBef>
                <a:spcPts val="1200"/>
              </a:spcBef>
              <a:buClr>
                <a:srgbClr val="BE003E"/>
              </a:buClr>
              <a:buFont typeface="Arial" panose="020B0604020202020204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Нагорный Карабах, 2020 г.</a:t>
            </a:r>
          </a:p>
          <a:p>
            <a:pPr marL="342900" indent="-342900">
              <a:spcBef>
                <a:spcPts val="1200"/>
              </a:spcBef>
              <a:buClr>
                <a:srgbClr val="BE003E"/>
              </a:buClr>
              <a:buFont typeface="Arial" panose="020B0604020202020204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Палестино-израильский конфликт.</a:t>
            </a:r>
          </a:p>
          <a:p>
            <a:pPr marL="342900" indent="-342900">
              <a:spcBef>
                <a:spcPts val="1200"/>
              </a:spcBef>
              <a:buClr>
                <a:srgbClr val="BE003E"/>
              </a:buClr>
              <a:buFont typeface="Arial" panose="020B0604020202020204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Конфликт на территории Украины.</a:t>
            </a:r>
          </a:p>
          <a:p>
            <a:pPr marL="342900" indent="-342900">
              <a:spcBef>
                <a:spcPts val="1200"/>
              </a:spcBef>
              <a:buClr>
                <a:srgbClr val="BE003E"/>
              </a:buClr>
              <a:buFont typeface="Arial" panose="020B0604020202020204" pitchFamily="34" charset="0"/>
              <a:buChar char="•"/>
            </a:pP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47C652-AB45-4ADB-9C54-E611BE0CEAD0}"/>
              </a:ext>
            </a:extLst>
          </p:cNvPr>
          <p:cNvSpPr txBox="1"/>
          <p:nvPr/>
        </p:nvSpPr>
        <p:spPr>
          <a:xfrm>
            <a:off x="600116" y="244575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489686F7-2497-4469-82D5-97564EC7885C}" type="slidenum">
              <a:rPr lang="en-US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</a:t>
            </a:fld>
            <a:endParaRPr lang="ru-RU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7DCBB9C-5800-CDB3-9B9E-167CEF882D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8630" y="931672"/>
            <a:ext cx="1944526" cy="1800000"/>
          </a:xfrm>
          <a:prstGeom prst="round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4B5DFE48-B4FC-2F31-C74B-779EE395B2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3309" y="1451710"/>
            <a:ext cx="2050244" cy="1800000"/>
          </a:xfrm>
          <a:prstGeom prst="round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5CEBE9CD-D7B6-8E38-AA44-D722AFB799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8630" y="2878382"/>
            <a:ext cx="1865116" cy="1800000"/>
          </a:xfrm>
          <a:prstGeom prst="round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C1C0603C-9122-43FC-140B-2F204A5EF61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46513" y="3420269"/>
            <a:ext cx="1943836" cy="1800000"/>
          </a:xfrm>
          <a:prstGeom prst="round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1A04964D-334C-CEDD-30B4-7FF5885E269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15249" y="4790053"/>
            <a:ext cx="2015173" cy="1800000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7565503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987F6F4-3E08-9CA9-878F-C90083D41B41}"/>
              </a:ext>
            </a:extLst>
          </p:cNvPr>
          <p:cNvSpPr txBox="1"/>
          <p:nvPr/>
        </p:nvSpPr>
        <p:spPr>
          <a:xfrm>
            <a:off x="1042988" y="1116013"/>
            <a:ext cx="6421951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825500"/>
            <a:r>
              <a:rPr lang="ru-RU" sz="2800" b="1" dirty="0">
                <a:solidFill>
                  <a:srgbClr val="BE003E"/>
                </a:solidFill>
                <a:latin typeface="Arial"/>
                <a:cs typeface="Arial"/>
              </a:rPr>
              <a:t>Конфликт на территории Украины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94D925-F08B-D8B4-8DC2-EFF70BD6C46C}"/>
              </a:ext>
            </a:extLst>
          </p:cNvPr>
          <p:cNvSpPr txBox="1"/>
          <p:nvPr/>
        </p:nvSpPr>
        <p:spPr>
          <a:xfrm>
            <a:off x="1042988" y="1917964"/>
            <a:ext cx="6256170" cy="477053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spcBef>
                <a:spcPts val="1200"/>
              </a:spcBef>
              <a:buClr>
                <a:srgbClr val="BE003E"/>
              </a:buClr>
            </a:pPr>
            <a:r>
              <a:rPr lang="ru-RU" sz="2000" b="1" dirty="0">
                <a:solidFill>
                  <a:srgbClr val="BE00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Конфликт на Украине / СВО</a:t>
            </a:r>
          </a:p>
          <a:p>
            <a:pPr marL="342900" indent="-342900">
              <a:spcBef>
                <a:spcPts val="1200"/>
              </a:spcBef>
              <a:buClr>
                <a:srgbClr val="BE003E"/>
              </a:buClr>
              <a:buFont typeface="Arial" panose="020B0604020202020204" pitchFamily="34" charset="0"/>
              <a:buChar char="•"/>
            </a:pP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Bef>
                <a:spcPts val="1200"/>
              </a:spcBef>
              <a:buClr>
                <a:srgbClr val="BE003E"/>
              </a:buClr>
              <a:buFont typeface="Arial" panose="020B0604020202020204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Один из ключевых конфликтов первой четверти XXI века.</a:t>
            </a:r>
          </a:p>
          <a:p>
            <a:pPr marL="342900" indent="-342900">
              <a:spcBef>
                <a:spcPts val="1200"/>
              </a:spcBef>
              <a:buClr>
                <a:srgbClr val="BE003E"/>
              </a:buClr>
              <a:buFont typeface="Arial" panose="020B0604020202020204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Предпосылки: кризис 2014 г., Донбасс, Минские соглашения.</a:t>
            </a:r>
          </a:p>
          <a:p>
            <a:pPr marL="342900" indent="-342900">
              <a:spcBef>
                <a:spcPts val="1200"/>
              </a:spcBef>
              <a:buClr>
                <a:srgbClr val="BE003E"/>
              </a:buClr>
              <a:buFont typeface="Arial" panose="020B0604020202020204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21 февраля 2022 г. - признание ДНР и ЛНР.</a:t>
            </a:r>
          </a:p>
          <a:p>
            <a:pPr marL="342900" indent="-342900">
              <a:spcBef>
                <a:spcPts val="1200"/>
              </a:spcBef>
              <a:buClr>
                <a:srgbClr val="BE003E"/>
              </a:buClr>
              <a:buFont typeface="Arial" panose="020B0604020202020204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24 февраля 2022 г. - начало специальной военной операции.</a:t>
            </a:r>
          </a:p>
          <a:p>
            <a:pPr>
              <a:spcBef>
                <a:spcPts val="1200"/>
              </a:spcBef>
              <a:buClr>
                <a:srgbClr val="BE003E"/>
              </a:buClr>
            </a:pPr>
            <a:r>
              <a:rPr lang="ru-RU" sz="2000" b="1" dirty="0">
                <a:solidFill>
                  <a:srgbClr val="BE00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Особенности: БПЛА, РЭБ, информационная борьба, санкции, внешняя поддержка сторон.</a:t>
            </a:r>
          </a:p>
          <a:p>
            <a:pPr marL="342900" indent="-342900">
              <a:spcBef>
                <a:spcPts val="1200"/>
              </a:spcBef>
              <a:buClr>
                <a:srgbClr val="BE003E"/>
              </a:buClr>
              <a:buFont typeface="Arial" panose="020B0604020202020204" pitchFamily="34" charset="0"/>
              <a:buChar char="•"/>
            </a:pP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47C652-AB45-4ADB-9C54-E611BE0CEAD0}"/>
              </a:ext>
            </a:extLst>
          </p:cNvPr>
          <p:cNvSpPr txBox="1"/>
          <p:nvPr/>
        </p:nvSpPr>
        <p:spPr>
          <a:xfrm>
            <a:off x="600116" y="244575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489686F7-2497-4469-82D5-97564EC7885C}" type="slidenum">
              <a:rPr lang="en-US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</a:t>
            </a:fld>
            <a:endParaRPr lang="ru-RU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9E22781C-7C97-81DA-EA83-EF4954ED603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73" r="13232"/>
          <a:stretch/>
        </p:blipFill>
        <p:spPr bwMode="auto">
          <a:xfrm>
            <a:off x="7922139" y="1917964"/>
            <a:ext cx="3698361" cy="3805237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065143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987F6F4-3E08-9CA9-878F-C90083D41B41}"/>
              </a:ext>
            </a:extLst>
          </p:cNvPr>
          <p:cNvSpPr txBox="1"/>
          <p:nvPr/>
        </p:nvSpPr>
        <p:spPr>
          <a:xfrm>
            <a:off x="1042988" y="1116013"/>
            <a:ext cx="6421951" cy="8617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825500"/>
            <a:r>
              <a:rPr lang="ru-RU" sz="2800" b="1" dirty="0">
                <a:solidFill>
                  <a:srgbClr val="BE003E"/>
                </a:solidFill>
                <a:latin typeface="Arial"/>
                <a:cs typeface="Arial"/>
              </a:rPr>
              <a:t>Афганская война как пример конфликта периода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94D925-F08B-D8B4-8DC2-EFF70BD6C46C}"/>
              </a:ext>
            </a:extLst>
          </p:cNvPr>
          <p:cNvSpPr txBox="1"/>
          <p:nvPr/>
        </p:nvSpPr>
        <p:spPr>
          <a:xfrm>
            <a:off x="1042988" y="2318014"/>
            <a:ext cx="6256170" cy="415498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spcBef>
                <a:spcPts val="1200"/>
              </a:spcBef>
              <a:buClr>
                <a:srgbClr val="BE003E"/>
              </a:buClr>
              <a:buFont typeface="Arial" panose="020B0604020202020204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Один из ключевых конфликтов поздней холодной войны.</a:t>
            </a:r>
          </a:p>
          <a:p>
            <a:pPr marL="342900" indent="-342900">
              <a:spcBef>
                <a:spcPts val="1200"/>
              </a:spcBef>
              <a:buClr>
                <a:srgbClr val="BE003E"/>
              </a:buClr>
              <a:buFont typeface="Arial" panose="020B0604020202020204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Сочетание внутреннего кризиса и внешнего вмешательства.</a:t>
            </a:r>
          </a:p>
          <a:p>
            <a:pPr marL="342900" indent="-342900">
              <a:spcBef>
                <a:spcPts val="1200"/>
              </a:spcBef>
              <a:buClr>
                <a:srgbClr val="BE003E"/>
              </a:buClr>
              <a:buFont typeface="Arial" panose="020B0604020202020204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Стратегическое значение Афганистана для СССР.</a:t>
            </a:r>
          </a:p>
          <a:p>
            <a:pPr marL="342900" indent="-342900">
              <a:spcBef>
                <a:spcPts val="1200"/>
              </a:spcBef>
              <a:buClr>
                <a:srgbClr val="BE003E"/>
              </a:buClr>
              <a:buFont typeface="Arial" panose="020B0604020202020204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Длительный и тяжелый характер боевых действий.</a:t>
            </a:r>
          </a:p>
          <a:p>
            <a:pPr marL="342900" indent="-342900">
              <a:spcBef>
                <a:spcPts val="1200"/>
              </a:spcBef>
              <a:buClr>
                <a:srgbClr val="BE003E"/>
              </a:buClr>
              <a:buFont typeface="Arial" panose="020B0604020202020204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Важный пример ограниченной войны с международным значением.</a:t>
            </a:r>
          </a:p>
          <a:p>
            <a:pPr marL="342900" indent="-342900">
              <a:spcBef>
                <a:spcPts val="1200"/>
              </a:spcBef>
              <a:buClr>
                <a:srgbClr val="BE003E"/>
              </a:buClr>
              <a:buFont typeface="Arial" panose="020B0604020202020204" pitchFamily="34" charset="0"/>
              <a:buChar char="•"/>
            </a:pP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47C652-AB45-4ADB-9C54-E611BE0CEAD0}"/>
              </a:ext>
            </a:extLst>
          </p:cNvPr>
          <p:cNvSpPr txBox="1"/>
          <p:nvPr/>
        </p:nvSpPr>
        <p:spPr>
          <a:xfrm>
            <a:off x="600116" y="244575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489686F7-2497-4469-82D5-97564EC7885C}" type="slidenum">
              <a:rPr lang="en-US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12</a:t>
            </a:fld>
            <a:endParaRPr lang="ru-RU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074" name="Picture 2" descr="Эксперт КФУ: «Ровно 35 лет назад советские войска были выведены из  Афганистана» | Медиа портал - Казанский (Приволжский) Федеральный  Университет">
            <a:extLst>
              <a:ext uri="{FF2B5EF4-FFF2-40B4-BE49-F238E27FC236}">
                <a16:creationId xmlns:a16="http://schemas.microsoft.com/office/drawing/2014/main" id="{77FE6C0F-8F8E-D2EB-2D06-D6593B11F2B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08" r="5872"/>
          <a:stretch/>
        </p:blipFill>
        <p:spPr bwMode="auto">
          <a:xfrm>
            <a:off x="7464939" y="1977787"/>
            <a:ext cx="3799675" cy="3600000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82963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987F6F4-3E08-9CA9-878F-C90083D41B41}"/>
              </a:ext>
            </a:extLst>
          </p:cNvPr>
          <p:cNvSpPr txBox="1"/>
          <p:nvPr/>
        </p:nvSpPr>
        <p:spPr>
          <a:xfrm>
            <a:off x="1042988" y="1116013"/>
            <a:ext cx="6421951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825500"/>
            <a:r>
              <a:rPr lang="ru-RU" sz="2800" b="1" dirty="0">
                <a:solidFill>
                  <a:srgbClr val="BE003E"/>
                </a:solidFill>
                <a:latin typeface="Arial"/>
                <a:cs typeface="Arial"/>
              </a:rPr>
              <a:t>Причины Афганской войны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94D925-F08B-D8B4-8DC2-EFF70BD6C46C}"/>
              </a:ext>
            </a:extLst>
          </p:cNvPr>
          <p:cNvSpPr txBox="1"/>
          <p:nvPr/>
        </p:nvSpPr>
        <p:spPr>
          <a:xfrm>
            <a:off x="1042988" y="1916113"/>
            <a:ext cx="6256170" cy="49244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spcBef>
                <a:spcPts val="1200"/>
              </a:spcBef>
              <a:buClr>
                <a:srgbClr val="BE003E"/>
              </a:buClr>
            </a:pPr>
            <a:r>
              <a:rPr lang="ru-RU" sz="2000" b="1" dirty="0">
                <a:solidFill>
                  <a:srgbClr val="BE00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Причины Афганской войны</a:t>
            </a:r>
          </a:p>
          <a:p>
            <a:pPr>
              <a:spcBef>
                <a:spcPts val="1200"/>
              </a:spcBef>
              <a:buClr>
                <a:srgbClr val="BE003E"/>
              </a:buClr>
            </a:pPr>
            <a:r>
              <a:rPr lang="ru-RU" sz="2000" b="1" dirty="0">
                <a:solidFill>
                  <a:srgbClr val="BE00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Внутренние:</a:t>
            </a:r>
          </a:p>
          <a:p>
            <a:pPr marL="342900" indent="-342900">
              <a:spcBef>
                <a:spcPts val="1200"/>
              </a:spcBef>
              <a:buClr>
                <a:srgbClr val="BE003E"/>
              </a:buClr>
              <a:buFont typeface="Arial" panose="020B0604020202020204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политический кризис;</a:t>
            </a:r>
          </a:p>
          <a:p>
            <a:pPr marL="342900" indent="-342900">
              <a:spcBef>
                <a:spcPts val="1200"/>
              </a:spcBef>
              <a:buClr>
                <a:srgbClr val="BE003E"/>
              </a:buClr>
              <a:buFont typeface="Arial" panose="020B0604020202020204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сопротивление реформам;</a:t>
            </a:r>
          </a:p>
          <a:p>
            <a:pPr marL="342900" indent="-342900">
              <a:spcBef>
                <a:spcPts val="1200"/>
              </a:spcBef>
              <a:buClr>
                <a:srgbClr val="BE003E"/>
              </a:buClr>
              <a:buFont typeface="Arial" panose="020B0604020202020204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борьба внутри руководства Афганистана.</a:t>
            </a:r>
          </a:p>
          <a:p>
            <a:pPr marL="342900" indent="-342900">
              <a:spcBef>
                <a:spcPts val="1200"/>
              </a:spcBef>
              <a:buClr>
                <a:srgbClr val="BE003E"/>
              </a:buClr>
              <a:buFont typeface="Arial" panose="020B0604020202020204" pitchFamily="34" charset="0"/>
              <a:buChar char="•"/>
            </a:pPr>
            <a:r>
              <a:rPr lang="ru-RU" sz="2000" b="1" dirty="0">
                <a:solidFill>
                  <a:srgbClr val="BE00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Внешние:</a:t>
            </a:r>
          </a:p>
          <a:p>
            <a:pPr marL="342900" indent="-342900">
              <a:spcBef>
                <a:spcPts val="1200"/>
              </a:spcBef>
              <a:buClr>
                <a:srgbClr val="BE003E"/>
              </a:buClr>
              <a:buFont typeface="Arial" panose="020B0604020202020204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безопасность южных границ СССР;</a:t>
            </a:r>
          </a:p>
          <a:p>
            <a:pPr marL="342900" indent="-342900">
              <a:spcBef>
                <a:spcPts val="1200"/>
              </a:spcBef>
              <a:buClr>
                <a:srgbClr val="BE003E"/>
              </a:buClr>
              <a:buFont typeface="Arial" panose="020B0604020202020204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холодная война;</a:t>
            </a:r>
          </a:p>
          <a:p>
            <a:pPr marL="342900" indent="-342900">
              <a:spcBef>
                <a:spcPts val="1200"/>
              </a:spcBef>
              <a:buClr>
                <a:srgbClr val="BE003E"/>
              </a:buClr>
              <a:buFont typeface="Arial" panose="020B0604020202020204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просьбы афганского руководства о помощи;</a:t>
            </a:r>
          </a:p>
          <a:p>
            <a:pPr marL="342900" indent="-342900">
              <a:spcBef>
                <a:spcPts val="1200"/>
              </a:spcBef>
              <a:buClr>
                <a:srgbClr val="BE003E"/>
              </a:buClr>
              <a:buFont typeface="Arial" panose="020B0604020202020204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внешняя поддержка противоборствующих сил.</a:t>
            </a:r>
          </a:p>
          <a:p>
            <a:pPr marL="342900" indent="-342900">
              <a:spcBef>
                <a:spcPts val="1200"/>
              </a:spcBef>
              <a:buClr>
                <a:srgbClr val="BE003E"/>
              </a:buClr>
              <a:buFont typeface="Arial" panose="020B0604020202020204" pitchFamily="34" charset="0"/>
              <a:buChar char="•"/>
            </a:pP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47C652-AB45-4ADB-9C54-E611BE0CEAD0}"/>
              </a:ext>
            </a:extLst>
          </p:cNvPr>
          <p:cNvSpPr txBox="1"/>
          <p:nvPr/>
        </p:nvSpPr>
        <p:spPr>
          <a:xfrm>
            <a:off x="600116" y="244575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489686F7-2497-4469-82D5-97564EC7885C}" type="slidenum">
              <a:rPr lang="en-US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13</a:t>
            </a:fld>
            <a:endParaRPr lang="ru-RU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122" name="Picture 2" descr="Слева направо, сверху вниз: Наступление советских танков и вертолётов; советский БТР едет сквозь толпу мирных жителей; руины разбомбленного советскими войсками афганского кишлака; повстанцы сбивают советский ударный вертолёт; Шарбат Гула; молитва моджахедов; антивоенный протест; афганские дети, пострадавшие от советских мин; кладбище брошенной советской техники">
            <a:extLst>
              <a:ext uri="{FF2B5EF4-FFF2-40B4-BE49-F238E27FC236}">
                <a16:creationId xmlns:a16="http://schemas.microsoft.com/office/drawing/2014/main" id="{8CCC6D64-9FFA-BB07-C45E-97F3767F54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0225" y="1916113"/>
            <a:ext cx="4454525" cy="3591794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666848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987F6F4-3E08-9CA9-878F-C90083D41B41}"/>
              </a:ext>
            </a:extLst>
          </p:cNvPr>
          <p:cNvSpPr txBox="1"/>
          <p:nvPr/>
        </p:nvSpPr>
        <p:spPr>
          <a:xfrm>
            <a:off x="1042988" y="1116013"/>
            <a:ext cx="6421951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825500"/>
            <a:r>
              <a:rPr lang="ru-RU" sz="2800" b="1" dirty="0">
                <a:solidFill>
                  <a:srgbClr val="BE003E"/>
                </a:solidFill>
                <a:latin typeface="Arial"/>
                <a:cs typeface="Arial"/>
              </a:rPr>
              <a:t>Ход Афганской войны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94D925-F08B-D8B4-8DC2-EFF70BD6C46C}"/>
              </a:ext>
            </a:extLst>
          </p:cNvPr>
          <p:cNvSpPr txBox="1"/>
          <p:nvPr/>
        </p:nvSpPr>
        <p:spPr>
          <a:xfrm>
            <a:off x="1042988" y="2318014"/>
            <a:ext cx="6256170" cy="415498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spcBef>
                <a:spcPts val="1200"/>
              </a:spcBef>
              <a:buClr>
                <a:srgbClr val="BE003E"/>
              </a:buClr>
            </a:pPr>
            <a:r>
              <a:rPr lang="ru-RU" sz="2000" b="1" dirty="0">
                <a:solidFill>
                  <a:srgbClr val="BE00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Основные этапы</a:t>
            </a:r>
          </a:p>
          <a:p>
            <a:pPr marL="342900" indent="-342900">
              <a:spcBef>
                <a:spcPts val="1200"/>
              </a:spcBef>
              <a:buClr>
                <a:srgbClr val="BE003E"/>
              </a:buClr>
              <a:buFont typeface="Arial" panose="020B0604020202020204" pitchFamily="34" charset="0"/>
              <a:buChar char="•"/>
            </a:pP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Bef>
                <a:spcPts val="1200"/>
              </a:spcBef>
              <a:buClr>
                <a:srgbClr val="BE003E"/>
              </a:buClr>
              <a:buFont typeface="Arial" panose="020B0604020202020204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1979 г. - ввод советских войск.</a:t>
            </a:r>
          </a:p>
          <a:p>
            <a:pPr marL="342900" indent="-342900">
              <a:spcBef>
                <a:spcPts val="1200"/>
              </a:spcBef>
              <a:buClr>
                <a:srgbClr val="BE003E"/>
              </a:buClr>
              <a:buFont typeface="Arial" panose="020B0604020202020204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Начало 1980-х гг. - активные боевые действия.</a:t>
            </a:r>
          </a:p>
          <a:p>
            <a:pPr marL="342900" indent="-342900">
              <a:spcBef>
                <a:spcPts val="1200"/>
              </a:spcBef>
              <a:buClr>
                <a:srgbClr val="BE003E"/>
              </a:buClr>
              <a:buFont typeface="Arial" panose="020B0604020202020204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Середина 1980-х гг. - поиск политического урегулирования.</a:t>
            </a:r>
          </a:p>
          <a:p>
            <a:pPr marL="342900" indent="-342900">
              <a:spcBef>
                <a:spcPts val="1200"/>
              </a:spcBef>
              <a:buClr>
                <a:srgbClr val="BE003E"/>
              </a:buClr>
              <a:buFont typeface="Arial" panose="020B0604020202020204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1988 г. - Женевские соглашения.</a:t>
            </a:r>
          </a:p>
          <a:p>
            <a:pPr marL="342900" indent="-342900">
              <a:spcBef>
                <a:spcPts val="1200"/>
              </a:spcBef>
              <a:buClr>
                <a:srgbClr val="BE003E"/>
              </a:buClr>
              <a:buFont typeface="Arial" panose="020B0604020202020204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15 февраля 1989 г. - завершение вывода советских войск.</a:t>
            </a:r>
          </a:p>
          <a:p>
            <a:pPr marL="342900" indent="-342900">
              <a:spcBef>
                <a:spcPts val="1200"/>
              </a:spcBef>
              <a:buClr>
                <a:srgbClr val="BE003E"/>
              </a:buClr>
              <a:buFont typeface="Arial" panose="020B0604020202020204" pitchFamily="34" charset="0"/>
              <a:buChar char="•"/>
            </a:pP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47C652-AB45-4ADB-9C54-E611BE0CEAD0}"/>
              </a:ext>
            </a:extLst>
          </p:cNvPr>
          <p:cNvSpPr txBox="1"/>
          <p:nvPr/>
        </p:nvSpPr>
        <p:spPr>
          <a:xfrm>
            <a:off x="600116" y="244575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489686F7-2497-4469-82D5-97564EC7885C}" type="slidenum">
              <a:rPr lang="en-US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14</a:t>
            </a:fld>
            <a:endParaRPr lang="ru-RU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0027BBA8-B667-A80C-20BA-C1E4FED4AE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9158" y="2104711"/>
            <a:ext cx="3962743" cy="3619814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25209765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987F6F4-3E08-9CA9-878F-C90083D41B41}"/>
              </a:ext>
            </a:extLst>
          </p:cNvPr>
          <p:cNvSpPr txBox="1"/>
          <p:nvPr/>
        </p:nvSpPr>
        <p:spPr>
          <a:xfrm>
            <a:off x="1042988" y="1116013"/>
            <a:ext cx="6421951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825500"/>
            <a:r>
              <a:rPr lang="ru-RU" sz="2800" b="1" dirty="0">
                <a:solidFill>
                  <a:srgbClr val="BE003E"/>
                </a:solidFill>
                <a:latin typeface="Arial"/>
                <a:cs typeface="Arial"/>
              </a:rPr>
              <a:t>Последствия Афганской войны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94D925-F08B-D8B4-8DC2-EFF70BD6C46C}"/>
              </a:ext>
            </a:extLst>
          </p:cNvPr>
          <p:cNvSpPr txBox="1"/>
          <p:nvPr/>
        </p:nvSpPr>
        <p:spPr>
          <a:xfrm>
            <a:off x="1042988" y="2318014"/>
            <a:ext cx="6256170" cy="338554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spcBef>
                <a:spcPts val="1200"/>
              </a:spcBef>
              <a:buClr>
                <a:srgbClr val="BE003E"/>
              </a:buClr>
              <a:buFont typeface="Arial" panose="020B0604020202020204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Большие человеческие потери.</a:t>
            </a:r>
          </a:p>
          <a:p>
            <a:pPr marL="342900" indent="-342900">
              <a:spcBef>
                <a:spcPts val="1200"/>
              </a:spcBef>
              <a:buClr>
                <a:srgbClr val="BE003E"/>
              </a:buClr>
              <a:buFont typeface="Arial" panose="020B0604020202020204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Тяжелые социальные последствия для ветеранов и семей.</a:t>
            </a:r>
          </a:p>
          <a:p>
            <a:pPr marL="342900" indent="-342900">
              <a:spcBef>
                <a:spcPts val="1200"/>
              </a:spcBef>
              <a:buClr>
                <a:srgbClr val="BE003E"/>
              </a:buClr>
              <a:buFont typeface="Arial" panose="020B0604020202020204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Ухудшение международного положения СССР.</a:t>
            </a:r>
          </a:p>
          <a:p>
            <a:pPr marL="342900" indent="-342900">
              <a:spcBef>
                <a:spcPts val="1200"/>
              </a:spcBef>
              <a:buClr>
                <a:srgbClr val="BE003E"/>
              </a:buClr>
              <a:buFont typeface="Arial" panose="020B0604020202020204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Военный опыт в горной и партизанской войне.</a:t>
            </a:r>
          </a:p>
          <a:p>
            <a:pPr marL="342900" indent="-342900">
              <a:spcBef>
                <a:spcPts val="1200"/>
              </a:spcBef>
              <a:buClr>
                <a:srgbClr val="BE003E"/>
              </a:buClr>
              <a:buFont typeface="Arial" panose="020B0604020202020204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Продолжение нестабильности в Афганистане.</a:t>
            </a:r>
          </a:p>
          <a:p>
            <a:pPr marL="342900" indent="-342900">
              <a:spcBef>
                <a:spcPts val="1200"/>
              </a:spcBef>
              <a:buClr>
                <a:srgbClr val="BE003E"/>
              </a:buClr>
              <a:buFont typeface="Arial" panose="020B0604020202020204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Формирование исторической памяти о войне.</a:t>
            </a:r>
          </a:p>
          <a:p>
            <a:pPr marL="342900" indent="-342900">
              <a:spcBef>
                <a:spcPts val="1200"/>
              </a:spcBef>
              <a:buClr>
                <a:srgbClr val="BE003E"/>
              </a:buClr>
              <a:buFont typeface="Arial" panose="020B0604020202020204" pitchFamily="34" charset="0"/>
              <a:buChar char="•"/>
            </a:pP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47C652-AB45-4ADB-9C54-E611BE0CEAD0}"/>
              </a:ext>
            </a:extLst>
          </p:cNvPr>
          <p:cNvSpPr txBox="1"/>
          <p:nvPr/>
        </p:nvSpPr>
        <p:spPr>
          <a:xfrm>
            <a:off x="600116" y="244575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489686F7-2497-4469-82D5-97564EC7885C}" type="slidenum">
              <a:rPr lang="en-US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15</a:t>
            </a:fld>
            <a:endParaRPr lang="ru-RU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6A88E7D-C2BE-E2B9-43AD-B3C18DCE89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4939" y="1892335"/>
            <a:ext cx="4104582" cy="3600000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3764426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987F6F4-3E08-9CA9-878F-C90083D41B41}"/>
              </a:ext>
            </a:extLst>
          </p:cNvPr>
          <p:cNvSpPr txBox="1"/>
          <p:nvPr/>
        </p:nvSpPr>
        <p:spPr>
          <a:xfrm>
            <a:off x="1042988" y="1116013"/>
            <a:ext cx="6421951" cy="8617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825500"/>
            <a:r>
              <a:rPr lang="ru-RU" sz="2800" b="1" dirty="0">
                <a:solidFill>
                  <a:srgbClr val="BE003E"/>
                </a:solidFill>
                <a:latin typeface="Arial"/>
                <a:cs typeface="Arial"/>
              </a:rPr>
              <a:t>Общие особенности конфликтов периода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94D925-F08B-D8B4-8DC2-EFF70BD6C46C}"/>
              </a:ext>
            </a:extLst>
          </p:cNvPr>
          <p:cNvSpPr txBox="1"/>
          <p:nvPr/>
        </p:nvSpPr>
        <p:spPr>
          <a:xfrm>
            <a:off x="1042988" y="2318014"/>
            <a:ext cx="6256170" cy="276998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spcBef>
                <a:spcPts val="1200"/>
              </a:spcBef>
              <a:buClr>
                <a:srgbClr val="BE003E"/>
              </a:buClr>
              <a:buFont typeface="Arial" panose="020B0604020202020204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Локальные конфликты имеют международное значение.</a:t>
            </a:r>
          </a:p>
          <a:p>
            <a:pPr marL="342900" indent="-342900">
              <a:spcBef>
                <a:spcPts val="1200"/>
              </a:spcBef>
              <a:buClr>
                <a:srgbClr val="BE003E"/>
              </a:buClr>
              <a:buFont typeface="Arial" panose="020B0604020202020204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Военная сила не всегда решает политическую проблему.</a:t>
            </a:r>
          </a:p>
          <a:p>
            <a:pPr marL="342900" indent="-342900">
              <a:spcBef>
                <a:spcPts val="1200"/>
              </a:spcBef>
              <a:buClr>
                <a:srgbClr val="BE003E"/>
              </a:buClr>
              <a:buFont typeface="Arial" panose="020B0604020202020204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Внешняя поддержка делает войну затяжной.</a:t>
            </a:r>
          </a:p>
          <a:p>
            <a:pPr marL="342900" indent="-342900">
              <a:spcBef>
                <a:spcPts val="1200"/>
              </a:spcBef>
              <a:buClr>
                <a:srgbClr val="BE003E"/>
              </a:buClr>
              <a:buFont typeface="Arial" panose="020B0604020202020204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Общественное мнение влияет на ход конфликта.</a:t>
            </a:r>
          </a:p>
          <a:p>
            <a:pPr marL="342900" indent="-342900">
              <a:spcBef>
                <a:spcPts val="1200"/>
              </a:spcBef>
              <a:buClr>
                <a:srgbClr val="BE003E"/>
              </a:buClr>
              <a:buFont typeface="Arial" panose="020B0604020202020204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Современные войны становятся комплексными.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47C652-AB45-4ADB-9C54-E611BE0CEAD0}"/>
              </a:ext>
            </a:extLst>
          </p:cNvPr>
          <p:cNvSpPr txBox="1"/>
          <p:nvPr/>
        </p:nvSpPr>
        <p:spPr>
          <a:xfrm>
            <a:off x="600116" y="244575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489686F7-2497-4469-82D5-97564EC7885C}" type="slidenum">
              <a:rPr lang="en-US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16</a:t>
            </a:fld>
            <a:endParaRPr lang="ru-RU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B8A3B27-7AD8-6A91-D7D9-F56E01A08E5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803"/>
          <a:stretch/>
        </p:blipFill>
        <p:spPr>
          <a:xfrm>
            <a:off x="7464939" y="1620269"/>
            <a:ext cx="3602716" cy="3600000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2615857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987F6F4-3E08-9CA9-878F-C90083D41B41}"/>
              </a:ext>
            </a:extLst>
          </p:cNvPr>
          <p:cNvSpPr txBox="1"/>
          <p:nvPr/>
        </p:nvSpPr>
        <p:spPr>
          <a:xfrm>
            <a:off x="1042988" y="1116013"/>
            <a:ext cx="6421951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825500"/>
            <a:r>
              <a:rPr lang="ru-RU" sz="2800" b="1" dirty="0">
                <a:solidFill>
                  <a:srgbClr val="BE003E"/>
                </a:solidFill>
                <a:latin typeface="Arial"/>
                <a:cs typeface="Arial"/>
              </a:rPr>
              <a:t>Заключение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94D925-F08B-D8B4-8DC2-EFF70BD6C46C}"/>
              </a:ext>
            </a:extLst>
          </p:cNvPr>
          <p:cNvSpPr txBox="1"/>
          <p:nvPr/>
        </p:nvSpPr>
        <p:spPr>
          <a:xfrm>
            <a:off x="884168" y="2185095"/>
            <a:ext cx="7262812" cy="35394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spcBef>
                <a:spcPts val="1200"/>
              </a:spcBef>
              <a:buClr>
                <a:srgbClr val="BE003E"/>
              </a:buClr>
              <a:buFont typeface="Arial" panose="020B0604020202020204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После 1945 года войны не исчезли, а изменили форму.</a:t>
            </a:r>
          </a:p>
          <a:p>
            <a:pPr marL="342900" indent="-342900">
              <a:spcBef>
                <a:spcPts val="1200"/>
              </a:spcBef>
              <a:buClr>
                <a:srgbClr val="BE003E"/>
              </a:buClr>
              <a:buFont typeface="Arial" panose="020B0604020202020204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Главными стали локальные и региональные конфликты.</a:t>
            </a:r>
          </a:p>
          <a:p>
            <a:pPr marL="342900" indent="-342900">
              <a:spcBef>
                <a:spcPts val="1200"/>
              </a:spcBef>
              <a:buClr>
                <a:srgbClr val="BE003E"/>
              </a:buClr>
              <a:buFont typeface="Arial" panose="020B0604020202020204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Их причины: идеология, геополитика, этнические противоречия, внешнее вмешательство.</a:t>
            </a:r>
          </a:p>
          <a:p>
            <a:pPr marL="342900" indent="-342900">
              <a:spcBef>
                <a:spcPts val="1200"/>
              </a:spcBef>
              <a:buClr>
                <a:srgbClr val="BE003E"/>
              </a:buClr>
              <a:buFont typeface="Arial" panose="020B0604020202020204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Афганская война показала сложность силового решения внутренних кризисов.</a:t>
            </a:r>
          </a:p>
          <a:p>
            <a:pPr marL="342900" indent="-342900">
              <a:spcBef>
                <a:spcPts val="1200"/>
              </a:spcBef>
              <a:buClr>
                <a:srgbClr val="BE003E"/>
              </a:buClr>
              <a:buFont typeface="Arial" panose="020B0604020202020204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Для предотвращения войн необходимы дипломатия, безопасность и политическое урегулирование.</a:t>
            </a:r>
          </a:p>
          <a:p>
            <a:pPr marL="342900" indent="-342900">
              <a:spcBef>
                <a:spcPts val="1200"/>
              </a:spcBef>
              <a:buClr>
                <a:srgbClr val="BE003E"/>
              </a:buClr>
              <a:buFont typeface="Arial" panose="020B0604020202020204" pitchFamily="34" charset="0"/>
              <a:buChar char="•"/>
            </a:pP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47C652-AB45-4ADB-9C54-E611BE0CEAD0}"/>
              </a:ext>
            </a:extLst>
          </p:cNvPr>
          <p:cNvSpPr txBox="1"/>
          <p:nvPr/>
        </p:nvSpPr>
        <p:spPr>
          <a:xfrm>
            <a:off x="600116" y="244575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489686F7-2497-4469-82D5-97564EC7885C}" type="slidenum">
              <a:rPr lang="en-US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17</a:t>
            </a:fld>
            <a:endParaRPr lang="ru-RU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91147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E00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C1650DA2-9DD9-C801-FC5D-C65322C767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0520" y="0"/>
            <a:ext cx="4189830" cy="6840538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B280AF07-DD1E-10D4-3116-A6219A3795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760" y="329338"/>
            <a:ext cx="1862895" cy="819675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0E64B838-4872-43A7-3ECD-CEE1F87DE8B3}"/>
              </a:ext>
            </a:extLst>
          </p:cNvPr>
          <p:cNvSpPr txBox="1"/>
          <p:nvPr/>
        </p:nvSpPr>
        <p:spPr>
          <a:xfrm>
            <a:off x="1551867" y="2681605"/>
            <a:ext cx="7344913" cy="49244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lang="ru-RU" sz="3200" b="1" dirty="0">
                <a:solidFill>
                  <a:schemeClr val="bg1"/>
                </a:solidFill>
                <a:latin typeface="Arial"/>
                <a:cs typeface="Arial"/>
              </a:rPr>
              <a:t>Спасибо за внимание!</a:t>
            </a:r>
            <a:endParaRPr lang="ru-RU" dirty="0">
              <a:solidFill>
                <a:schemeClr val="bg1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4054961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1392</TotalTime>
  <Words>6318</Words>
  <Application>Microsoft Office PowerPoint</Application>
  <PresentationFormat>Произвольный</PresentationFormat>
  <Paragraphs>487</Paragraphs>
  <Slides>18</Slides>
  <Notes>18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18</vt:i4>
      </vt:variant>
    </vt:vector>
  </HeadingPairs>
  <TitlesOfParts>
    <vt:vector size="22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Microsoft Office User</dc:creator>
  <cp:lastModifiedBy>Satchel Killam</cp:lastModifiedBy>
  <cp:revision>189</cp:revision>
  <cp:lastPrinted>2023-11-28T14:29:46Z</cp:lastPrinted>
  <dcterms:created xsi:type="dcterms:W3CDTF">2022-10-16T16:54:41Z</dcterms:created>
  <dcterms:modified xsi:type="dcterms:W3CDTF">2026-05-11T08:54:43Z</dcterms:modified>
</cp:coreProperties>
</file>