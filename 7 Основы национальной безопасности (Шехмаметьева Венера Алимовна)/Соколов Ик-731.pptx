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72" r:id="rId1"/>
  </p:sldMasterIdLst>
  <p:notesMasterIdLst>
    <p:notesMasterId r:id="rId20"/>
  </p:notesMasterIdLst>
  <p:sldIdLst>
    <p:sldId id="256" r:id="rId2"/>
    <p:sldId id="269" r:id="rId3"/>
    <p:sldId id="354" r:id="rId4"/>
    <p:sldId id="351" r:id="rId5"/>
    <p:sldId id="352" r:id="rId6"/>
    <p:sldId id="353" r:id="rId7"/>
    <p:sldId id="355" r:id="rId8"/>
    <p:sldId id="356" r:id="rId9"/>
    <p:sldId id="357" r:id="rId10"/>
    <p:sldId id="358" r:id="rId11"/>
    <p:sldId id="359" r:id="rId12"/>
    <p:sldId id="360" r:id="rId13"/>
    <p:sldId id="361" r:id="rId14"/>
    <p:sldId id="362" r:id="rId15"/>
    <p:sldId id="363" r:id="rId16"/>
    <p:sldId id="365" r:id="rId17"/>
    <p:sldId id="366" r:id="rId18"/>
    <p:sldId id="346" r:id="rId19"/>
  </p:sldIdLst>
  <p:sldSz cx="12960350" cy="6840538"/>
  <p:notesSz cx="6797675" cy="987266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Начало" id="{BA418856-1B13-0E4D-B8D9-6D6ECDDA5229}">
          <p14:sldIdLst>
            <p14:sldId id="256"/>
            <p14:sldId id="269"/>
            <p14:sldId id="354"/>
            <p14:sldId id="351"/>
            <p14:sldId id="352"/>
            <p14:sldId id="353"/>
            <p14:sldId id="355"/>
            <p14:sldId id="356"/>
            <p14:sldId id="357"/>
            <p14:sldId id="358"/>
            <p14:sldId id="359"/>
            <p14:sldId id="360"/>
            <p14:sldId id="361"/>
            <p14:sldId id="362"/>
            <p14:sldId id="363"/>
            <p14:sldId id="365"/>
            <p14:sldId id="366"/>
          </p14:sldIdLst>
        </p14:section>
        <p14:section name="Раздел без заголовка" id="{FED790F9-8494-46E1-B83E-DB16908DF66B}">
          <p14:sldIdLst>
            <p14:sldId id="346"/>
          </p14:sldIdLst>
        </p14:section>
        <p14:section name="Основные стили" id="{9C5DBF73-5C8C-8D4C-BB54-DF085EC13081}">
          <p14:sldIdLst/>
        </p14:section>
      </p14:sectionLst>
    </p:ext>
    <p:ext uri="{EFAFB233-063F-42B5-8137-9DF3F51BA10A}">
      <p15:sldGuideLst xmlns:p15="http://schemas.microsoft.com/office/powerpoint/2012/main">
        <p15:guide id="1" pos="657" userDrawn="1">
          <p15:clr>
            <a:srgbClr val="A4A3A4"/>
          </p15:clr>
        </p15:guide>
        <p15:guide id="2" orient="horz" pos="703" userDrawn="1">
          <p15:clr>
            <a:srgbClr val="A4A3A4"/>
          </p15:clr>
        </p15:guide>
        <p15:guide id="3" pos="7212" userDrawn="1">
          <p15:clr>
            <a:srgbClr val="A4A3A4"/>
          </p15:clr>
        </p15:guide>
      </p15:sld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Елена Елена" initials="ЕЕ" lastIdx="2" clrIdx="0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BE003E"/>
    <a:srgbClr val="E0150F"/>
    <a:srgbClr val="E6E6E6"/>
    <a:srgbClr val="AFABAB"/>
    <a:srgbClr val="6D6D6D"/>
    <a:srgbClr val="EB5E3F"/>
    <a:srgbClr val="48494A"/>
    <a:srgbClr val="061A6C"/>
    <a:srgbClr val="404040"/>
    <a:srgbClr val="26262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9666" autoAdjust="0"/>
    <p:restoredTop sz="57519" autoAdjust="0"/>
  </p:normalViewPr>
  <p:slideViewPr>
    <p:cSldViewPr snapToGrid="0">
      <p:cViewPr>
        <p:scale>
          <a:sx n="50" d="100"/>
          <a:sy n="50" d="100"/>
        </p:scale>
        <p:origin x="2136" y="348"/>
      </p:cViewPr>
      <p:guideLst>
        <p:guide pos="657"/>
        <p:guide orient="horz" pos="703"/>
        <p:guide pos="721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commentAuthors" Target="commentAuthor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534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53B0AE3-F1A2-394F-BC18-67F76EFC1ECD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242888" y="1233488"/>
            <a:ext cx="6311900" cy="33321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79768" y="4751219"/>
            <a:ext cx="5438140" cy="3887361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50443" y="9377317"/>
            <a:ext cx="2945659" cy="49534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329C60B-6F98-8646-A41A-70FA44D3BDF6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5232337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Тема моего доклада - военные конфликты во второй половине XX - первой четверти XXI века. В работе рассматриваются основные причины и особенности вооруженных конфликтов этого периода, а также приводится подробный пример Афганской войны 1979-1989 годов.</a:t>
            </a:r>
          </a:p>
          <a:p>
            <a:r>
              <a:rPr lang="ru-RU" dirty="0"/>
              <a:t>Актуальность темы связана с тем, что после Второй мировой войны человечество избежало новой мировой войны, но вооруженные конфликты не исчезли. Они приобрели иной характер: стали локальными, региональными, часто связанными с противостоянием крупных держав, распадом колониальных империй, этническими противоречиями и борьбой за влияние.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22688900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После окончания Второй мировой войны многие ожидали, что мир станет более стабильным. Однако на практике вторая половина XX века оказалась временем многочисленных локальных и региональных конфликтов. Прямого столкновения между СССР и США не произошло во многом из-за ядерного сдерживания, но противостояние между ними продолжалось в других формах.</a:t>
            </a:r>
          </a:p>
          <a:p>
            <a:r>
              <a:rPr lang="ru-RU" dirty="0"/>
              <a:t>Крупные державы поддерживали союзников, участвовали в политическом давлении, гонке вооружений, поставках оружия и военных операциях. Поэтому многие конфликты формально происходили на территории отдельных государств, но фактически затрагивали интересы всего международного сообщества.</a:t>
            </a:r>
          </a:p>
          <a:p>
            <a:r>
              <a:rPr lang="ru-RU" dirty="0"/>
              <a:t>В XXI веке характер конфликтов еще больше усложнился. К обычным боевым действиям добавились информационное противоборство, санкции, кибератаки, использование беспилотников и активное внешнее вмешательство.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5286164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Перед рассмотрением конкретных конфликтов важно определить основные понятия. Военный конфликт - это форма разрешения межгосударственных или внутригосударственных противоречий с применением военной силы.</a:t>
            </a:r>
          </a:p>
          <a:p>
            <a:r>
              <a:rPr lang="ru-RU" dirty="0"/>
              <a:t>Локальная война обычно ограничена территорией, составом участников и политическими целями. Однако во второй половине XX века даже локальные войны часто имели международное значение. Например, Корейская война и война во Вьетнаме проходили в конкретных регионах, но были связаны с глобальным противостоянием социалистического и капиталистического блоков.</a:t>
            </a:r>
          </a:p>
          <a:p>
            <a:r>
              <a:rPr lang="ru-RU" dirty="0"/>
              <a:t>Региональный конфликт влияет не только на одну страну, но и на безопасность всего региона. Гражданская война начинается как внутреннее противостояние, но при поддержке внешних сил может перерасти в международную проблему.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271633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Военные конфликты второй половины XX - первой четверти XXI века имели разные причины, но можно выделить несколько общих групп.</a:t>
            </a:r>
          </a:p>
          <a:p>
            <a:endParaRPr lang="ru-RU" dirty="0"/>
          </a:p>
          <a:p>
            <a:r>
              <a:rPr lang="ru-RU" dirty="0"/>
              <a:t>Первая причина - идеологическое противостояние. После Второй мировой войны мир оказался разделен на два блока: социалистический во главе с СССР и капиталистический во главе с США. Это противостояние получило название холодной войны.</a:t>
            </a:r>
          </a:p>
          <a:p>
            <a:endParaRPr lang="ru-RU" dirty="0"/>
          </a:p>
          <a:p>
            <a:r>
              <a:rPr lang="ru-RU" dirty="0"/>
              <a:t>Вторая причина - распад колониальной системы. Многие страны Азии и Африки получили независимость, но столкнулись с внутренней нестабильностью, борьбой за власть и экономической зависимостью.</a:t>
            </a:r>
          </a:p>
          <a:p>
            <a:endParaRPr lang="ru-RU" dirty="0"/>
          </a:p>
          <a:p>
            <a:r>
              <a:rPr lang="ru-RU" dirty="0"/>
              <a:t>Третья причина - геополитика. Государства стремились контролировать важные территории, военные базы, транспортные пути и зоны влияния.</a:t>
            </a:r>
          </a:p>
          <a:p>
            <a:endParaRPr lang="ru-RU" dirty="0"/>
          </a:p>
          <a:p>
            <a:r>
              <a:rPr lang="ru-RU" dirty="0"/>
              <a:t>Также важную роль играли этнические и религиозные противоречия, особенно после распада многонациональных государств. Наконец, многие конфликты затягивались из-за внешнего вмешательства: поставок оружия, финансирования, политической поддержки и прямого военного участия.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66615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Военные конфликты рассматриваемого периода можно условно разделить на несколько крупных групп.</a:t>
            </a:r>
          </a:p>
          <a:p>
            <a:endParaRPr lang="ru-RU" dirty="0"/>
          </a:p>
          <a:p>
            <a:r>
              <a:rPr lang="ru-RU" dirty="0"/>
              <a:t>Первая группа - конфликты холодной войны. Они были связаны с противостоянием СССР и США, а также их союзников.</a:t>
            </a:r>
          </a:p>
          <a:p>
            <a:endParaRPr lang="ru-RU" dirty="0"/>
          </a:p>
          <a:p>
            <a:r>
              <a:rPr lang="ru-RU" dirty="0"/>
              <a:t>Вторая группа - конфликты на Ближнем Востоке. Этот регион стал одним из самых нестабильных из-за территориальных, религиозных, нефтяных и политических противоречий.</a:t>
            </a:r>
          </a:p>
          <a:p>
            <a:endParaRPr lang="ru-RU" dirty="0"/>
          </a:p>
          <a:p>
            <a:r>
              <a:rPr lang="ru-RU" dirty="0"/>
              <a:t>Третья группа - конфликты после распада социалистического блока и СССР. Здесь на первый план вышли национальные, этнические и территориальные споры.</a:t>
            </a:r>
          </a:p>
          <a:p>
            <a:endParaRPr lang="ru-RU" dirty="0"/>
          </a:p>
          <a:p>
            <a:r>
              <a:rPr lang="ru-RU" dirty="0"/>
              <a:t>Четвертая группа - конфликты первой четверти XXI века. Они отличаются особой комплексностью: сочетают военные действия, информационную борьбу, санкции, терроризм и внешнее вмешательство.</a:t>
            </a:r>
          </a:p>
          <a:p>
            <a:endParaRPr lang="ru-RU" dirty="0"/>
          </a:p>
          <a:p>
            <a:r>
              <a:rPr lang="ru-RU" dirty="0"/>
              <a:t>Отдельно в докладе рассматривается Афганская война 1979-1989 годов как один из наиболее показательных конфликтов второй половины XX века.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37704898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Конфликты холодной войны были связаны с противостоянием двух мировых систем. СССР и США старались не вступать в прямую войну друг с другом, но поддерживали союзников в разных регионах мира.</a:t>
            </a:r>
          </a:p>
          <a:p>
            <a:endParaRPr lang="ru-RU" dirty="0"/>
          </a:p>
          <a:p>
            <a:r>
              <a:rPr lang="ru-RU" dirty="0"/>
              <a:t>Корейская война стала одним из первых крупных военных столкновений периода холодной войны. Она показала, что после Второй мировой войны мир может снова оказаться на грани масштабного международного конфликта.</a:t>
            </a:r>
          </a:p>
          <a:p>
            <a:endParaRPr lang="ru-RU" dirty="0"/>
          </a:p>
          <a:p>
            <a:r>
              <a:rPr lang="ru-RU" dirty="0"/>
              <a:t>Война во Вьетнаме стала примером длительной войны, в которой военные действия сочетались с идеологической борьбой и массовым антивоенным движением.</a:t>
            </a:r>
          </a:p>
          <a:p>
            <a:endParaRPr lang="ru-RU" dirty="0"/>
          </a:p>
          <a:p>
            <a:r>
              <a:rPr lang="ru-RU" dirty="0"/>
              <a:t>Афганская война стала одним из наиболее тяжелых конфликтов позднего периода холодной войны. Она показала сложность вмешательства во внутренний кризис другого государства.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95689058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Ближний Восток стал одним из самых конфликтных регионов мира. Здесь пересекались территориальные, религиозные, экономические и геополитические интересы.</a:t>
            </a:r>
          </a:p>
          <a:p>
            <a:endParaRPr lang="ru-RU" dirty="0"/>
          </a:p>
          <a:p>
            <a:r>
              <a:rPr lang="ru-RU" dirty="0"/>
              <a:t>Арабо-израильские войны были связаны с проблемой создания и признания государства Израиль, а также с палестинским вопросом. Суэцкий кризис показал значение контроля над важнейшими транспортными путями.</a:t>
            </a:r>
          </a:p>
          <a:p>
            <a:endParaRPr lang="ru-RU" dirty="0"/>
          </a:p>
          <a:p>
            <a:r>
              <a:rPr lang="ru-RU" dirty="0"/>
              <a:t>Позже большое значение приобрели войны в Персидском заливе, связанные с нефтью, региональным лидерством и вмешательством внешних держав.</a:t>
            </a:r>
          </a:p>
          <a:p>
            <a:endParaRPr lang="ru-RU" dirty="0"/>
          </a:p>
          <a:p>
            <a:r>
              <a:rPr lang="ru-RU" dirty="0"/>
              <a:t>В XXI веке одним из самых тяжелых конфликтов региона стала гражданская война в Сирии. Она объединила в себе признаки внутреннего конфликта, борьбы с терроризмом и международного противостояния.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2997532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конце XX века произошел распад социалистической системы и Советского Союза. Это радикально изменило международный порядок. Однако исчезновение противостояния СССР и США не привело к полному прекращению войн.</a:t>
            </a:r>
          </a:p>
          <a:p>
            <a:endParaRPr lang="ru-RU" dirty="0"/>
          </a:p>
          <a:p>
            <a:r>
              <a:rPr lang="ru-RU" dirty="0"/>
              <a:t>На первый план вышли новые противоречия: национальные, этнические, территориальные и религиозные. Особенно ярко это проявилось в войнах на Балканах после распада Югославии.</a:t>
            </a:r>
          </a:p>
          <a:p>
            <a:endParaRPr lang="ru-RU" dirty="0"/>
          </a:p>
          <a:p>
            <a:r>
              <a:rPr lang="ru-RU" dirty="0"/>
              <a:t>Также конфликты возникали на постсоветском пространстве. Они были связаны с границами, статусом отдельных территорий, национальной идентичностью и слабостью новых государственных институтов.</a:t>
            </a:r>
          </a:p>
          <a:p>
            <a:endParaRPr lang="ru-RU" dirty="0"/>
          </a:p>
          <a:p>
            <a:r>
              <a:rPr lang="ru-RU" dirty="0"/>
              <a:t>Таким образом, конец холодной войны не решил проблему вооруженных конфликтов, а только изменил их причины и форму.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7877591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В первой четверти XXI века военные конфликты стали более сложными. Если во второй половине XX века многие войны объяснялись прежде всего холодной войной, то в XXI веке причин стало больше.</a:t>
            </a:r>
          </a:p>
          <a:p>
            <a:endParaRPr lang="ru-RU" dirty="0"/>
          </a:p>
          <a:p>
            <a:r>
              <a:rPr lang="ru-RU" dirty="0"/>
              <a:t>На первый план вышли международный терроризм, разрушение государственных институтов, внутренние гражданские противоречия, борьба за влияние в отдельных регионах и внешнее вмешательство.</a:t>
            </a:r>
          </a:p>
          <a:p>
            <a:endParaRPr lang="ru-RU" dirty="0"/>
          </a:p>
          <a:p>
            <a:r>
              <a:rPr lang="ru-RU" dirty="0"/>
              <a:t>Современные конфликты редко ограничиваются только боевыми действиями. Они сопровождаются информационными кампаниями, санкциями, дипломатическим давлением, кибератаками и борьбой за общественное мнение.</a:t>
            </a:r>
          </a:p>
          <a:p>
            <a:endParaRPr lang="ru-RU" dirty="0"/>
          </a:p>
          <a:p>
            <a:r>
              <a:rPr lang="ru-RU" dirty="0"/>
              <a:t>Также большое значение получили новые технологии: беспилотные летательные аппараты, высокоточное оружие, средства радиоэлектронной борьбы, спутниковая разведка и цифровые системы управления.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75685220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К конфликтам первой четверти XXI века можно отнести несколько крупных примеров.</a:t>
            </a:r>
          </a:p>
          <a:p>
            <a:endParaRPr lang="ru-RU" dirty="0"/>
          </a:p>
          <a:p>
            <a:r>
              <a:rPr lang="ru-RU" dirty="0"/>
              <a:t>Военная операция в Афганистане после 2001 года была связана с борьбой против международного терроризма, но со временем конфликт приобрел затяжной характер.</a:t>
            </a:r>
          </a:p>
          <a:p>
            <a:endParaRPr lang="ru-RU" dirty="0"/>
          </a:p>
          <a:p>
            <a:r>
              <a:rPr lang="ru-RU" dirty="0"/>
              <a:t>Война в Ираке 2003 года привела к разрушению прежней системы власти и длительной нестабильности в стране.</a:t>
            </a:r>
          </a:p>
          <a:p>
            <a:endParaRPr lang="ru-RU" dirty="0"/>
          </a:p>
          <a:p>
            <a:r>
              <a:rPr lang="ru-RU" dirty="0"/>
              <a:t>В Ливии в 2011 году внутренний кризис сопровождался внешним военным вмешательством, что привело к тяжелым последствиям для государственности и безопасности региона.</a:t>
            </a:r>
          </a:p>
          <a:p>
            <a:endParaRPr lang="ru-RU" dirty="0"/>
          </a:p>
          <a:p>
            <a:r>
              <a:rPr lang="ru-RU" dirty="0"/>
              <a:t>Сирийский конфликт стал примером сочетания гражданской войны, борьбы с терроризмом и участия внешних сил.</a:t>
            </a:r>
          </a:p>
          <a:p>
            <a:endParaRPr lang="ru-RU" dirty="0"/>
          </a:p>
          <a:p>
            <a:r>
              <a:rPr lang="ru-RU" dirty="0" err="1"/>
              <a:t>Нагорно-карабахский</a:t>
            </a:r>
            <a:r>
              <a:rPr lang="ru-RU" dirty="0"/>
              <a:t> конфликт показал, что нерешенные территориальные споры могут быстро переходить в масштабные боевые действия.</a:t>
            </a:r>
          </a:p>
          <a:p>
            <a:endParaRPr lang="ru-RU" dirty="0"/>
          </a:p>
          <a:p>
            <a:r>
              <a:rPr lang="ru-RU" dirty="0"/>
              <a:t>Также сохраняет высокую напряженность палестино-израильское противостояние. Отдельно можно выделить конфликт на территории Украины, который стал одним из ключевых конфликтов первой четверти XXI века.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713043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Одним из ключевых конфликтов первой четверти XXI века стал конфликт на территории Украины. Его предпосылки формировались после событий 2014 года. К основным факторам относятся кризис отношений между Россией и Украиной, вооруженное противостояние в Донбассе, проблема выполнения Минских соглашений и ухудшение отношений России с западными странами.</a:t>
            </a:r>
          </a:p>
          <a:p>
            <a:endParaRPr lang="ru-RU" dirty="0"/>
          </a:p>
          <a:p>
            <a:r>
              <a:rPr lang="ru-RU" dirty="0"/>
              <a:t>21 февраля 2022 года Россия признала Донецкую Народную Республику и Луганскую Народную Республику. 24 февраля 2022 года было объявлено о начале специальной военной операции.</a:t>
            </a:r>
          </a:p>
          <a:p>
            <a:endParaRPr lang="ru-RU" dirty="0"/>
          </a:p>
          <a:p>
            <a:r>
              <a:rPr lang="ru-RU" dirty="0"/>
              <a:t>Этот конфликт показывает характерные особенности войн XXI века. В нем активно используются беспилотные летательные аппараты, средства разведки, радиоэлектронной борьбы, высокоточное оружие и информационные технологии.</a:t>
            </a:r>
          </a:p>
          <a:p>
            <a:endParaRPr lang="ru-RU" dirty="0"/>
          </a:p>
          <a:p>
            <a:r>
              <a:rPr lang="ru-RU" dirty="0"/>
              <a:t>Кроме того, конфликт имеет международно-политическое и экономическое измерение. Он связан с отношениями России, Украины, стран НАТО и Европейского союза, а также с санкционным давлением и внешней поддержкой Украины со стороны западных стран.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85969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Афганская война 1979-1989 годов является одним из наиболее показательных конфликтов второй половины XX века. Она началась в условиях холодной войны и внутреннего кризиса Афганистана.</a:t>
            </a:r>
          </a:p>
          <a:p>
            <a:endParaRPr lang="ru-RU" dirty="0"/>
          </a:p>
          <a:p>
            <a:r>
              <a:rPr lang="ru-RU" dirty="0"/>
              <a:t>С одной стороны, это был внутренний конфликт в афганском обществе. В стране происходила борьба между правительством, которое пыталось проводить радикальные реформы, и вооруженной оппозицией, опиравшейся на традиционные и религиозные силы.</a:t>
            </a:r>
          </a:p>
          <a:p>
            <a:endParaRPr lang="ru-RU" dirty="0"/>
          </a:p>
          <a:p>
            <a:r>
              <a:rPr lang="ru-RU" dirty="0"/>
              <a:t>С другой стороны, Афганистан имел важное стратегическое значение для СССР, потому что находился рядом с южными границами Советского Союза. Поэтому советское руководство рассматривало ситуацию в Афганистане как вопрос безопасности.</a:t>
            </a:r>
          </a:p>
          <a:p>
            <a:endParaRPr lang="ru-RU" dirty="0"/>
          </a:p>
          <a:p>
            <a:r>
              <a:rPr lang="ru-RU" dirty="0"/>
              <a:t>Афганская война показывает, как внутренний кризис одного государства может стать частью международного противостояния.</a:t>
            </a:r>
          </a:p>
          <a:p>
            <a:endParaRPr lang="ru-RU" dirty="0"/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8894751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Причины Афганской войны можно разделить на внутренние и внешние.</a:t>
            </a:r>
          </a:p>
          <a:p>
            <a:endParaRPr lang="ru-RU" dirty="0"/>
          </a:p>
          <a:p>
            <a:r>
              <a:rPr lang="ru-RU" dirty="0"/>
              <a:t>К внутренним причинам относится политический кризис в Афганистане. После Апрельской революции 1978 года к власти пришло руководство, которое пыталось проводить радикальные реформы. Эти реформы затрагивали землю, образование, религию и систему власти. Для значительной части традиционного афганского общества они выглядели навязанными сверху.</a:t>
            </a:r>
          </a:p>
          <a:p>
            <a:endParaRPr lang="ru-RU" dirty="0"/>
          </a:p>
          <a:p>
            <a:r>
              <a:rPr lang="ru-RU" dirty="0"/>
              <a:t>Это вызвало сопротивление и привело к вооруженной борьбе. Кроме того, внутри правящей Народно-Демократической партии Афганистана существовали серьезные противоречия.</a:t>
            </a:r>
          </a:p>
          <a:p>
            <a:endParaRPr lang="ru-RU" dirty="0"/>
          </a:p>
          <a:p>
            <a:r>
              <a:rPr lang="ru-RU" dirty="0"/>
              <a:t>К внешним причинам относилась стратегическая важность Афганистана. СССР опасался нестабильности у своих южных границ и возможного усиления влияния США и их союзников в регионе.</a:t>
            </a:r>
          </a:p>
          <a:p>
            <a:endParaRPr lang="ru-RU" dirty="0"/>
          </a:p>
          <a:p>
            <a:r>
              <a:rPr lang="ru-RU" dirty="0"/>
              <a:t>Также афганское руководство неоднократно обращалось к СССР с просьбами о помощи. В результате внутренний кризис Афганистана был втянут в логику холодной войны.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36890581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Решение о вводе советских войск в Афганистан было принято в декабре 1979 года. После этого началось размещение советского контингента на территории Афганистана.</a:t>
            </a:r>
          </a:p>
          <a:p>
            <a:endParaRPr lang="ru-RU" dirty="0"/>
          </a:p>
          <a:p>
            <a:r>
              <a:rPr lang="ru-RU" dirty="0"/>
              <a:t>Первоначально предполагалось, что присутствие советских войск поможет стабилизировать ситуацию. Однако быстро стало понятно, что конфликт имеет глубокие внутренние причины и не может быть решен быстро.</a:t>
            </a:r>
          </a:p>
          <a:p>
            <a:endParaRPr lang="ru-RU" dirty="0"/>
          </a:p>
          <a:p>
            <a:r>
              <a:rPr lang="ru-RU" dirty="0"/>
              <a:t>В начале 1980-х годов советские войска участвовали в активных боевых действиях против вооруженной оппозиции. Особую сложность представляла горная местность, слабая инфраструктура и партизанская тактика противника.</a:t>
            </a:r>
          </a:p>
          <a:p>
            <a:endParaRPr lang="ru-RU" dirty="0"/>
          </a:p>
          <a:p>
            <a:r>
              <a:rPr lang="ru-RU" dirty="0"/>
              <a:t>Со временем стало ясно, что военного решения у конфликта нет. В середине 1980-х годов начались попытки политического урегулирования. В 1988 году были заключены Женевские соглашения, которые определили порядок вывода советских войск.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9000481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Афганская война имела тяжелые последствия для СССР, Афганистана и международных отношений.</a:t>
            </a:r>
          </a:p>
          <a:p>
            <a:endParaRPr lang="ru-RU" dirty="0"/>
          </a:p>
          <a:p>
            <a:r>
              <a:rPr lang="ru-RU" dirty="0"/>
              <a:t>Военные последствия заключались в том, что советская армия получила опыт ведения боевых действий в горной местности, борьбы с партизанскими формированиями, организации снабжения и применения авиации. Но этот опыт был получен высокой ценой.</a:t>
            </a:r>
          </a:p>
          <a:p>
            <a:endParaRPr lang="ru-RU" dirty="0"/>
          </a:p>
          <a:p>
            <a:r>
              <a:rPr lang="ru-RU" dirty="0"/>
              <a:t>Человеческие потери стали одной из самых болезненных сторон войны. Погибли тысячи советских военнослужащих, многие вернулись с ранениями и психологическими травмами.</a:t>
            </a:r>
          </a:p>
          <a:p>
            <a:endParaRPr lang="ru-RU" dirty="0"/>
          </a:p>
          <a:p>
            <a:r>
              <a:rPr lang="ru-RU" dirty="0"/>
              <a:t>Политически война ухудшила международное положение СССР. Она стала одним из факторов роста напряженности в отношениях с западными странами.</a:t>
            </a:r>
          </a:p>
          <a:p>
            <a:endParaRPr lang="ru-RU" dirty="0"/>
          </a:p>
          <a:p>
            <a:r>
              <a:rPr lang="ru-RU" dirty="0"/>
              <a:t>Для Афганистана война также имела тяжелые последствия. После вывода советских войск внутренний конфликт не был полностью прекращен, и страна еще долго оставалась нестабильной.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98072056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На примере Афганской войны и других конфликтов можно выделить несколько общих особенностей.</a:t>
            </a:r>
          </a:p>
          <a:p>
            <a:endParaRPr lang="ru-RU" dirty="0"/>
          </a:p>
          <a:p>
            <a:r>
              <a:rPr lang="ru-RU" dirty="0"/>
              <a:t>Во-первых, локальный конфликт может иметь мировое значение. Даже если боевые действия происходят на территории одного государства, они часто затрагивают интересы крупных держав.</a:t>
            </a:r>
          </a:p>
          <a:p>
            <a:endParaRPr lang="ru-RU" dirty="0"/>
          </a:p>
          <a:p>
            <a:r>
              <a:rPr lang="ru-RU" dirty="0"/>
              <a:t>Во-вторых, военная сила не всегда решает политическую проблему. Если конфликт имеет глубокие социальные, религиозные и политические причины, то одними военными методами добиться устойчивого мира сложно.</a:t>
            </a:r>
          </a:p>
          <a:p>
            <a:endParaRPr lang="ru-RU" dirty="0"/>
          </a:p>
          <a:p>
            <a:r>
              <a:rPr lang="ru-RU" dirty="0"/>
              <a:t>В-третьих, внешняя поддержка делает конфликт более длительным. Когда стороны получают оружие, деньги, политическую и информационную поддержку извне, война может продолжаться годами.</a:t>
            </a:r>
          </a:p>
          <a:p>
            <a:endParaRPr lang="ru-RU" dirty="0"/>
          </a:p>
          <a:p>
            <a:r>
              <a:rPr lang="ru-RU" dirty="0"/>
              <a:t>В-четвертых, большое значение имеет общественное мнение. В XXI веке оно формируется не только через телевидение и печать, но и через интернет, социальные сети и цифровые платформы.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3683501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ru-RU" dirty="0"/>
              <a:t>Подводя итог, можно сказать, что военные конфликты второй половины XX - первой четверти XXI века показывают: после Второй мировой войны мир не стал полностью безопасным.</a:t>
            </a:r>
          </a:p>
          <a:p>
            <a:endParaRPr lang="ru-RU" dirty="0"/>
          </a:p>
          <a:p>
            <a:r>
              <a:rPr lang="ru-RU" dirty="0"/>
              <a:t>Глобальная война между сверхдержавами была предотвращена, но вместо нее распространились локальные и региональные войны. Они часто имели международное значение и были связаны с борьбой за влияние, распадом колониальной системы, этническими и религиозными противоречиями, слабостью государственных институтов и внешним вмешательством.</a:t>
            </a:r>
          </a:p>
          <a:p>
            <a:endParaRPr lang="ru-RU" dirty="0"/>
          </a:p>
          <a:p>
            <a:r>
              <a:rPr lang="ru-RU" dirty="0"/>
              <a:t>Афганская война 1979-1989 годов является одним из наиболее ярких примеров такого конфликта. Она началась как попытка стабилизировать ситуацию у южных границ СССР и поддержать союзное афганское руководство, но превратилась в длительную и тяжелую войну.</a:t>
            </a:r>
          </a:p>
          <a:p>
            <a:endParaRPr lang="ru-RU" dirty="0"/>
          </a:p>
          <a:p>
            <a:r>
              <a:rPr lang="ru-RU" dirty="0"/>
              <a:t>Главный вывод состоит в том, что любой военный конфликт нужно рассматривать не только как столкновение армий, но и как сложное историческое явление. Для предотвращения войн необходимы дипломатия, устойчивые государственные институты, учет интересов общества и политическое урегулирование.</a:t>
            </a:r>
          </a:p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5178088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8329C60B-6F98-8646-A41A-70FA44D3BDF6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77599410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3.png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620044" y="1119505"/>
            <a:ext cx="9720263" cy="2381521"/>
          </a:xfrm>
        </p:spPr>
        <p:txBody>
          <a:bodyPr anchor="b"/>
          <a:lstStyle>
            <a:lvl1pPr algn="ctr">
              <a:defRPr sz="5985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620044" y="3592866"/>
            <a:ext cx="9720263" cy="1651546"/>
          </a:xfrm>
        </p:spPr>
        <p:txBody>
          <a:bodyPr/>
          <a:lstStyle>
            <a:lvl1pPr marL="0" indent="0" algn="ctr">
              <a:buNone/>
              <a:defRPr sz="2394"/>
            </a:lvl1pPr>
            <a:lvl2pPr marL="456057" indent="0" algn="ctr">
              <a:buNone/>
              <a:defRPr sz="1995"/>
            </a:lvl2pPr>
            <a:lvl3pPr marL="912114" indent="0" algn="ctr">
              <a:buNone/>
              <a:defRPr sz="1795"/>
            </a:lvl3pPr>
            <a:lvl4pPr marL="1368171" indent="0" algn="ctr">
              <a:buNone/>
              <a:defRPr sz="1596"/>
            </a:lvl4pPr>
            <a:lvl5pPr marL="1824228" indent="0" algn="ctr">
              <a:buNone/>
              <a:defRPr sz="1596"/>
            </a:lvl5pPr>
            <a:lvl6pPr marL="2280285" indent="0" algn="ctr">
              <a:buNone/>
              <a:defRPr sz="1596"/>
            </a:lvl6pPr>
            <a:lvl7pPr marL="2736342" indent="0" algn="ctr">
              <a:buNone/>
              <a:defRPr sz="1596"/>
            </a:lvl7pPr>
            <a:lvl8pPr marL="3192399" indent="0" algn="ctr">
              <a:buNone/>
              <a:defRPr sz="1596"/>
            </a:lvl8pPr>
            <a:lvl9pPr marL="3648456" indent="0" algn="ctr">
              <a:buNone/>
              <a:defRPr sz="1596"/>
            </a:lvl9pPr>
          </a:lstStyle>
          <a:p>
            <a:r>
              <a:rPr lang="ru-RU"/>
              <a:t>Образец подзаголовка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46706742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52267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84274" y="1705385"/>
            <a:ext cx="11178302" cy="2845473"/>
          </a:xfrm>
        </p:spPr>
        <p:txBody>
          <a:bodyPr anchor="b"/>
          <a:lstStyle>
            <a:lvl1pPr>
              <a:defRPr sz="5985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84274" y="4577778"/>
            <a:ext cx="11178302" cy="1496367"/>
          </a:xfrm>
        </p:spPr>
        <p:txBody>
          <a:bodyPr/>
          <a:lstStyle>
            <a:lvl1pPr marL="0" indent="0">
              <a:buNone/>
              <a:defRPr sz="2394">
                <a:solidFill>
                  <a:schemeClr val="tx1">
                    <a:tint val="75000"/>
                  </a:schemeClr>
                </a:solidFill>
              </a:defRPr>
            </a:lvl1pPr>
            <a:lvl2pPr marL="456057" indent="0">
              <a:buNone/>
              <a:defRPr sz="1995">
                <a:solidFill>
                  <a:schemeClr val="tx1">
                    <a:tint val="75000"/>
                  </a:schemeClr>
                </a:solidFill>
              </a:defRPr>
            </a:lvl2pPr>
            <a:lvl3pPr marL="912114" indent="0">
              <a:buNone/>
              <a:defRPr sz="1795">
                <a:solidFill>
                  <a:schemeClr val="tx1">
                    <a:tint val="75000"/>
                  </a:schemeClr>
                </a:solidFill>
              </a:defRPr>
            </a:lvl3pPr>
            <a:lvl4pPr marL="1368171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4pPr>
            <a:lvl5pPr marL="1824228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5pPr>
            <a:lvl6pPr marL="2280285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6pPr>
            <a:lvl7pPr marL="2736342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7pPr>
            <a:lvl8pPr marL="3192399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8pPr>
            <a:lvl9pPr marL="3648456" indent="0">
              <a:buNone/>
              <a:defRPr sz="1596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6746490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91024" y="1820976"/>
            <a:ext cx="5508149" cy="43402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61177" y="1820976"/>
            <a:ext cx="5508149" cy="4340259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01029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2" y="364196"/>
            <a:ext cx="11178302" cy="1322188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2713" y="1676882"/>
            <a:ext cx="5482835" cy="821814"/>
          </a:xfrm>
        </p:spPr>
        <p:txBody>
          <a:bodyPr anchor="b"/>
          <a:lstStyle>
            <a:lvl1pPr marL="0" indent="0">
              <a:buNone/>
              <a:defRPr sz="2394" b="1"/>
            </a:lvl1pPr>
            <a:lvl2pPr marL="456057" indent="0">
              <a:buNone/>
              <a:defRPr sz="1995" b="1"/>
            </a:lvl2pPr>
            <a:lvl3pPr marL="912114" indent="0">
              <a:buNone/>
              <a:defRPr sz="1795" b="1"/>
            </a:lvl3pPr>
            <a:lvl4pPr marL="1368171" indent="0">
              <a:buNone/>
              <a:defRPr sz="1596" b="1"/>
            </a:lvl4pPr>
            <a:lvl5pPr marL="1824228" indent="0">
              <a:buNone/>
              <a:defRPr sz="1596" b="1"/>
            </a:lvl5pPr>
            <a:lvl6pPr marL="2280285" indent="0">
              <a:buNone/>
              <a:defRPr sz="1596" b="1"/>
            </a:lvl6pPr>
            <a:lvl7pPr marL="2736342" indent="0">
              <a:buNone/>
              <a:defRPr sz="1596" b="1"/>
            </a:lvl7pPr>
            <a:lvl8pPr marL="3192399" indent="0">
              <a:buNone/>
              <a:defRPr sz="1596" b="1"/>
            </a:lvl8pPr>
            <a:lvl9pPr marL="3648456" indent="0">
              <a:buNone/>
              <a:defRPr sz="159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92713" y="2498697"/>
            <a:ext cx="5482835" cy="36752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61177" y="1676882"/>
            <a:ext cx="5509837" cy="821814"/>
          </a:xfrm>
        </p:spPr>
        <p:txBody>
          <a:bodyPr anchor="b"/>
          <a:lstStyle>
            <a:lvl1pPr marL="0" indent="0">
              <a:buNone/>
              <a:defRPr sz="2394" b="1"/>
            </a:lvl1pPr>
            <a:lvl2pPr marL="456057" indent="0">
              <a:buNone/>
              <a:defRPr sz="1995" b="1"/>
            </a:lvl2pPr>
            <a:lvl3pPr marL="912114" indent="0">
              <a:buNone/>
              <a:defRPr sz="1795" b="1"/>
            </a:lvl3pPr>
            <a:lvl4pPr marL="1368171" indent="0">
              <a:buNone/>
              <a:defRPr sz="1596" b="1"/>
            </a:lvl4pPr>
            <a:lvl5pPr marL="1824228" indent="0">
              <a:buNone/>
              <a:defRPr sz="1596" b="1"/>
            </a:lvl5pPr>
            <a:lvl6pPr marL="2280285" indent="0">
              <a:buNone/>
              <a:defRPr sz="1596" b="1"/>
            </a:lvl6pPr>
            <a:lvl7pPr marL="2736342" indent="0">
              <a:buNone/>
              <a:defRPr sz="1596" b="1"/>
            </a:lvl7pPr>
            <a:lvl8pPr marL="3192399" indent="0">
              <a:buNone/>
              <a:defRPr sz="1596" b="1"/>
            </a:lvl8pPr>
            <a:lvl9pPr marL="3648456" indent="0">
              <a:buNone/>
              <a:defRPr sz="1596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61177" y="2498697"/>
            <a:ext cx="5509837" cy="3675206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401843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784481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DB7F7827-21D6-5054-F4C6-CF3F1E1A33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11902204" y="0"/>
            <a:ext cx="1058146" cy="6840538"/>
          </a:xfrm>
          <a:prstGeom prst="rect">
            <a:avLst/>
          </a:prstGeom>
        </p:spPr>
      </p:pic>
      <p:pic>
        <p:nvPicPr>
          <p:cNvPr id="11" name="Рисунок 10">
            <a:extLst>
              <a:ext uri="{FF2B5EF4-FFF2-40B4-BE49-F238E27FC236}">
                <a16:creationId xmlns:a16="http://schemas.microsoft.com/office/drawing/2014/main" id="{59761A6D-E025-ED50-4287-24ECE36ED868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-3243" y="239405"/>
            <a:ext cx="894267" cy="319820"/>
          </a:xfrm>
          <a:prstGeom prst="rect">
            <a:avLst/>
          </a:prstGeom>
          <a:solidFill>
            <a:schemeClr val="bg1"/>
          </a:solidFill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1A0C2274-20E7-0C84-678A-7BC227870B38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10856488" y="124477"/>
            <a:ext cx="1574789" cy="687181"/>
          </a:xfrm>
          <a:prstGeom prst="rect">
            <a:avLst/>
          </a:prstGeom>
        </p:spPr>
      </p:pic>
      <p:sp>
        <p:nvSpPr>
          <p:cNvPr id="5" name="Прямоугольник 4">
            <a:extLst>
              <a:ext uri="{FF2B5EF4-FFF2-40B4-BE49-F238E27FC236}">
                <a16:creationId xmlns:a16="http://schemas.microsoft.com/office/drawing/2014/main" id="{E5AA3578-2E3E-AC0A-C0A4-03BA169D6B14}"/>
              </a:ext>
            </a:extLst>
          </p:cNvPr>
          <p:cNvSpPr/>
          <p:nvPr userDrawn="1"/>
        </p:nvSpPr>
        <p:spPr>
          <a:xfrm>
            <a:off x="-3243" y="239405"/>
            <a:ext cx="894267" cy="319820"/>
          </a:xfrm>
          <a:prstGeom prst="rect">
            <a:avLst/>
          </a:prstGeom>
          <a:solidFill>
            <a:srgbClr val="BE003E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8719112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456036"/>
            <a:ext cx="4180050" cy="1596126"/>
          </a:xfrm>
        </p:spPr>
        <p:txBody>
          <a:bodyPr anchor="b"/>
          <a:lstStyle>
            <a:lvl1pPr>
              <a:defRPr sz="3192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509837" y="984911"/>
            <a:ext cx="6561177" cy="4861216"/>
          </a:xfrm>
        </p:spPr>
        <p:txBody>
          <a:bodyPr/>
          <a:lstStyle>
            <a:lvl1pPr>
              <a:defRPr sz="3192"/>
            </a:lvl1pPr>
            <a:lvl2pPr>
              <a:defRPr sz="2793"/>
            </a:lvl2pPr>
            <a:lvl3pPr>
              <a:defRPr sz="2394"/>
            </a:lvl3pPr>
            <a:lvl4pPr>
              <a:defRPr sz="1995"/>
            </a:lvl4pPr>
            <a:lvl5pPr>
              <a:defRPr sz="1995"/>
            </a:lvl5pPr>
            <a:lvl6pPr>
              <a:defRPr sz="1995"/>
            </a:lvl6pPr>
            <a:lvl7pPr>
              <a:defRPr sz="1995"/>
            </a:lvl7pPr>
            <a:lvl8pPr>
              <a:defRPr sz="1995"/>
            </a:lvl8pPr>
            <a:lvl9pPr>
              <a:defRPr sz="1995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052161"/>
            <a:ext cx="4180050" cy="3801883"/>
          </a:xfrm>
        </p:spPr>
        <p:txBody>
          <a:bodyPr/>
          <a:lstStyle>
            <a:lvl1pPr marL="0" indent="0">
              <a:buNone/>
              <a:defRPr sz="1596"/>
            </a:lvl1pPr>
            <a:lvl2pPr marL="456057" indent="0">
              <a:buNone/>
              <a:defRPr sz="1397"/>
            </a:lvl2pPr>
            <a:lvl3pPr marL="912114" indent="0">
              <a:buNone/>
              <a:defRPr sz="1197"/>
            </a:lvl3pPr>
            <a:lvl4pPr marL="1368171" indent="0">
              <a:buNone/>
              <a:defRPr sz="998"/>
            </a:lvl4pPr>
            <a:lvl5pPr marL="1824228" indent="0">
              <a:buNone/>
              <a:defRPr sz="998"/>
            </a:lvl5pPr>
            <a:lvl6pPr marL="2280285" indent="0">
              <a:buNone/>
              <a:defRPr sz="998"/>
            </a:lvl6pPr>
            <a:lvl7pPr marL="2736342" indent="0">
              <a:buNone/>
              <a:defRPr sz="998"/>
            </a:lvl7pPr>
            <a:lvl8pPr marL="3192399" indent="0">
              <a:buNone/>
              <a:defRPr sz="998"/>
            </a:lvl8pPr>
            <a:lvl9pPr marL="3648456" indent="0">
              <a:buNone/>
              <a:defRPr sz="9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054541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92713" y="456036"/>
            <a:ext cx="4180050" cy="1596126"/>
          </a:xfrm>
        </p:spPr>
        <p:txBody>
          <a:bodyPr anchor="b"/>
          <a:lstStyle>
            <a:lvl1pPr>
              <a:defRPr sz="3192"/>
            </a:lvl1pPr>
          </a:lstStyle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09837" y="984911"/>
            <a:ext cx="6561177" cy="4861216"/>
          </a:xfrm>
        </p:spPr>
        <p:txBody>
          <a:bodyPr anchor="t"/>
          <a:lstStyle>
            <a:lvl1pPr marL="0" indent="0">
              <a:buNone/>
              <a:defRPr sz="3192"/>
            </a:lvl1pPr>
            <a:lvl2pPr marL="456057" indent="0">
              <a:buNone/>
              <a:defRPr sz="2793"/>
            </a:lvl2pPr>
            <a:lvl3pPr marL="912114" indent="0">
              <a:buNone/>
              <a:defRPr sz="2394"/>
            </a:lvl3pPr>
            <a:lvl4pPr marL="1368171" indent="0">
              <a:buNone/>
              <a:defRPr sz="1995"/>
            </a:lvl4pPr>
            <a:lvl5pPr marL="1824228" indent="0">
              <a:buNone/>
              <a:defRPr sz="1995"/>
            </a:lvl5pPr>
            <a:lvl6pPr marL="2280285" indent="0">
              <a:buNone/>
              <a:defRPr sz="1995"/>
            </a:lvl6pPr>
            <a:lvl7pPr marL="2736342" indent="0">
              <a:buNone/>
              <a:defRPr sz="1995"/>
            </a:lvl7pPr>
            <a:lvl8pPr marL="3192399" indent="0">
              <a:buNone/>
              <a:defRPr sz="1995"/>
            </a:lvl8pPr>
            <a:lvl9pPr marL="3648456" indent="0">
              <a:buNone/>
              <a:defRPr sz="1995"/>
            </a:lvl9pPr>
          </a:lstStyle>
          <a:p>
            <a:r>
              <a:rPr lang="ru-RU"/>
              <a:t>Вставка рисунка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92713" y="2052161"/>
            <a:ext cx="4180050" cy="3801883"/>
          </a:xfrm>
        </p:spPr>
        <p:txBody>
          <a:bodyPr/>
          <a:lstStyle>
            <a:lvl1pPr marL="0" indent="0">
              <a:buNone/>
              <a:defRPr sz="1596"/>
            </a:lvl1pPr>
            <a:lvl2pPr marL="456057" indent="0">
              <a:buNone/>
              <a:defRPr sz="1397"/>
            </a:lvl2pPr>
            <a:lvl3pPr marL="912114" indent="0">
              <a:buNone/>
              <a:defRPr sz="1197"/>
            </a:lvl3pPr>
            <a:lvl4pPr marL="1368171" indent="0">
              <a:buNone/>
              <a:defRPr sz="998"/>
            </a:lvl4pPr>
            <a:lvl5pPr marL="1824228" indent="0">
              <a:buNone/>
              <a:defRPr sz="998"/>
            </a:lvl5pPr>
            <a:lvl6pPr marL="2280285" indent="0">
              <a:buNone/>
              <a:defRPr sz="998"/>
            </a:lvl6pPr>
            <a:lvl7pPr marL="2736342" indent="0">
              <a:buNone/>
              <a:defRPr sz="998"/>
            </a:lvl7pPr>
            <a:lvl8pPr marL="3192399" indent="0">
              <a:buNone/>
              <a:defRPr sz="998"/>
            </a:lvl8pPr>
            <a:lvl9pPr marL="3648456" indent="0">
              <a:buNone/>
              <a:defRPr sz="998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168050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6388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274751" y="364195"/>
            <a:ext cx="2794575" cy="5797040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91024" y="364195"/>
            <a:ext cx="8221722" cy="5797040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36188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91024" y="364196"/>
            <a:ext cx="11178302" cy="1322188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91024" y="1820976"/>
            <a:ext cx="11178302" cy="434025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91024" y="6340166"/>
            <a:ext cx="291607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6EB2549-D5F9-604B-9EB9-69E1A6399CB9}" type="datetimeFigureOut">
              <a:rPr lang="ru-RU" smtClean="0"/>
              <a:t>08.05.2026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293116" y="6340166"/>
            <a:ext cx="4374118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153247" y="6340166"/>
            <a:ext cx="2916079" cy="36419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197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3D4391C-B8C0-B24A-A837-316267417444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726088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  <p:sldLayoutId id="2147483674" r:id="rId2"/>
    <p:sldLayoutId id="2147483675" r:id="rId3"/>
    <p:sldLayoutId id="2147483676" r:id="rId4"/>
    <p:sldLayoutId id="2147483677" r:id="rId5"/>
    <p:sldLayoutId id="2147483678" r:id="rId6"/>
    <p:sldLayoutId id="2147483679" r:id="rId7"/>
    <p:sldLayoutId id="2147483680" r:id="rId8"/>
    <p:sldLayoutId id="2147483681" r:id="rId9"/>
    <p:sldLayoutId id="2147483682" r:id="rId10"/>
    <p:sldLayoutId id="2147483683" r:id="rId11"/>
  </p:sldLayoutIdLst>
  <p:txStyles>
    <p:titleStyle>
      <a:lvl1pPr algn="l" defTabSz="912114" rtl="0" eaLnBrk="1" latinLnBrk="0" hangingPunct="1">
        <a:lnSpc>
          <a:spcPct val="90000"/>
        </a:lnSpc>
        <a:spcBef>
          <a:spcPct val="0"/>
        </a:spcBef>
        <a:buNone/>
        <a:defRPr sz="4389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029" indent="-228029" algn="l" defTabSz="912114" rtl="0" eaLnBrk="1" latinLnBrk="0" hangingPunct="1">
        <a:lnSpc>
          <a:spcPct val="90000"/>
        </a:lnSpc>
        <a:spcBef>
          <a:spcPts val="998"/>
        </a:spcBef>
        <a:buFont typeface="Arial" panose="020B0604020202020204" pitchFamily="34" charset="0"/>
        <a:buChar char="•"/>
        <a:defRPr sz="2793" kern="1200">
          <a:solidFill>
            <a:schemeClr val="tx1"/>
          </a:solidFill>
          <a:latin typeface="+mn-lt"/>
          <a:ea typeface="+mn-ea"/>
          <a:cs typeface="+mn-cs"/>
        </a:defRPr>
      </a:lvl1pPr>
      <a:lvl2pPr marL="684086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2394" kern="1200">
          <a:solidFill>
            <a:schemeClr val="tx1"/>
          </a:solidFill>
          <a:latin typeface="+mn-lt"/>
          <a:ea typeface="+mn-ea"/>
          <a:cs typeface="+mn-cs"/>
        </a:defRPr>
      </a:lvl2pPr>
      <a:lvl3pPr marL="1140143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995" kern="1200">
          <a:solidFill>
            <a:schemeClr val="tx1"/>
          </a:solidFill>
          <a:latin typeface="+mn-lt"/>
          <a:ea typeface="+mn-ea"/>
          <a:cs typeface="+mn-cs"/>
        </a:defRPr>
      </a:lvl3pPr>
      <a:lvl4pPr marL="1596200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2052257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508314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964371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420428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876485" indent="-228029" algn="l" defTabSz="912114" rtl="0" eaLnBrk="1" latinLnBrk="0" hangingPunct="1">
        <a:lnSpc>
          <a:spcPct val="90000"/>
        </a:lnSpc>
        <a:spcBef>
          <a:spcPts val="499"/>
        </a:spcBef>
        <a:buFont typeface="Arial" panose="020B0604020202020204" pitchFamily="34" charset="0"/>
        <a:buChar char="•"/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1pPr>
      <a:lvl2pPr marL="456057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2pPr>
      <a:lvl3pPr marL="912114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3pPr>
      <a:lvl4pPr marL="1368171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4pPr>
      <a:lvl5pPr marL="1824228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5pPr>
      <a:lvl6pPr marL="2280285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6pPr>
      <a:lvl7pPr marL="2736342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7pPr>
      <a:lvl8pPr marL="3192399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8pPr>
      <a:lvl9pPr marL="3648456" algn="l" defTabSz="912114" rtl="0" eaLnBrk="1" latinLnBrk="0" hangingPunct="1">
        <a:defRPr sz="1795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20.png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jpe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jpe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jpe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E00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C1650DA2-9DD9-C801-FC5D-C65322C76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520" y="0"/>
            <a:ext cx="4189830" cy="684053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280AF07-DD1E-10D4-3116-A6219A3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760" y="329338"/>
            <a:ext cx="1862895" cy="8196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6FE81354-8EDC-4655-989B-D0FE31D3760F}"/>
              </a:ext>
            </a:extLst>
          </p:cNvPr>
          <p:cNvSpPr txBox="1"/>
          <p:nvPr/>
        </p:nvSpPr>
        <p:spPr>
          <a:xfrm>
            <a:off x="9503238" y="5126528"/>
            <a:ext cx="3123264" cy="123110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Выполнил Соколов Д.</a:t>
            </a:r>
          </a:p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Группа Ик-731 </a:t>
            </a:r>
          </a:p>
          <a:p>
            <a:pPr>
              <a:spcBef>
                <a:spcPct val="50000"/>
              </a:spcBef>
            </a:pPr>
            <a:r>
              <a:rPr lang="ru-RU" sz="2000" b="1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07.05.2026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482B66F-7238-4D02-B8AE-B900D9B050B4}"/>
              </a:ext>
            </a:extLst>
          </p:cNvPr>
          <p:cNvSpPr txBox="1"/>
          <p:nvPr/>
        </p:nvSpPr>
        <p:spPr>
          <a:xfrm>
            <a:off x="2097842" y="2558495"/>
            <a:ext cx="9098892" cy="178510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algn="ctr">
              <a:spcBef>
                <a:spcPct val="50000"/>
              </a:spcBef>
            </a:pPr>
            <a:r>
              <a:rPr lang="ru-RU" sz="2800" b="1" dirty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Военные конфликты во второй половине XX – первой четверти XXI вв. </a:t>
            </a:r>
          </a:p>
          <a:p>
            <a:pPr algn="ctr">
              <a:spcBef>
                <a:spcPct val="50000"/>
              </a:spcBef>
            </a:pPr>
            <a:r>
              <a:rPr lang="ru-RU" sz="2400" dirty="0">
                <a:solidFill>
                  <a:schemeClr val="bg1"/>
                </a:solidFill>
                <a:latin typeface="Arial" panose="020B0604020202020204" pitchFamily="34" charset="0"/>
                <a:ea typeface="Tahoma" pitchFamily="34" charset="0"/>
                <a:cs typeface="Arial" panose="020B0604020202020204" pitchFamily="34" charset="0"/>
              </a:rPr>
              <a:t>На примере общего обзора конфликтов периода и Афганской войны 1979-1989 гг.</a:t>
            </a:r>
          </a:p>
        </p:txBody>
      </p:sp>
    </p:spTree>
    <p:extLst>
      <p:ext uri="{BB962C8B-B14F-4D97-AF65-F5344CB8AC3E}">
        <p14:creationId xmlns:p14="http://schemas.microsoft.com/office/powerpoint/2010/main" val="33172034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Актуальность темы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38554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После 1945 года мировой войны не было, но конфликты продолжались.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Ядерное оружие сдерживало прямое столкновение сверхдержав.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Локальные войны часто становились частью мировой политики.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влияли на безопасность целых регионов.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 XXI веке войны стали более комплексными.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2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05E6C4E9-DEB7-854F-6029-730704DA0EF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158" y="1922816"/>
            <a:ext cx="3658696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8150706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Основные понятия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69331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Военный конфликт - противоборство с применением военной силы.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Локальная война - конфликт, ограниченный территорией и целями.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Региональный конфликт - влияет на безопасность целого региона.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Гражданская война - вооруженная борьба внутри государства.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 XX-XXI вв. внутренние конфликты часто становились международными.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3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2A7F13C-E021-4AA0-26E6-BE5075D801B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22958" y="1546900"/>
            <a:ext cx="3981000" cy="3981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913856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Причины военных конфликтов периода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279914"/>
            <a:ext cx="6256170" cy="3077766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Идеологическое противостояние.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Распад колониальной системы.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Борьба за геополитическое влияние.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Этнические и религиозные противоречия.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Внешнее вмешательство.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Слабость государственных институтов.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4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05D0E8CA-858C-1CC5-34FC-2CA7A66E6E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01247" y="1757680"/>
            <a:ext cx="3595122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6053336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7456435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Основные группы конфликтов периода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292387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холодной войны.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на Ближнем Востоке.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после распада социалистического блока.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первой четверти XXI века.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Афганская война как подробный пример.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5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B8AB7BA8-AB05-68D8-9A7C-CE2D830C3C7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98528" y="1598647"/>
            <a:ext cx="1978947" cy="1800000"/>
          </a:xfrm>
          <a:prstGeom prst="round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3938653-620E-C6EB-87B4-D68D547B5CD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44959" y="2123691"/>
            <a:ext cx="1747059" cy="1800000"/>
          </a:xfrm>
          <a:prstGeom prst="round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56A56565-6152-0CCC-4071-6570AB2929C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39730" y="3548735"/>
            <a:ext cx="1807965" cy="1800000"/>
          </a:xfrm>
          <a:prstGeom prst="round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1337B7BD-26AA-1EDA-DC96-C3250A263474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10901" y="4073779"/>
            <a:ext cx="2015173" cy="18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08128528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Конфликты холодной войны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84720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Корейская война 1950-1953 гг.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Война во Вьетнаме.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Карибский кризис.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Войны в Индокитае.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Афганская война 1979-1989 гг.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Особенность: локальные конфликты отражали глобальное противостояние СССР и США.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6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A20D7F1-6354-1E6C-7710-96B394D1C45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939" y="1546900"/>
            <a:ext cx="3595095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44693838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Конфликты на Ближнем Востоке</a:t>
            </a:r>
          </a:p>
          <a:p>
            <a:pPr defTabSz="825500"/>
            <a:endParaRPr lang="ru-RU" sz="2800" b="1" dirty="0">
              <a:solidFill>
                <a:srgbClr val="BE003E"/>
              </a:solidFill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38554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Арабо-израильские войны.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Суэцкий кризис.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Войны в Персидском заливе.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Палестинская проблема.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Гражданская война в Сирии.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Причины: территории, религия, нефть, внешнее влияние, борьба за лидерство.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7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142E58-845F-394A-1CE4-07D8208251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69739" y="1461969"/>
            <a:ext cx="3616843" cy="3651336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412288235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983456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Конфликты после распада социалистического блока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1879864"/>
            <a:ext cx="6256170" cy="477053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Конец XX века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Распад СССР и социалистической системы.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Изменение международного порядка.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Рост национальных и этнических противоречий.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Войны на Балканах.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Конфликты на постсоветском пространстве.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Вывод: окончание холодной войны не означало наступления полного мира.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8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0139CBA-E013-38A5-393C-06CDC9DE133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75342" y="2099389"/>
            <a:ext cx="3539750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1743150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958012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Конфликты первой четверти XXI века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2616101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Международный терроризм.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Распад государственных институтов.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Гражданские войны и внешнее вмешательство.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Санкции и экономическое давление.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Информационное противоборство.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Новые технологии: БПЛА, РЭБ, </a:t>
            </a:r>
            <a:r>
              <a:rPr lang="ru-RU" sz="2000" dirty="0" err="1">
                <a:latin typeface="Arial" panose="020B0604020202020204" pitchFamily="34" charset="0"/>
                <a:cs typeface="Arial" panose="020B0604020202020204" pitchFamily="34" charset="0"/>
              </a:rPr>
              <a:t>киберсредства</a:t>
            </a: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9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33F5209A-835A-BC57-7865-2BE6A5504B6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596278" y="1826064"/>
            <a:ext cx="3594768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120050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Примеры конфликтов </a:t>
            </a:r>
            <a:r>
              <a:rPr lang="en-US" sz="2800" b="1" dirty="0">
                <a:solidFill>
                  <a:srgbClr val="BE003E"/>
                </a:solidFill>
                <a:latin typeface="Arial"/>
                <a:cs typeface="Arial"/>
              </a:rPr>
              <a:t>XXI </a:t>
            </a:r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века</a:t>
            </a:r>
          </a:p>
          <a:p>
            <a:pPr defTabSz="825500"/>
            <a:endParaRPr lang="ru-RU" sz="2800" b="1" dirty="0">
              <a:solidFill>
                <a:srgbClr val="BE003E"/>
              </a:solidFill>
              <a:latin typeface="Arial"/>
              <a:cs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400109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Крупные конфликты XXI века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Афганистан после 2001 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Ирак, 2003 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Ливия, 2011 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Сирия, с 2011 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Нагорный Карабах, 2020 г.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Палестино-израильский конфликт.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Конфликт на территории Украины.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10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7DCBB9C-5800-CDB3-9B9E-167CEF882D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8630" y="931672"/>
            <a:ext cx="1944526" cy="1800000"/>
          </a:xfrm>
          <a:prstGeom prst="roundRect">
            <a:avLst/>
          </a:prstGeom>
        </p:spPr>
      </p:pic>
      <p:pic>
        <p:nvPicPr>
          <p:cNvPr id="10" name="Рисунок 9">
            <a:extLst>
              <a:ext uri="{FF2B5EF4-FFF2-40B4-BE49-F238E27FC236}">
                <a16:creationId xmlns:a16="http://schemas.microsoft.com/office/drawing/2014/main" id="{4B5DFE48-B4FC-2F31-C74B-779EE395B25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93309" y="1451710"/>
            <a:ext cx="2050244" cy="1800000"/>
          </a:xfrm>
          <a:prstGeom prst="roundRect">
            <a:avLst/>
          </a:prstGeom>
        </p:spPr>
      </p:pic>
      <p:pic>
        <p:nvPicPr>
          <p:cNvPr id="12" name="Рисунок 11">
            <a:extLst>
              <a:ext uri="{FF2B5EF4-FFF2-40B4-BE49-F238E27FC236}">
                <a16:creationId xmlns:a16="http://schemas.microsoft.com/office/drawing/2014/main" id="{5CEBE9CD-D7B6-8E38-AA44-D722AFB7997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718630" y="2878382"/>
            <a:ext cx="1865116" cy="1800000"/>
          </a:xfrm>
          <a:prstGeom prst="round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C1C0603C-9122-43FC-140B-2F204A5EF61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46513" y="3420269"/>
            <a:ext cx="1943836" cy="1800000"/>
          </a:xfrm>
          <a:prstGeom prst="roundRect">
            <a:avLst/>
          </a:prstGeom>
        </p:spPr>
      </p:pic>
      <p:pic>
        <p:nvPicPr>
          <p:cNvPr id="15" name="Рисунок 14">
            <a:extLst>
              <a:ext uri="{FF2B5EF4-FFF2-40B4-BE49-F238E27FC236}">
                <a16:creationId xmlns:a16="http://schemas.microsoft.com/office/drawing/2014/main" id="{1A04964D-334C-CEDD-30B4-7FF5885E269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815249" y="4790053"/>
            <a:ext cx="2015173" cy="18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75655031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Конфликт на территории Украины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1917964"/>
            <a:ext cx="6256170" cy="4770537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Конфликт на Украине / СВО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Один из ключевых конфликтов первой четверти XXI века.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Предпосылки: кризис 2014 г., Донбасс, Минские соглашения.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21 февраля 2022 г. - признание ДНР и ЛНР.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24 февраля 2022 г. - начало специальной военной операции.</a:t>
            </a:r>
          </a:p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Особенности: БПЛА, РЭБ, информационная борьба, санкции, внешняя поддержка сторон.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11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9E22781C-7C97-81DA-EA83-EF4954ED6031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1873" r="13232"/>
          <a:stretch/>
        </p:blipFill>
        <p:spPr bwMode="auto">
          <a:xfrm>
            <a:off x="7922139" y="1917964"/>
            <a:ext cx="3698361" cy="3805237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00651432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Афганская война как пример конфликта периода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415498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Один из ключевых конфликтов поздней холодной войны.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Сочетание внутреннего кризиса и внешнего вмешательства.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Стратегическое значение Афганистана для СССР.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Длительный и тяжелый характер боевых действий.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Важный пример ограниченной войны с международным значением.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12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3074" name="Picture 2" descr="Эксперт КФУ: «Ровно 35 лет назад советские войска были выведены из  Афганистана» | Медиа портал - Казанский (Приволжский) Федеральный  Университет">
            <a:extLst>
              <a:ext uri="{FF2B5EF4-FFF2-40B4-BE49-F238E27FC236}">
                <a16:creationId xmlns:a16="http://schemas.microsoft.com/office/drawing/2014/main" id="{77FE6C0F-8F8E-D2EB-2D06-D6593B11F2B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608" r="5872"/>
          <a:stretch/>
        </p:blipFill>
        <p:spPr bwMode="auto">
          <a:xfrm>
            <a:off x="7464939" y="1977787"/>
            <a:ext cx="3799675" cy="3600000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829631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Причины Афганской войны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1916113"/>
            <a:ext cx="6256170" cy="4924425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Причины Афганской войны</a:t>
            </a:r>
          </a:p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Внутренние: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политический кризис;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сопротивление реформам;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борьба внутри руководства Афганистана.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Внешние: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безопасность южных границ СССР;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холодная война;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просьбы афганского руководства о помощи;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внешняя поддержка противоборствующих сил.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13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122" name="Picture 2" descr="Слева направо, сверху вниз: Наступление советских танков и вертолётов; советский БТР едет сквозь толпу мирных жителей; руины разбомбленного советскими войсками афганского кишлака; повстанцы сбивают советский ударный вертолёт; Шарбат Гула; молитва моджахедов; антивоенный протест; афганские дети, пострадавшие от советских мин; кладбище брошенной советской техники">
            <a:extLst>
              <a:ext uri="{FF2B5EF4-FFF2-40B4-BE49-F238E27FC236}">
                <a16:creationId xmlns:a16="http://schemas.microsoft.com/office/drawing/2014/main" id="{8CCC6D64-9FFA-BB07-C45E-97F3767F540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80225" y="1916113"/>
            <a:ext cx="4454525" cy="3591794"/>
          </a:xfrm>
          <a:prstGeom prst="round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666848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Ход Афганской войны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4154984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>
              <a:spcBef>
                <a:spcPts val="1200"/>
              </a:spcBef>
              <a:buClr>
                <a:srgbClr val="BE003E"/>
              </a:buClr>
            </a:pPr>
            <a:r>
              <a:rPr lang="ru-RU" sz="2000" b="1" dirty="0">
                <a:solidFill>
                  <a:srgbClr val="BE003E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Основные этапы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1979 г. - ввод советских войск.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Начало 1980-х гг. - активные боевые действия.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Середина 1980-х гг. - поиск политического урегулирования.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1988 г. - Женевские соглашения.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15 февраля 1989 г. - завершение вывода советских войск.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14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0027BBA8-B667-A80C-20BA-C1E4FED4AE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9158" y="2104711"/>
            <a:ext cx="3962743" cy="3619814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52097651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Последствия Афганской войны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3385542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Большие человеческие потери.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Тяжелые социальные последствия для ветеранов и семей.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Ухудшение международного положения СССР.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Военный опыт в горной и партизанской войне.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Продолжение нестабильности в Афганистане.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Формирование исторической памяти о войне.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15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C6A88E7D-C2BE-E2B9-43AD-B3C18DCE89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464939" y="1892335"/>
            <a:ext cx="4104582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376442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861774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Общие особенности конфликтов периода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1042988" y="2318014"/>
            <a:ext cx="6256170" cy="2769989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Локальные конфликты имеют международное значение.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Военная сила не всегда решает политическую проблему.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Внешняя поддержка делает войну затяжной.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Общественное мнение влияет на ход конфликта.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Современные войны становятся комплексными.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16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5B8A3B27-7AD8-6A91-D7D9-F56E01A08E54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803"/>
          <a:stretch/>
        </p:blipFill>
        <p:spPr>
          <a:xfrm>
            <a:off x="7464939" y="1620269"/>
            <a:ext cx="3602716" cy="3600000"/>
          </a:xfrm>
          <a:prstGeom prst="roundRect">
            <a:avLst/>
          </a:prstGeom>
        </p:spPr>
      </p:pic>
    </p:spTree>
    <p:extLst>
      <p:ext uri="{BB962C8B-B14F-4D97-AF65-F5344CB8AC3E}">
        <p14:creationId xmlns:p14="http://schemas.microsoft.com/office/powerpoint/2010/main" val="26158575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F987F6F4-3E08-9CA9-878F-C90083D41B41}"/>
              </a:ext>
            </a:extLst>
          </p:cNvPr>
          <p:cNvSpPr txBox="1"/>
          <p:nvPr/>
        </p:nvSpPr>
        <p:spPr>
          <a:xfrm>
            <a:off x="1042988" y="1116013"/>
            <a:ext cx="6421951" cy="430887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defTabSz="825500"/>
            <a:r>
              <a:rPr lang="ru-RU" sz="2800" b="1" dirty="0">
                <a:solidFill>
                  <a:srgbClr val="BE003E"/>
                </a:solidFill>
                <a:latin typeface="Arial"/>
                <a:cs typeface="Arial"/>
              </a:rPr>
              <a:t>Заключение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8D94D925-F08B-D8B4-8DC2-EFF70BD6C46C}"/>
              </a:ext>
            </a:extLst>
          </p:cNvPr>
          <p:cNvSpPr txBox="1"/>
          <p:nvPr/>
        </p:nvSpPr>
        <p:spPr>
          <a:xfrm>
            <a:off x="884168" y="2185095"/>
            <a:ext cx="7262812" cy="3539430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После 1945 года войны не исчезли, а изменили форму.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Главными стали локальные и региональные конфликты.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Их причины: идеология, геополитика, этнические противоречия, внешнее вмешательство.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Афганская война показала сложность силового решения внутренних кризисов.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r>
              <a:rPr lang="ru-RU" sz="2000" dirty="0">
                <a:latin typeface="Arial" panose="020B0604020202020204" pitchFamily="34" charset="0"/>
                <a:cs typeface="Arial" panose="020B0604020202020204" pitchFamily="34" charset="0"/>
              </a:rPr>
              <a:t>Для предотвращения войн необходимы дипломатия, безопасность и политическое урегулирование.</a:t>
            </a:r>
          </a:p>
          <a:p>
            <a:pPr marL="342900" indent="-342900">
              <a:spcBef>
                <a:spcPts val="1200"/>
              </a:spcBef>
              <a:buClr>
                <a:srgbClr val="BE003E"/>
              </a:buClr>
              <a:buFont typeface="Arial" panose="020B0604020202020204" pitchFamily="34" charset="0"/>
              <a:buChar char="•"/>
            </a:pPr>
            <a:endParaRPr lang="ru-RU" sz="20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547C652-AB45-4ADB-9C54-E611BE0CEAD0}"/>
              </a:ext>
            </a:extLst>
          </p:cNvPr>
          <p:cNvSpPr txBox="1"/>
          <p:nvPr/>
        </p:nvSpPr>
        <p:spPr>
          <a:xfrm>
            <a:off x="600116" y="244575"/>
            <a:ext cx="284052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fld id="{489686F7-2497-4469-82D5-97564EC7885C}" type="slidenum">
              <a:rPr lang="en-US" sz="1400" b="1" smtClean="0">
                <a:solidFill>
                  <a:schemeClr val="bg1"/>
                </a:solidFill>
                <a:latin typeface="Arial" panose="020B0604020202020204" pitchFamily="34" charset="0"/>
                <a:cs typeface="Arial" panose="020B0604020202020204" pitchFamily="34" charset="0"/>
              </a:rPr>
              <a:t>17</a:t>
            </a:fld>
            <a:endParaRPr lang="ru-RU" sz="1400" b="1" dirty="0">
              <a:solidFill>
                <a:schemeClr val="bg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6911476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BE003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C1650DA2-9DD9-C801-FC5D-C65322C767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70520" y="0"/>
            <a:ext cx="4189830" cy="6840538"/>
          </a:xfrm>
          <a:prstGeom prst="rect">
            <a:avLst/>
          </a:prstGeom>
        </p:spPr>
      </p:pic>
      <p:pic>
        <p:nvPicPr>
          <p:cNvPr id="14" name="Рисунок 13">
            <a:extLst>
              <a:ext uri="{FF2B5EF4-FFF2-40B4-BE49-F238E27FC236}">
                <a16:creationId xmlns:a16="http://schemas.microsoft.com/office/drawing/2014/main" id="{B280AF07-DD1E-10D4-3116-A6219A37954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3760" y="329338"/>
            <a:ext cx="1862895" cy="819675"/>
          </a:xfrm>
          <a:prstGeom prst="rect">
            <a:avLst/>
          </a:prstGeom>
        </p:spPr>
      </p:pic>
      <p:sp>
        <p:nvSpPr>
          <p:cNvPr id="23" name="TextBox 22">
            <a:extLst>
              <a:ext uri="{FF2B5EF4-FFF2-40B4-BE49-F238E27FC236}">
                <a16:creationId xmlns:a16="http://schemas.microsoft.com/office/drawing/2014/main" id="{0E64B838-4872-43A7-3ECD-CEE1F87DE8B3}"/>
              </a:ext>
            </a:extLst>
          </p:cNvPr>
          <p:cNvSpPr txBox="1"/>
          <p:nvPr/>
        </p:nvSpPr>
        <p:spPr>
          <a:xfrm>
            <a:off x="1551867" y="2681605"/>
            <a:ext cx="7344913" cy="492443"/>
          </a:xfrm>
          <a:prstGeom prst="rect">
            <a:avLst/>
          </a:prstGeom>
          <a:noFill/>
        </p:spPr>
        <p:txBody>
          <a:bodyPr wrap="square" lIns="0" tIns="0" rIns="0" bIns="0" rtlCol="0" anchor="t">
            <a:spAutoFit/>
          </a:bodyPr>
          <a:lstStyle/>
          <a:p>
            <a:r>
              <a:rPr lang="ru-RU" sz="3200" b="1" dirty="0">
                <a:solidFill>
                  <a:schemeClr val="bg1"/>
                </a:solidFill>
                <a:latin typeface="Arial"/>
                <a:cs typeface="Arial"/>
              </a:rPr>
              <a:t>Спасибо за внимание!</a:t>
            </a:r>
            <a:endParaRPr lang="ru-RU" dirty="0">
              <a:solidFill>
                <a:schemeClr val="bg1"/>
              </a:solidFill>
              <a:latin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740549614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1336</TotalTime>
  <Words>2770</Words>
  <Application>Microsoft Office PowerPoint</Application>
  <PresentationFormat>Произвольный</PresentationFormat>
  <Paragraphs>283</Paragraphs>
  <Slides>18</Slides>
  <Notes>18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18</vt:i4>
      </vt:variant>
    </vt:vector>
  </HeadingPairs>
  <TitlesOfParts>
    <vt:vector size="22" baseType="lpstr">
      <vt:lpstr>Arial</vt:lpstr>
      <vt:lpstr>Calibri</vt:lpstr>
      <vt:lpstr>Calibri Light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Microsoft Office User</dc:creator>
  <cp:lastModifiedBy>Соколов Дмитрий</cp:lastModifiedBy>
  <cp:revision>188</cp:revision>
  <cp:lastPrinted>2023-11-28T14:29:46Z</cp:lastPrinted>
  <dcterms:created xsi:type="dcterms:W3CDTF">2022-10-16T16:54:41Z</dcterms:created>
  <dcterms:modified xsi:type="dcterms:W3CDTF">2026-05-08T08:30:15Z</dcterms:modified>
</cp:coreProperties>
</file>