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319" r:id="rId2"/>
    <p:sldId id="257" r:id="rId3"/>
    <p:sldId id="276" r:id="rId4"/>
    <p:sldId id="277" r:id="rId5"/>
    <p:sldId id="278" r:id="rId6"/>
    <p:sldId id="378" r:id="rId7"/>
    <p:sldId id="379" r:id="rId8"/>
    <p:sldId id="380" r:id="rId9"/>
    <p:sldId id="381" r:id="rId10"/>
    <p:sldId id="382" r:id="rId11"/>
    <p:sldId id="383" r:id="rId12"/>
    <p:sldId id="290" r:id="rId13"/>
    <p:sldId id="384" r:id="rId14"/>
    <p:sldId id="386" r:id="rId15"/>
    <p:sldId id="385" r:id="rId16"/>
    <p:sldId id="387" r:id="rId17"/>
    <p:sldId id="388" r:id="rId18"/>
    <p:sldId id="389" r:id="rId19"/>
    <p:sldId id="321" r:id="rId20"/>
    <p:sldId id="390" r:id="rId21"/>
    <p:sldId id="391" r:id="rId22"/>
    <p:sldId id="392" r:id="rId23"/>
    <p:sldId id="393" r:id="rId24"/>
    <p:sldId id="394" r:id="rId25"/>
    <p:sldId id="395" r:id="rId26"/>
    <p:sldId id="396" r:id="rId27"/>
    <p:sldId id="397" r:id="rId28"/>
    <p:sldId id="398" r:id="rId29"/>
    <p:sldId id="329" r:id="rId30"/>
    <p:sldId id="399" r:id="rId31"/>
    <p:sldId id="400" r:id="rId32"/>
    <p:sldId id="401" r:id="rId33"/>
    <p:sldId id="402" r:id="rId34"/>
    <p:sldId id="403" r:id="rId35"/>
    <p:sldId id="404" r:id="rId36"/>
    <p:sldId id="406" r:id="rId37"/>
    <p:sldId id="405" r:id="rId38"/>
    <p:sldId id="407" r:id="rId39"/>
    <p:sldId id="408" r:id="rId40"/>
    <p:sldId id="410" r:id="rId41"/>
    <p:sldId id="409" r:id="rId42"/>
    <p:sldId id="330" r:id="rId43"/>
    <p:sldId id="411" r:id="rId44"/>
    <p:sldId id="412" r:id="rId45"/>
    <p:sldId id="413" r:id="rId46"/>
    <p:sldId id="414" r:id="rId47"/>
    <p:sldId id="337" r:id="rId48"/>
    <p:sldId id="415" r:id="rId49"/>
    <p:sldId id="416" r:id="rId50"/>
    <p:sldId id="417" r:id="rId51"/>
    <p:sldId id="418" r:id="rId52"/>
    <p:sldId id="419" r:id="rId53"/>
    <p:sldId id="420" r:id="rId54"/>
    <p:sldId id="421" r:id="rId55"/>
    <p:sldId id="422" r:id="rId56"/>
    <p:sldId id="423" r:id="rId57"/>
    <p:sldId id="424" r:id="rId58"/>
    <p:sldId id="425" r:id="rId59"/>
    <p:sldId id="426" r:id="rId60"/>
    <p:sldId id="427" r:id="rId61"/>
    <p:sldId id="428" r:id="rId62"/>
    <p:sldId id="429" r:id="rId63"/>
    <p:sldId id="430" r:id="rId64"/>
    <p:sldId id="431" r:id="rId65"/>
    <p:sldId id="432" r:id="rId66"/>
    <p:sldId id="433" r:id="rId67"/>
    <p:sldId id="434" r:id="rId68"/>
    <p:sldId id="435" r:id="rId69"/>
    <p:sldId id="436" r:id="rId70"/>
    <p:sldId id="437" r:id="rId71"/>
    <p:sldId id="438" r:id="rId72"/>
    <p:sldId id="439" r:id="rId73"/>
    <p:sldId id="440" r:id="rId74"/>
    <p:sldId id="441" r:id="rId75"/>
    <p:sldId id="442" r:id="rId76"/>
    <p:sldId id="443" r:id="rId77"/>
    <p:sldId id="444" r:id="rId78"/>
    <p:sldId id="445" r:id="rId79"/>
    <p:sldId id="446" r:id="rId80"/>
    <p:sldId id="447" r:id="rId81"/>
    <p:sldId id="448" r:id="rId82"/>
    <p:sldId id="449" r:id="rId83"/>
    <p:sldId id="450" r:id="rId84"/>
    <p:sldId id="451" r:id="rId85"/>
    <p:sldId id="452" r:id="rId86"/>
    <p:sldId id="453" r:id="rId87"/>
    <p:sldId id="454" r:id="rId88"/>
    <p:sldId id="455" r:id="rId89"/>
    <p:sldId id="456" r:id="rId90"/>
    <p:sldId id="457" r:id="rId91"/>
    <p:sldId id="458" r:id="rId92"/>
    <p:sldId id="459" r:id="rId93"/>
    <p:sldId id="460" r:id="rId94"/>
    <p:sldId id="461" r:id="rId95"/>
    <p:sldId id="462" r:id="rId9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2" autoAdjust="0"/>
  </p:normalViewPr>
  <p:slideViewPr>
    <p:cSldViewPr snapToGrid="0">
      <p:cViewPr varScale="1">
        <p:scale>
          <a:sx n="109" d="100"/>
          <a:sy n="109" d="100"/>
        </p:scale>
        <p:origin x="636" y="120"/>
      </p:cViewPr>
      <p:guideLst>
        <p:guide orient="horz" pos="2160"/>
        <p:guide pos="3840"/>
      </p:guideLst>
    </p:cSldViewPr>
  </p:slideViewPr>
  <p:outlineViewPr>
    <p:cViewPr>
      <p:scale>
        <a:sx n="33" d="100"/>
        <a:sy n="33" d="100"/>
      </p:scale>
      <p:origin x="18" y="223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3ABFA-BE80-4C5C-BB7D-23EC2E46C5C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38A55CC6-85E9-4187-A185-49143651BBFE}">
      <dgm:prSet phldrT="[Текст]"/>
      <dgm:spPr>
        <a:solidFill>
          <a:schemeClr val="accent6">
            <a:lumMod val="50000"/>
          </a:schemeClr>
        </a:solidFill>
      </dgm:spPr>
      <dgm:t>
        <a:bodyPr/>
        <a:lstStyle/>
        <a:p>
          <a:r>
            <a:rPr lang="ru-RU" dirty="0"/>
            <a:t>географическое пространственное положение физических или смоделированных объектов представляется 2-мерными (координаты X,Y на плоскости), 3-х мерными (широта, долгота, высота над уровнем геоида) и 4-х мерными координатами (широта, долгота, высота над уровнем геоида, время в секундах, средних сутках, среднем солнечном годе) в системе координат, отнесенной к среднему полюсу Земли и положению среднего экватора;</a:t>
          </a:r>
        </a:p>
      </dgm:t>
    </dgm:pt>
    <dgm:pt modelId="{04F78E4C-5CA2-4341-8716-FCAA7280F6C6}" type="parTrans" cxnId="{F3A48B31-C117-4DA3-B073-0C2E1FD79F36}">
      <dgm:prSet/>
      <dgm:spPr/>
      <dgm:t>
        <a:bodyPr/>
        <a:lstStyle/>
        <a:p>
          <a:endParaRPr lang="ru-RU"/>
        </a:p>
      </dgm:t>
    </dgm:pt>
    <dgm:pt modelId="{ED16968A-3443-404D-A835-6E70340F945D}" type="sibTrans" cxnId="{F3A48B31-C117-4DA3-B073-0C2E1FD79F36}">
      <dgm:prSet/>
      <dgm:spPr/>
      <dgm:t>
        <a:bodyPr/>
        <a:lstStyle/>
        <a:p>
          <a:endParaRPr lang="ru-RU"/>
        </a:p>
      </dgm:t>
    </dgm:pt>
    <dgm:pt modelId="{E98D4F37-3969-462A-98BA-282E2E5B3F90}">
      <dgm:prSet phldrT="[Текст]"/>
      <dgm:spPr>
        <a:solidFill>
          <a:schemeClr val="accent5">
            <a:lumMod val="50000"/>
          </a:schemeClr>
        </a:solidFill>
      </dgm:spPr>
      <dgm:t>
        <a:bodyPr/>
        <a:lstStyle/>
        <a:p>
          <a:r>
            <a:rPr lang="ru-RU" dirty="0"/>
            <a:t>свойства объектов или моделей могут содержать информацию, которая не указывает явно на пространственную ориентацию и является описательной — тем не менее, такая информация является важной и она также включается в географические данные;</a:t>
          </a:r>
        </a:p>
      </dgm:t>
    </dgm:pt>
    <dgm:pt modelId="{A8A33B00-EF18-42CF-BFA0-BC3E3D9F0099}" type="parTrans" cxnId="{F5A5E947-45EE-4280-BAD4-A8806CA69551}">
      <dgm:prSet/>
      <dgm:spPr/>
      <dgm:t>
        <a:bodyPr/>
        <a:lstStyle/>
        <a:p>
          <a:endParaRPr lang="ru-RU"/>
        </a:p>
      </dgm:t>
    </dgm:pt>
    <dgm:pt modelId="{ACD50962-B6DD-43D4-89BD-110F79A6C349}" type="sibTrans" cxnId="{F5A5E947-45EE-4280-BAD4-A8806CA69551}">
      <dgm:prSet/>
      <dgm:spPr/>
      <dgm:t>
        <a:bodyPr/>
        <a:lstStyle/>
        <a:p>
          <a:endParaRPr lang="ru-RU"/>
        </a:p>
      </dgm:t>
    </dgm:pt>
    <dgm:pt modelId="{F9FE6BA9-F0D2-4D53-B91F-911DFC9AEB3A}">
      <dgm:prSet phldrT="[Текст]"/>
      <dgm:spPr>
        <a:solidFill>
          <a:schemeClr val="accent4">
            <a:lumMod val="50000"/>
          </a:schemeClr>
        </a:solidFill>
      </dgm:spPr>
      <dgm:t>
        <a:bodyPr/>
        <a:lstStyle/>
        <a:p>
          <a:r>
            <a:rPr lang="ru-RU" dirty="0"/>
            <a:t>пространственные отношения определяют взаимное расположение объектов или моделей — например, положение объекта А по отношению к объекту В на плоскости, в пространстве или во времени, движение А относительно В, вложенность А в </a:t>
          </a:r>
          <a:r>
            <a:rPr lang="ru-RU" dirty="0" err="1"/>
            <a:t>В</a:t>
          </a:r>
          <a:r>
            <a:rPr lang="ru-RU" dirty="0"/>
            <a:t> и т.д.;</a:t>
          </a:r>
        </a:p>
      </dgm:t>
    </dgm:pt>
    <dgm:pt modelId="{25742588-73DB-49DD-BC91-F398F2BFA992}" type="parTrans" cxnId="{DFEE56A4-5838-40D5-BAAD-AF849A504CB5}">
      <dgm:prSet/>
      <dgm:spPr/>
      <dgm:t>
        <a:bodyPr/>
        <a:lstStyle/>
        <a:p>
          <a:endParaRPr lang="ru-RU"/>
        </a:p>
      </dgm:t>
    </dgm:pt>
    <dgm:pt modelId="{53CF4090-A409-4165-A476-87653ECD236B}" type="sibTrans" cxnId="{DFEE56A4-5838-40D5-BAAD-AF849A504CB5}">
      <dgm:prSet/>
      <dgm:spPr/>
      <dgm:t>
        <a:bodyPr/>
        <a:lstStyle/>
        <a:p>
          <a:endParaRPr lang="ru-RU"/>
        </a:p>
      </dgm:t>
    </dgm:pt>
    <dgm:pt modelId="{4DAA6532-C1F3-433C-ACAE-54A0E1220983}">
      <dgm:prSet phldrT="[Текст]"/>
      <dgm:spPr>
        <a:solidFill>
          <a:schemeClr val="tx2">
            <a:lumMod val="50000"/>
          </a:schemeClr>
        </a:solidFill>
      </dgm:spPr>
      <dgm:t>
        <a:bodyPr/>
        <a:lstStyle/>
        <a:p>
          <a:r>
            <a:rPr lang="ru-RU" dirty="0"/>
            <a:t>временные параметры могут характеризовать как взаимное отношение объектов (моделей) так и жизненный цикл географических данных.</a:t>
          </a:r>
        </a:p>
      </dgm:t>
    </dgm:pt>
    <dgm:pt modelId="{A7C40E40-1D94-424E-97D2-2BCC88EFD32A}" type="parTrans" cxnId="{BE94C8CF-F09E-40D6-9A45-9B4504739BDE}">
      <dgm:prSet/>
      <dgm:spPr/>
      <dgm:t>
        <a:bodyPr/>
        <a:lstStyle/>
        <a:p>
          <a:endParaRPr lang="ru-RU"/>
        </a:p>
      </dgm:t>
    </dgm:pt>
    <dgm:pt modelId="{15D19E5E-C14E-434A-B0B3-400D1DC00ABF}" type="sibTrans" cxnId="{BE94C8CF-F09E-40D6-9A45-9B4504739BDE}">
      <dgm:prSet/>
      <dgm:spPr/>
      <dgm:t>
        <a:bodyPr/>
        <a:lstStyle/>
        <a:p>
          <a:endParaRPr lang="ru-RU"/>
        </a:p>
      </dgm:t>
    </dgm:pt>
    <dgm:pt modelId="{BDAC451F-FED1-497F-9C2C-A6904CBD17ED}" type="pres">
      <dgm:prSet presAssocID="{7D73ABFA-BE80-4C5C-BB7D-23EC2E46C5C8}" presName="diagram" presStyleCnt="0">
        <dgm:presLayoutVars>
          <dgm:dir/>
          <dgm:resizeHandles val="exact"/>
        </dgm:presLayoutVars>
      </dgm:prSet>
      <dgm:spPr/>
      <dgm:t>
        <a:bodyPr/>
        <a:lstStyle/>
        <a:p>
          <a:endParaRPr lang="ru-RU"/>
        </a:p>
      </dgm:t>
    </dgm:pt>
    <dgm:pt modelId="{4E10DA21-977F-43E3-92BE-0E2BDA0EB39D}" type="pres">
      <dgm:prSet presAssocID="{38A55CC6-85E9-4187-A185-49143651BBFE}" presName="node" presStyleLbl="node1" presStyleIdx="0" presStyleCnt="4" custScaleX="115376">
        <dgm:presLayoutVars>
          <dgm:bulletEnabled val="1"/>
        </dgm:presLayoutVars>
      </dgm:prSet>
      <dgm:spPr/>
      <dgm:t>
        <a:bodyPr/>
        <a:lstStyle/>
        <a:p>
          <a:endParaRPr lang="ru-RU"/>
        </a:p>
      </dgm:t>
    </dgm:pt>
    <dgm:pt modelId="{75424CBA-A8C3-43F3-B4D4-716FEDD12ECB}" type="pres">
      <dgm:prSet presAssocID="{ED16968A-3443-404D-A835-6E70340F945D}" presName="sibTrans" presStyleCnt="0"/>
      <dgm:spPr/>
    </dgm:pt>
    <dgm:pt modelId="{206C0280-BE0C-4F53-9E3F-04D0B92942EF}" type="pres">
      <dgm:prSet presAssocID="{E98D4F37-3969-462A-98BA-282E2E5B3F90}" presName="node" presStyleLbl="node1" presStyleIdx="1" presStyleCnt="4" custScaleX="112540">
        <dgm:presLayoutVars>
          <dgm:bulletEnabled val="1"/>
        </dgm:presLayoutVars>
      </dgm:prSet>
      <dgm:spPr/>
      <dgm:t>
        <a:bodyPr/>
        <a:lstStyle/>
        <a:p>
          <a:endParaRPr lang="ru-RU"/>
        </a:p>
      </dgm:t>
    </dgm:pt>
    <dgm:pt modelId="{F684963F-3B3C-4C51-B7B8-6ACF720160D0}" type="pres">
      <dgm:prSet presAssocID="{ACD50962-B6DD-43D4-89BD-110F79A6C349}" presName="sibTrans" presStyleCnt="0"/>
      <dgm:spPr/>
    </dgm:pt>
    <dgm:pt modelId="{D220356D-AE01-4E60-9DD0-CF7C06D9122B}" type="pres">
      <dgm:prSet presAssocID="{F9FE6BA9-F0D2-4D53-B91F-911DFC9AEB3A}" presName="node" presStyleLbl="node1" presStyleIdx="2" presStyleCnt="4" custScaleX="120153">
        <dgm:presLayoutVars>
          <dgm:bulletEnabled val="1"/>
        </dgm:presLayoutVars>
      </dgm:prSet>
      <dgm:spPr/>
      <dgm:t>
        <a:bodyPr/>
        <a:lstStyle/>
        <a:p>
          <a:endParaRPr lang="ru-RU"/>
        </a:p>
      </dgm:t>
    </dgm:pt>
    <dgm:pt modelId="{E444FE85-DDAD-4A3E-870D-A472A512CCA8}" type="pres">
      <dgm:prSet presAssocID="{53CF4090-A409-4165-A476-87653ECD236B}" presName="sibTrans" presStyleCnt="0"/>
      <dgm:spPr/>
    </dgm:pt>
    <dgm:pt modelId="{CFFA3DB3-F284-489D-B498-6A0536DC9D88}" type="pres">
      <dgm:prSet presAssocID="{4DAA6532-C1F3-433C-ACAE-54A0E1220983}" presName="node" presStyleLbl="node1" presStyleIdx="3" presStyleCnt="4" custScaleX="114929">
        <dgm:presLayoutVars>
          <dgm:bulletEnabled val="1"/>
        </dgm:presLayoutVars>
      </dgm:prSet>
      <dgm:spPr/>
      <dgm:t>
        <a:bodyPr/>
        <a:lstStyle/>
        <a:p>
          <a:endParaRPr lang="ru-RU"/>
        </a:p>
      </dgm:t>
    </dgm:pt>
  </dgm:ptLst>
  <dgm:cxnLst>
    <dgm:cxn modelId="{CE83D260-58B6-4141-B8AD-F52EB1182FD3}" type="presOf" srcId="{4DAA6532-C1F3-433C-ACAE-54A0E1220983}" destId="{CFFA3DB3-F284-489D-B498-6A0536DC9D88}" srcOrd="0" destOrd="0" presId="urn:microsoft.com/office/officeart/2005/8/layout/default"/>
    <dgm:cxn modelId="{6EF24DCC-FACC-4DD1-936C-12727DB683B1}" type="presOf" srcId="{7D73ABFA-BE80-4C5C-BB7D-23EC2E46C5C8}" destId="{BDAC451F-FED1-497F-9C2C-A6904CBD17ED}" srcOrd="0" destOrd="0" presId="urn:microsoft.com/office/officeart/2005/8/layout/default"/>
    <dgm:cxn modelId="{93578DD0-D447-4E1F-9E33-4A0CE1636D2B}" type="presOf" srcId="{38A55CC6-85E9-4187-A185-49143651BBFE}" destId="{4E10DA21-977F-43E3-92BE-0E2BDA0EB39D}" srcOrd="0" destOrd="0" presId="urn:microsoft.com/office/officeart/2005/8/layout/default"/>
    <dgm:cxn modelId="{BE94C8CF-F09E-40D6-9A45-9B4504739BDE}" srcId="{7D73ABFA-BE80-4C5C-BB7D-23EC2E46C5C8}" destId="{4DAA6532-C1F3-433C-ACAE-54A0E1220983}" srcOrd="3" destOrd="0" parTransId="{A7C40E40-1D94-424E-97D2-2BCC88EFD32A}" sibTransId="{15D19E5E-C14E-434A-B0B3-400D1DC00ABF}"/>
    <dgm:cxn modelId="{F5A5E947-45EE-4280-BAD4-A8806CA69551}" srcId="{7D73ABFA-BE80-4C5C-BB7D-23EC2E46C5C8}" destId="{E98D4F37-3969-462A-98BA-282E2E5B3F90}" srcOrd="1" destOrd="0" parTransId="{A8A33B00-EF18-42CF-BFA0-BC3E3D9F0099}" sibTransId="{ACD50962-B6DD-43D4-89BD-110F79A6C349}"/>
    <dgm:cxn modelId="{191AD2EE-4617-4122-8474-493BF8140C9F}" type="presOf" srcId="{F9FE6BA9-F0D2-4D53-B91F-911DFC9AEB3A}" destId="{D220356D-AE01-4E60-9DD0-CF7C06D9122B}" srcOrd="0" destOrd="0" presId="urn:microsoft.com/office/officeart/2005/8/layout/default"/>
    <dgm:cxn modelId="{A20C4E58-7E07-46F8-B6D6-547A80DF4E77}" type="presOf" srcId="{E98D4F37-3969-462A-98BA-282E2E5B3F90}" destId="{206C0280-BE0C-4F53-9E3F-04D0B92942EF}" srcOrd="0" destOrd="0" presId="urn:microsoft.com/office/officeart/2005/8/layout/default"/>
    <dgm:cxn modelId="{F3A48B31-C117-4DA3-B073-0C2E1FD79F36}" srcId="{7D73ABFA-BE80-4C5C-BB7D-23EC2E46C5C8}" destId="{38A55CC6-85E9-4187-A185-49143651BBFE}" srcOrd="0" destOrd="0" parTransId="{04F78E4C-5CA2-4341-8716-FCAA7280F6C6}" sibTransId="{ED16968A-3443-404D-A835-6E70340F945D}"/>
    <dgm:cxn modelId="{DFEE56A4-5838-40D5-BAAD-AF849A504CB5}" srcId="{7D73ABFA-BE80-4C5C-BB7D-23EC2E46C5C8}" destId="{F9FE6BA9-F0D2-4D53-B91F-911DFC9AEB3A}" srcOrd="2" destOrd="0" parTransId="{25742588-73DB-49DD-BC91-F398F2BFA992}" sibTransId="{53CF4090-A409-4165-A476-87653ECD236B}"/>
    <dgm:cxn modelId="{12CB5F8B-5B3C-4CE9-8739-A5B2A78FEA84}" type="presParOf" srcId="{BDAC451F-FED1-497F-9C2C-A6904CBD17ED}" destId="{4E10DA21-977F-43E3-92BE-0E2BDA0EB39D}" srcOrd="0" destOrd="0" presId="urn:microsoft.com/office/officeart/2005/8/layout/default"/>
    <dgm:cxn modelId="{143FF2AA-CA72-4AD3-BDC0-8A839F9E2521}" type="presParOf" srcId="{BDAC451F-FED1-497F-9C2C-A6904CBD17ED}" destId="{75424CBA-A8C3-43F3-B4D4-716FEDD12ECB}" srcOrd="1" destOrd="0" presId="urn:microsoft.com/office/officeart/2005/8/layout/default"/>
    <dgm:cxn modelId="{3A397409-5149-4F92-AC18-18B98254C3FE}" type="presParOf" srcId="{BDAC451F-FED1-497F-9C2C-A6904CBD17ED}" destId="{206C0280-BE0C-4F53-9E3F-04D0B92942EF}" srcOrd="2" destOrd="0" presId="urn:microsoft.com/office/officeart/2005/8/layout/default"/>
    <dgm:cxn modelId="{B0607976-94AC-4939-BC3B-A0DC11ECC6F7}" type="presParOf" srcId="{BDAC451F-FED1-497F-9C2C-A6904CBD17ED}" destId="{F684963F-3B3C-4C51-B7B8-6ACF720160D0}" srcOrd="3" destOrd="0" presId="urn:microsoft.com/office/officeart/2005/8/layout/default"/>
    <dgm:cxn modelId="{0EC422F9-E54F-4872-88EE-A97A3CF7B099}" type="presParOf" srcId="{BDAC451F-FED1-497F-9C2C-A6904CBD17ED}" destId="{D220356D-AE01-4E60-9DD0-CF7C06D9122B}" srcOrd="4" destOrd="0" presId="urn:microsoft.com/office/officeart/2005/8/layout/default"/>
    <dgm:cxn modelId="{A12C33BF-3251-4B0B-9C82-666E33602FFC}" type="presParOf" srcId="{BDAC451F-FED1-497F-9C2C-A6904CBD17ED}" destId="{E444FE85-DDAD-4A3E-870D-A472A512CCA8}" srcOrd="5" destOrd="0" presId="urn:microsoft.com/office/officeart/2005/8/layout/default"/>
    <dgm:cxn modelId="{934ED664-E078-490E-9B30-8633C3C949B0}" type="presParOf" srcId="{BDAC451F-FED1-497F-9C2C-A6904CBD17ED}" destId="{CFFA3DB3-F284-489D-B498-6A0536DC9D88}"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73ABFA-BE80-4C5C-BB7D-23EC2E46C5C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38A55CC6-85E9-4187-A185-49143651BBFE}">
      <dgm:prSet phldrT="[Текст]"/>
      <dgm:spPr>
        <a:solidFill>
          <a:schemeClr val="accent6">
            <a:lumMod val="50000"/>
          </a:schemeClr>
        </a:solidFill>
      </dgm:spPr>
      <dgm:t>
        <a:bodyPr/>
        <a:lstStyle/>
        <a:p>
          <a:r>
            <a:rPr lang="ru-RU" dirty="0" err="1"/>
            <a:t>цельнополигональная</a:t>
          </a:r>
          <a:r>
            <a:rPr lang="ru-RU" dirty="0"/>
            <a:t> структура (топологическая структура типа "спагетти");</a:t>
          </a:r>
        </a:p>
      </dgm:t>
    </dgm:pt>
    <dgm:pt modelId="{04F78E4C-5CA2-4341-8716-FCAA7280F6C6}" type="parTrans" cxnId="{F3A48B31-C117-4DA3-B073-0C2E1FD79F36}">
      <dgm:prSet/>
      <dgm:spPr/>
      <dgm:t>
        <a:bodyPr/>
        <a:lstStyle/>
        <a:p>
          <a:endParaRPr lang="ru-RU"/>
        </a:p>
      </dgm:t>
    </dgm:pt>
    <dgm:pt modelId="{ED16968A-3443-404D-A835-6E70340F945D}" type="sibTrans" cxnId="{F3A48B31-C117-4DA3-B073-0C2E1FD79F36}">
      <dgm:prSet/>
      <dgm:spPr/>
      <dgm:t>
        <a:bodyPr/>
        <a:lstStyle/>
        <a:p>
          <a:endParaRPr lang="ru-RU"/>
        </a:p>
      </dgm:t>
    </dgm:pt>
    <dgm:pt modelId="{E98D4F37-3969-462A-98BA-282E2E5B3F90}">
      <dgm:prSet phldrT="[Текст]"/>
      <dgm:spPr>
        <a:solidFill>
          <a:schemeClr val="accent5">
            <a:lumMod val="50000"/>
          </a:schemeClr>
        </a:solidFill>
      </dgm:spPr>
      <dgm:t>
        <a:bodyPr/>
        <a:lstStyle/>
        <a:p>
          <a:r>
            <a:rPr lang="ru-RU" dirty="0"/>
            <a:t>линейно-узловая (</a:t>
          </a:r>
          <a:r>
            <a:rPr lang="ru-RU" dirty="0" err="1"/>
            <a:t>графовая</a:t>
          </a:r>
          <a:r>
            <a:rPr lang="ru-RU" dirty="0"/>
            <a:t> структура);</a:t>
          </a:r>
        </a:p>
      </dgm:t>
    </dgm:pt>
    <dgm:pt modelId="{A8A33B00-EF18-42CF-BFA0-BC3E3D9F0099}" type="parTrans" cxnId="{F5A5E947-45EE-4280-BAD4-A8806CA69551}">
      <dgm:prSet/>
      <dgm:spPr/>
      <dgm:t>
        <a:bodyPr/>
        <a:lstStyle/>
        <a:p>
          <a:endParaRPr lang="ru-RU"/>
        </a:p>
      </dgm:t>
    </dgm:pt>
    <dgm:pt modelId="{ACD50962-B6DD-43D4-89BD-110F79A6C349}" type="sibTrans" cxnId="{F5A5E947-45EE-4280-BAD4-A8806CA69551}">
      <dgm:prSet/>
      <dgm:spPr/>
      <dgm:t>
        <a:bodyPr/>
        <a:lstStyle/>
        <a:p>
          <a:endParaRPr lang="ru-RU"/>
        </a:p>
      </dgm:t>
    </dgm:pt>
    <dgm:pt modelId="{F9FE6BA9-F0D2-4D53-B91F-911DFC9AEB3A}">
      <dgm:prSet phldrT="[Текст]"/>
      <dgm:spPr>
        <a:solidFill>
          <a:schemeClr val="accent4">
            <a:lumMod val="50000"/>
          </a:schemeClr>
        </a:solidFill>
      </dgm:spPr>
      <dgm:t>
        <a:bodyPr/>
        <a:lstStyle/>
        <a:p>
          <a:r>
            <a:rPr lang="ru-RU" dirty="0"/>
            <a:t>реляционная (структура отношений);</a:t>
          </a:r>
        </a:p>
      </dgm:t>
    </dgm:pt>
    <dgm:pt modelId="{25742588-73DB-49DD-BC91-F398F2BFA992}" type="parTrans" cxnId="{DFEE56A4-5838-40D5-BAAD-AF849A504CB5}">
      <dgm:prSet/>
      <dgm:spPr/>
      <dgm:t>
        <a:bodyPr/>
        <a:lstStyle/>
        <a:p>
          <a:endParaRPr lang="ru-RU"/>
        </a:p>
      </dgm:t>
    </dgm:pt>
    <dgm:pt modelId="{53CF4090-A409-4165-A476-87653ECD236B}" type="sibTrans" cxnId="{DFEE56A4-5838-40D5-BAAD-AF849A504CB5}">
      <dgm:prSet/>
      <dgm:spPr/>
      <dgm:t>
        <a:bodyPr/>
        <a:lstStyle/>
        <a:p>
          <a:endParaRPr lang="ru-RU"/>
        </a:p>
      </dgm:t>
    </dgm:pt>
    <dgm:pt modelId="{4DAA6532-C1F3-433C-ACAE-54A0E1220983}">
      <dgm:prSet phldrT="[Текст]"/>
      <dgm:spPr>
        <a:solidFill>
          <a:schemeClr val="tx2">
            <a:lumMod val="50000"/>
          </a:schemeClr>
        </a:solidFill>
      </dgm:spPr>
      <dgm:t>
        <a:bodyPr/>
        <a:lstStyle/>
        <a:p>
          <a:r>
            <a:rPr lang="ru-RU" dirty="0"/>
            <a:t>нерегулярная триангуляционная сеть.</a:t>
          </a:r>
        </a:p>
      </dgm:t>
    </dgm:pt>
    <dgm:pt modelId="{A7C40E40-1D94-424E-97D2-2BCC88EFD32A}" type="parTrans" cxnId="{BE94C8CF-F09E-40D6-9A45-9B4504739BDE}">
      <dgm:prSet/>
      <dgm:spPr/>
      <dgm:t>
        <a:bodyPr/>
        <a:lstStyle/>
        <a:p>
          <a:endParaRPr lang="ru-RU"/>
        </a:p>
      </dgm:t>
    </dgm:pt>
    <dgm:pt modelId="{15D19E5E-C14E-434A-B0B3-400D1DC00ABF}" type="sibTrans" cxnId="{BE94C8CF-F09E-40D6-9A45-9B4504739BDE}">
      <dgm:prSet/>
      <dgm:spPr/>
      <dgm:t>
        <a:bodyPr/>
        <a:lstStyle/>
        <a:p>
          <a:endParaRPr lang="ru-RU"/>
        </a:p>
      </dgm:t>
    </dgm:pt>
    <dgm:pt modelId="{BDAC451F-FED1-497F-9C2C-A6904CBD17ED}" type="pres">
      <dgm:prSet presAssocID="{7D73ABFA-BE80-4C5C-BB7D-23EC2E46C5C8}" presName="diagram" presStyleCnt="0">
        <dgm:presLayoutVars>
          <dgm:dir/>
          <dgm:resizeHandles val="exact"/>
        </dgm:presLayoutVars>
      </dgm:prSet>
      <dgm:spPr/>
      <dgm:t>
        <a:bodyPr/>
        <a:lstStyle/>
        <a:p>
          <a:endParaRPr lang="ru-RU"/>
        </a:p>
      </dgm:t>
    </dgm:pt>
    <dgm:pt modelId="{4E10DA21-977F-43E3-92BE-0E2BDA0EB39D}" type="pres">
      <dgm:prSet presAssocID="{38A55CC6-85E9-4187-A185-49143651BBFE}" presName="node" presStyleLbl="node1" presStyleIdx="0" presStyleCnt="4" custScaleX="115376">
        <dgm:presLayoutVars>
          <dgm:bulletEnabled val="1"/>
        </dgm:presLayoutVars>
      </dgm:prSet>
      <dgm:spPr/>
      <dgm:t>
        <a:bodyPr/>
        <a:lstStyle/>
        <a:p>
          <a:endParaRPr lang="ru-RU"/>
        </a:p>
      </dgm:t>
    </dgm:pt>
    <dgm:pt modelId="{75424CBA-A8C3-43F3-B4D4-716FEDD12ECB}" type="pres">
      <dgm:prSet presAssocID="{ED16968A-3443-404D-A835-6E70340F945D}" presName="sibTrans" presStyleCnt="0"/>
      <dgm:spPr/>
    </dgm:pt>
    <dgm:pt modelId="{206C0280-BE0C-4F53-9E3F-04D0B92942EF}" type="pres">
      <dgm:prSet presAssocID="{E98D4F37-3969-462A-98BA-282E2E5B3F90}" presName="node" presStyleLbl="node1" presStyleIdx="1" presStyleCnt="4" custScaleX="112540">
        <dgm:presLayoutVars>
          <dgm:bulletEnabled val="1"/>
        </dgm:presLayoutVars>
      </dgm:prSet>
      <dgm:spPr/>
      <dgm:t>
        <a:bodyPr/>
        <a:lstStyle/>
        <a:p>
          <a:endParaRPr lang="ru-RU"/>
        </a:p>
      </dgm:t>
    </dgm:pt>
    <dgm:pt modelId="{F684963F-3B3C-4C51-B7B8-6ACF720160D0}" type="pres">
      <dgm:prSet presAssocID="{ACD50962-B6DD-43D4-89BD-110F79A6C349}" presName="sibTrans" presStyleCnt="0"/>
      <dgm:spPr/>
    </dgm:pt>
    <dgm:pt modelId="{D220356D-AE01-4E60-9DD0-CF7C06D9122B}" type="pres">
      <dgm:prSet presAssocID="{F9FE6BA9-F0D2-4D53-B91F-911DFC9AEB3A}" presName="node" presStyleLbl="node1" presStyleIdx="2" presStyleCnt="4" custScaleX="120153">
        <dgm:presLayoutVars>
          <dgm:bulletEnabled val="1"/>
        </dgm:presLayoutVars>
      </dgm:prSet>
      <dgm:spPr/>
      <dgm:t>
        <a:bodyPr/>
        <a:lstStyle/>
        <a:p>
          <a:endParaRPr lang="ru-RU"/>
        </a:p>
      </dgm:t>
    </dgm:pt>
    <dgm:pt modelId="{E444FE85-DDAD-4A3E-870D-A472A512CCA8}" type="pres">
      <dgm:prSet presAssocID="{53CF4090-A409-4165-A476-87653ECD236B}" presName="sibTrans" presStyleCnt="0"/>
      <dgm:spPr/>
    </dgm:pt>
    <dgm:pt modelId="{CFFA3DB3-F284-489D-B498-6A0536DC9D88}" type="pres">
      <dgm:prSet presAssocID="{4DAA6532-C1F3-433C-ACAE-54A0E1220983}" presName="node" presStyleLbl="node1" presStyleIdx="3" presStyleCnt="4" custScaleX="114929">
        <dgm:presLayoutVars>
          <dgm:bulletEnabled val="1"/>
        </dgm:presLayoutVars>
      </dgm:prSet>
      <dgm:spPr/>
      <dgm:t>
        <a:bodyPr/>
        <a:lstStyle/>
        <a:p>
          <a:endParaRPr lang="ru-RU"/>
        </a:p>
      </dgm:t>
    </dgm:pt>
  </dgm:ptLst>
  <dgm:cxnLst>
    <dgm:cxn modelId="{CE83D260-58B6-4141-B8AD-F52EB1182FD3}" type="presOf" srcId="{4DAA6532-C1F3-433C-ACAE-54A0E1220983}" destId="{CFFA3DB3-F284-489D-B498-6A0536DC9D88}" srcOrd="0" destOrd="0" presId="urn:microsoft.com/office/officeart/2005/8/layout/default"/>
    <dgm:cxn modelId="{6EF24DCC-FACC-4DD1-936C-12727DB683B1}" type="presOf" srcId="{7D73ABFA-BE80-4C5C-BB7D-23EC2E46C5C8}" destId="{BDAC451F-FED1-497F-9C2C-A6904CBD17ED}" srcOrd="0" destOrd="0" presId="urn:microsoft.com/office/officeart/2005/8/layout/default"/>
    <dgm:cxn modelId="{93578DD0-D447-4E1F-9E33-4A0CE1636D2B}" type="presOf" srcId="{38A55CC6-85E9-4187-A185-49143651BBFE}" destId="{4E10DA21-977F-43E3-92BE-0E2BDA0EB39D}" srcOrd="0" destOrd="0" presId="urn:microsoft.com/office/officeart/2005/8/layout/default"/>
    <dgm:cxn modelId="{BE94C8CF-F09E-40D6-9A45-9B4504739BDE}" srcId="{7D73ABFA-BE80-4C5C-BB7D-23EC2E46C5C8}" destId="{4DAA6532-C1F3-433C-ACAE-54A0E1220983}" srcOrd="3" destOrd="0" parTransId="{A7C40E40-1D94-424E-97D2-2BCC88EFD32A}" sibTransId="{15D19E5E-C14E-434A-B0B3-400D1DC00ABF}"/>
    <dgm:cxn modelId="{F5A5E947-45EE-4280-BAD4-A8806CA69551}" srcId="{7D73ABFA-BE80-4C5C-BB7D-23EC2E46C5C8}" destId="{E98D4F37-3969-462A-98BA-282E2E5B3F90}" srcOrd="1" destOrd="0" parTransId="{A8A33B00-EF18-42CF-BFA0-BC3E3D9F0099}" sibTransId="{ACD50962-B6DD-43D4-89BD-110F79A6C349}"/>
    <dgm:cxn modelId="{191AD2EE-4617-4122-8474-493BF8140C9F}" type="presOf" srcId="{F9FE6BA9-F0D2-4D53-B91F-911DFC9AEB3A}" destId="{D220356D-AE01-4E60-9DD0-CF7C06D9122B}" srcOrd="0" destOrd="0" presId="urn:microsoft.com/office/officeart/2005/8/layout/default"/>
    <dgm:cxn modelId="{A20C4E58-7E07-46F8-B6D6-547A80DF4E77}" type="presOf" srcId="{E98D4F37-3969-462A-98BA-282E2E5B3F90}" destId="{206C0280-BE0C-4F53-9E3F-04D0B92942EF}" srcOrd="0" destOrd="0" presId="urn:microsoft.com/office/officeart/2005/8/layout/default"/>
    <dgm:cxn modelId="{F3A48B31-C117-4DA3-B073-0C2E1FD79F36}" srcId="{7D73ABFA-BE80-4C5C-BB7D-23EC2E46C5C8}" destId="{38A55CC6-85E9-4187-A185-49143651BBFE}" srcOrd="0" destOrd="0" parTransId="{04F78E4C-5CA2-4341-8716-FCAA7280F6C6}" sibTransId="{ED16968A-3443-404D-A835-6E70340F945D}"/>
    <dgm:cxn modelId="{DFEE56A4-5838-40D5-BAAD-AF849A504CB5}" srcId="{7D73ABFA-BE80-4C5C-BB7D-23EC2E46C5C8}" destId="{F9FE6BA9-F0D2-4D53-B91F-911DFC9AEB3A}" srcOrd="2" destOrd="0" parTransId="{25742588-73DB-49DD-BC91-F398F2BFA992}" sibTransId="{53CF4090-A409-4165-A476-87653ECD236B}"/>
    <dgm:cxn modelId="{12CB5F8B-5B3C-4CE9-8739-A5B2A78FEA84}" type="presParOf" srcId="{BDAC451F-FED1-497F-9C2C-A6904CBD17ED}" destId="{4E10DA21-977F-43E3-92BE-0E2BDA0EB39D}" srcOrd="0" destOrd="0" presId="urn:microsoft.com/office/officeart/2005/8/layout/default"/>
    <dgm:cxn modelId="{143FF2AA-CA72-4AD3-BDC0-8A839F9E2521}" type="presParOf" srcId="{BDAC451F-FED1-497F-9C2C-A6904CBD17ED}" destId="{75424CBA-A8C3-43F3-B4D4-716FEDD12ECB}" srcOrd="1" destOrd="0" presId="urn:microsoft.com/office/officeart/2005/8/layout/default"/>
    <dgm:cxn modelId="{3A397409-5149-4F92-AC18-18B98254C3FE}" type="presParOf" srcId="{BDAC451F-FED1-497F-9C2C-A6904CBD17ED}" destId="{206C0280-BE0C-4F53-9E3F-04D0B92942EF}" srcOrd="2" destOrd="0" presId="urn:microsoft.com/office/officeart/2005/8/layout/default"/>
    <dgm:cxn modelId="{B0607976-94AC-4939-BC3B-A0DC11ECC6F7}" type="presParOf" srcId="{BDAC451F-FED1-497F-9C2C-A6904CBD17ED}" destId="{F684963F-3B3C-4C51-B7B8-6ACF720160D0}" srcOrd="3" destOrd="0" presId="urn:microsoft.com/office/officeart/2005/8/layout/default"/>
    <dgm:cxn modelId="{0EC422F9-E54F-4872-88EE-A97A3CF7B099}" type="presParOf" srcId="{BDAC451F-FED1-497F-9C2C-A6904CBD17ED}" destId="{D220356D-AE01-4E60-9DD0-CF7C06D9122B}" srcOrd="4" destOrd="0" presId="urn:microsoft.com/office/officeart/2005/8/layout/default"/>
    <dgm:cxn modelId="{A12C33BF-3251-4B0B-9C82-666E33602FFC}" type="presParOf" srcId="{BDAC451F-FED1-497F-9C2C-A6904CBD17ED}" destId="{E444FE85-DDAD-4A3E-870D-A472A512CCA8}" srcOrd="5" destOrd="0" presId="urn:microsoft.com/office/officeart/2005/8/layout/default"/>
    <dgm:cxn modelId="{934ED664-E078-490E-9B30-8633C3C949B0}" type="presParOf" srcId="{BDAC451F-FED1-497F-9C2C-A6904CBD17ED}" destId="{CFFA3DB3-F284-489D-B498-6A0536DC9D88}"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0DA21-977F-43E3-92BE-0E2BDA0EB39D}">
      <dsp:nvSpPr>
        <dsp:cNvPr id="0" name=""/>
        <dsp:cNvSpPr/>
      </dsp:nvSpPr>
      <dsp:spPr>
        <a:xfrm>
          <a:off x="346315" y="3506"/>
          <a:ext cx="5354836" cy="2784723"/>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ru-RU" sz="1800" kern="1200" dirty="0"/>
            <a:t>географическое пространственное положение физических или смоделированных объектов представляется 2-мерными (координаты X,Y на плоскости), 3-х мерными (широта, долгота, высота над уровнем геоида) и 4-х мерными координатами (широта, долгота, высота над уровнем геоида, время в секундах, средних сутках, среднем солнечном годе) в системе координат, отнесенной к среднему полюсу Земли и положению среднего экватора;</a:t>
          </a:r>
        </a:p>
      </dsp:txBody>
      <dsp:txXfrm>
        <a:off x="346315" y="3506"/>
        <a:ext cx="5354836" cy="2784723"/>
      </dsp:txXfrm>
    </dsp:sp>
    <dsp:sp modelId="{206C0280-BE0C-4F53-9E3F-04D0B92942EF}">
      <dsp:nvSpPr>
        <dsp:cNvPr id="0" name=""/>
        <dsp:cNvSpPr/>
      </dsp:nvSpPr>
      <dsp:spPr>
        <a:xfrm>
          <a:off x="6165272" y="3506"/>
          <a:ext cx="5223212" cy="2784723"/>
        </a:xfrm>
        <a:prstGeom prst="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ru-RU" sz="1800" kern="1200" dirty="0"/>
            <a:t>свойства объектов или моделей могут содержать информацию, которая не указывает явно на пространственную ориентацию и является описательной — тем не менее, такая информация является важной и она также включается в географические данные;</a:t>
          </a:r>
        </a:p>
      </dsp:txBody>
      <dsp:txXfrm>
        <a:off x="6165272" y="3506"/>
        <a:ext cx="5223212" cy="2784723"/>
      </dsp:txXfrm>
    </dsp:sp>
    <dsp:sp modelId="{D220356D-AE01-4E60-9DD0-CF7C06D9122B}">
      <dsp:nvSpPr>
        <dsp:cNvPr id="0" name=""/>
        <dsp:cNvSpPr/>
      </dsp:nvSpPr>
      <dsp:spPr>
        <a:xfrm>
          <a:off x="180020" y="3252350"/>
          <a:ext cx="5576547" cy="2784723"/>
        </a:xfrm>
        <a:prstGeom prst="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ru-RU" sz="1800" kern="1200" dirty="0"/>
            <a:t>пространственные отношения определяют взаимное расположение объектов или моделей — например, положение объекта А по отношению к объекту В на плоскости, в пространстве или во времени, движение А относительно В, вложенность А в </a:t>
          </a:r>
          <a:r>
            <a:rPr lang="ru-RU" sz="1800" kern="1200" dirty="0" err="1"/>
            <a:t>В</a:t>
          </a:r>
          <a:r>
            <a:rPr lang="ru-RU" sz="1800" kern="1200" dirty="0"/>
            <a:t> и т.д.;</a:t>
          </a:r>
        </a:p>
      </dsp:txBody>
      <dsp:txXfrm>
        <a:off x="180020" y="3252350"/>
        <a:ext cx="5576547" cy="2784723"/>
      </dsp:txXfrm>
    </dsp:sp>
    <dsp:sp modelId="{CFFA3DB3-F284-489D-B498-6A0536DC9D88}">
      <dsp:nvSpPr>
        <dsp:cNvPr id="0" name=""/>
        <dsp:cNvSpPr/>
      </dsp:nvSpPr>
      <dsp:spPr>
        <a:xfrm>
          <a:off x="6220688" y="3252350"/>
          <a:ext cx="5334090" cy="2784723"/>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ru-RU" sz="1800" kern="1200" dirty="0"/>
            <a:t>временные параметры могут характеризовать как взаимное отношение объектов (моделей) так и жизненный цикл географических данных.</a:t>
          </a:r>
        </a:p>
      </dsp:txBody>
      <dsp:txXfrm>
        <a:off x="6220688" y="3252350"/>
        <a:ext cx="5334090" cy="2784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0DA21-977F-43E3-92BE-0E2BDA0EB39D}">
      <dsp:nvSpPr>
        <dsp:cNvPr id="0" name=""/>
        <dsp:cNvSpPr/>
      </dsp:nvSpPr>
      <dsp:spPr>
        <a:xfrm>
          <a:off x="346315" y="3506"/>
          <a:ext cx="5354836" cy="2784723"/>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ru-RU" sz="3500" kern="1200" dirty="0" err="1"/>
            <a:t>цельнополигональная</a:t>
          </a:r>
          <a:r>
            <a:rPr lang="ru-RU" sz="3500" kern="1200" dirty="0"/>
            <a:t> структура (топологическая структура типа "спагетти");</a:t>
          </a:r>
        </a:p>
      </dsp:txBody>
      <dsp:txXfrm>
        <a:off x="346315" y="3506"/>
        <a:ext cx="5354836" cy="2784723"/>
      </dsp:txXfrm>
    </dsp:sp>
    <dsp:sp modelId="{206C0280-BE0C-4F53-9E3F-04D0B92942EF}">
      <dsp:nvSpPr>
        <dsp:cNvPr id="0" name=""/>
        <dsp:cNvSpPr/>
      </dsp:nvSpPr>
      <dsp:spPr>
        <a:xfrm>
          <a:off x="6165272" y="3506"/>
          <a:ext cx="5223212" cy="2784723"/>
        </a:xfrm>
        <a:prstGeom prst="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ru-RU" sz="3500" kern="1200" dirty="0"/>
            <a:t>линейно-узловая (</a:t>
          </a:r>
          <a:r>
            <a:rPr lang="ru-RU" sz="3500" kern="1200" dirty="0" err="1"/>
            <a:t>графовая</a:t>
          </a:r>
          <a:r>
            <a:rPr lang="ru-RU" sz="3500" kern="1200" dirty="0"/>
            <a:t> структура);</a:t>
          </a:r>
        </a:p>
      </dsp:txBody>
      <dsp:txXfrm>
        <a:off x="6165272" y="3506"/>
        <a:ext cx="5223212" cy="2784723"/>
      </dsp:txXfrm>
    </dsp:sp>
    <dsp:sp modelId="{D220356D-AE01-4E60-9DD0-CF7C06D9122B}">
      <dsp:nvSpPr>
        <dsp:cNvPr id="0" name=""/>
        <dsp:cNvSpPr/>
      </dsp:nvSpPr>
      <dsp:spPr>
        <a:xfrm>
          <a:off x="180020" y="3252350"/>
          <a:ext cx="5576547" cy="2784723"/>
        </a:xfrm>
        <a:prstGeom prst="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ru-RU" sz="3500" kern="1200" dirty="0"/>
            <a:t>реляционная (структура отношений);</a:t>
          </a:r>
        </a:p>
      </dsp:txBody>
      <dsp:txXfrm>
        <a:off x="180020" y="3252350"/>
        <a:ext cx="5576547" cy="2784723"/>
      </dsp:txXfrm>
    </dsp:sp>
    <dsp:sp modelId="{CFFA3DB3-F284-489D-B498-6A0536DC9D88}">
      <dsp:nvSpPr>
        <dsp:cNvPr id="0" name=""/>
        <dsp:cNvSpPr/>
      </dsp:nvSpPr>
      <dsp:spPr>
        <a:xfrm>
          <a:off x="6220688" y="3252350"/>
          <a:ext cx="5334090" cy="2784723"/>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ru-RU" sz="3500" kern="1200" dirty="0"/>
            <a:t>нерегулярная триангуляционная сеть.</a:t>
          </a:r>
        </a:p>
      </dsp:txBody>
      <dsp:txXfrm>
        <a:off x="6220688" y="3252350"/>
        <a:ext cx="5334090" cy="278472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1E16D-40AE-4F7B-89DA-08FA8576FE62}" type="datetimeFigureOut">
              <a:rPr lang="ru-RU" smtClean="0"/>
              <a:t>24.03.2026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7B180-2896-4825-A371-C953116C1FCE}" type="slidenum">
              <a:rPr lang="ru-RU" smtClean="0"/>
              <a:t>‹#›</a:t>
            </a:fld>
            <a:endParaRPr lang="ru-RU"/>
          </a:p>
        </p:txBody>
      </p:sp>
    </p:spTree>
    <p:extLst>
      <p:ext uri="{BB962C8B-B14F-4D97-AF65-F5344CB8AC3E}">
        <p14:creationId xmlns:p14="http://schemas.microsoft.com/office/powerpoint/2010/main" val="1966748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a:xfrm>
            <a:off x="90488" y="744538"/>
            <a:ext cx="6616700" cy="3722687"/>
          </a:xfrm>
          <a:ln/>
        </p:spPr>
      </p:sp>
      <p:sp>
        <p:nvSpPr>
          <p:cNvPr id="34819"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ru-RU" altLang="ru-RU">
              <a:latin typeface="Arial" pitchFamily="34" charset="0"/>
            </a:endParaRPr>
          </a:p>
        </p:txBody>
      </p:sp>
      <p:sp>
        <p:nvSpPr>
          <p:cNvPr id="34820"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3995C959-3E6F-4A2D-BBCE-A1FF53A98587}" type="slidenum">
              <a:rPr lang="ru-RU" altLang="ru-RU">
                <a:solidFill>
                  <a:prstClr val="black"/>
                </a:solidFill>
              </a:rPr>
              <a:pPr/>
              <a:t>1</a:t>
            </a:fld>
            <a:endParaRPr lang="ru-RU" altLang="ru-RU">
              <a:solidFill>
                <a:prstClr val="black"/>
              </a:solidFill>
            </a:endParaRPr>
          </a:p>
        </p:txBody>
      </p:sp>
    </p:spTree>
    <p:extLst>
      <p:ext uri="{BB962C8B-B14F-4D97-AF65-F5344CB8AC3E}">
        <p14:creationId xmlns:p14="http://schemas.microsoft.com/office/powerpoint/2010/main" val="429187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BE7B180-2896-4825-A371-C953116C1FCE}" type="slidenum">
              <a:rPr lang="ru-RU" smtClean="0"/>
              <a:t>33</a:t>
            </a:fld>
            <a:endParaRPr lang="ru-RU"/>
          </a:p>
        </p:txBody>
      </p:sp>
    </p:spTree>
    <p:extLst>
      <p:ext uri="{BB962C8B-B14F-4D97-AF65-F5344CB8AC3E}">
        <p14:creationId xmlns:p14="http://schemas.microsoft.com/office/powerpoint/2010/main" val="1443315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a:xfrm>
            <a:off x="90488" y="744538"/>
            <a:ext cx="6616700" cy="3722687"/>
          </a:xfrm>
          <a:ln/>
        </p:spPr>
      </p:sp>
      <p:sp>
        <p:nvSpPr>
          <p:cNvPr id="34819"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ru-RU" altLang="ru-RU">
              <a:latin typeface="Arial" pitchFamily="34" charset="0"/>
            </a:endParaRPr>
          </a:p>
        </p:txBody>
      </p:sp>
      <p:sp>
        <p:nvSpPr>
          <p:cNvPr id="34820"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3995C959-3E6F-4A2D-BBCE-A1FF53A98587}" type="slidenum">
              <a:rPr lang="ru-RU" altLang="ru-RU">
                <a:solidFill>
                  <a:prstClr val="black"/>
                </a:solidFill>
              </a:rPr>
              <a:pPr/>
              <a:t>51</a:t>
            </a:fld>
            <a:endParaRPr lang="ru-RU" altLang="ru-RU">
              <a:solidFill>
                <a:prstClr val="black"/>
              </a:solidFill>
            </a:endParaRPr>
          </a:p>
        </p:txBody>
      </p:sp>
    </p:spTree>
    <p:extLst>
      <p:ext uri="{BB962C8B-B14F-4D97-AF65-F5344CB8AC3E}">
        <p14:creationId xmlns:p14="http://schemas.microsoft.com/office/powerpoint/2010/main" val="3061012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896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889928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0306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351046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44454585-7C67-480B-A3E7-2717674931C3}" type="datetimeFigureOut">
              <a:rPr lang="ru-RU" smtClean="0"/>
              <a:t>24.03.2026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9980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44454585-7C67-480B-A3E7-2717674931C3}" type="datetimeFigureOut">
              <a:rPr lang="ru-RU" smtClean="0"/>
              <a:t>24.03.2026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90987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4454585-7C67-480B-A3E7-2717674931C3}" type="datetimeFigureOut">
              <a:rPr lang="ru-RU" smtClean="0"/>
              <a:t>24.03.2026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308135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71137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8120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44888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26544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6E1B2-CEBD-427E-9745-F7D5EC90EFA3}" type="slidenum">
              <a:rPr lang="ru-RU" smtClean="0"/>
              <a:t>‹#›</a:t>
            </a:fld>
            <a:endParaRPr lang="ru-RU"/>
          </a:p>
        </p:txBody>
      </p:sp>
    </p:spTree>
    <p:extLst>
      <p:ext uri="{BB962C8B-B14F-4D97-AF65-F5344CB8AC3E}">
        <p14:creationId xmlns:p14="http://schemas.microsoft.com/office/powerpoint/2010/main" val="757208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8" Type="http://schemas.openxmlformats.org/officeDocument/2006/relationships/hyperlink" Target="http://maps.google.com/" TargetMode="External"/><Relationship Id="rId3" Type="http://schemas.openxmlformats.org/officeDocument/2006/relationships/hyperlink" Target="http://www.esri.com/" TargetMode="External"/><Relationship Id="rId7" Type="http://schemas.openxmlformats.org/officeDocument/2006/relationships/hyperlink" Target="http://www.mirkart.ru/" TargetMode="External"/><Relationship Id="rId2" Type="http://schemas.openxmlformats.org/officeDocument/2006/relationships/hyperlink" Target="http://www.intergraph.com/gis" TargetMode="External"/><Relationship Id="rId1" Type="http://schemas.openxmlformats.org/officeDocument/2006/relationships/slideLayout" Target="../slideLayouts/slideLayout7.xml"/><Relationship Id="rId6" Type="http://schemas.openxmlformats.org/officeDocument/2006/relationships/hyperlink" Target="http://www.geoeye.com/" TargetMode="External"/><Relationship Id="rId5" Type="http://schemas.openxmlformats.org/officeDocument/2006/relationships/hyperlink" Target="http://www.autodesk.com/" TargetMode="External"/><Relationship Id="rId4" Type="http://schemas.openxmlformats.org/officeDocument/2006/relationships/hyperlink" Target="http://www.mapinfo.com/" TargetMode="External"/><Relationship Id="rId9" Type="http://schemas.openxmlformats.org/officeDocument/2006/relationships/hyperlink" Target="http://www.geographynetwork.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www.esti-map.ru/"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7.xml"/><Relationship Id="rId5" Type="http://schemas.openxmlformats.org/officeDocument/2006/relationships/image" Target="../media/image81.jpeg"/><Relationship Id="rId4" Type="http://schemas.openxmlformats.org/officeDocument/2006/relationships/image" Target="../media/image80.jpeg"/></Relationships>
</file>

<file path=ppt/slides/_rels/slide91.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ChangeArrowheads="1"/>
          </p:cNvSpPr>
          <p:nvPr/>
        </p:nvSpPr>
        <p:spPr bwMode="auto">
          <a:xfrm>
            <a:off x="4956265" y="510698"/>
            <a:ext cx="5691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fontAlgn="base">
              <a:spcBef>
                <a:spcPct val="0"/>
              </a:spcBef>
              <a:spcAft>
                <a:spcPct val="0"/>
              </a:spcAft>
            </a:pPr>
            <a:r>
              <a:rPr lang="ru-RU" altLang="ru-RU" sz="1400" b="1" dirty="0">
                <a:solidFill>
                  <a:srgbClr val="A40000"/>
                </a:solidFill>
                <a:latin typeface="+mn-lt"/>
                <a:cs typeface="Tahoma" pitchFamily="34" charset="0"/>
              </a:rPr>
              <a:t>НИЖЕГОРОДСКИЙ			</a:t>
            </a:r>
          </a:p>
          <a:p>
            <a:pPr fontAlgn="base">
              <a:spcBef>
                <a:spcPct val="0"/>
              </a:spcBef>
              <a:spcAft>
                <a:spcPct val="0"/>
              </a:spcAft>
            </a:pPr>
            <a:r>
              <a:rPr lang="ru-RU" altLang="ru-RU" sz="1400" b="1" dirty="0">
                <a:solidFill>
                  <a:srgbClr val="A40000"/>
                </a:solidFill>
                <a:latin typeface="+mn-lt"/>
                <a:cs typeface="Tahoma" pitchFamily="34" charset="0"/>
              </a:rPr>
              <a:t>ИНСТИТУТ				</a:t>
            </a:r>
          </a:p>
          <a:p>
            <a:pPr fontAlgn="base">
              <a:spcBef>
                <a:spcPct val="0"/>
              </a:spcBef>
              <a:spcAft>
                <a:spcPct val="0"/>
              </a:spcAft>
            </a:pPr>
            <a:r>
              <a:rPr lang="ru-RU" altLang="ru-RU" sz="1400" b="1" dirty="0">
                <a:solidFill>
                  <a:srgbClr val="A40000"/>
                </a:solidFill>
                <a:latin typeface="+mn-lt"/>
                <a:cs typeface="Tahoma" pitchFamily="34" charset="0"/>
              </a:rPr>
              <a:t>УПРАВЛЕНИЯ			</a:t>
            </a:r>
            <a:endParaRPr lang="en-US" altLang="ru-RU" sz="1400" b="1" dirty="0">
              <a:solidFill>
                <a:srgbClr val="A40000"/>
              </a:solidFill>
              <a:latin typeface="+mn-lt"/>
              <a:cs typeface="Tahoma" pitchFamily="34" charset="0"/>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854076"/>
            <a:ext cx="23447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Прямоугольник 7"/>
          <p:cNvSpPr>
            <a:spLocks noChangeArrowheads="1"/>
          </p:cNvSpPr>
          <p:nvPr/>
        </p:nvSpPr>
        <p:spPr bwMode="auto">
          <a:xfrm flipH="1">
            <a:off x="351631" y="2762182"/>
            <a:ext cx="2843213" cy="1538287"/>
          </a:xfrm>
          <a:prstGeom prst="rect">
            <a:avLst/>
          </a:prstGeom>
          <a:gradFill rotWithShape="1">
            <a:gsLst>
              <a:gs pos="0">
                <a:srgbClr val="770000"/>
              </a:gs>
              <a:gs pos="50000">
                <a:srgbClr val="AD0000"/>
              </a:gs>
              <a:gs pos="100000">
                <a:srgbClr val="CE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1042988">
              <a:defRPr>
                <a:solidFill>
                  <a:schemeClr val="tx1"/>
                </a:solidFill>
                <a:latin typeface="Arial" pitchFamily="34" charset="0"/>
              </a:defRPr>
            </a:lvl1pPr>
            <a:lvl2pPr marL="742950" indent="-285750" defTabSz="1042988">
              <a:defRPr>
                <a:solidFill>
                  <a:schemeClr val="tx1"/>
                </a:solidFill>
                <a:latin typeface="Arial" pitchFamily="34" charset="0"/>
              </a:defRPr>
            </a:lvl2pPr>
            <a:lvl3pPr marL="1143000" indent="-228600" defTabSz="1042988">
              <a:defRPr>
                <a:solidFill>
                  <a:schemeClr val="tx1"/>
                </a:solidFill>
                <a:latin typeface="Arial" pitchFamily="34" charset="0"/>
              </a:defRPr>
            </a:lvl3pPr>
            <a:lvl4pPr marL="1600200" indent="-228600" defTabSz="1042988">
              <a:defRPr>
                <a:solidFill>
                  <a:schemeClr val="tx1"/>
                </a:solidFill>
                <a:latin typeface="Arial" pitchFamily="34" charset="0"/>
              </a:defRPr>
            </a:lvl4pPr>
            <a:lvl5pPr marL="2057400" indent="-228600" defTabSz="1042988">
              <a:defRPr>
                <a:solidFill>
                  <a:schemeClr val="tx1"/>
                </a:solidFill>
                <a:latin typeface="Arial" pitchFamily="34" charset="0"/>
              </a:defRPr>
            </a:lvl5pPr>
            <a:lvl6pPr marL="2514600" indent="-228600" defTabSz="1042988" eaLnBrk="0" fontAlgn="base" hangingPunct="0">
              <a:spcBef>
                <a:spcPct val="0"/>
              </a:spcBef>
              <a:spcAft>
                <a:spcPct val="0"/>
              </a:spcAft>
              <a:defRPr>
                <a:solidFill>
                  <a:schemeClr val="tx1"/>
                </a:solidFill>
                <a:latin typeface="Arial" pitchFamily="34" charset="0"/>
              </a:defRPr>
            </a:lvl6pPr>
            <a:lvl7pPr marL="2971800" indent="-228600" defTabSz="1042988" eaLnBrk="0" fontAlgn="base" hangingPunct="0">
              <a:spcBef>
                <a:spcPct val="0"/>
              </a:spcBef>
              <a:spcAft>
                <a:spcPct val="0"/>
              </a:spcAft>
              <a:defRPr>
                <a:solidFill>
                  <a:schemeClr val="tx1"/>
                </a:solidFill>
                <a:latin typeface="Arial" pitchFamily="34" charset="0"/>
              </a:defRPr>
            </a:lvl7pPr>
            <a:lvl8pPr marL="3429000" indent="-228600" defTabSz="1042988" eaLnBrk="0" fontAlgn="base" hangingPunct="0">
              <a:spcBef>
                <a:spcPct val="0"/>
              </a:spcBef>
              <a:spcAft>
                <a:spcPct val="0"/>
              </a:spcAft>
              <a:defRPr>
                <a:solidFill>
                  <a:schemeClr val="tx1"/>
                </a:solidFill>
                <a:latin typeface="Arial" pitchFamily="34" charset="0"/>
              </a:defRPr>
            </a:lvl8pPr>
            <a:lvl9pPr marL="3886200" indent="-228600" defTabSz="1042988"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altLang="ru-RU" sz="2400" b="1" dirty="0">
                <a:solidFill>
                  <a:schemeClr val="bg1"/>
                </a:solidFill>
              </a:rPr>
              <a:t>ТЕМА </a:t>
            </a:r>
            <a:r>
              <a:rPr lang="ru-RU" altLang="ru-RU" sz="2400" b="1">
                <a:solidFill>
                  <a:schemeClr val="bg1"/>
                </a:solidFill>
              </a:rPr>
              <a:t>№ </a:t>
            </a:r>
            <a:r>
              <a:rPr lang="ru-RU" altLang="ru-RU" sz="2400" b="1" smtClean="0">
                <a:solidFill>
                  <a:schemeClr val="bg1"/>
                </a:solidFill>
              </a:rPr>
              <a:t>1 -2</a:t>
            </a:r>
            <a:endParaRPr lang="ru-RU" altLang="ru-RU" sz="2400" b="1" dirty="0">
              <a:solidFill>
                <a:schemeClr val="bg1"/>
              </a:solidFill>
            </a:endParaRPr>
          </a:p>
        </p:txBody>
      </p:sp>
      <p:sp>
        <p:nvSpPr>
          <p:cNvPr id="17413" name="Text Box 23"/>
          <p:cNvSpPr txBox="1">
            <a:spLocks noChangeArrowheads="1"/>
          </p:cNvSpPr>
          <p:nvPr/>
        </p:nvSpPr>
        <p:spPr bwMode="auto">
          <a:xfrm>
            <a:off x="3194844" y="2767096"/>
            <a:ext cx="862201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sz="4000" b="1" dirty="0"/>
              <a:t>ПОНЯТИЕ ГЕОГРАФИЧЕСКИХ ИНФОРМАЦИОННЫХ СИСТЕМ (ГИС). ФУНКЦИИ ГИС.</a:t>
            </a:r>
            <a:r>
              <a:rPr lang="ru-RU" sz="2400" dirty="0"/>
              <a:t/>
            </a:r>
            <a:br>
              <a:rPr lang="ru-RU" sz="2400" dirty="0"/>
            </a:br>
            <a:endParaRPr lang="ru-RU" altLang="ru-RU" sz="2400" b="1" dirty="0">
              <a:solidFill>
                <a:srgbClr val="C00000"/>
              </a:solidFill>
            </a:endParaRPr>
          </a:p>
        </p:txBody>
      </p:sp>
      <p:sp>
        <p:nvSpPr>
          <p:cNvPr id="5127" name="Text Box 23"/>
          <p:cNvSpPr txBox="1">
            <a:spLocks noChangeArrowheads="1"/>
          </p:cNvSpPr>
          <p:nvPr/>
        </p:nvSpPr>
        <p:spPr bwMode="auto">
          <a:xfrm>
            <a:off x="7535435" y="4944070"/>
            <a:ext cx="443397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fontAlgn="base" hangingPunct="1">
              <a:spcBef>
                <a:spcPct val="0"/>
              </a:spcBef>
              <a:spcAft>
                <a:spcPct val="0"/>
              </a:spcAft>
              <a:defRPr/>
            </a:pPr>
            <a:r>
              <a:rPr lang="ru-RU" sz="1600" dirty="0"/>
              <a:t>Зав. кафедрой информатики и информационных технологий, </a:t>
            </a:r>
            <a:r>
              <a:rPr lang="ru-RU" sz="1600" dirty="0" err="1"/>
              <a:t>к.т.н</a:t>
            </a:r>
            <a:r>
              <a:rPr lang="ru-RU" sz="1600" dirty="0"/>
              <a:t>, доцент, заслуженный работник науки и образования  Гребенюк И.И.</a:t>
            </a:r>
            <a:endParaRPr lang="ru-RU" altLang="ru-RU" sz="1600" b="1" dirty="0">
              <a:solidFill>
                <a:srgbClr val="000000"/>
              </a:solidFill>
              <a:latin typeface="Arial"/>
              <a:cs typeface="Arial" charset="0"/>
            </a:endParaRPr>
          </a:p>
        </p:txBody>
      </p:sp>
      <p:grpSp>
        <p:nvGrpSpPr>
          <p:cNvPr id="17415" name="Группа 12"/>
          <p:cNvGrpSpPr>
            <a:grpSpLocks/>
          </p:cNvGrpSpPr>
          <p:nvPr/>
        </p:nvGrpSpPr>
        <p:grpSpPr bwMode="auto">
          <a:xfrm>
            <a:off x="4616451" y="1598613"/>
            <a:ext cx="5732463" cy="781050"/>
            <a:chOff x="0" y="0"/>
            <a:chExt cx="6210300" cy="781275"/>
          </a:xfrm>
        </p:grpSpPr>
        <p:pic>
          <p:nvPicPr>
            <p:cNvPr id="17416" name="Рисунок 13" descr="D:\ИПК\Фотографии\на стенд\на сайт\главная\Академия 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0"/>
              <a:ext cx="1028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Рисунок 14" descr="D:\для фотопрезентации ФПК\Презид.программа\фото Открытие Президентской  Прогр\6.jpg"/>
            <p:cNvPicPr>
              <a:picLocks noChangeAspect="1"/>
            </p:cNvPicPr>
            <p:nvPr/>
          </p:nvPicPr>
          <p:blipFill>
            <a:blip r:embed="rId5">
              <a:extLst>
                <a:ext uri="{28A0092B-C50C-407E-A947-70E740481C1C}">
                  <a14:useLocalDpi xmlns:a14="http://schemas.microsoft.com/office/drawing/2010/main" val="0"/>
                </a:ext>
              </a:extLst>
            </a:blip>
            <a:srcRect l="5675" r="-2" b="1205"/>
            <a:stretch>
              <a:fillRect/>
            </a:stretch>
          </p:blipFill>
          <p:spPr bwMode="auto">
            <a:xfrm>
              <a:off x="0" y="1"/>
              <a:ext cx="11144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Рисунок 15" descr="D:\Презид.программа 20 мая-05 июня 2013\30.05.13\работа в проектных группах_30.05.13\DSCF800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62300" y="9750"/>
              <a:ext cx="10382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Рисунок 16" descr="D:\для фотопрезентации ФПК\Президентская программа (6) 17 сентября 2012 (З).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9525"/>
              <a:ext cx="10287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Рисунок 17" descr="D:\ИПК\Фотографии\для книги Академии\1.2.Здание.jpg"/>
            <p:cNvPicPr>
              <a:picLocks noChangeAspect="1"/>
            </p:cNvPicPr>
            <p:nvPr/>
          </p:nvPicPr>
          <p:blipFill>
            <a:blip r:embed="rId8">
              <a:extLst>
                <a:ext uri="{28A0092B-C50C-407E-A947-70E740481C1C}">
                  <a14:useLocalDpi xmlns:a14="http://schemas.microsoft.com/office/drawing/2010/main" val="0"/>
                </a:ext>
              </a:extLst>
            </a:blip>
            <a:srcRect t="2" b="1219"/>
            <a:stretch>
              <a:fillRect/>
            </a:stretch>
          </p:blipFill>
          <p:spPr bwMode="auto">
            <a:xfrm>
              <a:off x="4191000" y="9525"/>
              <a:ext cx="971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Рисунок 18" descr="D:\ИПК\Фотографии\для книги Академии\5.2.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62550" y="9525"/>
              <a:ext cx="10477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p:cNvSpPr txBox="1"/>
          <p:nvPr/>
        </p:nvSpPr>
        <p:spPr>
          <a:xfrm>
            <a:off x="4367213" y="6021288"/>
            <a:ext cx="3718804" cy="338554"/>
          </a:xfrm>
          <a:prstGeom prst="rect">
            <a:avLst/>
          </a:prstGeom>
          <a:noFill/>
        </p:spPr>
        <p:txBody>
          <a:bodyPr wrap="square" rtlCol="0">
            <a:spAutoFit/>
          </a:bodyPr>
          <a:lstStyle/>
          <a:p>
            <a:r>
              <a:rPr lang="ru-RU" sz="1600" b="1" dirty="0"/>
              <a:t>Нижний Новгород 20</a:t>
            </a:r>
            <a:r>
              <a:rPr lang="en-US" sz="1600" b="1" dirty="0" smtClean="0"/>
              <a:t>26</a:t>
            </a:r>
            <a:endParaRPr lang="ru-RU" sz="1600" b="1" dirty="0"/>
          </a:p>
        </p:txBody>
      </p:sp>
    </p:spTree>
    <p:extLst>
      <p:ext uri="{BB962C8B-B14F-4D97-AF65-F5344CB8AC3E}">
        <p14:creationId xmlns:p14="http://schemas.microsoft.com/office/powerpoint/2010/main" val="771745572"/>
      </p:ext>
    </p:extLst>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0" algn="ctr"/>
            <a:r>
              <a:rPr lang="ru-RU" sz="4000" b="1" dirty="0">
                <a:solidFill>
                  <a:srgbClr val="FF0000"/>
                </a:solidFill>
              </a:rPr>
              <a:t>ОПРЕДЕЛЕНИЕ ГЕОГРАФИЧЕСКОЙ ИНФОРМАЦИОННОЙ СИСТЕМЫ (ГИС).</a:t>
            </a:r>
            <a:endParaRPr lang="ru-RU" sz="4000" dirty="0">
              <a:solidFill>
                <a:srgbClr val="FF0000"/>
              </a:solidFill>
            </a:endParaRPr>
          </a:p>
          <a:p>
            <a:pPr lvl="0" algn="ctr"/>
            <a:r>
              <a:rPr lang="ru-RU" sz="4000" b="1" dirty="0"/>
              <a:t>Вопрос 1</a:t>
            </a:r>
            <a:endParaRPr lang="ru-RU" sz="4000" dirty="0"/>
          </a:p>
        </p:txBody>
      </p:sp>
    </p:spTree>
    <p:extLst>
      <p:ext uri="{BB962C8B-B14F-4D97-AF65-F5344CB8AC3E}">
        <p14:creationId xmlns:p14="http://schemas.microsoft.com/office/powerpoint/2010/main" val="1801749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900544" y="149308"/>
            <a:ext cx="10889673" cy="487506"/>
          </a:xfrm>
          <a:prstGeom prst="rect">
            <a:avLst/>
          </a:prstGeom>
        </p:spPr>
        <p:txBody>
          <a:bodyPr wrap="square">
            <a:spAutoFit/>
          </a:bodyPr>
          <a:lstStyle/>
          <a:p>
            <a:pPr marL="342900" lvl="0" indent="-342900" algn="ctr">
              <a:lnSpc>
                <a:spcPct val="107000"/>
              </a:lnSpc>
              <a:spcAft>
                <a:spcPts val="0"/>
              </a:spcAft>
              <a:tabLst>
                <a:tab pos="457200" algn="l"/>
              </a:tabLst>
            </a:pPr>
            <a:r>
              <a:rPr lang="ru-RU" sz="2400" i="1" dirty="0">
                <a:solidFill>
                  <a:srgbClr val="FF0000"/>
                </a:solidFill>
              </a:rPr>
              <a:t>ОСНОВНЫЕ ПОНЯТИЯ И ОПРЕДЕЛЕНИЯ</a:t>
            </a:r>
            <a:endParaRPr lang="ru-RU"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Прямоугольник 3"/>
          <p:cNvSpPr/>
          <p:nvPr/>
        </p:nvSpPr>
        <p:spPr>
          <a:xfrm>
            <a:off x="146074" y="6139934"/>
            <a:ext cx="4002762" cy="369332"/>
          </a:xfrm>
          <a:prstGeom prst="rect">
            <a:avLst/>
          </a:prstGeom>
        </p:spPr>
        <p:txBody>
          <a:bodyPr wrap="none">
            <a:spAutoFit/>
          </a:bodyPr>
          <a:lstStyle/>
          <a:p>
            <a:r>
              <a:rPr lang="ru-RU" dirty="0">
                <a:solidFill>
                  <a:srgbClr val="000000"/>
                </a:solidFill>
                <a:latin typeface="Times New Roman" panose="02020603050405020304" pitchFamily="18" charset="0"/>
                <a:ea typeface="Times New Roman" panose="02020603050405020304" pitchFamily="18" charset="0"/>
              </a:rPr>
              <a:t>Пример содержания базы данных ГИС</a:t>
            </a:r>
            <a:endParaRPr lang="ru-RU" dirty="0"/>
          </a:p>
        </p:txBody>
      </p:sp>
      <p:pic>
        <p:nvPicPr>
          <p:cNvPr id="5" name="Рисунок 4" descr="Пример содержания базы данных ГИС"/>
          <p:cNvPicPr/>
          <p:nvPr/>
        </p:nvPicPr>
        <p:blipFill>
          <a:blip r:embed="rId2">
            <a:extLst>
              <a:ext uri="{28A0092B-C50C-407E-A947-70E740481C1C}">
                <a14:useLocalDpi xmlns:a14="http://schemas.microsoft.com/office/drawing/2010/main" val="0"/>
              </a:ext>
            </a:extLst>
          </a:blip>
          <a:srcRect/>
          <a:stretch>
            <a:fillRect/>
          </a:stretch>
        </p:blipFill>
        <p:spPr bwMode="auto">
          <a:xfrm>
            <a:off x="146074" y="788048"/>
            <a:ext cx="5284908" cy="4670643"/>
          </a:xfrm>
          <a:prstGeom prst="rect">
            <a:avLst/>
          </a:prstGeom>
          <a:noFill/>
          <a:ln>
            <a:noFill/>
          </a:ln>
        </p:spPr>
      </p:pic>
      <p:sp>
        <p:nvSpPr>
          <p:cNvPr id="6" name="Прямоугольник 5"/>
          <p:cNvSpPr/>
          <p:nvPr/>
        </p:nvSpPr>
        <p:spPr>
          <a:xfrm>
            <a:off x="5791199" y="982012"/>
            <a:ext cx="6096000" cy="4708981"/>
          </a:xfrm>
          <a:prstGeom prst="rect">
            <a:avLst/>
          </a:prstGeom>
        </p:spPr>
        <p:txBody>
          <a:bodyPr>
            <a:spAutoFit/>
          </a:bodyPr>
          <a:lstStyle/>
          <a:p>
            <a:pPr algn="just"/>
            <a:r>
              <a:rPr lang="ru-RU" sz="2000" dirty="0">
                <a:solidFill>
                  <a:srgbClr val="000000"/>
                </a:solidFill>
                <a:latin typeface="Times New Roman" panose="02020603050405020304" pitchFamily="18" charset="0"/>
              </a:rPr>
              <a:t>ГИС – это географическая информационная система. Она позволяет </a:t>
            </a:r>
            <a:r>
              <a:rPr lang="ru-RU" sz="2000" dirty="0" err="1">
                <a:solidFill>
                  <a:srgbClr val="000000"/>
                </a:solidFill>
                <a:latin typeface="Times New Roman" panose="02020603050405020304" pitchFamily="18" charset="0"/>
              </a:rPr>
              <a:t>картировать</a:t>
            </a:r>
            <a:r>
              <a:rPr lang="ru-RU" sz="2000" dirty="0">
                <a:solidFill>
                  <a:srgbClr val="000000"/>
                </a:solidFill>
                <a:latin typeface="Times New Roman" panose="02020603050405020304" pitchFamily="18" charset="0"/>
              </a:rPr>
              <a:t> объекты окружающего мира, а затем анализировать их по огромному количеству параметров, визуализировать их и на основе этих данных прогнозировать самые различные события и явления. Столь мощная технология позволяет решать при помощи ГИС огромное количество задач, как глобальных, так и частных. ГИС-технологии могут стоять на службе у всего человечества, предотвращая экологически катастрофы или помогая решать проблемы перенаселения отдельных регионов. ГИС можно использовать и для нужд отдельных компаний, налаживать с его помощью эффективно работающий бизнес. </a:t>
            </a:r>
            <a:endParaRPr lang="ru-RU" sz="2000"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72602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Трехмерная (рельефная) карта ГИС"/>
          <p:cNvPicPr/>
          <p:nvPr/>
        </p:nvPicPr>
        <p:blipFill>
          <a:blip r:embed="rId2">
            <a:extLst>
              <a:ext uri="{28A0092B-C50C-407E-A947-70E740481C1C}">
                <a14:useLocalDpi xmlns:a14="http://schemas.microsoft.com/office/drawing/2010/main" val="0"/>
              </a:ext>
            </a:extLst>
          </a:blip>
          <a:srcRect/>
          <a:stretch>
            <a:fillRect/>
          </a:stretch>
        </p:blipFill>
        <p:spPr bwMode="auto">
          <a:xfrm>
            <a:off x="377102" y="270163"/>
            <a:ext cx="5330971" cy="4578927"/>
          </a:xfrm>
          <a:prstGeom prst="rect">
            <a:avLst/>
          </a:prstGeom>
          <a:noFill/>
          <a:ln>
            <a:noFill/>
          </a:ln>
        </p:spPr>
      </p:pic>
      <p:sp>
        <p:nvSpPr>
          <p:cNvPr id="5" name="Прямоугольник 4"/>
          <p:cNvSpPr/>
          <p:nvPr/>
        </p:nvSpPr>
        <p:spPr>
          <a:xfrm>
            <a:off x="1006484" y="5294807"/>
            <a:ext cx="4072205" cy="400110"/>
          </a:xfrm>
          <a:prstGeom prst="rect">
            <a:avLst/>
          </a:prstGeom>
        </p:spPr>
        <p:txBody>
          <a:bodyPr wrap="none">
            <a:spAutoFit/>
          </a:bodyPr>
          <a:lstStyle/>
          <a:p>
            <a:r>
              <a:rPr lang="ru-RU" sz="2000" dirty="0">
                <a:solidFill>
                  <a:srgbClr val="000000"/>
                </a:solidFill>
                <a:latin typeface="Times New Roman" panose="02020603050405020304" pitchFamily="18" charset="0"/>
                <a:ea typeface="Times New Roman" panose="02020603050405020304" pitchFamily="18" charset="0"/>
              </a:rPr>
              <a:t>Трехмерная (рельефная) карта ГИС</a:t>
            </a:r>
            <a:endParaRPr lang="ru-RU" sz="2000" dirty="0"/>
          </a:p>
        </p:txBody>
      </p:sp>
      <p:pic>
        <p:nvPicPr>
          <p:cNvPr id="6" name="Рисунок 5" descr="Многоплановость областей применения ГИС"/>
          <p:cNvPicPr/>
          <p:nvPr/>
        </p:nvPicPr>
        <p:blipFill>
          <a:blip r:embed="rId3">
            <a:extLst>
              <a:ext uri="{28A0092B-C50C-407E-A947-70E740481C1C}">
                <a14:useLocalDpi xmlns:a14="http://schemas.microsoft.com/office/drawing/2010/main" val="0"/>
              </a:ext>
            </a:extLst>
          </a:blip>
          <a:srcRect/>
          <a:stretch>
            <a:fillRect/>
          </a:stretch>
        </p:blipFill>
        <p:spPr bwMode="auto">
          <a:xfrm>
            <a:off x="6132368" y="750741"/>
            <a:ext cx="5907232" cy="3474895"/>
          </a:xfrm>
          <a:prstGeom prst="rect">
            <a:avLst/>
          </a:prstGeom>
          <a:noFill/>
          <a:ln>
            <a:noFill/>
          </a:ln>
        </p:spPr>
      </p:pic>
      <p:sp>
        <p:nvSpPr>
          <p:cNvPr id="7" name="Прямоугольник 6"/>
          <p:cNvSpPr/>
          <p:nvPr/>
        </p:nvSpPr>
        <p:spPr>
          <a:xfrm>
            <a:off x="5879895" y="4842347"/>
            <a:ext cx="5608588" cy="400110"/>
          </a:xfrm>
          <a:prstGeom prst="rect">
            <a:avLst/>
          </a:prstGeom>
        </p:spPr>
        <p:txBody>
          <a:bodyPr wrap="none">
            <a:spAutoFit/>
          </a:bodyPr>
          <a:lstStyle/>
          <a:p>
            <a:pPr indent="450215" algn="ctr">
              <a:spcAft>
                <a:spcPts val="0"/>
              </a:spcAft>
            </a:pPr>
            <a:r>
              <a:rPr lang="ru-RU" sz="2000" kern="0" dirty="0">
                <a:solidFill>
                  <a:srgbClr val="000000"/>
                </a:solidFill>
                <a:latin typeface="Times New Roman" panose="02020603050405020304" pitchFamily="18" charset="0"/>
                <a:ea typeface="Times New Roman" panose="02020603050405020304" pitchFamily="18" charset="0"/>
              </a:rPr>
              <a:t>Многоплановость областей применения ГИС</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366735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706027" y="0"/>
            <a:ext cx="5702138" cy="461665"/>
          </a:xfrm>
          <a:prstGeom prst="rect">
            <a:avLst/>
          </a:prstGeom>
        </p:spPr>
        <p:txBody>
          <a:bodyPr wrap="none">
            <a:spAutoFit/>
          </a:bodyPr>
          <a:lstStyle/>
          <a:p>
            <a:r>
              <a:rPr lang="ru-RU" sz="2400" b="1" dirty="0">
                <a:solidFill>
                  <a:srgbClr val="FF0000"/>
                </a:solidFill>
                <a:latin typeface="Times New Roman" panose="02020603050405020304" pitchFamily="18" charset="0"/>
                <a:ea typeface="Times New Roman" panose="02020603050405020304" pitchFamily="18" charset="0"/>
              </a:rPr>
              <a:t>Хронология определений понятия ГИС</a:t>
            </a:r>
            <a:endParaRPr lang="ru-RU" sz="2400" b="1" dirty="0">
              <a:solidFill>
                <a:srgbClr val="FF0000"/>
              </a:solidFill>
            </a:endParaRPr>
          </a:p>
        </p:txBody>
      </p:sp>
      <p:graphicFrame>
        <p:nvGraphicFramePr>
          <p:cNvPr id="5" name="Таблица 4"/>
          <p:cNvGraphicFramePr>
            <a:graphicFrameLocks noGrp="1"/>
          </p:cNvGraphicFramePr>
          <p:nvPr>
            <p:extLst>
              <p:ext uri="{D42A27DB-BD31-4B8C-83A1-F6EECF244321}">
                <p14:modId xmlns:p14="http://schemas.microsoft.com/office/powerpoint/2010/main" val="1800329260"/>
              </p:ext>
            </p:extLst>
          </p:nvPr>
        </p:nvGraphicFramePr>
        <p:xfrm>
          <a:off x="279028" y="461665"/>
          <a:ext cx="11622027" cy="6119244"/>
        </p:xfrm>
        <a:graphic>
          <a:graphicData uri="http://schemas.openxmlformats.org/drawingml/2006/table">
            <a:tbl>
              <a:tblPr firstRow="1" firstCol="1" bandRow="1">
                <a:tableStyleId>{5C22544A-7EE6-4342-B048-85BDC9FD1C3A}</a:tableStyleId>
              </a:tblPr>
              <a:tblGrid>
                <a:gridCol w="1951553">
                  <a:extLst>
                    <a:ext uri="{9D8B030D-6E8A-4147-A177-3AD203B41FA5}">
                      <a16:colId xmlns:a16="http://schemas.microsoft.com/office/drawing/2014/main" val="3237565875"/>
                    </a:ext>
                  </a:extLst>
                </a:gridCol>
                <a:gridCol w="5796465">
                  <a:extLst>
                    <a:ext uri="{9D8B030D-6E8A-4147-A177-3AD203B41FA5}">
                      <a16:colId xmlns:a16="http://schemas.microsoft.com/office/drawing/2014/main" val="1725811549"/>
                    </a:ext>
                  </a:extLst>
                </a:gridCol>
                <a:gridCol w="3874009">
                  <a:extLst>
                    <a:ext uri="{9D8B030D-6E8A-4147-A177-3AD203B41FA5}">
                      <a16:colId xmlns:a16="http://schemas.microsoft.com/office/drawing/2014/main" val="3386800050"/>
                    </a:ext>
                  </a:extLst>
                </a:gridCol>
              </a:tblGrid>
              <a:tr h="313672">
                <a:tc>
                  <a:txBody>
                    <a:bodyPr/>
                    <a:lstStyle/>
                    <a:p>
                      <a:pPr indent="450215" algn="ctr">
                        <a:lnSpc>
                          <a:spcPct val="107000"/>
                        </a:lnSpc>
                        <a:spcAft>
                          <a:spcPts val="0"/>
                        </a:spcAft>
                      </a:pPr>
                      <a:r>
                        <a:rPr lang="ru-RU" sz="1800" kern="0">
                          <a:effectLst/>
                        </a:rPr>
                        <a:t>Автор</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Определение ГИС</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Источник</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407087772"/>
                  </a:ext>
                </a:extLst>
              </a:tr>
              <a:tr h="941017">
                <a:tc>
                  <a:txBody>
                    <a:bodyPr/>
                    <a:lstStyle/>
                    <a:p>
                      <a:pPr indent="450215" algn="l">
                        <a:lnSpc>
                          <a:spcPct val="107000"/>
                        </a:lnSpc>
                        <a:spcAft>
                          <a:spcPts val="0"/>
                        </a:spcAft>
                      </a:pPr>
                      <a:r>
                        <a:rPr lang="ru-RU" sz="1800" kern="0">
                          <a:effectLst/>
                        </a:rPr>
                        <a:t>Langefor-ce B.</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Система, в состав которой входят компоненты для сбора, передачи, хранения, обработки и выдачи информации о территории.</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a:effectLst/>
                        </a:rPr>
                        <a:t>Theoretical Analysis of Information Systems. </a:t>
                      </a:r>
                      <a:r>
                        <a:rPr lang="ru-RU" sz="1800" kern="0">
                          <a:effectLst/>
                        </a:rPr>
                        <a:t>Lund, 1966.</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08513016"/>
                  </a:ext>
                </a:extLst>
              </a:tr>
              <a:tr h="2668849">
                <a:tc>
                  <a:txBody>
                    <a:bodyPr/>
                    <a:lstStyle/>
                    <a:p>
                      <a:pPr indent="450215" algn="l">
                        <a:lnSpc>
                          <a:spcPct val="107000"/>
                        </a:lnSpc>
                        <a:spcAft>
                          <a:spcPts val="0"/>
                        </a:spcAft>
                      </a:pPr>
                      <a:r>
                        <a:rPr lang="ru-RU" sz="1800" kern="0">
                          <a:effectLst/>
                        </a:rPr>
                        <a:t>Degani A.</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Динамически организованное множество данных (динамическая база данных или банк данных), соединенное с множеством моделей, реализованных на ЭВМ для расчетных, графических и картографических преобразований этих данных в пространственную информацию в целях удовлетворения специфических потребностей определенных пользователей в пределах структуры точно определенных концепций и технологий.</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ts val="1200"/>
                        </a:lnSpc>
                        <a:spcAft>
                          <a:spcPts val="0"/>
                        </a:spcAft>
                      </a:pPr>
                      <a:r>
                        <a:rPr lang="en-US" sz="1800" kern="0">
                          <a:effectLst/>
                        </a:rPr>
                        <a:t>Methodological observation on the state of geo cartographic analysis in the context of automated spatial information systems.</a:t>
                      </a:r>
                      <a:endParaRPr lang="ru-RU" sz="1800" kern="50">
                        <a:effectLst/>
                      </a:endParaRPr>
                    </a:p>
                    <a:p>
                      <a:pPr indent="450215" algn="l">
                        <a:lnSpc>
                          <a:spcPts val="1200"/>
                        </a:lnSpc>
                        <a:spcAft>
                          <a:spcPts val="0"/>
                        </a:spcAft>
                      </a:pPr>
                      <a:r>
                        <a:rPr lang="en-US" sz="1800" kern="0">
                          <a:effectLst/>
                        </a:rPr>
                        <a:t>– Map Data Process. – Proc. NATO Adv. Study Inst. Maratea, June 18-29, 1979, Acad. </a:t>
                      </a:r>
                      <a:r>
                        <a:rPr lang="ru-RU" sz="1800" kern="0">
                          <a:effectLst/>
                        </a:rPr>
                        <a:t>Press. 1980, pp. 207-220.</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43582077"/>
                  </a:ext>
                </a:extLst>
              </a:tr>
              <a:tr h="2195706">
                <a:tc>
                  <a:txBody>
                    <a:bodyPr/>
                    <a:lstStyle/>
                    <a:p>
                      <a:pPr indent="450215" algn="l">
                        <a:lnSpc>
                          <a:spcPct val="107000"/>
                        </a:lnSpc>
                        <a:spcAft>
                          <a:spcPts val="0"/>
                        </a:spcAft>
                      </a:pPr>
                      <a:r>
                        <a:rPr lang="en-US" sz="1800" kern="0">
                          <a:effectLst/>
                        </a:rPr>
                        <a:t>Vitek J.D., Walsh St.J., Gregory M. S.</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Информационная система, которая может обеспечить ввод, манипулирование и анализ географически определенных данных для поддержки принятия решений.</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dirty="0">
                          <a:effectLst/>
                        </a:rPr>
                        <a:t>Accuracy in geographic information systems: an assessment of inherent and operational errors. - Record 9th </a:t>
                      </a:r>
                      <a:r>
                        <a:rPr lang="en-US" sz="1800" kern="0" dirty="0" err="1">
                          <a:effectLst/>
                        </a:rPr>
                        <a:t>Symp</a:t>
                      </a:r>
                      <a:r>
                        <a:rPr lang="en-US" sz="1800" kern="0" dirty="0">
                          <a:effectLst/>
                        </a:rPr>
                        <a:t>. Spat. Technol. Remote Sens. Today and Tomorrow. Sioux Falls, S.D., 2-4 Oct. 1984. - Proc. </a:t>
                      </a:r>
                      <a:r>
                        <a:rPr lang="ru-RU" sz="1800" kern="0" dirty="0" err="1">
                          <a:effectLst/>
                        </a:rPr>
                        <a:t>Silver</a:t>
                      </a:r>
                      <a:r>
                        <a:rPr lang="ru-RU" sz="1800" kern="0" dirty="0">
                          <a:effectLst/>
                        </a:rPr>
                        <a:t> </a:t>
                      </a:r>
                      <a:r>
                        <a:rPr lang="ru-RU" sz="1800" kern="0" dirty="0" err="1">
                          <a:effectLst/>
                        </a:rPr>
                        <a:t>Spring</a:t>
                      </a:r>
                      <a:r>
                        <a:rPr lang="ru-RU" sz="1800" kern="0" dirty="0">
                          <a:effectLst/>
                        </a:rPr>
                        <a:t>, 1984, </a:t>
                      </a:r>
                      <a:r>
                        <a:rPr lang="ru-RU" sz="1800" kern="0" dirty="0" err="1">
                          <a:effectLst/>
                        </a:rPr>
                        <a:t>pp</a:t>
                      </a:r>
                      <a:r>
                        <a:rPr lang="ru-RU" sz="1800" kern="0" dirty="0">
                          <a:effectLst/>
                        </a:rPr>
                        <a:t>. 296-302.</a:t>
                      </a:r>
                      <a:endParaRPr lang="ru-RU" sz="1800" kern="50" dirty="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39337118"/>
                  </a:ext>
                </a:extLst>
              </a:tr>
            </a:tbl>
          </a:graphicData>
        </a:graphic>
      </p:graphicFrame>
    </p:spTree>
    <p:extLst>
      <p:ext uri="{BB962C8B-B14F-4D97-AF65-F5344CB8AC3E}">
        <p14:creationId xmlns:p14="http://schemas.microsoft.com/office/powerpoint/2010/main" val="1836576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2400382941"/>
              </p:ext>
            </p:extLst>
          </p:nvPr>
        </p:nvGraphicFramePr>
        <p:xfrm>
          <a:off x="152400" y="124692"/>
          <a:ext cx="11901054" cy="6622472"/>
        </p:xfrm>
        <a:graphic>
          <a:graphicData uri="http://schemas.openxmlformats.org/drawingml/2006/table">
            <a:tbl>
              <a:tblPr firstRow="1" firstCol="1" bandRow="1">
                <a:tableStyleId>{5C22544A-7EE6-4342-B048-85BDC9FD1C3A}</a:tableStyleId>
              </a:tblPr>
              <a:tblGrid>
                <a:gridCol w="3255818">
                  <a:extLst>
                    <a:ext uri="{9D8B030D-6E8A-4147-A177-3AD203B41FA5}">
                      <a16:colId xmlns:a16="http://schemas.microsoft.com/office/drawing/2014/main" val="2489856482"/>
                    </a:ext>
                  </a:extLst>
                </a:gridCol>
                <a:gridCol w="4678218">
                  <a:extLst>
                    <a:ext uri="{9D8B030D-6E8A-4147-A177-3AD203B41FA5}">
                      <a16:colId xmlns:a16="http://schemas.microsoft.com/office/drawing/2014/main" val="2699390552"/>
                    </a:ext>
                  </a:extLst>
                </a:gridCol>
                <a:gridCol w="3967018">
                  <a:extLst>
                    <a:ext uri="{9D8B030D-6E8A-4147-A177-3AD203B41FA5}">
                      <a16:colId xmlns:a16="http://schemas.microsoft.com/office/drawing/2014/main" val="1327122669"/>
                    </a:ext>
                  </a:extLst>
                </a:gridCol>
              </a:tblGrid>
              <a:tr h="376274">
                <a:tc>
                  <a:txBody>
                    <a:bodyPr/>
                    <a:lstStyle/>
                    <a:p>
                      <a:pPr indent="450215" algn="ctr">
                        <a:lnSpc>
                          <a:spcPct val="107000"/>
                        </a:lnSpc>
                        <a:spcAft>
                          <a:spcPts val="0"/>
                        </a:spcAft>
                      </a:pPr>
                      <a:r>
                        <a:rPr lang="ru-RU" sz="1800" kern="0">
                          <a:effectLst/>
                        </a:rPr>
                        <a:t>Автор</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Определение ГИС</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Источник</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134370172"/>
                  </a:ext>
                </a:extLst>
              </a:tr>
              <a:tr h="1950851">
                <a:tc>
                  <a:txBody>
                    <a:bodyPr/>
                    <a:lstStyle/>
                    <a:p>
                      <a:pPr indent="450215" algn="ctr">
                        <a:lnSpc>
                          <a:spcPct val="107000"/>
                        </a:lnSpc>
                        <a:spcAft>
                          <a:spcPts val="0"/>
                        </a:spcAft>
                      </a:pPr>
                      <a:r>
                        <a:rPr lang="en-US" sz="1800" kern="0">
                          <a:effectLst/>
                        </a:rPr>
                        <a:t>Star J.L., Cosentino M. J., Foresman T. W.</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Пространственно-определенная система для сбора, хранения, поиска и манипулирования данными, а также средство анализа и управления этими данными.</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a:effectLst/>
                        </a:rPr>
                        <a:t>Geographic information systems: question to ask before it`s to late. - Machine Processing of Remotely ended Data with Special emphasis on Thematic Mapping Data and Geographic Information Systems, 1984, pp.194-197.</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70804447"/>
                  </a:ext>
                </a:extLst>
              </a:tr>
              <a:tr h="2344496">
                <a:tc>
                  <a:txBody>
                    <a:bodyPr/>
                    <a:lstStyle/>
                    <a:p>
                      <a:pPr indent="450215" algn="ctr">
                        <a:lnSpc>
                          <a:spcPct val="107000"/>
                        </a:lnSpc>
                        <a:spcAft>
                          <a:spcPts val="0"/>
                        </a:spcAft>
                      </a:pPr>
                      <a:r>
                        <a:rPr lang="ru-RU" sz="1800" kern="0">
                          <a:effectLst/>
                        </a:rPr>
                        <a:t>Трофимов А. М., Панасюк М. В.</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Реализованное с помощью автоматических средств (ЭВМ) хранилище системы знаний о территориальном аспекте взаимодействия природы и общества, а также программного обеспечения, моделирующего функции поиска, ввода, моделирования и др.</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Геоинформационные системы и проблемы управления окружающей средой. Казань, изд-во Казанского ун-та, 1984, 142 с.</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44087919"/>
                  </a:ext>
                </a:extLst>
              </a:tr>
              <a:tr h="1950851">
                <a:tc>
                  <a:txBody>
                    <a:bodyPr/>
                    <a:lstStyle/>
                    <a:p>
                      <a:pPr indent="450215" algn="ctr">
                        <a:lnSpc>
                          <a:spcPct val="107000"/>
                        </a:lnSpc>
                        <a:spcAft>
                          <a:spcPts val="0"/>
                        </a:spcAft>
                      </a:pPr>
                      <a:r>
                        <a:rPr lang="ru-RU" sz="1800" kern="0" dirty="0" err="1">
                          <a:effectLst/>
                        </a:rPr>
                        <a:t>Clarce</a:t>
                      </a:r>
                      <a:r>
                        <a:rPr lang="ru-RU" sz="1800" kern="0" dirty="0">
                          <a:effectLst/>
                        </a:rPr>
                        <a:t> K.</a:t>
                      </a:r>
                      <a:endParaRPr lang="ru-RU" sz="1800" kern="50" dirty="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Особый случай информационной системы, где база данных состоит из наблюдений за пространственно распределенными явлениями, процессами или событиями, которые могут быть определены как точки, линии и контуры.</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dirty="0">
                          <a:effectLst/>
                        </a:rPr>
                        <a:t>Geographic information systems: definitions and prospects. – Bull. </a:t>
                      </a:r>
                      <a:r>
                        <a:rPr lang="ru-RU" sz="1800" kern="0" dirty="0" err="1">
                          <a:effectLst/>
                        </a:rPr>
                        <a:t>Geogr</a:t>
                      </a:r>
                      <a:r>
                        <a:rPr lang="ru-RU" sz="1800" kern="0" dirty="0">
                          <a:effectLst/>
                        </a:rPr>
                        <a:t>. </a:t>
                      </a:r>
                      <a:r>
                        <a:rPr lang="ru-RU" sz="1800" kern="0" dirty="0" err="1">
                          <a:effectLst/>
                        </a:rPr>
                        <a:t>and</a:t>
                      </a:r>
                      <a:r>
                        <a:rPr lang="ru-RU" sz="1800" kern="0" dirty="0">
                          <a:effectLst/>
                        </a:rPr>
                        <a:t> </a:t>
                      </a:r>
                      <a:r>
                        <a:rPr lang="ru-RU" sz="1800" kern="0" dirty="0" err="1">
                          <a:effectLst/>
                        </a:rPr>
                        <a:t>Map</a:t>
                      </a:r>
                      <a:r>
                        <a:rPr lang="ru-RU" sz="1800" kern="0" dirty="0">
                          <a:effectLst/>
                        </a:rPr>
                        <a:t> </a:t>
                      </a:r>
                      <a:r>
                        <a:rPr lang="ru-RU" sz="1800" kern="0" dirty="0" err="1">
                          <a:effectLst/>
                        </a:rPr>
                        <a:t>Div</a:t>
                      </a:r>
                      <a:r>
                        <a:rPr lang="ru-RU" sz="1800" kern="0" dirty="0">
                          <a:effectLst/>
                        </a:rPr>
                        <a:t>. </a:t>
                      </a:r>
                      <a:r>
                        <a:rPr lang="ru-RU" sz="1800" kern="0" dirty="0" err="1">
                          <a:effectLst/>
                        </a:rPr>
                        <a:t>Spec</a:t>
                      </a:r>
                      <a:r>
                        <a:rPr lang="ru-RU" sz="1800" kern="0" dirty="0">
                          <a:effectLst/>
                        </a:rPr>
                        <a:t>. </a:t>
                      </a:r>
                      <a:r>
                        <a:rPr lang="ru-RU" sz="1800" kern="0" dirty="0" err="1">
                          <a:effectLst/>
                        </a:rPr>
                        <a:t>Libr</a:t>
                      </a:r>
                      <a:r>
                        <a:rPr lang="ru-RU" sz="1800" kern="0" dirty="0">
                          <a:effectLst/>
                        </a:rPr>
                        <a:t>. </a:t>
                      </a:r>
                      <a:r>
                        <a:rPr lang="ru-RU" sz="1800" kern="0" dirty="0" err="1">
                          <a:effectLst/>
                        </a:rPr>
                        <a:t>Assoc</a:t>
                      </a:r>
                      <a:r>
                        <a:rPr lang="ru-RU" sz="1800" kern="0" dirty="0">
                          <a:effectLst/>
                        </a:rPr>
                        <a:t>., 1985, № 142, pp.12-17.</a:t>
                      </a:r>
                      <a:endParaRPr lang="ru-RU" sz="1800" kern="50" dirty="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055665210"/>
                  </a:ext>
                </a:extLst>
              </a:tr>
            </a:tbl>
          </a:graphicData>
        </a:graphic>
      </p:graphicFrame>
    </p:spTree>
    <p:extLst>
      <p:ext uri="{BB962C8B-B14F-4D97-AF65-F5344CB8AC3E}">
        <p14:creationId xmlns:p14="http://schemas.microsoft.com/office/powerpoint/2010/main" val="2547073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1377838967"/>
              </p:ext>
            </p:extLst>
          </p:nvPr>
        </p:nvGraphicFramePr>
        <p:xfrm>
          <a:off x="159326" y="160006"/>
          <a:ext cx="11880273" cy="6697994"/>
        </p:xfrm>
        <a:graphic>
          <a:graphicData uri="http://schemas.openxmlformats.org/drawingml/2006/table">
            <a:tbl>
              <a:tblPr firstRow="1" firstCol="1" bandRow="1">
                <a:tableStyleId>{5C22544A-7EE6-4342-B048-85BDC9FD1C3A}</a:tableStyleId>
              </a:tblPr>
              <a:tblGrid>
                <a:gridCol w="3960091">
                  <a:extLst>
                    <a:ext uri="{9D8B030D-6E8A-4147-A177-3AD203B41FA5}">
                      <a16:colId xmlns:a16="http://schemas.microsoft.com/office/drawing/2014/main" val="1210596346"/>
                    </a:ext>
                  </a:extLst>
                </a:gridCol>
                <a:gridCol w="3960091">
                  <a:extLst>
                    <a:ext uri="{9D8B030D-6E8A-4147-A177-3AD203B41FA5}">
                      <a16:colId xmlns:a16="http://schemas.microsoft.com/office/drawing/2014/main" val="3342726421"/>
                    </a:ext>
                  </a:extLst>
                </a:gridCol>
                <a:gridCol w="3960091">
                  <a:extLst>
                    <a:ext uri="{9D8B030D-6E8A-4147-A177-3AD203B41FA5}">
                      <a16:colId xmlns:a16="http://schemas.microsoft.com/office/drawing/2014/main" val="2896873983"/>
                    </a:ext>
                  </a:extLst>
                </a:gridCol>
              </a:tblGrid>
              <a:tr h="334900">
                <a:tc>
                  <a:txBody>
                    <a:bodyPr/>
                    <a:lstStyle/>
                    <a:p>
                      <a:pPr indent="450215" algn="ctr">
                        <a:lnSpc>
                          <a:spcPct val="107000"/>
                        </a:lnSpc>
                        <a:spcAft>
                          <a:spcPts val="0"/>
                        </a:spcAft>
                      </a:pPr>
                      <a:r>
                        <a:rPr lang="ru-RU" sz="1800" kern="0">
                          <a:effectLst/>
                        </a:rPr>
                        <a:t>Автор</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Определение ГИС</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Источник</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9518302"/>
                  </a:ext>
                </a:extLst>
              </a:tr>
              <a:tr h="3014097">
                <a:tc>
                  <a:txBody>
                    <a:bodyPr/>
                    <a:lstStyle/>
                    <a:p>
                      <a:pPr indent="450215" algn="l">
                        <a:lnSpc>
                          <a:spcPct val="107000"/>
                        </a:lnSpc>
                        <a:spcAft>
                          <a:spcPts val="0"/>
                        </a:spcAft>
                      </a:pPr>
                      <a:r>
                        <a:rPr lang="ru-RU" sz="1800" kern="0">
                          <a:effectLst/>
                        </a:rPr>
                        <a:t>Konecny M.</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Система, состоящая из людей, а также технических и организационных средств, которые осуществляют сбор, передачу, ввод и обработку данных с целью выработки информации, удобной для дальнейшего использования в географическом исследовании и для ее практического применения/</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a:effectLst/>
                        </a:rPr>
                        <a:t>Geograficke informacni systemy. – Folia prirodoved. fak. UJEP v Brne, 1985, t. 26, № 13, 196 s.</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16441835"/>
                  </a:ext>
                </a:extLst>
              </a:tr>
              <a:tr h="1339599">
                <a:tc>
                  <a:txBody>
                    <a:bodyPr/>
                    <a:lstStyle/>
                    <a:p>
                      <a:pPr indent="450215" algn="l">
                        <a:lnSpc>
                          <a:spcPct val="107000"/>
                        </a:lnSpc>
                        <a:spcAft>
                          <a:spcPts val="0"/>
                        </a:spcAft>
                      </a:pPr>
                      <a:r>
                        <a:rPr lang="en-US" sz="1800" kern="0">
                          <a:effectLst/>
                        </a:rPr>
                        <a:t>MacDonald C. L., Crain I. K.</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Система, реализуемая для сбора, хранения, манипулирования, поиска и отображения географически определенных данных"</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a:effectLst/>
                        </a:rPr>
                        <a:t>Applied computer graphics in a geographic information system: problems and successes. – Computer graphics and application, 1985, vol. 5, № 10, pp. 34-39.</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38721310"/>
                  </a:ext>
                </a:extLst>
              </a:tr>
              <a:tr h="2009398">
                <a:tc>
                  <a:txBody>
                    <a:bodyPr/>
                    <a:lstStyle/>
                    <a:p>
                      <a:pPr indent="450215" algn="l">
                        <a:lnSpc>
                          <a:spcPct val="107000"/>
                        </a:lnSpc>
                        <a:spcAft>
                          <a:spcPts val="0"/>
                        </a:spcAft>
                      </a:pPr>
                      <a:r>
                        <a:rPr lang="en-US" sz="1800" kern="0">
                          <a:effectLst/>
                        </a:rPr>
                        <a:t>Reisinger T. W., Davis C. J.</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Система, которая манипулирует и управляет данными, хранящимися в виде тематических слоев, географически определенных относительно карты-основы.</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dirty="0">
                          <a:effectLst/>
                        </a:rPr>
                        <a:t>A map-based decision support system for operational planning of timber harvests. – Winter Meet. Amer. Soc. Arg. Eng., </a:t>
                      </a:r>
                      <a:r>
                        <a:rPr lang="en-US" sz="1800" kern="0" dirty="0" err="1">
                          <a:effectLst/>
                        </a:rPr>
                        <a:t>Ayatt</a:t>
                      </a:r>
                      <a:r>
                        <a:rPr lang="en-US" sz="1800" kern="0" dirty="0">
                          <a:effectLst/>
                        </a:rPr>
                        <a:t> Regency, Chicago, </a:t>
                      </a:r>
                      <a:r>
                        <a:rPr lang="en-US" sz="1800" kern="0" dirty="0" err="1">
                          <a:effectLst/>
                        </a:rPr>
                        <a:t>Decem</a:t>
                      </a:r>
                      <a:r>
                        <a:rPr lang="en-US" sz="1800" kern="0" dirty="0">
                          <a:effectLst/>
                        </a:rPr>
                        <a:t> </a:t>
                      </a:r>
                      <a:r>
                        <a:rPr lang="en-US" sz="1800" kern="0" dirty="0" err="1">
                          <a:effectLst/>
                        </a:rPr>
                        <a:t>ber</a:t>
                      </a:r>
                      <a:r>
                        <a:rPr lang="en-US" sz="1800" kern="0" dirty="0">
                          <a:effectLst/>
                        </a:rPr>
                        <a:t> 17-20, 1985. Paper N 1604. - St. Joseph: ASAE, 1985, 12 p.</a:t>
                      </a:r>
                      <a:endParaRPr lang="ru-RU" sz="1800" kern="50" dirty="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57769204"/>
                  </a:ext>
                </a:extLst>
              </a:tr>
            </a:tbl>
          </a:graphicData>
        </a:graphic>
      </p:graphicFrame>
    </p:spTree>
    <p:extLst>
      <p:ext uri="{BB962C8B-B14F-4D97-AF65-F5344CB8AC3E}">
        <p14:creationId xmlns:p14="http://schemas.microsoft.com/office/powerpoint/2010/main" val="1976061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1977896105"/>
              </p:ext>
            </p:extLst>
          </p:nvPr>
        </p:nvGraphicFramePr>
        <p:xfrm>
          <a:off x="0" y="0"/>
          <a:ext cx="12192000" cy="6864333"/>
        </p:xfrm>
        <a:graphic>
          <a:graphicData uri="http://schemas.openxmlformats.org/drawingml/2006/table">
            <a:tbl>
              <a:tblPr firstRow="1" firstCol="1" bandRow="1">
                <a:tableStyleId>{5C22544A-7EE6-4342-B048-85BDC9FD1C3A}</a:tableStyleId>
              </a:tblPr>
              <a:tblGrid>
                <a:gridCol w="4064000">
                  <a:extLst>
                    <a:ext uri="{9D8B030D-6E8A-4147-A177-3AD203B41FA5}">
                      <a16:colId xmlns:a16="http://schemas.microsoft.com/office/drawing/2014/main" val="2517139518"/>
                    </a:ext>
                  </a:extLst>
                </a:gridCol>
                <a:gridCol w="4064000">
                  <a:extLst>
                    <a:ext uri="{9D8B030D-6E8A-4147-A177-3AD203B41FA5}">
                      <a16:colId xmlns:a16="http://schemas.microsoft.com/office/drawing/2014/main" val="651188321"/>
                    </a:ext>
                  </a:extLst>
                </a:gridCol>
                <a:gridCol w="4064000">
                  <a:extLst>
                    <a:ext uri="{9D8B030D-6E8A-4147-A177-3AD203B41FA5}">
                      <a16:colId xmlns:a16="http://schemas.microsoft.com/office/drawing/2014/main" val="3862338199"/>
                    </a:ext>
                  </a:extLst>
                </a:gridCol>
              </a:tblGrid>
              <a:tr h="287164">
                <a:tc>
                  <a:txBody>
                    <a:bodyPr/>
                    <a:lstStyle/>
                    <a:p>
                      <a:pPr indent="450215" algn="ctr">
                        <a:lnSpc>
                          <a:spcPct val="107000"/>
                        </a:lnSpc>
                        <a:spcAft>
                          <a:spcPts val="0"/>
                        </a:spcAft>
                      </a:pPr>
                      <a:r>
                        <a:rPr lang="ru-RU" sz="1800" kern="0">
                          <a:effectLst/>
                        </a:rPr>
                        <a:t>Автор</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Определение ГИС</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indent="450215" algn="ctr">
                        <a:lnSpc>
                          <a:spcPct val="107000"/>
                        </a:lnSpc>
                        <a:spcAft>
                          <a:spcPts val="0"/>
                        </a:spcAft>
                      </a:pPr>
                      <a:r>
                        <a:rPr lang="ru-RU" sz="1800" kern="0">
                          <a:effectLst/>
                        </a:rPr>
                        <a:t>Источник</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453682175"/>
                  </a:ext>
                </a:extLst>
              </a:tr>
              <a:tr h="1789623">
                <a:tc>
                  <a:txBody>
                    <a:bodyPr/>
                    <a:lstStyle/>
                    <a:p>
                      <a:pPr indent="450215" algn="l">
                        <a:lnSpc>
                          <a:spcPct val="107000"/>
                        </a:lnSpc>
                        <a:spcAft>
                          <a:spcPts val="0"/>
                        </a:spcAft>
                      </a:pPr>
                      <a:r>
                        <a:rPr lang="ru-RU" sz="1800" kern="0">
                          <a:effectLst/>
                        </a:rPr>
                        <a:t>Abler R.</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Комплекс аппаратно-программных средств и деятельности человека по хранению, манипулированию и отображению географических (пространственно соотнесенных) данных.</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a:effectLst/>
                        </a:rPr>
                        <a:t>The National Science Foundation National Center for Geographic Information and Analysis – International Journal of Geographical Information Systems, 1987, v. 1, № 4, pp. 302-306.</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17736834"/>
                  </a:ext>
                </a:extLst>
              </a:tr>
              <a:tr h="1789623">
                <a:tc>
                  <a:txBody>
                    <a:bodyPr/>
                    <a:lstStyle/>
                    <a:p>
                      <a:pPr indent="450215" algn="l">
                        <a:lnSpc>
                          <a:spcPct val="107000"/>
                        </a:lnSpc>
                        <a:spcAft>
                          <a:spcPts val="0"/>
                        </a:spcAft>
                      </a:pPr>
                      <a:r>
                        <a:rPr lang="ru-RU" sz="1800" kern="0">
                          <a:effectLst/>
                        </a:rPr>
                        <a:t>Berry J.</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Внутренне позиционированная автоматизированная пространственная информационная система, создаваемая для управления данными, их картографического отображения и анализа.</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a:effectLst/>
                        </a:rPr>
                        <a:t>Fundamental operations in computer-assisted map analysis – International Journal of Geographical Information Systems, 1987, v. 1, № 4, pp. 119-136.</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816458825"/>
                  </a:ext>
                </a:extLst>
              </a:tr>
              <a:tr h="2991590">
                <a:tc>
                  <a:txBody>
                    <a:bodyPr/>
                    <a:lstStyle/>
                    <a:p>
                      <a:pPr indent="450215" algn="l">
                        <a:lnSpc>
                          <a:spcPct val="107000"/>
                        </a:lnSpc>
                        <a:spcAft>
                          <a:spcPts val="0"/>
                        </a:spcAft>
                      </a:pPr>
                      <a:r>
                        <a:rPr lang="en-US" sz="1800" kern="0">
                          <a:effectLst/>
                        </a:rPr>
                        <a:t>Lillesand T., Liefer R. W.</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ru-RU" sz="1800" kern="0">
                          <a:effectLst/>
                        </a:rPr>
                        <a:t>Система, включающая базу данных, аппаратуру, специализированное математическое обеспечение и пакеты программ, предназначенных для расширения базы данных, для манипулирования данными, их визуализации в виде карт или таблиц и, в конечном итоге, для принятия решений о том или ином варианте хозяйственной деятельности.</a:t>
                      </a:r>
                      <a:endParaRPr lang="ru-RU" sz="1800" kern="5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p>
                      <a:pPr indent="450215" algn="l">
                        <a:lnSpc>
                          <a:spcPct val="107000"/>
                        </a:lnSpc>
                        <a:spcAft>
                          <a:spcPts val="0"/>
                        </a:spcAft>
                      </a:pPr>
                      <a:r>
                        <a:rPr lang="en-US" sz="1800" kern="0" dirty="0">
                          <a:effectLst/>
                        </a:rPr>
                        <a:t>Remote session and image interpretation. N.Y., John Willey and Sons, 1987, 722 p.</a:t>
                      </a:r>
                      <a:endParaRPr lang="ru-RU" sz="1800" kern="50" dirty="0">
                        <a:solidFill>
                          <a:srgbClr val="00000A"/>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72932204"/>
                  </a:ext>
                </a:extLst>
              </a:tr>
            </a:tbl>
          </a:graphicData>
        </a:graphic>
      </p:graphicFrame>
    </p:spTree>
    <p:extLst>
      <p:ext uri="{BB962C8B-B14F-4D97-AF65-F5344CB8AC3E}">
        <p14:creationId xmlns:p14="http://schemas.microsoft.com/office/powerpoint/2010/main" val="186471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Общая структура GIS-платформы"/>
          <p:cNvPicPr/>
          <p:nvPr/>
        </p:nvPicPr>
        <p:blipFill>
          <a:blip r:embed="rId2">
            <a:extLst>
              <a:ext uri="{28A0092B-C50C-407E-A947-70E740481C1C}">
                <a14:useLocalDpi xmlns:a14="http://schemas.microsoft.com/office/drawing/2010/main" val="0"/>
              </a:ext>
            </a:extLst>
          </a:blip>
          <a:srcRect/>
          <a:stretch>
            <a:fillRect/>
          </a:stretch>
        </p:blipFill>
        <p:spPr bwMode="auto">
          <a:xfrm>
            <a:off x="-166254" y="-344632"/>
            <a:ext cx="6996545" cy="6108124"/>
          </a:xfrm>
          <a:prstGeom prst="rect">
            <a:avLst/>
          </a:prstGeom>
          <a:noFill/>
          <a:ln>
            <a:noFill/>
          </a:ln>
        </p:spPr>
      </p:pic>
      <p:sp>
        <p:nvSpPr>
          <p:cNvPr id="3" name="Прямоугольник 2"/>
          <p:cNvSpPr/>
          <p:nvPr/>
        </p:nvSpPr>
        <p:spPr>
          <a:xfrm>
            <a:off x="7536872" y="626193"/>
            <a:ext cx="4558146" cy="3416320"/>
          </a:xfrm>
          <a:prstGeom prst="rect">
            <a:avLst/>
          </a:prstGeom>
        </p:spPr>
        <p:txBody>
          <a:bodyPr wrap="square">
            <a:spAutoFit/>
          </a:bodyPr>
          <a:lstStyle/>
          <a:p>
            <a:pPr algn="just"/>
            <a:r>
              <a:rPr lang="ru-RU" b="1" i="1" dirty="0">
                <a:solidFill>
                  <a:srgbClr val="000000"/>
                </a:solidFill>
                <a:latin typeface="Times New Roman" panose="02020603050405020304" pitchFamily="18" charset="0"/>
                <a:ea typeface="Times New Roman" panose="02020603050405020304" pitchFamily="18" charset="0"/>
              </a:rPr>
              <a:t>ГИС-технология</a:t>
            </a:r>
            <a:r>
              <a:rPr lang="ru-RU" dirty="0">
                <a:solidFill>
                  <a:srgbClr val="000000"/>
                </a:solidFill>
                <a:latin typeface="Times New Roman" panose="02020603050405020304" pitchFamily="18" charset="0"/>
                <a:ea typeface="Times New Roman" panose="02020603050405020304" pitchFamily="18" charset="0"/>
              </a:rPr>
              <a:t> это — "информационная система", "географическая </a:t>
            </a:r>
            <a:r>
              <a:rPr lang="ru-RU" i="1" dirty="0">
                <a:solidFill>
                  <a:srgbClr val="000000"/>
                </a:solidFill>
                <a:latin typeface="Times New Roman" panose="02020603050405020304" pitchFamily="18" charset="0"/>
                <a:ea typeface="Times New Roman" panose="02020603050405020304" pitchFamily="18" charset="0"/>
              </a:rPr>
              <a:t>информация</a:t>
            </a:r>
            <a:r>
              <a:rPr lang="ru-RU" dirty="0">
                <a:solidFill>
                  <a:srgbClr val="000000"/>
                </a:solidFill>
                <a:latin typeface="Times New Roman" panose="02020603050405020304" pitchFamily="18" charset="0"/>
                <a:ea typeface="Times New Roman" panose="02020603050405020304" pitchFamily="18" charset="0"/>
              </a:rPr>
              <a:t>", "программно-аппаратные средства", "интерактивные системы", "математические статические и динамические модели", "пространственно-координированные данные", "управление, </a:t>
            </a:r>
            <a:r>
              <a:rPr lang="ru-RU" i="1" dirty="0">
                <a:solidFill>
                  <a:srgbClr val="000000"/>
                </a:solidFill>
                <a:latin typeface="Times New Roman" panose="02020603050405020304" pitchFamily="18" charset="0"/>
                <a:ea typeface="Times New Roman" panose="02020603050405020304" pitchFamily="18" charset="0"/>
              </a:rPr>
              <a:t>анализ</a:t>
            </a:r>
            <a:r>
              <a:rPr lang="ru-RU" dirty="0">
                <a:solidFill>
                  <a:srgbClr val="000000"/>
                </a:solidFill>
                <a:latin typeface="Times New Roman" panose="02020603050405020304" pitchFamily="18" charset="0"/>
                <a:ea typeface="Times New Roman" panose="02020603050405020304" pitchFamily="18" charset="0"/>
              </a:rPr>
              <a:t>, манипулирование данными", "образное </a:t>
            </a:r>
            <a:r>
              <a:rPr lang="ru-RU" i="1" dirty="0">
                <a:solidFill>
                  <a:srgbClr val="000000"/>
                </a:solidFill>
                <a:latin typeface="Times New Roman" panose="02020603050405020304" pitchFamily="18" charset="0"/>
                <a:ea typeface="Times New Roman" panose="02020603050405020304" pitchFamily="18" charset="0"/>
              </a:rPr>
              <a:t>отображение</a:t>
            </a:r>
            <a:r>
              <a:rPr lang="ru-RU" dirty="0">
                <a:solidFill>
                  <a:srgbClr val="000000"/>
                </a:solidFill>
                <a:latin typeface="Times New Roman" panose="02020603050405020304" pitchFamily="18" charset="0"/>
                <a:ea typeface="Times New Roman" panose="02020603050405020304" pitchFamily="18" charset="0"/>
              </a:rPr>
              <a:t> (</a:t>
            </a:r>
            <a:r>
              <a:rPr lang="ru-RU" i="1" dirty="0">
                <a:solidFill>
                  <a:srgbClr val="000000"/>
                </a:solidFill>
                <a:latin typeface="Times New Roman" panose="02020603050405020304" pitchFamily="18" charset="0"/>
                <a:ea typeface="Times New Roman" panose="02020603050405020304" pitchFamily="18" charset="0"/>
              </a:rPr>
              <a:t>визуализация</a:t>
            </a:r>
            <a:r>
              <a:rPr lang="ru-RU" dirty="0">
                <a:solidFill>
                  <a:srgbClr val="000000"/>
                </a:solidFill>
                <a:latin typeface="Times New Roman" panose="02020603050405020304" pitchFamily="18" charset="0"/>
                <a:ea typeface="Times New Roman" panose="02020603050405020304" pitchFamily="18" charset="0"/>
              </a:rPr>
              <a:t>) данных в виде карт или таблиц", "тематические карты-слои", "картографические </a:t>
            </a:r>
            <a:r>
              <a:rPr lang="ru-RU" i="1" dirty="0">
                <a:solidFill>
                  <a:srgbClr val="000000"/>
                </a:solidFill>
                <a:latin typeface="Times New Roman" panose="02020603050405020304" pitchFamily="18" charset="0"/>
                <a:ea typeface="Times New Roman" panose="02020603050405020304" pitchFamily="18" charset="0"/>
              </a:rPr>
              <a:t>базы данных</a:t>
            </a:r>
            <a:r>
              <a:rPr lang="ru-RU" dirty="0">
                <a:solidFill>
                  <a:srgbClr val="000000"/>
                </a:solidFill>
                <a:latin typeface="Times New Roman" panose="02020603050405020304" pitchFamily="18" charset="0"/>
                <a:ea typeface="Times New Roman" panose="02020603050405020304" pitchFamily="18" charset="0"/>
              </a:rPr>
              <a:t>".</a:t>
            </a:r>
            <a:endParaRPr lang="ru-RU" dirty="0"/>
          </a:p>
        </p:txBody>
      </p:sp>
      <p:sp>
        <p:nvSpPr>
          <p:cNvPr id="4" name="Прямоугольник 3"/>
          <p:cNvSpPr/>
          <p:nvPr/>
        </p:nvSpPr>
        <p:spPr>
          <a:xfrm>
            <a:off x="5999018" y="4272677"/>
            <a:ext cx="6096000" cy="2585323"/>
          </a:xfrm>
          <a:prstGeom prst="rect">
            <a:avLst/>
          </a:prstGeom>
        </p:spPr>
        <p:txBody>
          <a:bodyPr>
            <a:spAutoFit/>
          </a:bodyPr>
          <a:lstStyle/>
          <a:p>
            <a:pPr indent="450215" algn="just">
              <a:spcAft>
                <a:spcPts val="0"/>
              </a:spcAft>
            </a:pPr>
            <a:r>
              <a:rPr lang="ru-RU" kern="0" dirty="0">
                <a:solidFill>
                  <a:srgbClr val="000000"/>
                </a:solidFill>
                <a:latin typeface="Times New Roman" panose="02020603050405020304" pitchFamily="18" charset="0"/>
                <a:ea typeface="Times New Roman" panose="02020603050405020304" pitchFamily="18" charset="0"/>
              </a:rPr>
              <a:t>"</a:t>
            </a:r>
            <a:r>
              <a:rPr lang="ru-RU" b="1" i="1" kern="0" dirty="0">
                <a:solidFill>
                  <a:srgbClr val="000000"/>
                </a:solidFill>
                <a:latin typeface="Times New Roman" panose="02020603050405020304" pitchFamily="18" charset="0"/>
                <a:ea typeface="Times New Roman" panose="02020603050405020304" pitchFamily="18" charset="0"/>
              </a:rPr>
              <a:t>Географическая информационная система (ГИС) </a:t>
            </a:r>
            <a:r>
              <a:rPr lang="ru-RU" kern="0" dirty="0">
                <a:solidFill>
                  <a:srgbClr val="000000"/>
                </a:solidFill>
                <a:latin typeface="Times New Roman" panose="02020603050405020304" pitchFamily="18" charset="0"/>
                <a:ea typeface="Times New Roman" panose="02020603050405020304" pitchFamily="18" charset="0"/>
              </a:rPr>
              <a:t>—это совокупность технических, программных, коммуникационных и информационных средств, обеспечивающих ввод, обработку, хранение, математико-картографическое </a:t>
            </a:r>
            <a:r>
              <a:rPr lang="ru-RU" i="1" kern="0" dirty="0">
                <a:solidFill>
                  <a:srgbClr val="000000"/>
                </a:solidFill>
                <a:latin typeface="Times New Roman" panose="02020603050405020304" pitchFamily="18" charset="0"/>
                <a:ea typeface="Times New Roman" panose="02020603050405020304" pitchFamily="18" charset="0"/>
              </a:rPr>
              <a:t>моделирование</a:t>
            </a:r>
            <a:r>
              <a:rPr lang="ru-RU" kern="0" dirty="0">
                <a:solidFill>
                  <a:srgbClr val="000000"/>
                </a:solidFill>
                <a:latin typeface="Times New Roman" panose="02020603050405020304" pitchFamily="18" charset="0"/>
                <a:ea typeface="Times New Roman" panose="02020603050405020304" pitchFamily="18" charset="0"/>
              </a:rPr>
              <a:t> и образное интегрированное </a:t>
            </a:r>
            <a:r>
              <a:rPr lang="ru-RU" i="1" kern="0" dirty="0">
                <a:solidFill>
                  <a:srgbClr val="000000"/>
                </a:solidFill>
                <a:latin typeface="Times New Roman" panose="02020603050405020304" pitchFamily="18" charset="0"/>
                <a:ea typeface="Times New Roman" panose="02020603050405020304" pitchFamily="18" charset="0"/>
              </a:rPr>
              <a:t>представление</a:t>
            </a:r>
            <a:r>
              <a:rPr lang="ru-RU" kern="0" dirty="0">
                <a:solidFill>
                  <a:srgbClr val="000000"/>
                </a:solidFill>
                <a:latin typeface="Times New Roman" panose="02020603050405020304" pitchFamily="18" charset="0"/>
                <a:ea typeface="Times New Roman" panose="02020603050405020304" pitchFamily="18" charset="0"/>
              </a:rPr>
              <a:t> (визуализацию) пространственных и соотнесённых с ними атрибутивных данных для решения проблем территориального планирования и управления (ОСТ ВШ 02.001-97).</a:t>
            </a:r>
            <a:endParaRPr lang="ru-RU" sz="16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574687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775540" y="99352"/>
            <a:ext cx="6446958" cy="400110"/>
          </a:xfrm>
          <a:prstGeom prst="rect">
            <a:avLst/>
          </a:prstGeom>
        </p:spPr>
        <p:txBody>
          <a:bodyPr wrap="none">
            <a:spAutoFit/>
          </a:bodyPr>
          <a:lstStyle/>
          <a:p>
            <a:pPr indent="450215" algn="just">
              <a:spcAft>
                <a:spcPts val="0"/>
              </a:spcAft>
            </a:pPr>
            <a:r>
              <a:rPr lang="ru-RU" sz="2000" b="1" kern="0" dirty="0">
                <a:solidFill>
                  <a:srgbClr val="FF0000"/>
                </a:solidFill>
                <a:latin typeface="Times New Roman" panose="02020603050405020304" pitchFamily="18" charset="0"/>
                <a:ea typeface="Times New Roman" panose="02020603050405020304" pitchFamily="18" charset="0"/>
              </a:rPr>
              <a:t>ГЕОГРАФИЧЕСКИЕ ДАННЫЕ ОПИСЫВАЮТ:</a:t>
            </a:r>
            <a:endParaRPr lang="ru-RU" sz="2000" b="1" kern="50" dirty="0">
              <a:solidFill>
                <a:srgbClr val="FF0000"/>
              </a:solidFill>
              <a:effectLst/>
              <a:latin typeface="Calibri" panose="020F0502020204030204" pitchFamily="34" charset="0"/>
              <a:ea typeface="Times New Roman" panose="02020603050405020304" pitchFamily="18" charset="0"/>
            </a:endParaRPr>
          </a:p>
        </p:txBody>
      </p:sp>
      <p:graphicFrame>
        <p:nvGraphicFramePr>
          <p:cNvPr id="3" name="Схема 2"/>
          <p:cNvGraphicFramePr/>
          <p:nvPr>
            <p:extLst>
              <p:ext uri="{D42A27DB-BD31-4B8C-83A1-F6EECF244321}">
                <p14:modId xmlns:p14="http://schemas.microsoft.com/office/powerpoint/2010/main" val="3762460911"/>
              </p:ext>
            </p:extLst>
          </p:nvPr>
        </p:nvGraphicFramePr>
        <p:xfrm>
          <a:off x="290945" y="623456"/>
          <a:ext cx="11734800" cy="6040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7730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1055" y="318655"/>
            <a:ext cx="11485418" cy="4154984"/>
          </a:xfrm>
          <a:prstGeom prst="rect">
            <a:avLst/>
          </a:prstGeom>
        </p:spPr>
        <p:txBody>
          <a:bodyPr wrap="square">
            <a:spAutoFit/>
          </a:bodyPr>
          <a:lstStyle/>
          <a:p>
            <a:pPr indent="450215" algn="just">
              <a:spcAft>
                <a:spcPts val="0"/>
              </a:spcAft>
            </a:pPr>
            <a:r>
              <a:rPr lang="ru-RU" sz="2400" kern="0" dirty="0">
                <a:solidFill>
                  <a:srgbClr val="000000"/>
                </a:solidFill>
                <a:latin typeface="Times New Roman" panose="02020603050405020304" pitchFamily="18" charset="0"/>
                <a:ea typeface="Times New Roman" panose="02020603050405020304" pitchFamily="18" charset="0"/>
              </a:rPr>
              <a:t>В настоящее время создание ГИС является одним из наиболее бурно растущих сегментов рынка высоких компьютерных технологий, на котором работает большое количество крупных фирм за рубежом и в России. Среди них можно отметить </a:t>
            </a:r>
            <a:r>
              <a:rPr lang="ru-RU" sz="2400" kern="0" dirty="0" err="1">
                <a:solidFill>
                  <a:srgbClr val="000000"/>
                </a:solidFill>
                <a:latin typeface="Times New Roman" panose="02020603050405020304" pitchFamily="18" charset="0"/>
                <a:ea typeface="Times New Roman" panose="02020603050405020304" pitchFamily="18" charset="0"/>
              </a:rPr>
              <a:t>Intergraph</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a:solidFill>
                  <a:srgbClr val="0071A6"/>
                </a:solidFill>
                <a:latin typeface="Times New Roman" panose="02020603050405020304" pitchFamily="18" charset="0"/>
                <a:ea typeface="Times New Roman" panose="02020603050405020304" pitchFamily="18" charset="0"/>
                <a:hlinkClick r:id="rId2"/>
              </a:rPr>
              <a:t>http://www.intergraph.com/gis</a:t>
            </a:r>
            <a:r>
              <a:rPr lang="ru-RU" sz="2400" kern="0" dirty="0">
                <a:solidFill>
                  <a:srgbClr val="000000"/>
                </a:solidFill>
                <a:latin typeface="Times New Roman" panose="02020603050405020304" pitchFamily="18" charset="0"/>
                <a:ea typeface="Times New Roman" panose="02020603050405020304" pitchFamily="18" charset="0"/>
              </a:rPr>
              <a:t>), ESRI (</a:t>
            </a:r>
            <a:r>
              <a:rPr lang="ru-RU" sz="2400" kern="0" dirty="0">
                <a:solidFill>
                  <a:srgbClr val="0071A6"/>
                </a:solidFill>
                <a:latin typeface="Times New Roman" panose="02020603050405020304" pitchFamily="18" charset="0"/>
                <a:ea typeface="Times New Roman" panose="02020603050405020304" pitchFamily="18" charset="0"/>
                <a:hlinkClick r:id="rId3"/>
              </a:rPr>
              <a:t>http://www.esri.com</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MapInfo</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a:solidFill>
                  <a:srgbClr val="0071A6"/>
                </a:solidFill>
                <a:latin typeface="Times New Roman" panose="02020603050405020304" pitchFamily="18" charset="0"/>
                <a:ea typeface="Times New Roman" panose="02020603050405020304" pitchFamily="18" charset="0"/>
                <a:hlinkClick r:id="rId4"/>
              </a:rPr>
              <a:t>http://www.mapinfo.com</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Autodesk</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a:solidFill>
                  <a:srgbClr val="0071A6"/>
                </a:solidFill>
                <a:latin typeface="Times New Roman" panose="02020603050405020304" pitchFamily="18" charset="0"/>
                <a:ea typeface="Times New Roman" panose="02020603050405020304" pitchFamily="18" charset="0"/>
                <a:hlinkClick r:id="rId5"/>
              </a:rPr>
              <a:t>http://www.autodesk.com</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CalComp</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i="1" kern="0" dirty="0" err="1">
                <a:solidFill>
                  <a:srgbClr val="000000"/>
                </a:solidFill>
                <a:latin typeface="Times New Roman" panose="02020603050405020304" pitchFamily="18" charset="0"/>
                <a:ea typeface="Times New Roman" panose="02020603050405020304" pitchFamily="18" charset="0"/>
              </a:rPr>
              <a:t>Space</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i="1" kern="0" dirty="0" err="1">
                <a:solidFill>
                  <a:srgbClr val="000000"/>
                </a:solidFill>
                <a:latin typeface="Times New Roman" panose="02020603050405020304" pitchFamily="18" charset="0"/>
                <a:ea typeface="Times New Roman" panose="02020603050405020304" pitchFamily="18" charset="0"/>
              </a:rPr>
              <a:t>Imaging</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a:solidFill>
                  <a:srgbClr val="0071A6"/>
                </a:solidFill>
                <a:latin typeface="Times New Roman" panose="02020603050405020304" pitchFamily="18" charset="0"/>
                <a:ea typeface="Times New Roman" panose="02020603050405020304" pitchFamily="18" charset="0"/>
                <a:hlinkClick r:id="rId6"/>
              </a:rPr>
              <a:t>http://www.geoeye.com</a:t>
            </a:r>
            <a:r>
              <a:rPr lang="ru-RU" sz="2400" kern="0" dirty="0">
                <a:solidFill>
                  <a:srgbClr val="000000"/>
                </a:solidFill>
                <a:latin typeface="Times New Roman" panose="02020603050405020304" pitchFamily="18" charset="0"/>
                <a:ea typeface="Times New Roman" panose="02020603050405020304" pitchFamily="18" charset="0"/>
              </a:rPr>
              <a:t>), Центр геоинформационных исследований Института географии РАН (</a:t>
            </a:r>
            <a:r>
              <a:rPr lang="ru-RU" sz="2400" i="1" kern="0" dirty="0">
                <a:solidFill>
                  <a:srgbClr val="000000"/>
                </a:solidFill>
                <a:latin typeface="Times New Roman" panose="02020603050405020304" pitchFamily="18" charset="0"/>
                <a:ea typeface="Times New Roman" panose="02020603050405020304" pitchFamily="18" charset="0"/>
              </a:rPr>
              <a:t>сайт</a:t>
            </a:r>
            <a:r>
              <a:rPr lang="ru-RU" sz="2400" kern="0" dirty="0">
                <a:solidFill>
                  <a:srgbClr val="000000"/>
                </a:solidFill>
                <a:latin typeface="Times New Roman" panose="02020603050405020304" pitchFamily="18" charset="0"/>
                <a:ea typeface="Times New Roman" panose="02020603050405020304" pitchFamily="18" charset="0"/>
              </a:rPr>
              <a:t> "Мир карт", </a:t>
            </a:r>
            <a:r>
              <a:rPr lang="ru-RU" sz="2400" kern="0" dirty="0">
                <a:solidFill>
                  <a:srgbClr val="0071A6"/>
                </a:solidFill>
                <a:latin typeface="Times New Roman" panose="02020603050405020304" pitchFamily="18" charset="0"/>
                <a:ea typeface="Times New Roman" panose="02020603050405020304" pitchFamily="18" charset="0"/>
                <a:hlinkClick r:id="rId7"/>
              </a:rPr>
              <a:t>http://www.mirkart.ru</a:t>
            </a:r>
            <a:r>
              <a:rPr lang="ru-RU" sz="2400" kern="0" dirty="0">
                <a:solidFill>
                  <a:srgbClr val="000000"/>
                </a:solidFill>
                <a:latin typeface="Times New Roman" panose="02020603050405020304" pitchFamily="18" charset="0"/>
                <a:ea typeface="Times New Roman" panose="02020603050405020304" pitchFamily="18" charset="0"/>
              </a:rPr>
              <a:t>, завоевавший в 2003 году "Интел-Интернет-премию" России) и многие другие. Для непрофессиональных пользователей существуют великолепные </a:t>
            </a:r>
            <a:r>
              <a:rPr lang="ru-RU" sz="2400" i="1" kern="0" dirty="0" err="1">
                <a:solidFill>
                  <a:srgbClr val="000000"/>
                </a:solidFill>
                <a:latin typeface="Times New Roman" panose="02020603050405020304" pitchFamily="18" charset="0"/>
                <a:ea typeface="Times New Roman" panose="02020603050405020304" pitchFamily="18" charset="0"/>
              </a:rPr>
              <a:t>Web</a:t>
            </a:r>
            <a:r>
              <a:rPr lang="ru-RU" sz="2400" kern="0" dirty="0">
                <a:solidFill>
                  <a:srgbClr val="000000"/>
                </a:solidFill>
                <a:latin typeface="Times New Roman" panose="02020603050405020304" pitchFamily="18" charset="0"/>
                <a:ea typeface="Times New Roman" panose="02020603050405020304" pitchFamily="18" charset="0"/>
              </a:rPr>
              <a:t>-ресурсы </a:t>
            </a:r>
            <a:r>
              <a:rPr lang="ru-RU" sz="2400" kern="0" dirty="0" err="1">
                <a:solidFill>
                  <a:srgbClr val="000000"/>
                </a:solidFill>
                <a:latin typeface="Times New Roman" panose="02020603050405020304" pitchFamily="18" charset="0"/>
                <a:ea typeface="Times New Roman" panose="02020603050405020304" pitchFamily="18" charset="0"/>
              </a:rPr>
              <a:t>GoogleMap</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a:solidFill>
                  <a:srgbClr val="0071A6"/>
                </a:solidFill>
                <a:latin typeface="Times New Roman" panose="02020603050405020304" pitchFamily="18" charset="0"/>
                <a:ea typeface="Times New Roman" panose="02020603050405020304" pitchFamily="18" charset="0"/>
                <a:hlinkClick r:id="rId8"/>
              </a:rPr>
              <a:t>http://maps.google.com</a:t>
            </a:r>
            <a:r>
              <a:rPr lang="ru-RU" sz="2400" kern="0" dirty="0">
                <a:solidFill>
                  <a:srgbClr val="000000"/>
                </a:solidFill>
                <a:latin typeface="Times New Roman" panose="02020603050405020304" pitchFamily="18" charset="0"/>
                <a:ea typeface="Times New Roman" panose="02020603050405020304" pitchFamily="18" charset="0"/>
              </a:rPr>
              <a:t>) и </a:t>
            </a:r>
            <a:r>
              <a:rPr lang="ru-RU" sz="2400" kern="0" dirty="0" err="1">
                <a:solidFill>
                  <a:srgbClr val="000000"/>
                </a:solidFill>
                <a:latin typeface="Times New Roman" panose="02020603050405020304" pitchFamily="18" charset="0"/>
                <a:ea typeface="Times New Roman" panose="02020603050405020304" pitchFamily="18" charset="0"/>
              </a:rPr>
              <a:t>Geography</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NetWork</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a:solidFill>
                  <a:srgbClr val="0071A6"/>
                </a:solidFill>
                <a:latin typeface="Times New Roman" panose="02020603050405020304" pitchFamily="18" charset="0"/>
                <a:ea typeface="Times New Roman" panose="02020603050405020304" pitchFamily="18" charset="0"/>
                <a:hlinkClick r:id="rId9"/>
              </a:rPr>
              <a:t>http://www.geographynetwork.com</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955691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12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2554545"/>
          </a:xfrm>
          <a:prstGeom prst="rect">
            <a:avLst/>
          </a:prstGeom>
          <a:noFill/>
        </p:spPr>
        <p:txBody>
          <a:bodyPr wrap="square" rtlCol="0">
            <a:spAutoFit/>
          </a:bodyPr>
          <a:lstStyle/>
          <a:p>
            <a:pPr lvl="0" algn="ctr"/>
            <a:r>
              <a:rPr lang="ru-RU" sz="4000" b="1" dirty="0">
                <a:solidFill>
                  <a:srgbClr val="FF0000"/>
                </a:solidFill>
              </a:rPr>
              <a:t>КЛАССИФИКАЦИЯ ГИС, ФУНКЦИОНАЛЬНОСТЬ И СРЕДСТВА ПОДДЕРЖКИ</a:t>
            </a:r>
            <a:endParaRPr lang="ru-RU" sz="4000" dirty="0">
              <a:solidFill>
                <a:srgbClr val="FF0000"/>
              </a:solidFill>
            </a:endParaRPr>
          </a:p>
          <a:p>
            <a:pPr lvl="0" algn="ctr"/>
            <a:r>
              <a:rPr lang="ru-RU" sz="4000" b="1" dirty="0"/>
              <a:t>Вопрос 2</a:t>
            </a:r>
            <a:endParaRPr lang="ru-RU" sz="4000" dirty="0"/>
          </a:p>
        </p:txBody>
      </p:sp>
    </p:spTree>
    <p:extLst>
      <p:ext uri="{BB962C8B-B14F-4D97-AF65-F5344CB8AC3E}">
        <p14:creationId xmlns:p14="http://schemas.microsoft.com/office/powerpoint/2010/main" val="4139453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ugi.ru/uploadedFiles/images/uslugi/01MGI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4973782" cy="6944199"/>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5153891" y="709321"/>
            <a:ext cx="6096000" cy="3170099"/>
          </a:xfrm>
          <a:prstGeom prst="rect">
            <a:avLst/>
          </a:prstGeom>
        </p:spPr>
        <p:txBody>
          <a:bodyPr>
            <a:spAutoFit/>
          </a:bodyPr>
          <a:lstStyle/>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ГИС различаются предметной областью информационного моделирования — </a:t>
            </a:r>
            <a:r>
              <a:rPr lang="ru-RU" sz="2000" b="1" i="1" kern="0" dirty="0">
                <a:solidFill>
                  <a:srgbClr val="000000"/>
                </a:solidFill>
                <a:latin typeface="Times New Roman" panose="02020603050405020304" pitchFamily="18" charset="0"/>
                <a:ea typeface="Times New Roman" panose="02020603050405020304" pitchFamily="18" charset="0"/>
              </a:rPr>
              <a:t>городские или муниципальные</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Urban</a:t>
            </a:r>
            <a:r>
              <a:rPr lang="ru-RU" sz="2000" kern="0" dirty="0">
                <a:solidFill>
                  <a:srgbClr val="000000"/>
                </a:solidFill>
                <a:latin typeface="Times New Roman" panose="02020603050405020304" pitchFamily="18" charset="0"/>
                <a:ea typeface="Times New Roman" panose="02020603050405020304" pitchFamily="18" charset="0"/>
              </a:rPr>
              <a:t> GIS — UGIS), природоохранные (</a:t>
            </a:r>
            <a:r>
              <a:rPr lang="ru-RU" sz="2000" kern="0" dirty="0" err="1">
                <a:solidFill>
                  <a:srgbClr val="000000"/>
                </a:solidFill>
                <a:latin typeface="Times New Roman" panose="02020603050405020304" pitchFamily="18" charset="0"/>
                <a:ea typeface="Times New Roman" panose="02020603050405020304" pitchFamily="18" charset="0"/>
              </a:rPr>
              <a:t>Environmental</a:t>
            </a:r>
            <a:r>
              <a:rPr lang="ru-RU" sz="2000" kern="0" dirty="0">
                <a:solidFill>
                  <a:srgbClr val="000000"/>
                </a:solidFill>
                <a:latin typeface="Times New Roman" panose="02020603050405020304" pitchFamily="18" charset="0"/>
                <a:ea typeface="Times New Roman" panose="02020603050405020304" pitchFamily="18" charset="0"/>
              </a:rPr>
              <a:t> GIS), производственные (</a:t>
            </a:r>
            <a:r>
              <a:rPr lang="ru-RU" sz="2000" kern="0" dirty="0" err="1">
                <a:solidFill>
                  <a:srgbClr val="000000"/>
                </a:solidFill>
                <a:latin typeface="Times New Roman" panose="02020603050405020304" pitchFamily="18" charset="0"/>
                <a:ea typeface="Times New Roman" panose="02020603050405020304" pitchFamily="18" charset="0"/>
              </a:rPr>
              <a:t>Manufacturing</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Facilities</a:t>
            </a:r>
            <a:r>
              <a:rPr lang="ru-RU" sz="2000" kern="0" dirty="0">
                <a:solidFill>
                  <a:srgbClr val="000000"/>
                </a:solidFill>
                <a:latin typeface="Times New Roman" panose="02020603050405020304" pitchFamily="18" charset="0"/>
                <a:ea typeface="Times New Roman" panose="02020603050405020304" pitchFamily="18" charset="0"/>
              </a:rPr>
              <a:t> GIS — MFGIS) и т.д. Проблемная ориентация ГИС определяется решаемыми в ней научными и прикладными задачами — инвентаризация ресурсов (кадастр), анализ, оценка, мониторинг, управление и планирование, поддержка принятия решений.</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3245440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s1.slide-share.ru/s_slide/55ce641f7d7d0b0a9f40b8fe9de9140e/4de0461f-c8ac-444c-a386-06288a751c50.jpe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174" name="Picture 6" descr="https://bfauto.ru/wp-content/uploads/1/8/2/1829884e62b157022fc4ecf20abd8440.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460375" y="4810036"/>
            <a:ext cx="10224655" cy="1569660"/>
          </a:xfrm>
          <a:prstGeom prst="rect">
            <a:avLst/>
          </a:prstGeom>
        </p:spPr>
        <p:txBody>
          <a:bodyPr wrap="square">
            <a:spAutoFit/>
          </a:bodyPr>
          <a:lstStyle/>
          <a:p>
            <a:pPr indent="450215" algn="just">
              <a:spcAft>
                <a:spcPts val="0"/>
              </a:spcAft>
            </a:pPr>
            <a:r>
              <a:rPr lang="ru-RU" sz="2400" b="1" kern="0" dirty="0">
                <a:solidFill>
                  <a:srgbClr val="FF0000"/>
                </a:solidFill>
                <a:latin typeface="Times New Roman" panose="02020603050405020304" pitchFamily="18" charset="0"/>
                <a:ea typeface="Times New Roman" panose="02020603050405020304" pitchFamily="18" charset="0"/>
              </a:rPr>
              <a:t>Интегрированные ГИС (</a:t>
            </a:r>
            <a:r>
              <a:rPr lang="ru-RU" sz="2400" b="1" kern="0" dirty="0" err="1">
                <a:solidFill>
                  <a:srgbClr val="FF0000"/>
                </a:solidFill>
                <a:latin typeface="Times New Roman" panose="02020603050405020304" pitchFamily="18" charset="0"/>
                <a:ea typeface="Times New Roman" panose="02020603050405020304" pitchFamily="18" charset="0"/>
              </a:rPr>
              <a:t>Integrated</a:t>
            </a:r>
            <a:r>
              <a:rPr lang="ru-RU" sz="2400" b="1" kern="0" dirty="0">
                <a:solidFill>
                  <a:srgbClr val="FF0000"/>
                </a:solidFill>
                <a:latin typeface="Times New Roman" panose="02020603050405020304" pitchFamily="18" charset="0"/>
                <a:ea typeface="Times New Roman" panose="02020603050405020304" pitchFamily="18" charset="0"/>
              </a:rPr>
              <a:t> GIS — IGIS) совмещают функциональные возможности ГИС и систем цифровой обработки изображений (данных дистанционного зондирования) в единой интегрированной среде.</a:t>
            </a:r>
            <a:endParaRPr lang="ru-RU" sz="2400" b="1" kern="50" dirty="0">
              <a:solidFill>
                <a:srgbClr val="FF0000"/>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664560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image2.slideserve.com/5177877/slide14-l.jp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148" name="Picture 4" descr="https://cf2.ppt-online.org/files2/slide/c/cjoGm3RAUnhLlvzwJKFOWSPBHNx8gu5264EkTpMYi/slide-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 y="0"/>
            <a:ext cx="9753600" cy="5467351"/>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3796145" y="4976429"/>
            <a:ext cx="7924800" cy="1754326"/>
          </a:xfrm>
          <a:prstGeom prst="rect">
            <a:avLst/>
          </a:prstGeom>
        </p:spPr>
        <p:txBody>
          <a:bodyPr wrap="square">
            <a:spAutoFit/>
          </a:bodyPr>
          <a:lstStyle/>
          <a:p>
            <a:pPr indent="450215" algn="just">
              <a:spcAft>
                <a:spcPts val="0"/>
              </a:spcAft>
            </a:pPr>
            <a:r>
              <a:rPr lang="ru-RU" b="1" i="1" kern="0" dirty="0">
                <a:solidFill>
                  <a:srgbClr val="000000"/>
                </a:solidFill>
                <a:latin typeface="Times New Roman" panose="02020603050405020304" pitchFamily="18" charset="0"/>
                <a:ea typeface="Times New Roman" panose="02020603050405020304" pitchFamily="18" charset="0"/>
              </a:rPr>
              <a:t>Масштабно-независимые ГИС </a:t>
            </a:r>
            <a:r>
              <a:rPr lang="ru-RU" kern="0" dirty="0">
                <a:solidFill>
                  <a:srgbClr val="000000"/>
                </a:solidFill>
                <a:latin typeface="Times New Roman" panose="02020603050405020304" pitchFamily="18" charset="0"/>
                <a:ea typeface="Times New Roman" panose="02020603050405020304" pitchFamily="18" charset="0"/>
              </a:rPr>
              <a:t>(</a:t>
            </a:r>
            <a:r>
              <a:rPr lang="ru-RU" kern="0" dirty="0" err="1">
                <a:solidFill>
                  <a:srgbClr val="000000"/>
                </a:solidFill>
                <a:latin typeface="Times New Roman" panose="02020603050405020304" pitchFamily="18" charset="0"/>
                <a:ea typeface="Times New Roman" panose="02020603050405020304" pitchFamily="18" charset="0"/>
              </a:rPr>
              <a:t>Multiscale</a:t>
            </a:r>
            <a:r>
              <a:rPr lang="ru-RU" kern="0" dirty="0">
                <a:solidFill>
                  <a:srgbClr val="000000"/>
                </a:solidFill>
                <a:latin typeface="Times New Roman" panose="02020603050405020304" pitchFamily="18" charset="0"/>
                <a:ea typeface="Times New Roman" panose="02020603050405020304" pitchFamily="18" charset="0"/>
              </a:rPr>
              <a:t> GIS — MSGIS) основаны на множественных представлениях пространственных объектов (</a:t>
            </a:r>
            <a:r>
              <a:rPr lang="ru-RU" kern="0" dirty="0" err="1">
                <a:solidFill>
                  <a:srgbClr val="000000"/>
                </a:solidFill>
                <a:latin typeface="Times New Roman" panose="02020603050405020304" pitchFamily="18" charset="0"/>
                <a:ea typeface="Times New Roman" panose="02020603050405020304" pitchFamily="18" charset="0"/>
              </a:rPr>
              <a:t>Multiscale</a:t>
            </a:r>
            <a:r>
              <a:rPr lang="ru-RU" kern="0" dirty="0">
                <a:solidFill>
                  <a:srgbClr val="000000"/>
                </a:solidFill>
                <a:latin typeface="Times New Roman" panose="02020603050405020304" pitchFamily="18" charset="0"/>
                <a:ea typeface="Times New Roman" panose="02020603050405020304" pitchFamily="18" charset="0"/>
              </a:rPr>
              <a:t> </a:t>
            </a:r>
            <a:r>
              <a:rPr lang="ru-RU" kern="0" dirty="0" err="1">
                <a:solidFill>
                  <a:srgbClr val="000000"/>
                </a:solidFill>
                <a:latin typeface="Times New Roman" panose="02020603050405020304" pitchFamily="18" charset="0"/>
                <a:ea typeface="Times New Roman" panose="02020603050405020304" pitchFamily="18" charset="0"/>
              </a:rPr>
              <a:t>Representation</a:t>
            </a:r>
            <a:r>
              <a:rPr lang="ru-RU" kern="0" dirty="0">
                <a:solidFill>
                  <a:srgbClr val="000000"/>
                </a:solidFill>
                <a:latin typeface="Times New Roman" panose="02020603050405020304" pitchFamily="18" charset="0"/>
                <a:ea typeface="Times New Roman" panose="02020603050405020304" pitchFamily="18" charset="0"/>
              </a:rPr>
              <a:t>), обеспечивая графическое или картографическое </a:t>
            </a:r>
            <a:r>
              <a:rPr lang="ru-RU" kern="0" dirty="0" err="1">
                <a:solidFill>
                  <a:srgbClr val="000000"/>
                </a:solidFill>
                <a:latin typeface="Times New Roman" panose="02020603050405020304" pitchFamily="18" charset="0"/>
                <a:ea typeface="Times New Roman" panose="02020603050405020304" pitchFamily="18" charset="0"/>
              </a:rPr>
              <a:t>вопроизведение</a:t>
            </a:r>
            <a:r>
              <a:rPr lang="ru-RU" kern="0" dirty="0">
                <a:solidFill>
                  <a:srgbClr val="000000"/>
                </a:solidFill>
                <a:latin typeface="Times New Roman" panose="02020603050405020304" pitchFamily="18" charset="0"/>
                <a:ea typeface="Times New Roman" panose="02020603050405020304" pitchFamily="18" charset="0"/>
              </a:rPr>
              <a:t> данных на любом уровне масштабирования на основе того набора данных, который обеспечивает наибольшее пространственное разрешение. </a:t>
            </a:r>
            <a:endParaRPr lang="ru-RU" sz="16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685718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38583" y="250680"/>
            <a:ext cx="8848725" cy="5248275"/>
          </a:xfrm>
          <a:prstGeom prst="rect">
            <a:avLst/>
          </a:prstGeom>
        </p:spPr>
      </p:pic>
      <p:sp>
        <p:nvSpPr>
          <p:cNvPr id="3" name="Прямоугольник 2"/>
          <p:cNvSpPr/>
          <p:nvPr/>
        </p:nvSpPr>
        <p:spPr>
          <a:xfrm>
            <a:off x="886690" y="5498955"/>
            <a:ext cx="10751127" cy="830997"/>
          </a:xfrm>
          <a:prstGeom prst="rect">
            <a:avLst/>
          </a:prstGeom>
        </p:spPr>
        <p:txBody>
          <a:bodyPr wrap="square">
            <a:spAutoFit/>
          </a:bodyPr>
          <a:lstStyle/>
          <a:p>
            <a:pPr indent="450215" algn="just">
              <a:spcAft>
                <a:spcPts val="0"/>
              </a:spcAft>
            </a:pPr>
            <a:r>
              <a:rPr lang="ru-RU" sz="2400" b="1" i="1" kern="0" dirty="0">
                <a:solidFill>
                  <a:srgbClr val="000000"/>
                </a:solidFill>
                <a:latin typeface="Times New Roman" panose="02020603050405020304" pitchFamily="18" charset="0"/>
                <a:ea typeface="Times New Roman" panose="02020603050405020304" pitchFamily="18" charset="0"/>
              </a:rPr>
              <a:t>Пространственно-временные ГИС </a:t>
            </a:r>
            <a:r>
              <a:rPr lang="ru-RU" sz="2400" kern="0" dirty="0">
                <a:solidFill>
                  <a:srgbClr val="000000"/>
                </a:solidFill>
                <a:latin typeface="Times New Roman" panose="02020603050405020304" pitchFamily="18" charset="0"/>
                <a:ea typeface="Times New Roman" panose="02020603050405020304" pitchFamily="18" charset="0"/>
              </a:rPr>
              <a:t>(</a:t>
            </a:r>
            <a:r>
              <a:rPr lang="ru-RU" sz="2400" kern="0" dirty="0" err="1">
                <a:solidFill>
                  <a:srgbClr val="000000"/>
                </a:solidFill>
                <a:latin typeface="Times New Roman" panose="02020603050405020304" pitchFamily="18" charset="0"/>
                <a:ea typeface="Times New Roman" panose="02020603050405020304" pitchFamily="18" charset="0"/>
              </a:rPr>
              <a:t>Spatio-temporal</a:t>
            </a:r>
            <a:r>
              <a:rPr lang="ru-RU" sz="2400" kern="0" dirty="0">
                <a:solidFill>
                  <a:srgbClr val="000000"/>
                </a:solidFill>
                <a:latin typeface="Times New Roman" panose="02020603050405020304" pitchFamily="18" charset="0"/>
                <a:ea typeface="Times New Roman" panose="02020603050405020304" pitchFamily="18" charset="0"/>
              </a:rPr>
              <a:t> GIS — STGIS) оперируют пространственно-временными данными.</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3973850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21746" y="210189"/>
            <a:ext cx="5526834" cy="461665"/>
          </a:xfrm>
          <a:prstGeom prst="rect">
            <a:avLst/>
          </a:prstGeom>
        </p:spPr>
        <p:txBody>
          <a:bodyPr wrap="none">
            <a:spAutoFit/>
          </a:bodyPr>
          <a:lstStyle/>
          <a:p>
            <a:pPr indent="450215" algn="just">
              <a:spcAft>
                <a:spcPts val="0"/>
              </a:spcAft>
            </a:pPr>
            <a:r>
              <a:rPr lang="ru-RU" sz="2400" b="1" kern="0" dirty="0">
                <a:solidFill>
                  <a:srgbClr val="000000"/>
                </a:solidFill>
                <a:latin typeface="Times New Roman" panose="02020603050405020304" pitchFamily="18" charset="0"/>
                <a:ea typeface="Times New Roman" panose="02020603050405020304" pitchFamily="18" charset="0"/>
              </a:rPr>
              <a:t>ЭТАПЫ ЖИЗНЕННОГО ЦИКЛА:</a:t>
            </a:r>
            <a:endParaRPr lang="ru-RU" sz="2400" b="1" kern="50" dirty="0">
              <a:solidFill>
                <a:srgbClr val="00000A"/>
              </a:solidFill>
              <a:effectLst/>
              <a:latin typeface="Calibri" panose="020F0502020204030204" pitchFamily="34" charset="0"/>
              <a:ea typeface="Times New Roman" panose="02020603050405020304" pitchFamily="18" charset="0"/>
            </a:endParaRPr>
          </a:p>
        </p:txBody>
      </p:sp>
      <p:sp>
        <p:nvSpPr>
          <p:cNvPr id="3" name="Прямоугольник 2"/>
          <p:cNvSpPr/>
          <p:nvPr/>
        </p:nvSpPr>
        <p:spPr>
          <a:xfrm>
            <a:off x="374073" y="1028343"/>
            <a:ext cx="11526982" cy="4893647"/>
          </a:xfrm>
          <a:prstGeom prst="rect">
            <a:avLst/>
          </a:prstGeom>
        </p:spPr>
        <p:txBody>
          <a:bodyPr wrap="square">
            <a:spAutoFit/>
          </a:bodyPr>
          <a:lstStyle/>
          <a:p>
            <a:pPr marL="342900" lvl="0" indent="-342900" algn="just">
              <a:spcAft>
                <a:spcPts val="0"/>
              </a:spcAft>
              <a:buSzPts val="1000"/>
              <a:buFont typeface="Symbol" panose="05050102010706020507" pitchFamily="18" charset="2"/>
              <a:buChar char=""/>
              <a:tabLst>
                <a:tab pos="457200" algn="l"/>
              </a:tabLst>
            </a:pPr>
            <a:r>
              <a:rPr lang="ru-RU" sz="2400" kern="0" dirty="0" err="1">
                <a:solidFill>
                  <a:srgbClr val="000000"/>
                </a:solidFill>
                <a:latin typeface="Times New Roman" panose="02020603050405020304" pitchFamily="18" charset="0"/>
                <a:ea typeface="Times New Roman" panose="02020603050405020304" pitchFamily="18" charset="0"/>
              </a:rPr>
              <a:t>предпроектных</a:t>
            </a:r>
            <a:r>
              <a:rPr lang="ru-RU" sz="2400" kern="0" dirty="0">
                <a:solidFill>
                  <a:srgbClr val="000000"/>
                </a:solidFill>
                <a:latin typeface="Times New Roman" panose="02020603050405020304" pitchFamily="18" charset="0"/>
                <a:ea typeface="Times New Roman" panose="02020603050405020304" pitchFamily="18" charset="0"/>
              </a:rPr>
              <a:t> исследований (</a:t>
            </a:r>
            <a:r>
              <a:rPr lang="ru-RU" sz="2400" kern="0" dirty="0" err="1">
                <a:solidFill>
                  <a:srgbClr val="000000"/>
                </a:solidFill>
                <a:latin typeface="Times New Roman" panose="02020603050405020304" pitchFamily="18" charset="0"/>
                <a:ea typeface="Times New Roman" panose="02020603050405020304" pitchFamily="18" charset="0"/>
              </a:rPr>
              <a:t>Feasibility</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Study</a:t>
            </a:r>
            <a:r>
              <a:rPr lang="ru-RU" sz="2400" kern="0" dirty="0">
                <a:solidFill>
                  <a:srgbClr val="000000"/>
                </a:solidFill>
                <a:latin typeface="Times New Roman" panose="02020603050405020304" pitchFamily="18" charset="0"/>
                <a:ea typeface="Times New Roman" panose="02020603050405020304" pitchFamily="18" charset="0"/>
              </a:rPr>
              <a:t>), в том числе изучение требований пользователя (</a:t>
            </a:r>
            <a:r>
              <a:rPr lang="ru-RU" sz="2400" kern="0" dirty="0" err="1">
                <a:solidFill>
                  <a:srgbClr val="000000"/>
                </a:solidFill>
                <a:latin typeface="Times New Roman" panose="02020603050405020304" pitchFamily="18" charset="0"/>
                <a:ea typeface="Times New Roman" panose="02020603050405020304" pitchFamily="18" charset="0"/>
              </a:rPr>
              <a:t>User</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Requirements</a:t>
            </a:r>
            <a:r>
              <a:rPr lang="ru-RU" sz="2400" kern="0" dirty="0">
                <a:solidFill>
                  <a:srgbClr val="000000"/>
                </a:solidFill>
                <a:latin typeface="Times New Roman" panose="02020603050405020304" pitchFamily="18" charset="0"/>
                <a:ea typeface="Times New Roman" panose="02020603050405020304" pitchFamily="18" charset="0"/>
              </a:rPr>
              <a:t>) и функциональных возможностей (</a:t>
            </a:r>
            <a:r>
              <a:rPr lang="ru-RU" sz="2400" kern="0" dirty="0" err="1">
                <a:solidFill>
                  <a:srgbClr val="000000"/>
                </a:solidFill>
                <a:latin typeface="Times New Roman" panose="02020603050405020304" pitchFamily="18" charset="0"/>
                <a:ea typeface="Times New Roman" panose="02020603050405020304" pitchFamily="18" charset="0"/>
              </a:rPr>
              <a:t>Functional</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Facilities</a:t>
            </a:r>
            <a:r>
              <a:rPr lang="ru-RU" sz="2400" kern="0" dirty="0">
                <a:solidFill>
                  <a:srgbClr val="000000"/>
                </a:solidFill>
                <a:latin typeface="Times New Roman" panose="02020603050405020304" pitchFamily="18" charset="0"/>
                <a:ea typeface="Times New Roman" panose="02020603050405020304" pitchFamily="18" charset="0"/>
              </a:rPr>
              <a:t>) используемых программных средств ГИС;</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технико-экономическое обоснование разработки ГИС;</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оценку соотношения "затраты/прибыль" (</a:t>
            </a:r>
            <a:r>
              <a:rPr lang="ru-RU" sz="2400" kern="0" dirty="0" err="1">
                <a:solidFill>
                  <a:srgbClr val="000000"/>
                </a:solidFill>
                <a:latin typeface="Times New Roman" panose="02020603050405020304" pitchFamily="18" charset="0"/>
                <a:ea typeface="Times New Roman" panose="02020603050405020304" pitchFamily="18" charset="0"/>
              </a:rPr>
              <a:t>Costs</a:t>
            </a:r>
            <a:r>
              <a:rPr lang="ru-RU" sz="2400" kern="0" dirty="0">
                <a:solidFill>
                  <a:srgbClr val="000000"/>
                </a:solidFill>
                <a:latin typeface="Times New Roman" panose="02020603050405020304" pitchFamily="18" charset="0"/>
                <a:ea typeface="Times New Roman" panose="02020603050405020304" pitchFamily="18" charset="0"/>
              </a:rPr>
              <a:t>/</a:t>
            </a:r>
            <a:r>
              <a:rPr lang="ru-RU" sz="2400" kern="0" dirty="0" err="1">
                <a:solidFill>
                  <a:srgbClr val="000000"/>
                </a:solidFill>
                <a:latin typeface="Times New Roman" panose="02020603050405020304" pitchFamily="18" charset="0"/>
                <a:ea typeface="Times New Roman" panose="02020603050405020304" pitchFamily="18" charset="0"/>
              </a:rPr>
              <a:t>Benefits</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системное проектирование ГИС (GIS </a:t>
            </a:r>
            <a:r>
              <a:rPr lang="ru-RU" sz="2400" kern="0" dirty="0" err="1">
                <a:solidFill>
                  <a:srgbClr val="000000"/>
                </a:solidFill>
                <a:latin typeface="Times New Roman" panose="02020603050405020304" pitchFamily="18" charset="0"/>
                <a:ea typeface="Times New Roman" panose="02020603050405020304" pitchFamily="18" charset="0"/>
              </a:rPr>
              <a:t>Designing</a:t>
            </a:r>
            <a:r>
              <a:rPr lang="ru-RU" sz="2400" kern="0" dirty="0">
                <a:solidFill>
                  <a:srgbClr val="000000"/>
                </a:solidFill>
                <a:latin typeface="Times New Roman" panose="02020603050405020304" pitchFamily="18" charset="0"/>
                <a:ea typeface="Times New Roman" panose="02020603050405020304" pitchFamily="18" charset="0"/>
              </a:rPr>
              <a:t>), включая стадию пилотного проекта (GIS </a:t>
            </a:r>
            <a:r>
              <a:rPr lang="ru-RU" sz="2400" kern="0" dirty="0" err="1">
                <a:solidFill>
                  <a:srgbClr val="000000"/>
                </a:solidFill>
                <a:latin typeface="Times New Roman" panose="02020603050405020304" pitchFamily="18" charset="0"/>
                <a:ea typeface="Times New Roman" panose="02020603050405020304" pitchFamily="18" charset="0"/>
              </a:rPr>
              <a:t>Pilot</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Project</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разработку (GIS </a:t>
            </a:r>
            <a:r>
              <a:rPr lang="ru-RU" sz="2400" kern="0" dirty="0" err="1">
                <a:solidFill>
                  <a:srgbClr val="000000"/>
                </a:solidFill>
                <a:latin typeface="Times New Roman" panose="02020603050405020304" pitchFamily="18" charset="0"/>
                <a:ea typeface="Times New Roman" panose="02020603050405020304" pitchFamily="18" charset="0"/>
              </a:rPr>
              <a:t>Development</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тестирование на небольшом территориальном фрагменте, или тестовом участке (</a:t>
            </a:r>
            <a:r>
              <a:rPr lang="ru-RU" sz="2400" kern="0" dirty="0" err="1">
                <a:solidFill>
                  <a:srgbClr val="000000"/>
                </a:solidFill>
                <a:latin typeface="Times New Roman" panose="02020603050405020304" pitchFamily="18" charset="0"/>
                <a:ea typeface="Times New Roman" panose="02020603050405020304" pitchFamily="18" charset="0"/>
              </a:rPr>
              <a:t>Test</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Area</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err="1">
                <a:solidFill>
                  <a:srgbClr val="000000"/>
                </a:solidFill>
                <a:latin typeface="Times New Roman" panose="02020603050405020304" pitchFamily="18" charset="0"/>
                <a:ea typeface="Times New Roman" panose="02020603050405020304" pitchFamily="18" charset="0"/>
              </a:rPr>
              <a:t>прототипирование</a:t>
            </a:r>
            <a:r>
              <a:rPr lang="ru-RU" sz="2400" kern="0" dirty="0">
                <a:solidFill>
                  <a:srgbClr val="000000"/>
                </a:solidFill>
                <a:latin typeface="Times New Roman" panose="02020603050405020304" pitchFamily="18" charset="0"/>
                <a:ea typeface="Times New Roman" panose="02020603050405020304" pitchFamily="18" charset="0"/>
              </a:rPr>
              <a:t> или создание опытного образца (</a:t>
            </a:r>
            <a:r>
              <a:rPr lang="ru-RU" sz="2400" kern="0" dirty="0" err="1">
                <a:solidFill>
                  <a:srgbClr val="000000"/>
                </a:solidFill>
                <a:latin typeface="Times New Roman" panose="02020603050405020304" pitchFamily="18" charset="0"/>
                <a:ea typeface="Times New Roman" panose="02020603050405020304" pitchFamily="18" charset="0"/>
              </a:rPr>
              <a:t>Prototyping</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внедрение (GIS </a:t>
            </a:r>
            <a:r>
              <a:rPr lang="ru-RU" sz="2400" kern="0" dirty="0" err="1">
                <a:solidFill>
                  <a:srgbClr val="000000"/>
                </a:solidFill>
                <a:latin typeface="Times New Roman" panose="02020603050405020304" pitchFamily="18" charset="0"/>
                <a:ea typeface="Times New Roman" panose="02020603050405020304" pitchFamily="18" charset="0"/>
              </a:rPr>
              <a:t>Implementation</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0" dirty="0">
                <a:solidFill>
                  <a:srgbClr val="000000"/>
                </a:solidFill>
                <a:latin typeface="Times New Roman" panose="02020603050405020304" pitchFamily="18" charset="0"/>
                <a:ea typeface="Times New Roman" panose="02020603050405020304" pitchFamily="18" charset="0"/>
              </a:rPr>
              <a:t>введение в эксплуатацию и использование (</a:t>
            </a:r>
            <a:r>
              <a:rPr lang="ru-RU" sz="2400" kern="0" dirty="0" err="1">
                <a:solidFill>
                  <a:srgbClr val="000000"/>
                </a:solidFill>
                <a:latin typeface="Times New Roman" panose="02020603050405020304" pitchFamily="18" charset="0"/>
                <a:ea typeface="Times New Roman" panose="02020603050405020304" pitchFamily="18" charset="0"/>
              </a:rPr>
              <a:t>Setting</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into</a:t>
            </a:r>
            <a:r>
              <a:rPr lang="ru-RU" sz="2400" kern="0" dirty="0">
                <a:solidFill>
                  <a:srgbClr val="000000"/>
                </a:solidFill>
                <a:latin typeface="Times New Roman" panose="02020603050405020304" pitchFamily="18" charset="0"/>
                <a:ea typeface="Times New Roman" panose="02020603050405020304" pitchFamily="18" charset="0"/>
              </a:rPr>
              <a:t> </a:t>
            </a:r>
            <a:r>
              <a:rPr lang="ru-RU" sz="2400" kern="0" dirty="0" err="1">
                <a:solidFill>
                  <a:srgbClr val="000000"/>
                </a:solidFill>
                <a:latin typeface="Times New Roman" panose="02020603050405020304" pitchFamily="18" charset="0"/>
                <a:ea typeface="Times New Roman" panose="02020603050405020304" pitchFamily="18" charset="0"/>
              </a:rPr>
              <a:t>Operation</a:t>
            </a:r>
            <a:r>
              <a:rPr lang="ru-RU" sz="2400" kern="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228236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Тематические слои ГИС"/>
          <p:cNvPicPr/>
          <p:nvPr/>
        </p:nvPicPr>
        <p:blipFill>
          <a:blip r:embed="rId2">
            <a:extLst>
              <a:ext uri="{28A0092B-C50C-407E-A947-70E740481C1C}">
                <a14:useLocalDpi xmlns:a14="http://schemas.microsoft.com/office/drawing/2010/main" val="0"/>
              </a:ext>
            </a:extLst>
          </a:blip>
          <a:srcRect/>
          <a:stretch>
            <a:fillRect/>
          </a:stretch>
        </p:blipFill>
        <p:spPr bwMode="auto">
          <a:xfrm>
            <a:off x="424294" y="253712"/>
            <a:ext cx="5172941" cy="3362324"/>
          </a:xfrm>
          <a:prstGeom prst="rect">
            <a:avLst/>
          </a:prstGeom>
          <a:noFill/>
          <a:ln>
            <a:noFill/>
          </a:ln>
        </p:spPr>
      </p:pic>
      <p:sp>
        <p:nvSpPr>
          <p:cNvPr id="3" name="Прямоугольник 2"/>
          <p:cNvSpPr/>
          <p:nvPr/>
        </p:nvSpPr>
        <p:spPr>
          <a:xfrm>
            <a:off x="198271" y="3950916"/>
            <a:ext cx="3492623" cy="400110"/>
          </a:xfrm>
          <a:prstGeom prst="rect">
            <a:avLst/>
          </a:prstGeom>
        </p:spPr>
        <p:txBody>
          <a:bodyPr wrap="none">
            <a:spAutoFit/>
          </a:bodyPr>
          <a:lstStyle/>
          <a:p>
            <a:pPr indent="450215" algn="ctr">
              <a:spcAft>
                <a:spcPts val="0"/>
              </a:spcAft>
            </a:pPr>
            <a:r>
              <a:rPr lang="ru-RU" sz="2000" b="1" kern="0" dirty="0">
                <a:solidFill>
                  <a:srgbClr val="000000"/>
                </a:solidFill>
                <a:latin typeface="Times New Roman" panose="02020603050405020304" pitchFamily="18" charset="0"/>
                <a:ea typeface="Times New Roman" panose="02020603050405020304" pitchFamily="18" charset="0"/>
              </a:rPr>
              <a:t>Тематические слои ГИС</a:t>
            </a:r>
            <a:endParaRPr lang="ru-RU" sz="2000" b="1" kern="50" dirty="0">
              <a:solidFill>
                <a:srgbClr val="00000A"/>
              </a:solidFill>
              <a:effectLst/>
              <a:latin typeface="Calibri" panose="020F0502020204030204" pitchFamily="34" charset="0"/>
              <a:ea typeface="Times New Roman" panose="02020603050405020304" pitchFamily="18" charset="0"/>
            </a:endParaRPr>
          </a:p>
        </p:txBody>
      </p:sp>
      <p:pic>
        <p:nvPicPr>
          <p:cNvPr id="4" name="Рисунок 3" descr="Трансформация слоев и конвертирование данных из одного формата в другой"/>
          <p:cNvPicPr/>
          <p:nvPr/>
        </p:nvPicPr>
        <p:blipFill>
          <a:blip r:embed="rId3">
            <a:extLst>
              <a:ext uri="{28A0092B-C50C-407E-A947-70E740481C1C}">
                <a14:useLocalDpi xmlns:a14="http://schemas.microsoft.com/office/drawing/2010/main" val="0"/>
              </a:ext>
            </a:extLst>
          </a:blip>
          <a:srcRect/>
          <a:stretch>
            <a:fillRect/>
          </a:stretch>
        </p:blipFill>
        <p:spPr bwMode="auto">
          <a:xfrm>
            <a:off x="6246234" y="480578"/>
            <a:ext cx="5585548" cy="3470337"/>
          </a:xfrm>
          <a:prstGeom prst="rect">
            <a:avLst/>
          </a:prstGeom>
          <a:noFill/>
          <a:ln>
            <a:noFill/>
          </a:ln>
        </p:spPr>
      </p:pic>
      <p:sp>
        <p:nvSpPr>
          <p:cNvPr id="5" name="Прямоугольник 4"/>
          <p:cNvSpPr/>
          <p:nvPr/>
        </p:nvSpPr>
        <p:spPr>
          <a:xfrm>
            <a:off x="6096000" y="4351026"/>
            <a:ext cx="6096000" cy="830997"/>
          </a:xfrm>
          <a:prstGeom prst="rect">
            <a:avLst/>
          </a:prstGeom>
        </p:spPr>
        <p:txBody>
          <a:bodyPr>
            <a:spAutoFit/>
          </a:bodyPr>
          <a:lstStyle/>
          <a:p>
            <a:pPr algn="ctr"/>
            <a:r>
              <a:rPr lang="ru-RU" sz="2400" b="1" dirty="0">
                <a:solidFill>
                  <a:srgbClr val="000000"/>
                </a:solidFill>
                <a:latin typeface="Times New Roman" panose="02020603050405020304" pitchFamily="18" charset="0"/>
                <a:ea typeface="Times New Roman" panose="02020603050405020304" pitchFamily="18" charset="0"/>
              </a:rPr>
              <a:t>Трансформация слоев и конвертирование данных из одного формата в другой</a:t>
            </a:r>
            <a:endParaRPr lang="ru-RU" sz="2400" b="1" dirty="0"/>
          </a:p>
        </p:txBody>
      </p:sp>
    </p:spTree>
    <p:extLst>
      <p:ext uri="{BB962C8B-B14F-4D97-AF65-F5344CB8AC3E}">
        <p14:creationId xmlns:p14="http://schemas.microsoft.com/office/powerpoint/2010/main" val="4235300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19</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323439"/>
          </a:xfrm>
          <a:prstGeom prst="rect">
            <a:avLst/>
          </a:prstGeom>
          <a:noFill/>
        </p:spPr>
        <p:txBody>
          <a:bodyPr wrap="square" rtlCol="0">
            <a:spAutoFit/>
          </a:bodyPr>
          <a:lstStyle/>
          <a:p>
            <a:pPr lvl="0" algn="ctr"/>
            <a:r>
              <a:rPr lang="ru-RU" sz="4000" b="1" dirty="0">
                <a:solidFill>
                  <a:srgbClr val="FF0000"/>
                </a:solidFill>
              </a:rPr>
              <a:t>ФУНКЦИОНАЛЬНЫЕ ВОЗМОЖНОСТИ ГИС</a:t>
            </a:r>
            <a:endParaRPr lang="ru-RU" sz="4000" dirty="0">
              <a:solidFill>
                <a:srgbClr val="FF0000"/>
              </a:solidFill>
            </a:endParaRPr>
          </a:p>
          <a:p>
            <a:pPr lvl="0" algn="ctr"/>
            <a:r>
              <a:rPr lang="ru-RU" sz="4000" b="1" dirty="0"/>
              <a:t>Вопрос 3</a:t>
            </a:r>
            <a:endParaRPr lang="ru-RU" sz="4000" dirty="0"/>
          </a:p>
        </p:txBody>
      </p:sp>
    </p:spTree>
    <p:extLst>
      <p:ext uri="{BB962C8B-B14F-4D97-AF65-F5344CB8AC3E}">
        <p14:creationId xmlns:p14="http://schemas.microsoft.com/office/powerpoint/2010/main" val="3912341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лияние ошибок оцифровывания и сведения слоев"/>
          <p:cNvPicPr/>
          <p:nvPr/>
        </p:nvPicPr>
        <p:blipFill>
          <a:blip r:embed="rId2">
            <a:extLst>
              <a:ext uri="{28A0092B-C50C-407E-A947-70E740481C1C}">
                <a14:useLocalDpi xmlns:a14="http://schemas.microsoft.com/office/drawing/2010/main" val="0"/>
              </a:ext>
            </a:extLst>
          </a:blip>
          <a:srcRect/>
          <a:stretch>
            <a:fillRect/>
          </a:stretch>
        </p:blipFill>
        <p:spPr bwMode="auto">
          <a:xfrm>
            <a:off x="161924" y="159328"/>
            <a:ext cx="5573857" cy="4828308"/>
          </a:xfrm>
          <a:prstGeom prst="rect">
            <a:avLst/>
          </a:prstGeom>
          <a:noFill/>
          <a:ln>
            <a:noFill/>
          </a:ln>
        </p:spPr>
      </p:pic>
      <p:sp>
        <p:nvSpPr>
          <p:cNvPr id="3" name="Прямоугольник 2"/>
          <p:cNvSpPr/>
          <p:nvPr/>
        </p:nvSpPr>
        <p:spPr>
          <a:xfrm>
            <a:off x="5583382" y="311324"/>
            <a:ext cx="6359236" cy="5324535"/>
          </a:xfrm>
          <a:prstGeom prst="rect">
            <a:avLst/>
          </a:prstGeom>
        </p:spPr>
        <p:txBody>
          <a:bodyPr wrap="square">
            <a:spAutoFit/>
          </a:bodyPr>
          <a:lstStyle/>
          <a:p>
            <a:r>
              <a:rPr lang="ru-RU" sz="2000" b="1" dirty="0">
                <a:solidFill>
                  <a:srgbClr val="FF0000"/>
                </a:solidFill>
                <a:latin typeface="Times New Roman" panose="02020603050405020304" pitchFamily="18" charset="0"/>
                <a:ea typeface="Times New Roman" panose="02020603050405020304" pitchFamily="18" charset="0"/>
              </a:rPr>
              <a:t>Ввод данных. </a:t>
            </a:r>
          </a:p>
          <a:p>
            <a:r>
              <a:rPr lang="ru-RU" sz="2000" dirty="0">
                <a:solidFill>
                  <a:srgbClr val="000000"/>
                </a:solidFill>
                <a:latin typeface="Times New Roman" panose="02020603050405020304" pitchFamily="18" charset="0"/>
                <a:ea typeface="Times New Roman" panose="02020603050405020304" pitchFamily="18" charset="0"/>
              </a:rPr>
              <a:t>Географические данные (числа, текст, изображения) для использования в ГИС вводятся в векторном или растровом виде, если такие данные уже существуют в подходящем цифровом формате, либо предварительно оцифровываются с помощью диджитайзера или сканера. Каждый элемент или объект изображения имеет координатную привязку. Тем самым, любые свойства и характеристики реальных объектов (моделей) или их элементов "привязаны" к местоположению объекта в координатной сетке. При этом всегда следует иметь в виду, что технологии оцифровки или занесения данных в конкретный тематический слой, а также наложение и сведение слоев могут сопровождаться значительными ошибками, которые в дальнейшем приведут к заметным искажениям картографических данных и визуализации результата </a:t>
            </a:r>
            <a:endParaRPr lang="ru-RU" sz="2000" dirty="0"/>
          </a:p>
        </p:txBody>
      </p:sp>
    </p:spTree>
    <p:extLst>
      <p:ext uri="{BB962C8B-B14F-4D97-AF65-F5344CB8AC3E}">
        <p14:creationId xmlns:p14="http://schemas.microsoft.com/office/powerpoint/2010/main" val="157002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Трансформация слоев и конвертирование данных из одного формата в другой"/>
          <p:cNvPicPr/>
          <p:nvPr/>
        </p:nvPicPr>
        <p:blipFill>
          <a:blip r:embed="rId2">
            <a:extLst>
              <a:ext uri="{28A0092B-C50C-407E-A947-70E740481C1C}">
                <a14:useLocalDpi xmlns:a14="http://schemas.microsoft.com/office/drawing/2010/main" val="0"/>
              </a:ext>
            </a:extLst>
          </a:blip>
          <a:srcRect/>
          <a:stretch>
            <a:fillRect/>
          </a:stretch>
        </p:blipFill>
        <p:spPr bwMode="auto">
          <a:xfrm>
            <a:off x="3863254" y="452870"/>
            <a:ext cx="4158529" cy="2847617"/>
          </a:xfrm>
          <a:prstGeom prst="rect">
            <a:avLst/>
          </a:prstGeom>
          <a:noFill/>
          <a:ln>
            <a:noFill/>
          </a:ln>
        </p:spPr>
      </p:pic>
      <p:sp>
        <p:nvSpPr>
          <p:cNvPr id="3" name="Прямоугольник 2"/>
          <p:cNvSpPr/>
          <p:nvPr/>
        </p:nvSpPr>
        <p:spPr>
          <a:xfrm>
            <a:off x="429492" y="3189651"/>
            <a:ext cx="11526982" cy="3170099"/>
          </a:xfrm>
          <a:prstGeom prst="rect">
            <a:avLst/>
          </a:prstGeom>
        </p:spPr>
        <p:txBody>
          <a:bodyPr wrap="square">
            <a:spAutoFit/>
          </a:bodyPr>
          <a:lstStyle/>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Средства манипулирования представляют собой различные способы выделения, группировку и преобразования данных, например, приведение всей </a:t>
            </a:r>
            <a:r>
              <a:rPr lang="ru-RU" sz="2000" kern="0" dirty="0" err="1">
                <a:solidFill>
                  <a:srgbClr val="000000"/>
                </a:solidFill>
                <a:latin typeface="Times New Roman" panose="02020603050405020304" pitchFamily="18" charset="0"/>
                <a:ea typeface="Times New Roman" panose="02020603050405020304" pitchFamily="18" charset="0"/>
              </a:rPr>
              <a:t>геоинформации</a:t>
            </a:r>
            <a:r>
              <a:rPr lang="ru-RU" sz="2000" kern="0" dirty="0">
                <a:solidFill>
                  <a:srgbClr val="000000"/>
                </a:solidFill>
                <a:latin typeface="Times New Roman" panose="02020603050405020304" pitchFamily="18" charset="0"/>
                <a:ea typeface="Times New Roman" panose="02020603050405020304" pitchFamily="18" charset="0"/>
              </a:rPr>
              <a:t> к единому масштабу и проекции на определенный тематический слой для удобства совместной обработки. Для хранения, структурирования и управления данными в ГИС чаще всего используются реляционные базы данных с элементами OLAP-технологий (</a:t>
            </a:r>
            <a:r>
              <a:rPr lang="ru-RU" sz="2000" kern="0" dirty="0" err="1">
                <a:solidFill>
                  <a:srgbClr val="000000"/>
                </a:solidFill>
                <a:latin typeface="Times New Roman" panose="02020603050405020304" pitchFamily="18" charset="0"/>
                <a:ea typeface="Times New Roman" panose="02020603050405020304" pitchFamily="18" charset="0"/>
              </a:rPr>
              <a:t>On</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Line</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Analytical</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Processing</a:t>
            </a:r>
            <a:r>
              <a:rPr lang="ru-RU" sz="2000" kern="0" dirty="0">
                <a:solidFill>
                  <a:srgbClr val="000000"/>
                </a:solidFill>
                <a:latin typeface="Times New Roman" panose="02020603050405020304" pitchFamily="18" charset="0"/>
                <a:ea typeface="Times New Roman" panose="02020603050405020304" pitchFamily="18" charset="0"/>
              </a:rPr>
              <a:t>) и технологий создания отчетов (</a:t>
            </a:r>
            <a:r>
              <a:rPr lang="ru-RU" sz="2000" kern="0" dirty="0" err="1">
                <a:solidFill>
                  <a:srgbClr val="000000"/>
                </a:solidFill>
                <a:latin typeface="Times New Roman" panose="02020603050405020304" pitchFamily="18" charset="0"/>
                <a:ea typeface="Times New Roman" panose="02020603050405020304" pitchFamily="18" charset="0"/>
              </a:rPr>
              <a:t>Report</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Creation</a:t>
            </a:r>
            <a:r>
              <a:rPr lang="ru-RU" sz="2000" kern="0" dirty="0">
                <a:solidFill>
                  <a:srgbClr val="000000"/>
                </a:solidFill>
                <a:latin typeface="Times New Roman" panose="02020603050405020304" pitchFamily="18" charset="0"/>
                <a:ea typeface="Times New Roman" panose="02020603050405020304" pitchFamily="18" charset="0"/>
              </a:rPr>
              <a:t>).</a:t>
            </a:r>
            <a:endParaRPr lang="ru-RU" sz="2000" kern="50" dirty="0">
              <a:solidFill>
                <a:srgbClr val="00000A"/>
              </a:solidFill>
              <a:latin typeface="Calibri" panose="020F0502020204030204" pitchFamily="34" charset="0"/>
              <a:ea typeface="Times New Roman" panose="02020603050405020304" pitchFamily="18" charset="0"/>
            </a:endParaRPr>
          </a:p>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Запрос и анализ можно выполнять на разных уровнях сложности — от самых простых вопросов: где находится объект и каковы его описательные свойства — до поисков и компиляции данных по сложным шаблонам и сценариям вида "А что если...". В современных ГИС имеются развитые средства анализа взаимной близости и наложения объектов, принадлежащим разным тематическим слоям.</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3328664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promdevelop.ru/wp-content/uploads/2019/11/larsim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1966"/>
            <a:ext cx="6376286" cy="4031673"/>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6331527" y="404658"/>
            <a:ext cx="5583382" cy="4708981"/>
          </a:xfrm>
          <a:prstGeom prst="rect">
            <a:avLst/>
          </a:prstGeom>
        </p:spPr>
        <p:txBody>
          <a:bodyPr wrap="square">
            <a:spAutoFit/>
          </a:bodyPr>
          <a:lstStyle/>
          <a:p>
            <a:pPr indent="450215" algn="just">
              <a:spcAft>
                <a:spcPts val="0"/>
              </a:spcAft>
            </a:pPr>
            <a:r>
              <a:rPr lang="ru-RU" sz="2000" b="1" kern="0" dirty="0">
                <a:solidFill>
                  <a:srgbClr val="FF0000"/>
                </a:solidFill>
                <a:latin typeface="Times New Roman" panose="02020603050405020304" pitchFamily="18" charset="0"/>
                <a:ea typeface="Times New Roman" panose="02020603050405020304" pitchFamily="18" charset="0"/>
              </a:rPr>
              <a:t>Визуализация. </a:t>
            </a:r>
          </a:p>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Результаты различных операций можно просто отображать на экране или же создавать (рисовать) новые объекты с любыми наборами атрибутивных характеристик. Развитые средства и способы визуализации позволяют ГИС легко управлять отображением данных. Традиционным результатом обработки, анализа и отображения пространственных географических данных является карта, которая дополняется отчетными документами, рельефными цветными изображениями реальных и смоделированных объектов, фотографиями, таблицами, диаграммами, видео клипами развития ситуации и другими мультимедийными средствами.</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116647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 y="0"/>
            <a:ext cx="4197810" cy="2812473"/>
          </a:xfrm>
          <a:prstGeom prst="rect">
            <a:avLst/>
          </a:prstGeom>
        </p:spPr>
      </p:pic>
      <p:sp>
        <p:nvSpPr>
          <p:cNvPr id="4" name="Прямоугольник 3"/>
          <p:cNvSpPr/>
          <p:nvPr/>
        </p:nvSpPr>
        <p:spPr>
          <a:xfrm>
            <a:off x="4197810" y="252074"/>
            <a:ext cx="7800225" cy="2246769"/>
          </a:xfrm>
          <a:prstGeom prst="rect">
            <a:avLst/>
          </a:prstGeom>
        </p:spPr>
        <p:txBody>
          <a:bodyPr wrap="square">
            <a:spAutoFit/>
          </a:bodyPr>
          <a:lstStyle/>
          <a:p>
            <a:pPr indent="450215" algn="just">
              <a:spcAft>
                <a:spcPts val="0"/>
              </a:spcAft>
            </a:pPr>
            <a:r>
              <a:rPr lang="ru-RU" sz="2000" b="1" kern="0" dirty="0">
                <a:solidFill>
                  <a:srgbClr val="FF0000"/>
                </a:solidFill>
                <a:latin typeface="Times New Roman" panose="02020603050405020304" pitchFamily="18" charset="0"/>
                <a:ea typeface="Times New Roman" panose="02020603050405020304" pitchFamily="18" charset="0"/>
              </a:rPr>
              <a:t>Модели географических данны</a:t>
            </a:r>
            <a:r>
              <a:rPr lang="ru-RU" sz="2000" kern="0" dirty="0">
                <a:solidFill>
                  <a:srgbClr val="000000"/>
                </a:solidFill>
                <a:latin typeface="Times New Roman" panose="02020603050405020304" pitchFamily="18" charset="0"/>
                <a:ea typeface="Times New Roman" panose="02020603050405020304" pitchFamily="18" charset="0"/>
              </a:rPr>
              <a:t>х. </a:t>
            </a:r>
          </a:p>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Для графического представления географических данных, описывающих реальные объекты и их модели в ГИС, используются электронные карты и тематические описания. Параметры местоположения объектов и их отношений есть пространственные (метрические) данные, параметры временных и тематических свойств — атрибутивная (описательная) информация.</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
        <p:nvSpPr>
          <p:cNvPr id="5" name="Прямоугольник 4"/>
          <p:cNvSpPr/>
          <p:nvPr/>
        </p:nvSpPr>
        <p:spPr>
          <a:xfrm>
            <a:off x="277090" y="3064547"/>
            <a:ext cx="11720945" cy="3170099"/>
          </a:xfrm>
          <a:prstGeom prst="rect">
            <a:avLst/>
          </a:prstGeom>
        </p:spPr>
        <p:txBody>
          <a:bodyPr wrap="square">
            <a:spAutoFit/>
          </a:bodyPr>
          <a:lstStyle/>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В основе моделей данных в ГИС лежит классификатор объектов карты. Он определяет состав и содержание метрических, семантических, тематических, динамических свойств объекта и их изобразительных средств. Система условных обозначений формируется с использованием палитры красок, текстуры линий и заливок, шаблонов знаков и шрифтов. В современных ГИС реализована технология послойного графического представления информации, она соответствует представлению координатных моделей в топологической форме (представление объектов и их связей в виде графа). Атрибутивная информация отображается на слое электронной карты числами, символами и их совокупностями — надписями. Связь координатных и атрибутивных данных устанавливается в БД через соответствующие идентификаторы (по умолчанию или через пользовательский интерфейс). Для представления географических объектов применяются растровые и векторные модели.</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3965139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https://present5.com/presentforday2/20161115/0.vvedenie.ppt_images/0.vvedenie.ppt_2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691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400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6" name="Picture 6" descr="https://studfile.net/html/2706/275/html_uufrm6TXaY.zw4o/htmlconvd-n2e4WQ_html_949da5232734977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866" y="138112"/>
            <a:ext cx="6819900" cy="5114926"/>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6622473" y="889522"/>
            <a:ext cx="5320145" cy="4401205"/>
          </a:xfrm>
          <a:prstGeom prst="rect">
            <a:avLst/>
          </a:prstGeom>
        </p:spPr>
        <p:txBody>
          <a:bodyPr wrap="square">
            <a:spAutoFit/>
          </a:bodyPr>
          <a:lstStyle/>
          <a:p>
            <a:pPr indent="450215" algn="just">
              <a:spcAft>
                <a:spcPts val="0"/>
              </a:spcAft>
            </a:pPr>
            <a:r>
              <a:rPr lang="ru-RU" sz="2000" b="1" i="1" kern="0" dirty="0">
                <a:solidFill>
                  <a:srgbClr val="000000"/>
                </a:solidFill>
                <a:latin typeface="Times New Roman" panose="02020603050405020304" pitchFamily="18" charset="0"/>
                <a:ea typeface="Times New Roman" panose="02020603050405020304" pitchFamily="18" charset="0"/>
              </a:rPr>
              <a:t>Растровая модель </a:t>
            </a:r>
            <a:r>
              <a:rPr lang="ru-RU" sz="2000" kern="0" dirty="0">
                <a:solidFill>
                  <a:srgbClr val="000000"/>
                </a:solidFill>
                <a:latin typeface="Times New Roman" panose="02020603050405020304" pitchFamily="18" charset="0"/>
                <a:ea typeface="Times New Roman" panose="02020603050405020304" pitchFamily="18" charset="0"/>
              </a:rPr>
              <a:t>— отображение участков поверхности суши и океанов в виде дискретного набора элементов, составляющих нужную картину. Такие элементы называются пикселами (</a:t>
            </a:r>
            <a:r>
              <a:rPr lang="ru-RU" sz="2000" kern="0" dirty="0" err="1">
                <a:solidFill>
                  <a:srgbClr val="000000"/>
                </a:solidFill>
                <a:latin typeface="Times New Roman" panose="02020603050405020304" pitchFamily="18" charset="0"/>
                <a:ea typeface="Times New Roman" panose="02020603050405020304" pitchFamily="18" charset="0"/>
              </a:rPr>
              <a:t>Picture</a:t>
            </a:r>
            <a:r>
              <a:rPr lang="ru-RU" sz="2000" kern="0" dirty="0">
                <a:solidFill>
                  <a:srgbClr val="000000"/>
                </a:solidFill>
                <a:latin typeface="Times New Roman" panose="02020603050405020304" pitchFamily="18" charset="0"/>
                <a:ea typeface="Times New Roman" panose="02020603050405020304" pitchFamily="18" charset="0"/>
              </a:rPr>
              <a:t> </a:t>
            </a:r>
            <a:r>
              <a:rPr lang="ru-RU" sz="2000" kern="0" dirty="0" err="1">
                <a:solidFill>
                  <a:srgbClr val="000000"/>
                </a:solidFill>
                <a:latin typeface="Times New Roman" panose="02020603050405020304" pitchFamily="18" charset="0"/>
                <a:ea typeface="Times New Roman" panose="02020603050405020304" pitchFamily="18" charset="0"/>
              </a:rPr>
              <a:t>Element</a:t>
            </a:r>
            <a:r>
              <a:rPr lang="ru-RU" sz="2000" kern="0" dirty="0">
                <a:solidFill>
                  <a:srgbClr val="000000"/>
                </a:solidFill>
                <a:latin typeface="Times New Roman" panose="02020603050405020304" pitchFamily="18" charset="0"/>
                <a:ea typeface="Times New Roman" panose="02020603050405020304" pitchFamily="18" charset="0"/>
              </a:rPr>
              <a:t>), они образуют отображение тематического слоя электронной карты на экране монитора. Каждый пиксел занимает некоторую малую площадь в виде прямоугольника, имеет координаты центра (X,Y) в плоскости слоя карты, связанные с координатами точек географического объекта, и описание его свойств (яркость, цвет и плотность тона), соответствующих аналогичным свойствам объекта.</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283695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s://cf2.ppt-online.org/files2/slide/c/cg4hpzefmIZL08BnMTYEuXGAotPUOJW37is2vVyKlN/slid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91" y="-41563"/>
            <a:ext cx="9424266" cy="5282744"/>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779029" y="4919008"/>
            <a:ext cx="11066607" cy="1938992"/>
          </a:xfrm>
          <a:prstGeom prst="rect">
            <a:avLst/>
          </a:prstGeom>
        </p:spPr>
        <p:txBody>
          <a:bodyPr wrap="square">
            <a:spAutoFit/>
          </a:bodyPr>
          <a:lstStyle/>
          <a:p>
            <a:pPr indent="450215" algn="just">
              <a:spcAft>
                <a:spcPts val="0"/>
              </a:spcAft>
            </a:pPr>
            <a:r>
              <a:rPr lang="ru-RU" sz="2000" kern="0" dirty="0">
                <a:solidFill>
                  <a:srgbClr val="000000"/>
                </a:solidFill>
                <a:latin typeface="Times New Roman" panose="02020603050405020304" pitchFamily="18" charset="0"/>
                <a:ea typeface="Times New Roman" panose="02020603050405020304" pitchFamily="18" charset="0"/>
              </a:rPr>
              <a:t>Такие изображения хороши для зрительного восприятия и удобны для многоаспектной обработки. Однако они занимают много места в памяти вычислительных устройств и плохо масштабируются — при многократном и многоразовом изменении масштаба, сжатии и дешифровке четкость изображений сильно ухудшается. Поэтому в тех случаях, где заранее оговаривается необходимость масштабирования изображений без потери четкости, применяется технология векторной графики.</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850373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https://present5.com/presentation/21808252_445720222/image-1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858000" cy="5143501"/>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6664035" y="778686"/>
            <a:ext cx="5292437" cy="4401205"/>
          </a:xfrm>
          <a:prstGeom prst="rect">
            <a:avLst/>
          </a:prstGeom>
        </p:spPr>
        <p:txBody>
          <a:bodyPr wrap="square">
            <a:spAutoFit/>
          </a:bodyPr>
          <a:lstStyle/>
          <a:p>
            <a:pPr indent="450215" algn="just">
              <a:spcAft>
                <a:spcPts val="0"/>
              </a:spcAft>
            </a:pPr>
            <a:r>
              <a:rPr lang="ru-RU" sz="2000" b="1" i="1" kern="0" dirty="0">
                <a:solidFill>
                  <a:srgbClr val="000000"/>
                </a:solidFill>
                <a:latin typeface="Times New Roman" panose="02020603050405020304" pitchFamily="18" charset="0"/>
                <a:ea typeface="Times New Roman" panose="02020603050405020304" pitchFamily="18" charset="0"/>
              </a:rPr>
              <a:t>Векторная модель </a:t>
            </a:r>
            <a:r>
              <a:rPr lang="ru-RU" sz="2000" kern="0" dirty="0">
                <a:solidFill>
                  <a:srgbClr val="000000"/>
                </a:solidFill>
                <a:latin typeface="Times New Roman" panose="02020603050405020304" pitchFamily="18" charset="0"/>
                <a:ea typeface="Times New Roman" panose="02020603050405020304" pitchFamily="18" charset="0"/>
              </a:rPr>
              <a:t>— это структурно заданное графическое изображение пространственного объекта. Положение точек объекта задается координатами конца вектора (</a:t>
            </a:r>
            <a:r>
              <a:rPr lang="ru-RU" sz="2000" kern="0" dirty="0" err="1">
                <a:solidFill>
                  <a:srgbClr val="000000"/>
                </a:solidFill>
                <a:latin typeface="Times New Roman" panose="02020603050405020304" pitchFamily="18" charset="0"/>
                <a:ea typeface="Times New Roman" panose="02020603050405020304" pitchFamily="18" charset="0"/>
              </a:rPr>
              <a:t>x,y,z</a:t>
            </a:r>
            <a:r>
              <a:rPr lang="ru-RU" sz="2000" kern="0" dirty="0">
                <a:solidFill>
                  <a:srgbClr val="000000"/>
                </a:solidFill>
                <a:latin typeface="Times New Roman" panose="02020603050405020304" pitchFamily="18" charset="0"/>
                <a:ea typeface="Times New Roman" panose="02020603050405020304" pitchFamily="18" charset="0"/>
              </a:rPr>
              <a:t>) и описанием свойств этой точки. Отображение объекта задается совокупностью векторов. Так как конец вектора (точка) не имеет площади, то при многократном увеличении или уменьшении изображения объекта (масштабировании) искажения не происходит. Векторная графика оперирует точечными, линейными (дуги и контуры) и площадными (полигонными) моделями пространственных объектов.</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4093322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506335" y="0"/>
            <a:ext cx="8630376" cy="830997"/>
          </a:xfrm>
          <a:prstGeom prst="rect">
            <a:avLst/>
          </a:prstGeom>
        </p:spPr>
        <p:txBody>
          <a:bodyPr wrap="none">
            <a:spAutoFit/>
          </a:bodyPr>
          <a:lstStyle/>
          <a:p>
            <a:pPr indent="450215" algn="just"/>
            <a:r>
              <a:rPr lang="ru-RU" sz="2400" b="1" dirty="0">
                <a:solidFill>
                  <a:srgbClr val="FF0000"/>
                </a:solidFill>
              </a:rPr>
              <a:t>Допустимы следующие формы векторной модели данных:</a:t>
            </a:r>
          </a:p>
          <a:p>
            <a:pPr indent="450215" algn="just">
              <a:spcAft>
                <a:spcPts val="0"/>
              </a:spcAft>
            </a:pPr>
            <a:endParaRPr lang="ru-RU" sz="2400" b="1" kern="50" dirty="0">
              <a:solidFill>
                <a:srgbClr val="FF0000"/>
              </a:solidFill>
              <a:effectLst/>
              <a:latin typeface="Calibri" panose="020F0502020204030204" pitchFamily="34" charset="0"/>
              <a:ea typeface="Times New Roman" panose="02020603050405020304" pitchFamily="18" charset="0"/>
            </a:endParaRPr>
          </a:p>
        </p:txBody>
      </p:sp>
      <p:graphicFrame>
        <p:nvGraphicFramePr>
          <p:cNvPr id="3" name="Схема 2"/>
          <p:cNvGraphicFramePr/>
          <p:nvPr>
            <p:extLst>
              <p:ext uri="{D42A27DB-BD31-4B8C-83A1-F6EECF244321}">
                <p14:modId xmlns:p14="http://schemas.microsoft.com/office/powerpoint/2010/main" val="3583658710"/>
              </p:ext>
            </p:extLst>
          </p:nvPr>
        </p:nvGraphicFramePr>
        <p:xfrm>
          <a:off x="290945" y="623456"/>
          <a:ext cx="11734800" cy="6040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6024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29</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0" algn="ctr"/>
            <a:r>
              <a:rPr lang="ru-RU" sz="4000" b="1" dirty="0">
                <a:solidFill>
                  <a:srgbClr val="FF0000"/>
                </a:solidFill>
              </a:rPr>
              <a:t>ИНСТРУМЕНТЫ РЕАЛИЗАЦИИ И ПОДДЕРЖКИ ГИС</a:t>
            </a:r>
          </a:p>
          <a:p>
            <a:pPr lvl="1" algn="ctr"/>
            <a:r>
              <a:rPr lang="ru-RU" sz="4000" b="1" dirty="0"/>
              <a:t>Вопрос 4</a:t>
            </a:r>
            <a:endParaRPr lang="ru-RU" sz="4000" dirty="0"/>
          </a:p>
        </p:txBody>
      </p:sp>
    </p:spTree>
    <p:extLst>
      <p:ext uri="{BB962C8B-B14F-4D97-AF65-F5344CB8AC3E}">
        <p14:creationId xmlns:p14="http://schemas.microsoft.com/office/powerpoint/2010/main" val="1557273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08250" y="0"/>
            <a:ext cx="5966086" cy="6622473"/>
          </a:xfrm>
          <a:prstGeom prst="rect">
            <a:avLst/>
          </a:prstGeom>
        </p:spPr>
      </p:pic>
      <p:sp>
        <p:nvSpPr>
          <p:cNvPr id="3" name="Прямоугольник 2"/>
          <p:cNvSpPr/>
          <p:nvPr/>
        </p:nvSpPr>
        <p:spPr>
          <a:xfrm>
            <a:off x="5943600" y="1138673"/>
            <a:ext cx="6096000" cy="3785652"/>
          </a:xfrm>
          <a:prstGeom prst="rect">
            <a:avLst/>
          </a:prstGeom>
        </p:spPr>
        <p:txBody>
          <a:bodyPr>
            <a:spAutoFit/>
          </a:bodyPr>
          <a:lstStyle/>
          <a:p>
            <a:r>
              <a:rPr lang="ru-RU" sz="2400" kern="50" dirty="0">
                <a:solidFill>
                  <a:srgbClr val="000000"/>
                </a:solidFill>
                <a:latin typeface="Calibri" panose="020F0502020204030204" pitchFamily="34" charset="0"/>
                <a:ea typeface="Times New Roman" panose="02020603050405020304" pitchFamily="18" charset="0"/>
              </a:rPr>
              <a:t>По своему назначению ГИС можно разделить на четыре широкие функциональные категории: </a:t>
            </a:r>
          </a:p>
          <a:p>
            <a:pPr marL="342900" indent="-342900">
              <a:buFont typeface="Arial" panose="020B0604020202020204" pitchFamily="34" charset="0"/>
              <a:buChar char="•"/>
            </a:pPr>
            <a:r>
              <a:rPr lang="ru-RU" sz="2400" kern="50" dirty="0">
                <a:solidFill>
                  <a:srgbClr val="000000"/>
                </a:solidFill>
                <a:latin typeface="Calibri" panose="020F0502020204030204" pitchFamily="34" charset="0"/>
                <a:ea typeface="Times New Roman" panose="02020603050405020304" pitchFamily="18" charset="0"/>
              </a:rPr>
              <a:t>простые инструменты составления карт и диаграмм;</a:t>
            </a:r>
          </a:p>
          <a:p>
            <a:pPr marL="342900" indent="-342900">
              <a:buFont typeface="Arial" panose="020B0604020202020204" pitchFamily="34" charset="0"/>
              <a:buChar char="•"/>
            </a:pPr>
            <a:r>
              <a:rPr lang="ru-RU" sz="2400" kern="50" dirty="0">
                <a:solidFill>
                  <a:srgbClr val="000000"/>
                </a:solidFill>
                <a:latin typeface="Calibri" panose="020F0502020204030204" pitchFamily="34" charset="0"/>
                <a:ea typeface="Times New Roman" panose="02020603050405020304" pitchFamily="18" charset="0"/>
              </a:rPr>
              <a:t> настольные компьютерные и встроенные ГИС-пакеты широкого применения; </a:t>
            </a:r>
          </a:p>
          <a:p>
            <a:pPr marL="342900" indent="-342900">
              <a:buFont typeface="Arial" panose="020B0604020202020204" pitchFamily="34" charset="0"/>
              <a:buChar char="•"/>
            </a:pPr>
            <a:r>
              <a:rPr lang="ru-RU" sz="2400" kern="50" dirty="0">
                <a:solidFill>
                  <a:srgbClr val="000000"/>
                </a:solidFill>
                <a:latin typeface="Calibri" panose="020F0502020204030204" pitchFamily="34" charset="0"/>
                <a:ea typeface="Times New Roman" panose="02020603050405020304" pitchFamily="18" charset="0"/>
              </a:rPr>
              <a:t>полнофункциональные системы; </a:t>
            </a:r>
          </a:p>
          <a:p>
            <a:pPr marL="342900" indent="-342900">
              <a:buFont typeface="Arial" panose="020B0604020202020204" pitchFamily="34" charset="0"/>
              <a:buChar char="•"/>
            </a:pPr>
            <a:r>
              <a:rPr lang="ru-RU" sz="2400" kern="50" dirty="0">
                <a:solidFill>
                  <a:srgbClr val="000000"/>
                </a:solidFill>
                <a:latin typeface="Calibri" panose="020F0502020204030204" pitchFamily="34" charset="0"/>
                <a:ea typeface="Times New Roman" panose="02020603050405020304" pitchFamily="18" charset="0"/>
              </a:rPr>
              <a:t>ГИС уровня всего предприятия (корпоративные системы) </a:t>
            </a:r>
            <a:endParaRPr lang="ru-RU" sz="2400" dirty="0"/>
          </a:p>
        </p:txBody>
      </p:sp>
    </p:spTree>
    <p:extLst>
      <p:ext uri="{BB962C8B-B14F-4D97-AF65-F5344CB8AC3E}">
        <p14:creationId xmlns:p14="http://schemas.microsoft.com/office/powerpoint/2010/main" val="1143221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s://studfile.net/html/2706/661/html_6cjubOSdr8.T7FF/img-_GgIH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457950" cy="5943601"/>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5735782" y="1554632"/>
            <a:ext cx="6096000" cy="4708981"/>
          </a:xfrm>
          <a:prstGeom prst="rect">
            <a:avLst/>
          </a:prstGeom>
        </p:spPr>
        <p:txBody>
          <a:bodyPr>
            <a:spAutoFit/>
          </a:bodyPr>
          <a:lstStyle/>
          <a:p>
            <a:pPr indent="450215" algn="just">
              <a:spcAft>
                <a:spcPts val="0"/>
              </a:spcAft>
            </a:pPr>
            <a:r>
              <a:rPr lang="ru-RU" sz="2000" b="1" i="1" dirty="0">
                <a:solidFill>
                  <a:srgbClr val="000000"/>
                </a:solidFill>
                <a:latin typeface="Times New Roman" panose="02020603050405020304" pitchFamily="18" charset="0"/>
                <a:ea typeface="Times New Roman" panose="02020603050405020304" pitchFamily="18" charset="0"/>
              </a:rPr>
              <a:t>Инструменты составления диаграмм данных и картирования. </a:t>
            </a:r>
            <a:r>
              <a:rPr lang="ru-RU" sz="2000" dirty="0">
                <a:solidFill>
                  <a:srgbClr val="000000"/>
                </a:solidFill>
                <a:latin typeface="Times New Roman" panose="02020603050405020304" pitchFamily="18" charset="0"/>
                <a:ea typeface="Times New Roman" panose="02020603050405020304" pitchFamily="18" charset="0"/>
              </a:rPr>
              <a:t>Средства этой категории дешевы и просты в использовании, но по некоторым функциональным возможностям могут быть вполне сравнимы с более сложными системами. Типичными примерами являются инструменты для электронных таблиц, например, </a:t>
            </a:r>
            <a:r>
              <a:rPr lang="ru-RU" sz="2000" dirty="0" err="1">
                <a:solidFill>
                  <a:srgbClr val="000000"/>
                </a:solidFill>
                <a:latin typeface="Times New Roman" panose="02020603050405020304" pitchFamily="18" charset="0"/>
                <a:ea typeface="Times New Roman" panose="02020603050405020304" pitchFamily="18" charset="0"/>
              </a:rPr>
              <a:t>Microsoft</a:t>
            </a:r>
            <a:r>
              <a:rPr lang="ru-RU" sz="2000" dirty="0">
                <a:solidFill>
                  <a:srgbClr val="000000"/>
                </a:solidFill>
                <a:latin typeface="Times New Roman" panose="02020603050405020304" pitchFamily="18" charset="0"/>
                <a:ea typeface="Times New Roman" panose="02020603050405020304" pitchFamily="18" charset="0"/>
              </a:rPr>
              <a:t> </a:t>
            </a:r>
            <a:r>
              <a:rPr lang="ru-RU" sz="2000" dirty="0" err="1">
                <a:solidFill>
                  <a:srgbClr val="000000"/>
                </a:solidFill>
                <a:latin typeface="Times New Roman" panose="02020603050405020304" pitchFamily="18" charset="0"/>
                <a:ea typeface="Times New Roman" panose="02020603050405020304" pitchFamily="18" charset="0"/>
              </a:rPr>
              <a:t>Map</a:t>
            </a:r>
            <a:r>
              <a:rPr lang="ru-RU" sz="2000" dirty="0">
                <a:solidFill>
                  <a:srgbClr val="000000"/>
                </a:solidFill>
                <a:latin typeface="Times New Roman" panose="02020603050405020304" pitchFamily="18" charset="0"/>
                <a:ea typeface="Times New Roman" panose="02020603050405020304" pitchFamily="18" charset="0"/>
              </a:rPr>
              <a:t> в </a:t>
            </a:r>
            <a:r>
              <a:rPr lang="ru-RU" sz="2000" dirty="0" err="1">
                <a:solidFill>
                  <a:srgbClr val="000000"/>
                </a:solidFill>
                <a:latin typeface="Times New Roman" panose="02020603050405020304" pitchFamily="18" charset="0"/>
                <a:ea typeface="Times New Roman" panose="02020603050405020304" pitchFamily="18" charset="0"/>
              </a:rPr>
              <a:t>Excel</a:t>
            </a:r>
            <a:r>
              <a:rPr lang="ru-RU" sz="2000" dirty="0">
                <a:solidFill>
                  <a:srgbClr val="000000"/>
                </a:solidFill>
                <a:latin typeface="Times New Roman" panose="02020603050405020304" pitchFamily="18" charset="0"/>
                <a:ea typeface="Times New Roman" panose="02020603050405020304" pitchFamily="18" charset="0"/>
              </a:rPr>
              <a:t> и </a:t>
            </a:r>
            <a:r>
              <a:rPr lang="ru-RU" sz="2000" dirty="0" err="1">
                <a:solidFill>
                  <a:srgbClr val="000000"/>
                </a:solidFill>
                <a:latin typeface="Times New Roman" panose="02020603050405020304" pitchFamily="18" charset="0"/>
                <a:ea typeface="Times New Roman" panose="02020603050405020304" pitchFamily="18" charset="0"/>
              </a:rPr>
              <a:t>Lotus</a:t>
            </a:r>
            <a:r>
              <a:rPr lang="ru-RU" sz="2000" dirty="0">
                <a:solidFill>
                  <a:srgbClr val="000000"/>
                </a:solidFill>
                <a:latin typeface="Times New Roman" panose="02020603050405020304" pitchFamily="18" charset="0"/>
                <a:ea typeface="Times New Roman" panose="02020603050405020304" pitchFamily="18" charset="0"/>
              </a:rPr>
              <a:t> </a:t>
            </a:r>
            <a:r>
              <a:rPr lang="ru-RU" sz="2000" dirty="0" err="1">
                <a:solidFill>
                  <a:srgbClr val="000000"/>
                </a:solidFill>
                <a:latin typeface="Times New Roman" panose="02020603050405020304" pitchFamily="18" charset="0"/>
                <a:ea typeface="Times New Roman" panose="02020603050405020304" pitchFamily="18" charset="0"/>
              </a:rPr>
              <a:t>Maps</a:t>
            </a:r>
            <a:r>
              <a:rPr lang="ru-RU" sz="2000" dirty="0">
                <a:solidFill>
                  <a:srgbClr val="000000"/>
                </a:solidFill>
                <a:latin typeface="Times New Roman" panose="02020603050405020304" pitchFamily="18" charset="0"/>
                <a:ea typeface="Times New Roman" panose="02020603050405020304" pitchFamily="18" charset="0"/>
              </a:rPr>
              <a:t>. Эти приложения доступны любому пользователю электронных таблиц MS </a:t>
            </a:r>
            <a:r>
              <a:rPr lang="ru-RU" sz="2000" dirty="0" err="1">
                <a:solidFill>
                  <a:srgbClr val="000000"/>
                </a:solidFill>
                <a:latin typeface="Times New Roman" panose="02020603050405020304" pitchFamily="18" charset="0"/>
                <a:ea typeface="Times New Roman" panose="02020603050405020304" pitchFamily="18" charset="0"/>
              </a:rPr>
              <a:t>Excel</a:t>
            </a:r>
            <a:r>
              <a:rPr lang="ru-RU" sz="2000" dirty="0">
                <a:solidFill>
                  <a:srgbClr val="000000"/>
                </a:solidFill>
                <a:latin typeface="Times New Roman" panose="02020603050405020304" pitchFamily="18" charset="0"/>
                <a:ea typeface="Times New Roman" panose="02020603050405020304" pitchFamily="18" charset="0"/>
              </a:rPr>
              <a:t> и </a:t>
            </a:r>
            <a:r>
              <a:rPr lang="ru-RU" sz="2000" dirty="0" err="1">
                <a:solidFill>
                  <a:srgbClr val="000000"/>
                </a:solidFill>
                <a:latin typeface="Times New Roman" panose="02020603050405020304" pitchFamily="18" charset="0"/>
                <a:ea typeface="Times New Roman" panose="02020603050405020304" pitchFamily="18" charset="0"/>
              </a:rPr>
              <a:t>Lotus</a:t>
            </a:r>
            <a:r>
              <a:rPr lang="ru-RU" sz="2000" dirty="0">
                <a:solidFill>
                  <a:srgbClr val="000000"/>
                </a:solidFill>
                <a:latin typeface="Times New Roman" panose="02020603050405020304" pitchFamily="18" charset="0"/>
                <a:ea typeface="Times New Roman" panose="02020603050405020304" pitchFamily="18" charset="0"/>
              </a:rPr>
              <a:t> </a:t>
            </a:r>
            <a:r>
              <a:rPr lang="ru-RU" sz="2000" dirty="0" err="1">
                <a:solidFill>
                  <a:srgbClr val="000000"/>
                </a:solidFill>
                <a:latin typeface="Times New Roman" panose="02020603050405020304" pitchFamily="18" charset="0"/>
                <a:ea typeface="Times New Roman" panose="02020603050405020304" pitchFamily="18" charset="0"/>
              </a:rPr>
              <a:t>Notes</a:t>
            </a:r>
            <a:r>
              <a:rPr lang="ru-RU" sz="2000" dirty="0">
                <a:solidFill>
                  <a:srgbClr val="000000"/>
                </a:solidFill>
                <a:latin typeface="Times New Roman" panose="02020603050405020304" pitchFamily="18" charset="0"/>
                <a:ea typeface="Times New Roman" panose="02020603050405020304" pitchFamily="18" charset="0"/>
              </a:rPr>
              <a:t> и дают возможность легко использовать функции тематического картирования — отображения на карте географической информации из своей базы данных. Любой менеджер за десять минут научится изготовлять карты, нужные для подготовки принятия делового решения.</a:t>
            </a:r>
            <a:endParaRPr lang="ru-RU"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78501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s://gisinfo.ru/images/news_main/galery/2335/bigimg/2335_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207818" y="4611231"/>
            <a:ext cx="9171709" cy="2246769"/>
          </a:xfrm>
          <a:prstGeom prst="rect">
            <a:avLst/>
          </a:prstGeom>
        </p:spPr>
        <p:txBody>
          <a:bodyPr wrap="square">
            <a:spAutoFit/>
          </a:bodyPr>
          <a:lstStyle/>
          <a:p>
            <a:r>
              <a:rPr lang="ru-RU" sz="2000" b="1" kern="50" dirty="0" err="1">
                <a:solidFill>
                  <a:srgbClr val="FF0000"/>
                </a:solidFill>
                <a:latin typeface="Calibri" panose="020F0502020204030204" pitchFamily="34" charset="0"/>
                <a:ea typeface="Times New Roman" panose="02020603050405020304" pitchFamily="18" charset="0"/>
              </a:rPr>
              <a:t>Business</a:t>
            </a:r>
            <a:r>
              <a:rPr lang="ru-RU" sz="2000" b="1" kern="50" dirty="0">
                <a:solidFill>
                  <a:srgbClr val="FF0000"/>
                </a:solidFill>
                <a:latin typeface="Calibri" panose="020F0502020204030204" pitchFamily="34" charset="0"/>
                <a:ea typeface="Times New Roman" panose="02020603050405020304" pitchFamily="18" charset="0"/>
              </a:rPr>
              <a:t> </a:t>
            </a:r>
            <a:r>
              <a:rPr lang="ru-RU" sz="2000" b="1" kern="50" dirty="0" err="1">
                <a:solidFill>
                  <a:srgbClr val="FF0000"/>
                </a:solidFill>
                <a:latin typeface="Calibri" panose="020F0502020204030204" pitchFamily="34" charset="0"/>
                <a:ea typeface="Times New Roman" panose="02020603050405020304" pitchFamily="18" charset="0"/>
              </a:rPr>
              <a:t>Map</a:t>
            </a:r>
            <a:r>
              <a:rPr lang="ru-RU" sz="2000" b="1" kern="50" dirty="0">
                <a:solidFill>
                  <a:srgbClr val="FF0000"/>
                </a:solidFill>
                <a:latin typeface="Calibri" panose="020F0502020204030204" pitchFamily="34" charset="0"/>
                <a:ea typeface="Times New Roman" panose="02020603050405020304" pitchFamily="18" charset="0"/>
              </a:rPr>
              <a:t> </a:t>
            </a:r>
            <a:r>
              <a:rPr lang="ru-RU" sz="2000" kern="50" dirty="0">
                <a:solidFill>
                  <a:srgbClr val="FF0000"/>
                </a:solidFill>
                <a:latin typeface="Calibri" panose="020F0502020204030204" pitchFamily="34" charset="0"/>
                <a:ea typeface="Times New Roman" panose="02020603050405020304" pitchFamily="18" charset="0"/>
              </a:rPr>
              <a:t>предназначен для пользователей, которым нужно больше, чем просто тематическое картирование. </a:t>
            </a:r>
            <a:r>
              <a:rPr lang="ru-RU" sz="2000" kern="50" dirty="0" err="1">
                <a:solidFill>
                  <a:srgbClr val="FF0000"/>
                </a:solidFill>
                <a:latin typeface="Calibri" panose="020F0502020204030204" pitchFamily="34" charset="0"/>
                <a:ea typeface="Times New Roman" panose="02020603050405020304" pitchFamily="18" charset="0"/>
              </a:rPr>
              <a:t>Business</a:t>
            </a:r>
            <a:r>
              <a:rPr lang="ru-RU" sz="2000" kern="50" dirty="0">
                <a:solidFill>
                  <a:srgbClr val="FF0000"/>
                </a:solidFill>
                <a:latin typeface="Calibri" panose="020F0502020204030204" pitchFamily="34" charset="0"/>
                <a:ea typeface="Times New Roman" panose="02020603050405020304" pitchFamily="18" charset="0"/>
              </a:rPr>
              <a:t> </a:t>
            </a:r>
            <a:r>
              <a:rPr lang="ru-RU" sz="2000" kern="50" dirty="0" err="1">
                <a:solidFill>
                  <a:srgbClr val="FF0000"/>
                </a:solidFill>
                <a:latin typeface="Calibri" panose="020F0502020204030204" pitchFamily="34" charset="0"/>
                <a:ea typeface="Times New Roman" panose="02020603050405020304" pitchFamily="18" charset="0"/>
              </a:rPr>
              <a:t>Map</a:t>
            </a:r>
            <a:r>
              <a:rPr lang="ru-RU" sz="2000" kern="50" dirty="0">
                <a:solidFill>
                  <a:srgbClr val="FF0000"/>
                </a:solidFill>
                <a:latin typeface="Calibri" panose="020F0502020204030204" pitchFamily="34" charset="0"/>
                <a:ea typeface="Times New Roman" panose="02020603050405020304" pitchFamily="18" charset="0"/>
              </a:rPr>
              <a:t> работает с данными наиболее популярных электронных таблиц и баз данных и поддерживает такие возможности анализа в области бизнеса и управления, как, например, пространственные запросы, управление отображаемым составом карты, определение и связывание координат, почтовых индексов и адресов реальных объектов. </a:t>
            </a:r>
            <a:endParaRPr lang="ru-RU" sz="2000" dirty="0">
              <a:solidFill>
                <a:srgbClr val="FF0000"/>
              </a:solidFill>
            </a:endParaRPr>
          </a:p>
        </p:txBody>
      </p:sp>
    </p:spTree>
    <p:extLst>
      <p:ext uri="{BB962C8B-B14F-4D97-AF65-F5344CB8AC3E}">
        <p14:creationId xmlns:p14="http://schemas.microsoft.com/office/powerpoint/2010/main" val="2200745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s://gisinfo.ru/images/products/linux/pan_edit.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357091" cy="4017818"/>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854364" y="4180344"/>
            <a:ext cx="6096000" cy="2677656"/>
          </a:xfrm>
          <a:prstGeom prst="rect">
            <a:avLst/>
          </a:prstGeom>
        </p:spPr>
        <p:txBody>
          <a:bodyPr>
            <a:spAutoFit/>
          </a:bodyPr>
          <a:lstStyle/>
          <a:p>
            <a:pPr indent="450215" algn="just">
              <a:spcAft>
                <a:spcPts val="0"/>
              </a:spcAft>
            </a:pPr>
            <a:r>
              <a:rPr lang="ru-RU" sz="2400" b="1" i="1" dirty="0">
                <a:solidFill>
                  <a:srgbClr val="000000"/>
                </a:solidFill>
                <a:latin typeface="Times New Roman" panose="02020603050405020304" pitchFamily="18" charset="0"/>
                <a:ea typeface="Times New Roman" panose="02020603050405020304" pitchFamily="18" charset="0"/>
              </a:rPr>
              <a:t>Средства просмотра цифровых карт </a:t>
            </a:r>
            <a:r>
              <a:rPr lang="ru-RU" sz="2400" dirty="0">
                <a:solidFill>
                  <a:srgbClr val="000000"/>
                </a:solidFill>
                <a:latin typeface="Times New Roman" panose="02020603050405020304" pitchFamily="18" charset="0"/>
                <a:ea typeface="Times New Roman" panose="02020603050405020304" pitchFamily="18" charset="0"/>
              </a:rPr>
              <a:t>(</a:t>
            </a:r>
            <a:r>
              <a:rPr lang="ru-RU" sz="2400" dirty="0" err="1">
                <a:solidFill>
                  <a:srgbClr val="000000"/>
                </a:solidFill>
                <a:latin typeface="Times New Roman" panose="02020603050405020304" pitchFamily="18" charset="0"/>
                <a:ea typeface="Times New Roman" panose="02020603050405020304" pitchFamily="18" charset="0"/>
              </a:rPr>
              <a:t>Viewer</a:t>
            </a:r>
            <a:r>
              <a:rPr lang="ru-RU" sz="2400" dirty="0">
                <a:solidFill>
                  <a:srgbClr val="000000"/>
                </a:solidFill>
                <a:latin typeface="Times New Roman" panose="02020603050405020304" pitchFamily="18" charset="0"/>
                <a:ea typeface="Times New Roman" panose="02020603050405020304" pitchFamily="18" charset="0"/>
              </a:rPr>
              <a:t> </a:t>
            </a:r>
            <a:r>
              <a:rPr lang="ru-RU" sz="2400" dirty="0" err="1">
                <a:solidFill>
                  <a:srgbClr val="000000"/>
                </a:solidFill>
                <a:latin typeface="Times New Roman" panose="02020603050405020304" pitchFamily="18" charset="0"/>
                <a:ea typeface="Times New Roman" panose="02020603050405020304" pitchFamily="18" charset="0"/>
              </a:rPr>
              <a:t>Facilities</a:t>
            </a:r>
            <a:r>
              <a:rPr lang="ru-RU" sz="2400" dirty="0">
                <a:solidFill>
                  <a:srgbClr val="000000"/>
                </a:solidFill>
                <a:latin typeface="Times New Roman" panose="02020603050405020304" pitchFamily="18" charset="0"/>
                <a:ea typeface="Times New Roman" panose="02020603050405020304" pitchFamily="18" charset="0"/>
              </a:rPr>
              <a:t>). Для примера, можно привести </a:t>
            </a:r>
            <a:r>
              <a:rPr lang="ru-RU" sz="2400" dirty="0" err="1">
                <a:solidFill>
                  <a:srgbClr val="000000"/>
                </a:solidFill>
                <a:latin typeface="Times New Roman" panose="02020603050405020304" pitchFamily="18" charset="0"/>
                <a:ea typeface="Times New Roman" panose="02020603050405020304" pitchFamily="18" charset="0"/>
              </a:rPr>
              <a:t>Geomedia</a:t>
            </a:r>
            <a:r>
              <a:rPr lang="ru-RU" sz="2400" dirty="0">
                <a:solidFill>
                  <a:srgbClr val="000000"/>
                </a:solidFill>
                <a:latin typeface="Times New Roman" panose="02020603050405020304" pitchFamily="18" charset="0"/>
                <a:ea typeface="Times New Roman" panose="02020603050405020304" pitchFamily="18" charset="0"/>
              </a:rPr>
              <a:t> </a:t>
            </a:r>
            <a:r>
              <a:rPr lang="ru-RU" sz="2400" dirty="0" err="1">
                <a:solidFill>
                  <a:srgbClr val="000000"/>
                </a:solidFill>
                <a:latin typeface="Times New Roman" panose="02020603050405020304" pitchFamily="18" charset="0"/>
                <a:ea typeface="Times New Roman" panose="02020603050405020304" pitchFamily="18" charset="0"/>
              </a:rPr>
              <a:t>Viewer</a:t>
            </a:r>
            <a:r>
              <a:rPr lang="ru-RU" sz="2400" dirty="0">
                <a:solidFill>
                  <a:srgbClr val="000000"/>
                </a:solidFill>
                <a:latin typeface="Times New Roman" panose="02020603050405020304" pitchFamily="18" charset="0"/>
                <a:ea typeface="Times New Roman" panose="02020603050405020304" pitchFamily="18" charset="0"/>
              </a:rPr>
              <a:t> от </a:t>
            </a:r>
            <a:r>
              <a:rPr lang="ru-RU" sz="2400" dirty="0" err="1">
                <a:solidFill>
                  <a:srgbClr val="000000"/>
                </a:solidFill>
                <a:latin typeface="Times New Roman" panose="02020603050405020304" pitchFamily="18" charset="0"/>
                <a:ea typeface="Times New Roman" panose="02020603050405020304" pitchFamily="18" charset="0"/>
              </a:rPr>
              <a:t>Intergraph</a:t>
            </a:r>
            <a:r>
              <a:rPr lang="ru-RU" sz="2400" dirty="0">
                <a:solidFill>
                  <a:srgbClr val="000000"/>
                </a:solidFill>
                <a:latin typeface="Times New Roman" panose="02020603050405020304" pitchFamily="18" charset="0"/>
                <a:ea typeface="Times New Roman" panose="02020603050405020304" pitchFamily="18" charset="0"/>
              </a:rPr>
              <a:t> или бесплатный (</a:t>
            </a:r>
            <a:r>
              <a:rPr lang="ru-RU" sz="2400" dirty="0" err="1">
                <a:solidFill>
                  <a:srgbClr val="000000"/>
                </a:solidFill>
                <a:latin typeface="Times New Roman" panose="02020603050405020304" pitchFamily="18" charset="0"/>
                <a:ea typeface="Times New Roman" panose="02020603050405020304" pitchFamily="18" charset="0"/>
              </a:rPr>
              <a:t>Free</a:t>
            </a:r>
            <a:r>
              <a:rPr lang="ru-RU" sz="2400" dirty="0">
                <a:solidFill>
                  <a:srgbClr val="000000"/>
                </a:solidFill>
                <a:latin typeface="Times New Roman" panose="02020603050405020304" pitchFamily="18" charset="0"/>
                <a:ea typeface="Times New Roman" panose="02020603050405020304" pitchFamily="18" charset="0"/>
              </a:rPr>
              <a:t>) </a:t>
            </a:r>
            <a:r>
              <a:rPr lang="ru-RU" sz="2400" dirty="0" err="1">
                <a:solidFill>
                  <a:srgbClr val="000000"/>
                </a:solidFill>
                <a:latin typeface="Times New Roman" panose="02020603050405020304" pitchFamily="18" charset="0"/>
                <a:ea typeface="Times New Roman" panose="02020603050405020304" pitchFamily="18" charset="0"/>
              </a:rPr>
              <a:t>ArcExplorer</a:t>
            </a:r>
            <a:r>
              <a:rPr lang="ru-RU" sz="2400" dirty="0">
                <a:solidFill>
                  <a:srgbClr val="000000"/>
                </a:solidFill>
                <a:latin typeface="Times New Roman" panose="02020603050405020304" pitchFamily="18" charset="0"/>
                <a:ea typeface="Times New Roman" panose="02020603050405020304" pitchFamily="18" charset="0"/>
              </a:rPr>
              <a:t>, позволяющий просматривать и запрашивать данные </a:t>
            </a:r>
            <a:r>
              <a:rPr lang="ru-RU" sz="2400" dirty="0" err="1">
                <a:solidFill>
                  <a:srgbClr val="000000"/>
                </a:solidFill>
                <a:latin typeface="Times New Roman" panose="02020603050405020304" pitchFamily="18" charset="0"/>
                <a:ea typeface="Times New Roman" panose="02020603050405020304" pitchFamily="18" charset="0"/>
              </a:rPr>
              <a:t>ArcInfo</a:t>
            </a:r>
            <a:r>
              <a:rPr lang="ru-RU" sz="2400" dirty="0">
                <a:solidFill>
                  <a:srgbClr val="000000"/>
                </a:solidFill>
                <a:latin typeface="Times New Roman" panose="02020603050405020304" pitchFamily="18" charset="0"/>
                <a:ea typeface="Times New Roman" panose="02020603050405020304" pitchFamily="18" charset="0"/>
              </a:rPr>
              <a:t>, </a:t>
            </a:r>
            <a:r>
              <a:rPr lang="ru-RU" sz="2400" dirty="0" err="1">
                <a:solidFill>
                  <a:srgbClr val="000000"/>
                </a:solidFill>
                <a:latin typeface="Times New Roman" panose="02020603050405020304" pitchFamily="18" charset="0"/>
                <a:ea typeface="Times New Roman" panose="02020603050405020304" pitchFamily="18" charset="0"/>
              </a:rPr>
              <a:t>ArcView</a:t>
            </a:r>
            <a:r>
              <a:rPr lang="ru-RU" sz="2400" dirty="0">
                <a:solidFill>
                  <a:srgbClr val="000000"/>
                </a:solidFill>
                <a:latin typeface="Times New Roman" panose="02020603050405020304" pitchFamily="18" charset="0"/>
                <a:ea typeface="Times New Roman" panose="02020603050405020304" pitchFamily="18" charset="0"/>
              </a:rPr>
              <a:t> и SDE, в том числе и через </a:t>
            </a:r>
            <a:r>
              <a:rPr lang="ru-RU" sz="2400" dirty="0" err="1">
                <a:solidFill>
                  <a:srgbClr val="000000"/>
                </a:solidFill>
                <a:latin typeface="Times New Roman" panose="02020603050405020304" pitchFamily="18" charset="0"/>
                <a:ea typeface="Times New Roman" panose="02020603050405020304" pitchFamily="18" charset="0"/>
              </a:rPr>
              <a:t>Internet</a:t>
            </a:r>
            <a:r>
              <a:rPr lang="ru-RU" sz="2400" dirty="0">
                <a:solidFill>
                  <a:srgbClr val="000000"/>
                </a:solidFill>
                <a:latin typeface="Times New Roman" panose="02020603050405020304" pitchFamily="18" charset="0"/>
                <a:ea typeface="Times New Roman" panose="02020603050405020304" pitchFamily="18" charset="0"/>
              </a:rPr>
              <a:t>.</a:t>
            </a:r>
            <a:endParaRPr lang="ru-RU" sz="2400" dirty="0">
              <a:latin typeface="Times New Roman" panose="02020603050405020304" pitchFamily="18" charset="0"/>
              <a:ea typeface="Times New Roman" panose="02020603050405020304" pitchFamily="18" charset="0"/>
            </a:endParaRPr>
          </a:p>
        </p:txBody>
      </p:sp>
      <p:pic>
        <p:nvPicPr>
          <p:cNvPr id="15364" name="Picture 4" descr="https://textarchive.ru/images/1427/2853327/m59f079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0364" y="1579418"/>
            <a:ext cx="5257370" cy="5278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308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s://arcreview.esri-cis.ru/wp-content/uploads/2007/03/file-19-pic-1-gener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372"/>
            <a:ext cx="12192000" cy="6583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598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rrrcn.ru/gis/image08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9501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181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32508" y="252856"/>
            <a:ext cx="11554691" cy="6740307"/>
          </a:xfrm>
          <a:prstGeom prst="rect">
            <a:avLst/>
          </a:prstGeom>
        </p:spPr>
        <p:txBody>
          <a:bodyPr wrap="square">
            <a:spAutoFit/>
          </a:bodyPr>
          <a:lstStyle/>
          <a:p>
            <a:pPr indent="450215" algn="just">
              <a:spcAft>
                <a:spcPts val="0"/>
              </a:spcAft>
            </a:pPr>
            <a:r>
              <a:rPr lang="ru-RU" sz="2400" b="1" i="1" dirty="0">
                <a:solidFill>
                  <a:srgbClr val="000000"/>
                </a:solidFill>
                <a:latin typeface="Times New Roman" panose="02020603050405020304" pitchFamily="18" charset="0"/>
                <a:ea typeface="Times New Roman" panose="02020603050405020304" pitchFamily="18" charset="0"/>
              </a:rPr>
              <a:t>Программный продукт </a:t>
            </a:r>
            <a:r>
              <a:rPr lang="ru-RU" sz="2400" b="1" i="1" dirty="0" err="1">
                <a:solidFill>
                  <a:srgbClr val="000000"/>
                </a:solidFill>
                <a:latin typeface="Times New Roman" panose="02020603050405020304" pitchFamily="18" charset="0"/>
                <a:ea typeface="Times New Roman" panose="02020603050405020304" pitchFamily="18" charset="0"/>
              </a:rPr>
              <a:t>MapInfo</a:t>
            </a:r>
            <a:r>
              <a:rPr lang="ru-RU" sz="2400" b="1" i="1" dirty="0">
                <a:solidFill>
                  <a:srgbClr val="000000"/>
                </a:solidFill>
                <a:latin typeface="Times New Roman" panose="02020603050405020304" pitchFamily="18" charset="0"/>
                <a:ea typeface="Times New Roman" panose="02020603050405020304" pitchFamily="18" charset="0"/>
              </a:rPr>
              <a:t> </a:t>
            </a:r>
            <a:r>
              <a:rPr lang="ru-RU" sz="2400" b="1" i="1" dirty="0" err="1">
                <a:solidFill>
                  <a:srgbClr val="000000"/>
                </a:solidFill>
                <a:latin typeface="Times New Roman" panose="02020603050405020304" pitchFamily="18" charset="0"/>
                <a:ea typeface="Times New Roman" panose="02020603050405020304" pitchFamily="18" charset="0"/>
              </a:rPr>
              <a:t>Professional</a:t>
            </a:r>
            <a:r>
              <a:rPr lang="ru-RU" sz="2400" b="1" i="1" dirty="0">
                <a:solidFill>
                  <a:srgbClr val="000000"/>
                </a:solidFill>
                <a:latin typeface="Times New Roman" panose="02020603050405020304" pitchFamily="18" charset="0"/>
                <a:ea typeface="Times New Roman" panose="02020603050405020304" pitchFamily="18" charset="0"/>
              </a:rPr>
              <a:t> </a:t>
            </a:r>
            <a:r>
              <a:rPr lang="ru-RU" sz="2400" dirty="0">
                <a:solidFill>
                  <a:srgbClr val="000000"/>
                </a:solidFill>
                <a:latin typeface="Times New Roman" panose="02020603050405020304" pitchFamily="18" charset="0"/>
                <a:ea typeface="Times New Roman" panose="02020603050405020304" pitchFamily="18" charset="0"/>
              </a:rPr>
              <a:t>(</a:t>
            </a:r>
            <a:r>
              <a:rPr lang="ru-RU" sz="2400" u="sng" dirty="0">
                <a:solidFill>
                  <a:srgbClr val="0071A6"/>
                </a:solidFill>
                <a:latin typeface="Times New Roman" panose="02020603050405020304" pitchFamily="18" charset="0"/>
                <a:ea typeface="Times New Roman" panose="02020603050405020304" pitchFamily="18" charset="0"/>
                <a:hlinkClick r:id="rId2"/>
              </a:rPr>
              <a:t>http://www.esti-map.ru</a:t>
            </a:r>
            <a:r>
              <a:rPr lang="ru-RU" sz="2400" dirty="0">
                <a:solidFill>
                  <a:srgbClr val="000000"/>
                </a:solidFill>
                <a:latin typeface="Times New Roman" panose="02020603050405020304" pitchFamily="18" charset="0"/>
                <a:ea typeface="Times New Roman" panose="02020603050405020304" pitchFamily="18" charset="0"/>
              </a:rPr>
              <a:t>) в настоящее время является одним из реальных лидеров ГИС в области цифрового картографирования. В дополнение к традиционным функциям для СУБД такого типа </a:t>
            </a:r>
            <a:r>
              <a:rPr lang="ru-RU" sz="2400" dirty="0" err="1">
                <a:solidFill>
                  <a:srgbClr val="000000"/>
                </a:solidFill>
                <a:latin typeface="Times New Roman" panose="02020603050405020304" pitchFamily="18" charset="0"/>
                <a:ea typeface="Times New Roman" panose="02020603050405020304" pitchFamily="18" charset="0"/>
              </a:rPr>
              <a:t>MapInfo</a:t>
            </a:r>
            <a:r>
              <a:rPr lang="ru-RU" sz="2400" dirty="0">
                <a:solidFill>
                  <a:srgbClr val="000000"/>
                </a:solidFill>
                <a:latin typeface="Times New Roman" panose="02020603050405020304" pitchFamily="18" charset="0"/>
                <a:ea typeface="Times New Roman" panose="02020603050405020304" pitchFamily="18" charset="0"/>
              </a:rPr>
              <a:t> позволяет собирать, хранить, отображать, редактировать и обрабатывать картографические данные с учетом пространственных и временных отношений объектов. В одном сеансе работы одновременно могут использоваться данные разных форматов. Источники данных могут быть:</a:t>
            </a:r>
            <a:endParaRPr lang="ru-RU" sz="24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таблицы собственных баз данных </a:t>
            </a:r>
            <a:r>
              <a:rPr lang="ru-RU" sz="2400" kern="50" dirty="0" err="1">
                <a:solidFill>
                  <a:srgbClr val="000000"/>
                </a:solidFill>
                <a:latin typeface="Times New Roman" panose="02020603050405020304" pitchFamily="18" charset="0"/>
                <a:ea typeface="Times New Roman" panose="02020603050405020304" pitchFamily="18" charset="0"/>
              </a:rPr>
              <a:t>MapInfo</a:t>
            </a:r>
            <a:r>
              <a:rPr lang="ru-RU" sz="2400" kern="5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данные в обменных векторных форматах САПР (для встроенных ГИС-приложений) и различных геоинформационных систем: </a:t>
            </a:r>
            <a:r>
              <a:rPr lang="ru-RU" sz="2400" kern="50" dirty="0" err="1">
                <a:solidFill>
                  <a:srgbClr val="000000"/>
                </a:solidFill>
                <a:latin typeface="Times New Roman" panose="02020603050405020304" pitchFamily="18" charset="0"/>
                <a:ea typeface="Times New Roman" panose="02020603050405020304" pitchFamily="18" charset="0"/>
              </a:rPr>
              <a:t>AutoCAD</a:t>
            </a:r>
            <a:r>
              <a:rPr lang="ru-RU" sz="2400" kern="50" dirty="0">
                <a:solidFill>
                  <a:srgbClr val="000000"/>
                </a:solidFill>
                <a:latin typeface="Times New Roman" panose="02020603050405020304" pitchFamily="18" charset="0"/>
                <a:ea typeface="Times New Roman" panose="02020603050405020304" pitchFamily="18" charset="0"/>
              </a:rPr>
              <a:t> (DXF, DWG), </a:t>
            </a:r>
            <a:r>
              <a:rPr lang="ru-RU" sz="2400" kern="50" dirty="0" err="1">
                <a:solidFill>
                  <a:srgbClr val="000000"/>
                </a:solidFill>
                <a:latin typeface="Times New Roman" panose="02020603050405020304" pitchFamily="18" charset="0"/>
                <a:ea typeface="Times New Roman" panose="02020603050405020304" pitchFamily="18" charset="0"/>
              </a:rPr>
              <a:t>Intergraph</a:t>
            </a:r>
            <a:r>
              <a:rPr lang="ru-RU" sz="2400" kern="50" dirty="0">
                <a:solidFill>
                  <a:srgbClr val="000000"/>
                </a:solidFill>
                <a:latin typeface="Times New Roman" panose="02020603050405020304" pitchFamily="18" charset="0"/>
                <a:ea typeface="Times New Roman" panose="02020603050405020304" pitchFamily="18" charset="0"/>
              </a:rPr>
              <a:t>/</a:t>
            </a:r>
            <a:r>
              <a:rPr lang="ru-RU" sz="2400" kern="50" dirty="0" err="1">
                <a:solidFill>
                  <a:srgbClr val="000000"/>
                </a:solidFill>
                <a:latin typeface="Times New Roman" panose="02020603050405020304" pitchFamily="18" charset="0"/>
                <a:ea typeface="Times New Roman" panose="02020603050405020304" pitchFamily="18" charset="0"/>
              </a:rPr>
              <a:t>MicroStation</a:t>
            </a:r>
            <a:r>
              <a:rPr lang="ru-RU" sz="2400" kern="50" dirty="0">
                <a:solidFill>
                  <a:srgbClr val="000000"/>
                </a:solidFill>
                <a:latin typeface="Times New Roman" panose="02020603050405020304" pitchFamily="18" charset="0"/>
                <a:ea typeface="Times New Roman" panose="02020603050405020304" pitchFamily="18" charset="0"/>
              </a:rPr>
              <a:t> </a:t>
            </a:r>
            <a:r>
              <a:rPr lang="ru-RU" sz="2400" kern="50" dirty="0" err="1">
                <a:solidFill>
                  <a:srgbClr val="000000"/>
                </a:solidFill>
                <a:latin typeface="Times New Roman" panose="02020603050405020304" pitchFamily="18" charset="0"/>
                <a:ea typeface="Times New Roman" panose="02020603050405020304" pitchFamily="18" charset="0"/>
              </a:rPr>
              <a:t>Design</a:t>
            </a:r>
            <a:r>
              <a:rPr lang="ru-RU" sz="2400" kern="50" dirty="0">
                <a:solidFill>
                  <a:srgbClr val="000000"/>
                </a:solidFill>
                <a:latin typeface="Times New Roman" panose="02020603050405020304" pitchFamily="18" charset="0"/>
                <a:ea typeface="Times New Roman" panose="02020603050405020304" pitchFamily="18" charset="0"/>
              </a:rPr>
              <a:t>, ESRI </a:t>
            </a:r>
            <a:r>
              <a:rPr lang="ru-RU" sz="2400" kern="50" dirty="0" err="1">
                <a:solidFill>
                  <a:srgbClr val="000000"/>
                </a:solidFill>
                <a:latin typeface="Times New Roman" panose="02020603050405020304" pitchFamily="18" charset="0"/>
                <a:ea typeface="Times New Roman" panose="02020603050405020304" pitchFamily="18" charset="0"/>
              </a:rPr>
              <a:t>Shape</a:t>
            </a:r>
            <a:r>
              <a:rPr lang="ru-RU" sz="2400" kern="50" dirty="0">
                <a:solidFill>
                  <a:srgbClr val="000000"/>
                </a:solidFill>
                <a:latin typeface="Times New Roman" panose="02020603050405020304" pitchFamily="18" charset="0"/>
                <a:ea typeface="Times New Roman" panose="02020603050405020304" pitchFamily="18" charset="0"/>
              </a:rPr>
              <a:t>, ARC/INFO </a:t>
            </a:r>
            <a:r>
              <a:rPr lang="ru-RU" sz="2400" kern="50" dirty="0" err="1">
                <a:solidFill>
                  <a:srgbClr val="000000"/>
                </a:solidFill>
                <a:latin typeface="Times New Roman" panose="02020603050405020304" pitchFamily="18" charset="0"/>
                <a:ea typeface="Times New Roman" panose="02020603050405020304" pitchFamily="18" charset="0"/>
              </a:rPr>
              <a:t>Export</a:t>
            </a:r>
            <a:r>
              <a:rPr lang="ru-RU" sz="2400" kern="50" dirty="0">
                <a:solidFill>
                  <a:srgbClr val="000000"/>
                </a:solidFill>
                <a:latin typeface="Times New Roman" panose="02020603050405020304" pitchFamily="18" charset="0"/>
                <a:ea typeface="Times New Roman" panose="02020603050405020304" pitchFamily="18" charset="0"/>
              </a:rPr>
              <a:t>,</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растровые карты в форматах GIF, JPEG, TIFF, PCX, BMP, PSD, ECW, BIL и GRID (GRA, GRD);</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данные, полученные с помощью GPS, ГЛОНАСС, электронных геодезических приборов (лазерные теодолиты и дальномеры);</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файлы </a:t>
            </a:r>
            <a:r>
              <a:rPr lang="ru-RU" sz="2400" kern="50" dirty="0" err="1">
                <a:solidFill>
                  <a:srgbClr val="000000"/>
                </a:solidFill>
                <a:latin typeface="Times New Roman" panose="02020603050405020304" pitchFamily="18" charset="0"/>
                <a:ea typeface="Times New Roman" panose="02020603050405020304" pitchFamily="18" charset="0"/>
              </a:rPr>
              <a:t>Excel</a:t>
            </a:r>
            <a:r>
              <a:rPr lang="ru-RU" sz="2400" kern="50" dirty="0">
                <a:solidFill>
                  <a:srgbClr val="000000"/>
                </a:solidFill>
                <a:latin typeface="Times New Roman" panose="02020603050405020304" pitchFamily="18" charset="0"/>
                <a:ea typeface="Times New Roman" panose="02020603050405020304" pitchFamily="18" charset="0"/>
              </a:rPr>
              <a:t>, </a:t>
            </a:r>
            <a:r>
              <a:rPr lang="ru-RU" sz="2400" kern="50" dirty="0" err="1">
                <a:solidFill>
                  <a:srgbClr val="000000"/>
                </a:solidFill>
                <a:latin typeface="Times New Roman" panose="02020603050405020304" pitchFamily="18" charset="0"/>
                <a:ea typeface="Times New Roman" panose="02020603050405020304" pitchFamily="18" charset="0"/>
              </a:rPr>
              <a:t>Access</a:t>
            </a:r>
            <a:r>
              <a:rPr lang="ru-RU" sz="2400" kern="50" dirty="0">
                <a:solidFill>
                  <a:srgbClr val="000000"/>
                </a:solidFill>
                <a:latin typeface="Times New Roman" panose="02020603050405020304" pitchFamily="18" charset="0"/>
                <a:ea typeface="Times New Roman" panose="02020603050405020304" pitchFamily="18" charset="0"/>
              </a:rPr>
              <a:t>, </a:t>
            </a:r>
            <a:r>
              <a:rPr lang="ru-RU" sz="2400" kern="50" dirty="0" err="1">
                <a:solidFill>
                  <a:srgbClr val="000000"/>
                </a:solidFill>
                <a:latin typeface="Times New Roman" panose="02020603050405020304" pitchFamily="18" charset="0"/>
                <a:ea typeface="Times New Roman" panose="02020603050405020304" pitchFamily="18" charset="0"/>
              </a:rPr>
              <a:t>xBASE</a:t>
            </a:r>
            <a:r>
              <a:rPr lang="ru-RU" sz="2400" kern="50" dirty="0">
                <a:solidFill>
                  <a:srgbClr val="000000"/>
                </a:solidFill>
                <a:latin typeface="Times New Roman" panose="02020603050405020304" pitchFamily="18" charset="0"/>
                <a:ea typeface="Times New Roman" panose="02020603050405020304" pitchFamily="18" charset="0"/>
              </a:rPr>
              <a:t>, </a:t>
            </a:r>
            <a:r>
              <a:rPr lang="ru-RU" sz="2400" kern="50" dirty="0" err="1">
                <a:solidFill>
                  <a:srgbClr val="000000"/>
                </a:solidFill>
                <a:latin typeface="Times New Roman" panose="02020603050405020304" pitchFamily="18" charset="0"/>
                <a:ea typeface="Times New Roman" panose="02020603050405020304" pitchFamily="18" charset="0"/>
              </a:rPr>
              <a:t>Lotus</a:t>
            </a:r>
            <a:r>
              <a:rPr lang="ru-RU" sz="2400" kern="50" dirty="0">
                <a:solidFill>
                  <a:srgbClr val="000000"/>
                </a:solidFill>
                <a:latin typeface="Times New Roman" panose="02020603050405020304" pitchFamily="18" charset="0"/>
                <a:ea typeface="Times New Roman" panose="02020603050405020304" pitchFamily="18" charset="0"/>
              </a:rPr>
              <a:t> 1-2-3 и текстовые файлы, в которых кроме атрибутивной (описательной) информации могут храниться географические координаты точечных объектов.</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563603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3.bp.blogspot.com/_M0qYrfjMDHE/TLNSyF0VIjI/AAAAAAAAABI/M5qyfNDOq5o/s1600/mapinf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05345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981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18655" y="197346"/>
            <a:ext cx="11499272" cy="6001643"/>
          </a:xfrm>
          <a:prstGeom prst="rect">
            <a:avLst/>
          </a:prstGeom>
        </p:spPr>
        <p:txBody>
          <a:bodyPr wrap="square">
            <a:spAutoFit/>
          </a:bodyPr>
          <a:lstStyle/>
          <a:p>
            <a:pPr indent="450215" algn="just">
              <a:spcAft>
                <a:spcPts val="0"/>
              </a:spcAft>
            </a:pPr>
            <a:r>
              <a:rPr lang="ru-RU" sz="2400" dirty="0">
                <a:solidFill>
                  <a:srgbClr val="000000"/>
                </a:solidFill>
                <a:latin typeface="Times New Roman" panose="02020603050405020304" pitchFamily="18" charset="0"/>
                <a:ea typeface="Times New Roman" panose="02020603050405020304" pitchFamily="18" charset="0"/>
              </a:rPr>
              <a:t>ГИС </a:t>
            </a:r>
            <a:r>
              <a:rPr lang="ru-RU" sz="2400" dirty="0" err="1">
                <a:solidFill>
                  <a:srgbClr val="000000"/>
                </a:solidFill>
                <a:latin typeface="Times New Roman" panose="02020603050405020304" pitchFamily="18" charset="0"/>
                <a:ea typeface="Times New Roman" panose="02020603050405020304" pitchFamily="18" charset="0"/>
              </a:rPr>
              <a:t>MapInfo</a:t>
            </a:r>
            <a:r>
              <a:rPr lang="ru-RU" sz="2400" dirty="0">
                <a:solidFill>
                  <a:srgbClr val="000000"/>
                </a:solidFill>
                <a:latin typeface="Times New Roman" panose="02020603050405020304" pitchFamily="18" charset="0"/>
                <a:ea typeface="Times New Roman" panose="02020603050405020304" pitchFamily="18" charset="0"/>
              </a:rPr>
              <a:t> может выступать в роли "картографического клиента" при работе с такими распространенными СУБД, как </a:t>
            </a:r>
            <a:r>
              <a:rPr lang="ru-RU" sz="2400" dirty="0" err="1">
                <a:solidFill>
                  <a:srgbClr val="000000"/>
                </a:solidFill>
                <a:latin typeface="Times New Roman" panose="02020603050405020304" pitchFamily="18" charset="0"/>
                <a:ea typeface="Times New Roman" panose="02020603050405020304" pitchFamily="18" charset="0"/>
              </a:rPr>
              <a:t>Oracle</a:t>
            </a:r>
            <a:r>
              <a:rPr lang="ru-RU" sz="2400" dirty="0">
                <a:solidFill>
                  <a:srgbClr val="000000"/>
                </a:solidFill>
                <a:latin typeface="Times New Roman" panose="02020603050405020304" pitchFamily="18" charset="0"/>
                <a:ea typeface="Times New Roman" panose="02020603050405020304" pitchFamily="18" charset="0"/>
              </a:rPr>
              <a:t> и DB2, так как поддерживает эффективный механизм взаимодействия с ними через протокол ODBC. Более того, доступ к данным из СУБД </a:t>
            </a:r>
            <a:r>
              <a:rPr lang="ru-RU" sz="2400" dirty="0" err="1">
                <a:solidFill>
                  <a:srgbClr val="000000"/>
                </a:solidFill>
                <a:latin typeface="Times New Roman" panose="02020603050405020304" pitchFamily="18" charset="0"/>
                <a:ea typeface="Times New Roman" panose="02020603050405020304" pitchFamily="18" charset="0"/>
              </a:rPr>
              <a:t>Oracle</a:t>
            </a:r>
            <a:r>
              <a:rPr lang="ru-RU" sz="2400" dirty="0">
                <a:solidFill>
                  <a:srgbClr val="000000"/>
                </a:solidFill>
                <a:latin typeface="Times New Roman" panose="02020603050405020304" pitchFamily="18" charset="0"/>
                <a:ea typeface="Times New Roman" panose="02020603050405020304" pitchFamily="18" charset="0"/>
              </a:rPr>
              <a:t> возможен и через внутренний интерфейс (OCI) этой базы данных.</a:t>
            </a:r>
            <a:endParaRPr lang="ru-RU" sz="2400" dirty="0">
              <a:latin typeface="Times New Roman" panose="02020603050405020304" pitchFamily="18" charset="0"/>
              <a:ea typeface="Times New Roman" panose="02020603050405020304" pitchFamily="18" charset="0"/>
            </a:endParaRPr>
          </a:p>
          <a:p>
            <a:pPr indent="450215" algn="just">
              <a:spcAft>
                <a:spcPts val="0"/>
              </a:spcAft>
            </a:pPr>
            <a:r>
              <a:rPr lang="ru-RU" sz="2400" dirty="0">
                <a:solidFill>
                  <a:srgbClr val="000000"/>
                </a:solidFill>
                <a:latin typeface="Times New Roman" panose="02020603050405020304" pitchFamily="18" charset="0"/>
                <a:ea typeface="Times New Roman" panose="02020603050405020304" pitchFamily="18" charset="0"/>
              </a:rPr>
              <a:t>В </a:t>
            </a:r>
            <a:r>
              <a:rPr lang="ru-RU" sz="2400" dirty="0" err="1">
                <a:solidFill>
                  <a:srgbClr val="000000"/>
                </a:solidFill>
                <a:latin typeface="Times New Roman" panose="02020603050405020304" pitchFamily="18" charset="0"/>
                <a:ea typeface="Times New Roman" panose="02020603050405020304" pitchFamily="18" charset="0"/>
              </a:rPr>
              <a:t>MapInfo</a:t>
            </a:r>
            <a:r>
              <a:rPr lang="ru-RU" sz="2400" dirty="0">
                <a:solidFill>
                  <a:srgbClr val="000000"/>
                </a:solidFill>
                <a:latin typeface="Times New Roman" panose="02020603050405020304" pitchFamily="18" charset="0"/>
                <a:ea typeface="Times New Roman" panose="02020603050405020304" pitchFamily="18" charset="0"/>
              </a:rPr>
              <a:t> есть "географическое" расширение встроенного языка запросов SQL, которое позволяет организовывать выборки с учетом пространственных отношений объектов — </a:t>
            </a:r>
            <a:r>
              <a:rPr lang="ru-RU" sz="2400" dirty="0" err="1">
                <a:solidFill>
                  <a:srgbClr val="000000"/>
                </a:solidFill>
                <a:latin typeface="Times New Roman" panose="02020603050405020304" pitchFamily="18" charset="0"/>
                <a:ea typeface="Times New Roman" panose="02020603050405020304" pitchFamily="18" charset="0"/>
              </a:rPr>
              <a:t>распределенность</a:t>
            </a:r>
            <a:r>
              <a:rPr lang="ru-RU" sz="2400" dirty="0">
                <a:solidFill>
                  <a:srgbClr val="000000"/>
                </a:solidFill>
                <a:latin typeface="Times New Roman" panose="02020603050405020304" pitchFamily="18" charset="0"/>
                <a:ea typeface="Times New Roman" panose="02020603050405020304" pitchFamily="18" charset="0"/>
              </a:rPr>
              <a:t>, вложенность, перекрытия, пересечения площадей объектов. Запросы к БД можно сохранять в виде шаблонов для дальнейшего использования. В </a:t>
            </a:r>
            <a:r>
              <a:rPr lang="ru-RU" sz="2400" dirty="0" err="1">
                <a:solidFill>
                  <a:srgbClr val="000000"/>
                </a:solidFill>
                <a:latin typeface="Times New Roman" panose="02020603050405020304" pitchFamily="18" charset="0"/>
                <a:ea typeface="Times New Roman" panose="02020603050405020304" pitchFamily="18" charset="0"/>
              </a:rPr>
              <a:t>MapInfo</a:t>
            </a:r>
            <a:r>
              <a:rPr lang="ru-RU" sz="2400" dirty="0">
                <a:solidFill>
                  <a:srgbClr val="000000"/>
                </a:solidFill>
                <a:latin typeface="Times New Roman" panose="02020603050405020304" pitchFamily="18" charset="0"/>
                <a:ea typeface="Times New Roman" panose="02020603050405020304" pitchFamily="18" charset="0"/>
              </a:rPr>
              <a:t> есть также возможность поиска и нанесения объектов на карту по координатам, адресу или системе различных установленных индексов.</a:t>
            </a:r>
            <a:endParaRPr lang="ru-RU" sz="2400" dirty="0">
              <a:latin typeface="Times New Roman" panose="02020603050405020304" pitchFamily="18" charset="0"/>
              <a:ea typeface="Times New Roman" panose="02020603050405020304" pitchFamily="18" charset="0"/>
            </a:endParaRPr>
          </a:p>
          <a:p>
            <a:pPr indent="450215" algn="just">
              <a:spcAft>
                <a:spcPts val="0"/>
              </a:spcAft>
            </a:pPr>
            <a:r>
              <a:rPr lang="ru-RU" sz="2400" dirty="0">
                <a:solidFill>
                  <a:srgbClr val="000000"/>
                </a:solidFill>
                <a:latin typeface="Times New Roman" panose="02020603050405020304" pitchFamily="18" charset="0"/>
                <a:ea typeface="Times New Roman" panose="02020603050405020304" pitchFamily="18" charset="0"/>
              </a:rPr>
              <a:t>Взаимодействие между </a:t>
            </a:r>
            <a:r>
              <a:rPr lang="ru-RU" sz="2400" dirty="0" err="1">
                <a:solidFill>
                  <a:srgbClr val="000000"/>
                </a:solidFill>
                <a:latin typeface="Times New Roman" panose="02020603050405020304" pitchFamily="18" charset="0"/>
                <a:ea typeface="Times New Roman" panose="02020603050405020304" pitchFamily="18" charset="0"/>
              </a:rPr>
              <a:t>Windows</a:t>
            </a:r>
            <a:r>
              <a:rPr lang="ru-RU" sz="2400" dirty="0">
                <a:solidFill>
                  <a:srgbClr val="000000"/>
                </a:solidFill>
                <a:latin typeface="Times New Roman" panose="02020603050405020304" pitchFamily="18" charset="0"/>
                <a:ea typeface="Times New Roman" panose="02020603050405020304" pitchFamily="18" charset="0"/>
              </a:rPr>
              <a:t>-приложениями позволяет интегрировать окно "Карты" </a:t>
            </a:r>
            <a:r>
              <a:rPr lang="ru-RU" sz="2400" dirty="0" err="1">
                <a:solidFill>
                  <a:srgbClr val="000000"/>
                </a:solidFill>
                <a:latin typeface="Times New Roman" panose="02020603050405020304" pitchFamily="18" charset="0"/>
                <a:ea typeface="Times New Roman" panose="02020603050405020304" pitchFamily="18" charset="0"/>
              </a:rPr>
              <a:t>MapInfo</a:t>
            </a:r>
            <a:r>
              <a:rPr lang="ru-RU" sz="2400" dirty="0">
                <a:solidFill>
                  <a:srgbClr val="000000"/>
                </a:solidFill>
                <a:latin typeface="Times New Roman" panose="02020603050405020304" pitchFamily="18" charset="0"/>
                <a:ea typeface="Times New Roman" panose="02020603050405020304" pitchFamily="18" charset="0"/>
              </a:rPr>
              <a:t> в программы, написанные на языках </a:t>
            </a:r>
            <a:r>
              <a:rPr lang="ru-RU" sz="2400" dirty="0" err="1">
                <a:solidFill>
                  <a:srgbClr val="000000"/>
                </a:solidFill>
                <a:latin typeface="Times New Roman" panose="02020603050405020304" pitchFamily="18" charset="0"/>
                <a:ea typeface="Times New Roman" panose="02020603050405020304" pitchFamily="18" charset="0"/>
              </a:rPr>
              <a:t>Delphi</a:t>
            </a:r>
            <a:r>
              <a:rPr lang="ru-RU" sz="2400" dirty="0">
                <a:solidFill>
                  <a:srgbClr val="000000"/>
                </a:solidFill>
                <a:latin typeface="Times New Roman" panose="02020603050405020304" pitchFamily="18" charset="0"/>
                <a:ea typeface="Times New Roman" panose="02020603050405020304" pitchFamily="18" charset="0"/>
              </a:rPr>
              <a:t>, </a:t>
            </a:r>
            <a:r>
              <a:rPr lang="ru-RU" sz="2400" dirty="0" err="1">
                <a:solidFill>
                  <a:srgbClr val="000000"/>
                </a:solidFill>
                <a:latin typeface="Times New Roman" panose="02020603050405020304" pitchFamily="18" charset="0"/>
                <a:ea typeface="Times New Roman" panose="02020603050405020304" pitchFamily="18" charset="0"/>
              </a:rPr>
              <a:t>Visual</a:t>
            </a:r>
            <a:r>
              <a:rPr lang="ru-RU" sz="2400" dirty="0">
                <a:solidFill>
                  <a:srgbClr val="000000"/>
                </a:solidFill>
                <a:latin typeface="Times New Roman" panose="02020603050405020304" pitchFamily="18" charset="0"/>
                <a:ea typeface="Times New Roman" panose="02020603050405020304" pitchFamily="18" charset="0"/>
              </a:rPr>
              <a:t> </a:t>
            </a:r>
            <a:r>
              <a:rPr lang="ru-RU" sz="2400" dirty="0" err="1">
                <a:solidFill>
                  <a:srgbClr val="000000"/>
                </a:solidFill>
                <a:latin typeface="Times New Roman" panose="02020603050405020304" pitchFamily="18" charset="0"/>
                <a:ea typeface="Times New Roman" panose="02020603050405020304" pitchFamily="18" charset="0"/>
              </a:rPr>
              <a:t>Basic</a:t>
            </a:r>
            <a:r>
              <a:rPr lang="ru-RU" sz="2400" dirty="0">
                <a:solidFill>
                  <a:srgbClr val="000000"/>
                </a:solidFill>
                <a:latin typeface="Times New Roman" panose="02020603050405020304" pitchFamily="18" charset="0"/>
                <a:ea typeface="Times New Roman" panose="02020603050405020304" pitchFamily="18" charset="0"/>
              </a:rPr>
              <a:t>, C++. Совместное использование </a:t>
            </a:r>
            <a:r>
              <a:rPr lang="ru-RU" sz="2400" dirty="0" err="1">
                <a:solidFill>
                  <a:srgbClr val="000000"/>
                </a:solidFill>
                <a:latin typeface="Times New Roman" panose="02020603050405020304" pitchFamily="18" charset="0"/>
                <a:ea typeface="Times New Roman" panose="02020603050405020304" pitchFamily="18" charset="0"/>
              </a:rPr>
              <a:t>MapInfo</a:t>
            </a:r>
            <a:r>
              <a:rPr lang="ru-RU" sz="2400" dirty="0">
                <a:solidFill>
                  <a:srgbClr val="000000"/>
                </a:solidFill>
                <a:latin typeface="Times New Roman" panose="02020603050405020304" pitchFamily="18" charset="0"/>
                <a:ea typeface="Times New Roman" panose="02020603050405020304" pitchFamily="18" charset="0"/>
              </a:rPr>
              <a:t> и среды разработки </a:t>
            </a:r>
            <a:r>
              <a:rPr lang="ru-RU" sz="2400" dirty="0" err="1">
                <a:solidFill>
                  <a:srgbClr val="000000"/>
                </a:solidFill>
                <a:latin typeface="Times New Roman" panose="02020603050405020304" pitchFamily="18" charset="0"/>
                <a:ea typeface="Times New Roman" panose="02020603050405020304" pitchFamily="18" charset="0"/>
              </a:rPr>
              <a:t>MapBasic</a:t>
            </a:r>
            <a:r>
              <a:rPr lang="ru-RU" sz="2400" dirty="0">
                <a:solidFill>
                  <a:srgbClr val="000000"/>
                </a:solidFill>
                <a:latin typeface="Times New Roman" panose="02020603050405020304" pitchFamily="18" charset="0"/>
                <a:ea typeface="Times New Roman" panose="02020603050405020304" pitchFamily="18" charset="0"/>
              </a:rPr>
              <a:t> дает возможность каждому пользователю создавать специфические приложения для решения конкретных прикладных задач.</a:t>
            </a:r>
            <a:endParaRPr lang="ru-RU"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87253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08684" y="1052945"/>
            <a:ext cx="5762625" cy="3876675"/>
          </a:xfrm>
          <a:prstGeom prst="rect">
            <a:avLst/>
          </a:prstGeom>
        </p:spPr>
      </p:pic>
      <p:sp>
        <p:nvSpPr>
          <p:cNvPr id="3" name="Прямоугольник 2"/>
          <p:cNvSpPr/>
          <p:nvPr/>
        </p:nvSpPr>
        <p:spPr>
          <a:xfrm>
            <a:off x="5971309" y="368676"/>
            <a:ext cx="6096000" cy="5632311"/>
          </a:xfrm>
          <a:prstGeom prst="rect">
            <a:avLst/>
          </a:prstGeom>
        </p:spPr>
        <p:txBody>
          <a:bodyPr>
            <a:spAutoFit/>
          </a:bodyPr>
          <a:lstStyle/>
          <a:p>
            <a:pPr indent="450215" algn="just">
              <a:spcAft>
                <a:spcPts val="0"/>
              </a:spcAft>
            </a:pPr>
            <a:r>
              <a:rPr lang="ru-RU" sz="2400" b="1" i="1" dirty="0">
                <a:solidFill>
                  <a:srgbClr val="000000"/>
                </a:solidFill>
                <a:latin typeface="Times New Roman" panose="02020603050405020304" pitchFamily="18" charset="0"/>
                <a:ea typeface="Times New Roman" panose="02020603050405020304" pitchFamily="18" charset="0"/>
              </a:rPr>
              <a:t>Полнофункциональные ГИС </a:t>
            </a:r>
            <a:r>
              <a:rPr lang="ru-RU" sz="2400" dirty="0">
                <a:solidFill>
                  <a:srgbClr val="000000"/>
                </a:solidFill>
                <a:latin typeface="Times New Roman" panose="02020603050405020304" pitchFamily="18" charset="0"/>
                <a:ea typeface="Times New Roman" panose="02020603050405020304" pitchFamily="18" charset="0"/>
              </a:rPr>
              <a:t>содержат полный набор средств </a:t>
            </a:r>
            <a:r>
              <a:rPr lang="ru-RU" sz="2400" dirty="0" err="1">
                <a:solidFill>
                  <a:srgbClr val="000000"/>
                </a:solidFill>
                <a:latin typeface="Times New Roman" panose="02020603050405020304" pitchFamily="18" charset="0"/>
                <a:ea typeface="Times New Roman" panose="02020603050405020304" pitchFamily="18" charset="0"/>
              </a:rPr>
              <a:t>геопространственной</a:t>
            </a:r>
            <a:r>
              <a:rPr lang="ru-RU" sz="2400" dirty="0">
                <a:solidFill>
                  <a:srgbClr val="000000"/>
                </a:solidFill>
                <a:latin typeface="Times New Roman" panose="02020603050405020304" pitchFamily="18" charset="0"/>
                <a:ea typeface="Times New Roman" panose="02020603050405020304" pitchFamily="18" charset="0"/>
              </a:rPr>
              <a:t> обработки, включая сбор данных, их интеграцию, хранение, автоматическую обработку, редактирование, создание и поддержку топологии, пространственный анализ, связь с СУБД, визуализацию и создание твердых копий любой картографической информации. Система работает как на рабочих станциях под управлением </a:t>
            </a:r>
            <a:r>
              <a:rPr lang="ru-RU" sz="2400" dirty="0" err="1">
                <a:solidFill>
                  <a:srgbClr val="000000"/>
                </a:solidFill>
                <a:latin typeface="Times New Roman" panose="02020603050405020304" pitchFamily="18" charset="0"/>
                <a:ea typeface="Times New Roman" panose="02020603050405020304" pitchFamily="18" charset="0"/>
              </a:rPr>
              <a:t>Windows</a:t>
            </a:r>
            <a:r>
              <a:rPr lang="ru-RU" sz="2400" dirty="0">
                <a:solidFill>
                  <a:srgbClr val="000000"/>
                </a:solidFill>
                <a:latin typeface="Times New Roman" panose="02020603050405020304" pitchFamily="18" charset="0"/>
                <a:ea typeface="Times New Roman" panose="02020603050405020304" pitchFamily="18" charset="0"/>
              </a:rPr>
              <a:t> , так и RISC-</a:t>
            </a:r>
            <a:r>
              <a:rPr lang="ru-RU" sz="2400" dirty="0" err="1">
                <a:solidFill>
                  <a:srgbClr val="000000"/>
                </a:solidFill>
                <a:latin typeface="Times New Roman" panose="02020603050405020304" pitchFamily="18" charset="0"/>
                <a:ea typeface="Times New Roman" panose="02020603050405020304" pitchFamily="18" charset="0"/>
              </a:rPr>
              <a:t>Unix</a:t>
            </a:r>
            <a:r>
              <a:rPr lang="ru-RU" sz="2400" dirty="0">
                <a:solidFill>
                  <a:srgbClr val="000000"/>
                </a:solidFill>
                <a:latin typeface="Times New Roman" panose="02020603050405020304" pitchFamily="18" charset="0"/>
                <a:ea typeface="Times New Roman" panose="02020603050405020304" pitchFamily="18" charset="0"/>
              </a:rPr>
              <a:t>. В дополнение к базовому набору </a:t>
            </a:r>
            <a:r>
              <a:rPr lang="ru-RU" sz="2400" dirty="0" err="1">
                <a:solidFill>
                  <a:srgbClr val="000000"/>
                </a:solidFill>
                <a:latin typeface="Times New Roman" panose="02020603050405020304" pitchFamily="18" charset="0"/>
                <a:ea typeface="Times New Roman" panose="02020603050405020304" pitchFamily="18" charset="0"/>
              </a:rPr>
              <a:t>ArcInfo</a:t>
            </a:r>
            <a:r>
              <a:rPr lang="ru-RU" sz="2400" dirty="0">
                <a:solidFill>
                  <a:srgbClr val="000000"/>
                </a:solidFill>
                <a:latin typeface="Times New Roman" panose="02020603050405020304" pitchFamily="18" charset="0"/>
                <a:ea typeface="Times New Roman" panose="02020603050405020304" pitchFamily="18" charset="0"/>
              </a:rPr>
              <a:t> имеется ряд модулей, расширяющих возможности обработки </a:t>
            </a:r>
            <a:r>
              <a:rPr lang="ru-RU" sz="2400" dirty="0" err="1">
                <a:solidFill>
                  <a:srgbClr val="000000"/>
                </a:solidFill>
                <a:latin typeface="Times New Roman" panose="02020603050405020304" pitchFamily="18" charset="0"/>
                <a:ea typeface="Times New Roman" panose="02020603050405020304" pitchFamily="18" charset="0"/>
              </a:rPr>
              <a:t>геоданных</a:t>
            </a:r>
            <a:r>
              <a:rPr lang="ru-RU" sz="2400" dirty="0">
                <a:solidFill>
                  <a:srgbClr val="000000"/>
                </a:solidFill>
                <a:latin typeface="Times New Roman" panose="02020603050405020304" pitchFamily="18" charset="0"/>
                <a:ea typeface="Times New Roman" panose="02020603050405020304" pitchFamily="18" charset="0"/>
              </a:rPr>
              <a:t> в различных областях применения.</a:t>
            </a:r>
            <a:endParaRPr lang="ru-RU"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59340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38545" y="446913"/>
            <a:ext cx="11679382" cy="5324535"/>
          </a:xfrm>
          <a:prstGeom prst="rect">
            <a:avLst/>
          </a:prstGeom>
        </p:spPr>
        <p:txBody>
          <a:bodyPr wrap="square">
            <a:spAutoFit/>
          </a:bodyPr>
          <a:lstStyle/>
          <a:p>
            <a:pPr indent="450215" algn="just">
              <a:spcAft>
                <a:spcPts val="0"/>
              </a:spcAft>
            </a:pPr>
            <a:r>
              <a:rPr lang="ru-RU" sz="2000" b="1" dirty="0">
                <a:solidFill>
                  <a:srgbClr val="FF0000"/>
                </a:solidFill>
                <a:latin typeface="Times New Roman" panose="02020603050405020304" pitchFamily="18" charset="0"/>
                <a:ea typeface="Times New Roman" panose="02020603050405020304" pitchFamily="18" charset="0"/>
              </a:rPr>
              <a:t>Корпоративные системы. </a:t>
            </a:r>
          </a:p>
          <a:p>
            <a:pPr indent="450215" algn="just">
              <a:spcAft>
                <a:spcPts val="0"/>
              </a:spcAft>
            </a:pPr>
            <a:r>
              <a:rPr lang="ru-RU" sz="2000" dirty="0">
                <a:solidFill>
                  <a:srgbClr val="000000"/>
                </a:solidFill>
                <a:latin typeface="Times New Roman" panose="02020603050405020304" pitchFamily="18" charset="0"/>
                <a:ea typeface="Times New Roman" panose="02020603050405020304" pitchFamily="18" charset="0"/>
              </a:rPr>
              <a:t>Корпоративная ГИС — это, как правило, распределенная ИС с рабочими местами, выполненными по технологии "клиент-сервер". ГИС в рамках предприятия может быть реализована с использованием серверов пространственных данных </a:t>
            </a:r>
            <a:r>
              <a:rPr lang="ru-RU" sz="2000" dirty="0" err="1">
                <a:solidFill>
                  <a:srgbClr val="000000"/>
                </a:solidFill>
                <a:latin typeface="Times New Roman" panose="02020603050405020304" pitchFamily="18" charset="0"/>
                <a:ea typeface="Times New Roman" panose="02020603050405020304" pitchFamily="18" charset="0"/>
              </a:rPr>
              <a:t>Spatial</a:t>
            </a:r>
            <a:r>
              <a:rPr lang="ru-RU" sz="2000" dirty="0">
                <a:solidFill>
                  <a:srgbClr val="000000"/>
                </a:solidFill>
                <a:latin typeface="Times New Roman" panose="02020603050405020304" pitchFamily="18" charset="0"/>
                <a:ea typeface="Times New Roman" panose="02020603050405020304" pitchFamily="18" charset="0"/>
              </a:rPr>
              <a:t> </a:t>
            </a:r>
            <a:r>
              <a:rPr lang="ru-RU" sz="2000" dirty="0" err="1">
                <a:solidFill>
                  <a:srgbClr val="000000"/>
                </a:solidFill>
                <a:latin typeface="Times New Roman" panose="02020603050405020304" pitchFamily="18" charset="0"/>
                <a:ea typeface="Times New Roman" panose="02020603050405020304" pitchFamily="18" charset="0"/>
              </a:rPr>
              <a:t>Database</a:t>
            </a:r>
            <a:r>
              <a:rPr lang="ru-RU" sz="2000" dirty="0">
                <a:solidFill>
                  <a:srgbClr val="000000"/>
                </a:solidFill>
                <a:latin typeface="Times New Roman" panose="02020603050405020304" pitchFamily="18" charset="0"/>
                <a:ea typeface="Times New Roman" panose="02020603050405020304" pitchFamily="18" charset="0"/>
              </a:rPr>
              <a:t> </a:t>
            </a:r>
            <a:r>
              <a:rPr lang="ru-RU" sz="2000" dirty="0" err="1">
                <a:solidFill>
                  <a:srgbClr val="000000"/>
                </a:solidFill>
                <a:latin typeface="Times New Roman" panose="02020603050405020304" pitchFamily="18" charset="0"/>
                <a:ea typeface="Times New Roman" panose="02020603050405020304" pitchFamily="18" charset="0"/>
              </a:rPr>
              <a:t>Engine</a:t>
            </a:r>
            <a:r>
              <a:rPr lang="ru-RU" sz="2000" dirty="0">
                <a:solidFill>
                  <a:srgbClr val="000000"/>
                </a:solidFill>
                <a:latin typeface="Times New Roman" panose="02020603050405020304" pitchFamily="18" charset="0"/>
                <a:ea typeface="Times New Roman" panose="02020603050405020304" pitchFamily="18" charset="0"/>
              </a:rPr>
              <a:t> (SDE), работающих с клиентскими приложениями типа настольных приложений </a:t>
            </a:r>
            <a:r>
              <a:rPr lang="ru-RU" sz="2000" dirty="0" err="1">
                <a:solidFill>
                  <a:srgbClr val="000000"/>
                </a:solidFill>
                <a:latin typeface="Times New Roman" panose="02020603050405020304" pitchFamily="18" charset="0"/>
                <a:ea typeface="Times New Roman" panose="02020603050405020304" pitchFamily="18" charset="0"/>
              </a:rPr>
              <a:t>ArcView</a:t>
            </a:r>
            <a:r>
              <a:rPr lang="ru-RU" sz="2000" dirty="0">
                <a:solidFill>
                  <a:srgbClr val="000000"/>
                </a:solidFill>
                <a:latin typeface="Times New Roman" panose="02020603050405020304" pitchFamily="18" charset="0"/>
                <a:ea typeface="Times New Roman" panose="02020603050405020304" pitchFamily="18" charset="0"/>
              </a:rPr>
              <a:t> и </a:t>
            </a:r>
            <a:r>
              <a:rPr lang="ru-RU" sz="2000" dirty="0" err="1">
                <a:solidFill>
                  <a:srgbClr val="000000"/>
                </a:solidFill>
                <a:latin typeface="Times New Roman" panose="02020603050405020304" pitchFamily="18" charset="0"/>
                <a:ea typeface="Times New Roman" panose="02020603050405020304" pitchFamily="18" charset="0"/>
              </a:rPr>
              <a:t>ArcInfo</a:t>
            </a:r>
            <a:r>
              <a:rPr lang="ru-RU" sz="2000" dirty="0">
                <a:solidFill>
                  <a:srgbClr val="000000"/>
                </a:solidFill>
                <a:latin typeface="Times New Roman" panose="02020603050405020304" pitchFamily="18" charset="0"/>
                <a:ea typeface="Times New Roman" panose="02020603050405020304" pitchFamily="18" charset="0"/>
              </a:rPr>
              <a:t>. Такие ГИС позволяют оперировать огромными объемами географических и атрибутивных данных и поставлять эти данные любому пользователю локальной или глобальной сети. Кроме того, поскольку серверы пространственных данных обычно реализованы в стандартных реляционных СУБД, они переносятся в большинство сред баз данных. Тем самым, инструменты, подобные SDE и встроенные в КИС могут использоваться, чтобы:</a:t>
            </a:r>
            <a:endParaRPr lang="ru-RU" sz="20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000" kern="50" dirty="0">
                <a:solidFill>
                  <a:srgbClr val="000000"/>
                </a:solidFill>
                <a:latin typeface="Times New Roman" panose="02020603050405020304" pitchFamily="18" charset="0"/>
                <a:ea typeface="Times New Roman" panose="02020603050405020304" pitchFamily="18" charset="0"/>
              </a:rPr>
              <a:t>строить быстродействующие ГИС-приложения;</a:t>
            </a:r>
            <a:endParaRPr lang="ru-RU" sz="20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000" kern="50" dirty="0">
                <a:solidFill>
                  <a:srgbClr val="000000"/>
                </a:solidFill>
                <a:latin typeface="Times New Roman" panose="02020603050405020304" pitchFamily="18" charset="0"/>
                <a:ea typeface="Times New Roman" panose="02020603050405020304" pitchFamily="18" charset="0"/>
              </a:rPr>
              <a:t>включать сложные функции обработки географических данных в прикладные программы;</a:t>
            </a:r>
            <a:endParaRPr lang="ru-RU" sz="20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000" kern="50" dirty="0">
                <a:solidFill>
                  <a:srgbClr val="000000"/>
                </a:solidFill>
                <a:latin typeface="Times New Roman" panose="02020603050405020304" pitchFamily="18" charset="0"/>
                <a:ea typeface="Times New Roman" panose="02020603050405020304" pitchFamily="18" charset="0"/>
              </a:rPr>
              <a:t>поставлять прикладные программы на целом ряде платформ программного обеспечения и оборудования;</a:t>
            </a:r>
            <a:endParaRPr lang="ru-RU" sz="20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000" kern="50" dirty="0">
                <a:solidFill>
                  <a:srgbClr val="000000"/>
                </a:solidFill>
                <a:latin typeface="Times New Roman" panose="02020603050405020304" pitchFamily="18" charset="0"/>
                <a:ea typeface="Times New Roman" panose="02020603050405020304" pitchFamily="18" charset="0"/>
              </a:rPr>
              <a:t>увеличивать доступность географических и атрибутивных данных и возможность их обработки и интерпретации для принятия деловых решений;</a:t>
            </a:r>
            <a:endParaRPr lang="ru-RU" sz="20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000" kern="50" dirty="0">
                <a:solidFill>
                  <a:srgbClr val="000000"/>
                </a:solidFill>
                <a:latin typeface="Times New Roman" panose="02020603050405020304" pitchFamily="18" charset="0"/>
                <a:ea typeface="Times New Roman" panose="02020603050405020304" pitchFamily="18" charset="0"/>
              </a:rPr>
              <a:t>интегрировать управление географическими данными в существующие корпоративные системы управления базами данных.</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1531126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descr="https://images.slideplayer.com/16/5138796/slides/slide_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12025745"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654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42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0" algn="ctr"/>
            <a:r>
              <a:rPr lang="ru-RU" sz="4000" b="1" dirty="0">
                <a:solidFill>
                  <a:srgbClr val="FF0000"/>
                </a:solidFill>
              </a:rPr>
              <a:t>СВЯЗАННЫЕ ТЕХНОЛОГИИ: GIS, GPS И ГЛОНАСС</a:t>
            </a:r>
          </a:p>
          <a:p>
            <a:pPr lvl="1" algn="ctr"/>
            <a:r>
              <a:rPr lang="ru-RU" sz="4000" b="1" dirty="0"/>
              <a:t>Вопрос 5</a:t>
            </a:r>
            <a:endParaRPr lang="ru-RU" sz="4000" dirty="0"/>
          </a:p>
        </p:txBody>
      </p:sp>
    </p:spTree>
    <p:extLst>
      <p:ext uri="{BB962C8B-B14F-4D97-AF65-F5344CB8AC3E}">
        <p14:creationId xmlns:p14="http://schemas.microsoft.com/office/powerpoint/2010/main" val="28073483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https://avatars.mds.yandex.net/i?id=14c0b03f10cd1dfc677ce6e2d785e542-4034294-images-thumbs&amp;n=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312" y="1391948"/>
            <a:ext cx="4438650" cy="3048001"/>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4765962" y="366712"/>
            <a:ext cx="7273637" cy="4708981"/>
          </a:xfrm>
          <a:prstGeom prst="rect">
            <a:avLst/>
          </a:prstGeom>
        </p:spPr>
        <p:txBody>
          <a:bodyPr wrap="square">
            <a:spAutoFit/>
          </a:bodyPr>
          <a:lstStyle/>
          <a:p>
            <a:pPr indent="450215" algn="just">
              <a:spcAft>
                <a:spcPts val="0"/>
              </a:spcAft>
            </a:pPr>
            <a:r>
              <a:rPr lang="ru-RU" sz="2000" b="1" dirty="0">
                <a:solidFill>
                  <a:srgbClr val="000000"/>
                </a:solidFill>
                <a:latin typeface="Times New Roman" panose="02020603050405020304" pitchFamily="18" charset="0"/>
                <a:ea typeface="Times New Roman" panose="02020603050405020304" pitchFamily="18" charset="0"/>
              </a:rPr>
              <a:t>Системы управления базами данных ГИС </a:t>
            </a:r>
            <a:r>
              <a:rPr lang="ru-RU" sz="2000" dirty="0">
                <a:solidFill>
                  <a:srgbClr val="000000"/>
                </a:solidFill>
                <a:latin typeface="Times New Roman" panose="02020603050405020304" pitchFamily="18" charset="0"/>
                <a:ea typeface="Times New Roman" panose="02020603050405020304" pitchFamily="18" charset="0"/>
              </a:rPr>
              <a:t>предназначены для хранения и управления всеми типами данных, включая географические (пространственные) данные. Эти данные получены чаще всего методами пространственного дистанционного зондирования — проведения измерений координат объектов на земной поверхности с использованием лазерных дальномеров на земных пунктах наблюдения и отражателей, расположенных борту искусственных спутников Земли (ИСЗ). Используются также приемники системы глобального позиционирования и другие радиометрические устройства, работающие на измерении эффекта Доплера. Эти устройства собирают данные в виде наборов координат или изображений (преимущественно цифровых) и обеспечивают широкие возможности обработки, анализа и визуализации полученных данных.</a:t>
            </a:r>
            <a:endParaRPr lang="ru-RU"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38264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6" name="Picture 8" descr="https://cdnn21.img.ria.ru/images/90248/39/902483931_0:0:0:0_0x0_100_0_0_b965c49376d669ccca70f60e666824b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9784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ttps://i.ytimg.com/vi/EAdId4kb2oc/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Скругленный прямоугольник 1"/>
          <p:cNvSpPr/>
          <p:nvPr/>
        </p:nvSpPr>
        <p:spPr>
          <a:xfrm>
            <a:off x="221673" y="540326"/>
            <a:ext cx="11665527" cy="4308764"/>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Космическая часть — это 24 спутника, движущихся </a:t>
            </a:r>
            <a:r>
              <a:rPr lang="ru-RU" sz="2400" i="1" dirty="0"/>
              <a:t>по</a:t>
            </a:r>
            <a:r>
              <a:rPr lang="ru-RU" sz="2400" dirty="0"/>
              <a:t> шести орбитам. Наклон орбит к земному экватору — 55 градусов, угол между плоскостями орбит — 60 градусов. </a:t>
            </a:r>
            <a:r>
              <a:rPr lang="ru-RU" sz="2400" i="1" dirty="0"/>
              <a:t>Высота</a:t>
            </a:r>
            <a:r>
              <a:rPr lang="ru-RU" sz="2400" dirty="0"/>
              <a:t> орбит 20180 км, период обращения — 12 ч. </a:t>
            </a:r>
            <a:r>
              <a:rPr lang="ru-RU" sz="2400" i="1" dirty="0"/>
              <a:t>Мощность</a:t>
            </a:r>
            <a:r>
              <a:rPr lang="ru-RU" sz="2400" dirty="0"/>
              <a:t> спутникового передатчика 50 Вт. Если один из них вышел из строя, то остальные способны, передвигаясь на орбитах, заполнять бреши в системе. Важным элементом спутника являются атомные часы, рубидиевые и цезиевые, </a:t>
            </a:r>
            <a:r>
              <a:rPr lang="ru-RU" sz="2400" i="1" dirty="0"/>
              <a:t>по</a:t>
            </a:r>
            <a:r>
              <a:rPr lang="ru-RU" sz="2400" dirty="0"/>
              <a:t> четыре на каждом, которые задают бортовую шкалу времени. Эти шкалы постоянно синхронизируются с наземными высокоточными стандартами времени. Каждый спутник идентифицируется номером (</a:t>
            </a:r>
            <a:r>
              <a:rPr lang="ru-RU" sz="2400" dirty="0" err="1"/>
              <a:t>Pseudo</a:t>
            </a:r>
            <a:r>
              <a:rPr lang="ru-RU" sz="2400" dirty="0"/>
              <a:t> </a:t>
            </a:r>
            <a:r>
              <a:rPr lang="ru-RU" sz="2400" i="1" dirty="0" err="1"/>
              <a:t>Random</a:t>
            </a:r>
            <a:r>
              <a:rPr lang="ru-RU" sz="2400" dirty="0"/>
              <a:t> </a:t>
            </a:r>
            <a:r>
              <a:rPr lang="ru-RU" sz="2400" dirty="0" err="1"/>
              <a:t>Number</a:t>
            </a:r>
            <a:r>
              <a:rPr lang="ru-RU" sz="2400" dirty="0"/>
              <a:t> — </a:t>
            </a:r>
            <a:r>
              <a:rPr lang="ru-RU" sz="2400" i="1" dirty="0"/>
              <a:t>PRN</a:t>
            </a:r>
            <a:r>
              <a:rPr lang="ru-RU" sz="2400" dirty="0"/>
              <a:t>), который отображается на приемнике </a:t>
            </a:r>
            <a:r>
              <a:rPr lang="ru-RU" sz="2400" i="1" dirty="0"/>
              <a:t>GPS</a:t>
            </a:r>
            <a:r>
              <a:rPr lang="ru-RU" sz="2400" dirty="0"/>
              <a:t>.</a:t>
            </a:r>
          </a:p>
        </p:txBody>
      </p:sp>
      <p:sp>
        <p:nvSpPr>
          <p:cNvPr id="4" name="Скругленный прямоугольник 3"/>
          <p:cNvSpPr/>
          <p:nvPr/>
        </p:nvSpPr>
        <p:spPr>
          <a:xfrm>
            <a:off x="374073" y="692726"/>
            <a:ext cx="11665527" cy="4308764"/>
          </a:xfrm>
          <a:prstGeom prst="round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dirty="0"/>
              <a:t>Наземная часть состоит из 4 станций слежения, расположенных на тропических островах. Они отслеживают видимые спутники и передают данные на Главную станцию управления и контроля на авиабазе в Колорадо-</a:t>
            </a:r>
            <a:r>
              <a:rPr lang="ru-RU" sz="2400" dirty="0" err="1"/>
              <a:t>Спрингс</a:t>
            </a:r>
            <a:r>
              <a:rPr lang="ru-RU" sz="2400" dirty="0"/>
              <a:t> для обработки на сложных программных моделях орбит, которые называются эфемеридами. Через наземные станции данные передаются обратно на спутники, а затем спутник передает их пользовательским приемникам </a:t>
            </a:r>
            <a:r>
              <a:rPr lang="ru-RU" sz="2400" i="1" dirty="0"/>
              <a:t>GPS</a:t>
            </a:r>
            <a:r>
              <a:rPr lang="ru-RU" sz="2400" dirty="0"/>
              <a:t>.</a:t>
            </a:r>
          </a:p>
        </p:txBody>
      </p:sp>
      <p:sp>
        <p:nvSpPr>
          <p:cNvPr id="5" name="Скругленный прямоугольник 4"/>
          <p:cNvSpPr/>
          <p:nvPr/>
        </p:nvSpPr>
        <p:spPr>
          <a:xfrm>
            <a:off x="526473" y="845126"/>
            <a:ext cx="11665527" cy="4308764"/>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dirty="0"/>
              <a:t>Пользовательская часть включает в себя приемник сигналов со спутника, </a:t>
            </a:r>
            <a:r>
              <a:rPr lang="ru-RU" sz="2400" i="1" dirty="0"/>
              <a:t>дешифратор</a:t>
            </a:r>
            <a:r>
              <a:rPr lang="ru-RU" sz="2400" dirty="0"/>
              <a:t> и программный </a:t>
            </a:r>
            <a:r>
              <a:rPr lang="ru-RU" sz="2400" i="1" dirty="0"/>
              <a:t>модуль</a:t>
            </a:r>
            <a:r>
              <a:rPr lang="ru-RU" sz="2400" dirty="0"/>
              <a:t> для вычисления координат объекта, на котором находится приемник. </a:t>
            </a:r>
            <a:r>
              <a:rPr lang="ru-RU" sz="2400" i="1" dirty="0"/>
              <a:t>Точность</a:t>
            </a:r>
            <a:r>
              <a:rPr lang="ru-RU" sz="2400" dirty="0"/>
              <a:t> определения координат зависит от многих факторов — точности передающих и принимающих устройств, бортовых и наземных шкал времени, состояния ионосферы и тропосферы, солнечной активности, влажности и давления в атмосфере, но, прежде всего, от геометрии расположения спутников в </a:t>
            </a:r>
            <a:r>
              <a:rPr lang="ru-RU" sz="2400" i="1" dirty="0"/>
              <a:t>поле зрения</a:t>
            </a:r>
            <a:r>
              <a:rPr lang="ru-RU" sz="2400" dirty="0"/>
              <a:t> приёмной антенны </a:t>
            </a:r>
          </a:p>
        </p:txBody>
      </p:sp>
      <p:sp>
        <p:nvSpPr>
          <p:cNvPr id="6" name="Скругленный прямоугольник 5"/>
          <p:cNvSpPr/>
          <p:nvPr/>
        </p:nvSpPr>
        <p:spPr>
          <a:xfrm>
            <a:off x="526473" y="180109"/>
            <a:ext cx="11665527" cy="6317673"/>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dirty="0"/>
              <a:t>Спутниковая </a:t>
            </a:r>
            <a:r>
              <a:rPr lang="ru-RU" sz="2400" i="1" dirty="0"/>
              <a:t>геометрия</a:t>
            </a:r>
            <a:r>
              <a:rPr lang="ru-RU" sz="2400" dirty="0"/>
              <a:t> измеряется фактором </a:t>
            </a:r>
            <a:r>
              <a:rPr lang="ru-RU" sz="2400" i="1" dirty="0"/>
              <a:t>PDP</a:t>
            </a:r>
            <a:r>
              <a:rPr lang="ru-RU" sz="2400" dirty="0"/>
              <a:t> (</a:t>
            </a:r>
            <a:r>
              <a:rPr lang="ru-RU" sz="2400" i="1" dirty="0" err="1"/>
              <a:t>Position</a:t>
            </a:r>
            <a:r>
              <a:rPr lang="ru-RU" sz="2400" dirty="0"/>
              <a:t> </a:t>
            </a:r>
            <a:r>
              <a:rPr lang="ru-RU" sz="2400" dirty="0" err="1"/>
              <a:t>Dilution</a:t>
            </a:r>
            <a:r>
              <a:rPr lang="ru-RU" sz="2400" dirty="0"/>
              <a:t> </a:t>
            </a:r>
            <a:r>
              <a:rPr lang="ru-RU" sz="2400" dirty="0" err="1"/>
              <a:t>of</a:t>
            </a:r>
            <a:r>
              <a:rPr lang="ru-RU" sz="2400" dirty="0"/>
              <a:t> </a:t>
            </a:r>
            <a:r>
              <a:rPr lang="ru-RU" sz="2400" i="1" dirty="0" err="1"/>
              <a:t>Precision</a:t>
            </a:r>
            <a:r>
              <a:rPr lang="ru-RU" sz="2400" dirty="0"/>
              <a:t>) Идеальному расположению спутников соответствует </a:t>
            </a:r>
            <a:r>
              <a:rPr lang="ru-RU" sz="2400" i="1" dirty="0"/>
              <a:t>PDP</a:t>
            </a:r>
            <a:r>
              <a:rPr lang="ru-RU" sz="2400" dirty="0"/>
              <a:t>=1, большие значения говорят о плохой спутниковой геометрии. </a:t>
            </a:r>
            <a:r>
              <a:rPr lang="ru-RU" sz="2400" i="1" dirty="0"/>
              <a:t>Значение</a:t>
            </a:r>
            <a:r>
              <a:rPr lang="ru-RU" sz="2400" dirty="0"/>
              <a:t> </a:t>
            </a:r>
            <a:r>
              <a:rPr lang="ru-RU" sz="2400" i="1" dirty="0"/>
              <a:t>PDP</a:t>
            </a:r>
            <a:r>
              <a:rPr lang="ru-RU" sz="2400" dirty="0"/>
              <a:t> используется как </a:t>
            </a:r>
            <a:r>
              <a:rPr lang="ru-RU" sz="2400" i="1" dirty="0"/>
              <a:t>множитель</a:t>
            </a:r>
            <a:r>
              <a:rPr lang="ru-RU" sz="2400" dirty="0"/>
              <a:t> для других ошибок при уравнивании наблюдений. Каждая измеренная приемником </a:t>
            </a:r>
            <a:r>
              <a:rPr lang="ru-RU" sz="2400" dirty="0" err="1"/>
              <a:t>псевдодальность</a:t>
            </a:r>
            <a:r>
              <a:rPr lang="ru-RU" sz="2400" dirty="0"/>
              <a:t> имеет свою </a:t>
            </a:r>
            <a:r>
              <a:rPr lang="ru-RU" sz="2400" i="1" dirty="0"/>
              <a:t>погрешность</a:t>
            </a:r>
            <a:r>
              <a:rPr lang="ru-RU" sz="2400" dirty="0"/>
              <a:t>, зависящую от атмосферных помех, ошибок в эфемеридах, отраженного сигнала и т.д. Так, если предполагаемые значения этих ошибок в сумме составляют около 50 метров и PDOP =1.5, то ожидаемая ошибка определения места будет 75 метров. Если приемник "поймал" четыре спутника, и все они находятся близко к зениту места наблюдения, то такая спутниковая </a:t>
            </a:r>
            <a:r>
              <a:rPr lang="ru-RU" sz="2400" i="1" dirty="0"/>
              <a:t>геометрия</a:t>
            </a:r>
            <a:r>
              <a:rPr lang="ru-RU" sz="2400" dirty="0"/>
              <a:t> "плохая" и ошибка результата составит 90-150 метров. С теми же 4-мя спутниками </a:t>
            </a:r>
            <a:r>
              <a:rPr lang="ru-RU" sz="2400" i="1" dirty="0"/>
              <a:t>точность</a:t>
            </a:r>
            <a:r>
              <a:rPr lang="ru-RU" sz="2400" dirty="0"/>
              <a:t> намного возрастает, если они расположены равномерно </a:t>
            </a:r>
            <a:r>
              <a:rPr lang="ru-RU" sz="2400" i="1" dirty="0"/>
              <a:t>по</a:t>
            </a:r>
            <a:r>
              <a:rPr lang="ru-RU" sz="2400" dirty="0"/>
              <a:t> сторонам горизонта на высоте от 20 до 50 градусов дуги. В этом случае </a:t>
            </a:r>
            <a:r>
              <a:rPr lang="ru-RU" sz="2400" i="1" dirty="0"/>
              <a:t>точность</a:t>
            </a:r>
            <a:r>
              <a:rPr lang="ru-RU" sz="2400" dirty="0"/>
              <a:t> достигает 30 метров, что составляет примерно 1 секунду дуги — а это уже неплохая </a:t>
            </a:r>
            <a:r>
              <a:rPr lang="ru-RU" sz="2400" i="1" dirty="0"/>
              <a:t>точность</a:t>
            </a:r>
            <a:r>
              <a:rPr lang="ru-RU" sz="2400" dirty="0"/>
              <a:t>.</a:t>
            </a:r>
          </a:p>
        </p:txBody>
      </p:sp>
    </p:spTree>
    <p:extLst>
      <p:ext uri="{BB962C8B-B14F-4D97-AF65-F5344CB8AC3E}">
        <p14:creationId xmlns:p14="http://schemas.microsoft.com/office/powerpoint/2010/main" val="408428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4"/>
                                        </p:tgtEl>
                                        <p:attrNameLst>
                                          <p:attrName>ppt_x</p:attrName>
                                        </p:attrNameLst>
                                      </p:cBhvr>
                                      <p:tavLst>
                                        <p:tav tm="0">
                                          <p:val>
                                            <p:strVal val="ppt_x"/>
                                          </p:val>
                                        </p:tav>
                                        <p:tav tm="100000">
                                          <p:val>
                                            <p:strVal val="ppt_x"/>
                                          </p:val>
                                        </p:tav>
                                      </p:tavLst>
                                    </p:anim>
                                    <p:anim calcmode="lin" valueType="num">
                                      <p:cBhvr additive="base">
                                        <p:cTn id="25" dur="500"/>
                                        <p:tgtEl>
                                          <p:spTgt spid="4"/>
                                        </p:tgtEl>
                                        <p:attrNameLst>
                                          <p:attrName>ppt_y</p:attrName>
                                        </p:attrNameLst>
                                      </p:cBhvr>
                                      <p:tavLst>
                                        <p:tav tm="0">
                                          <p:val>
                                            <p:strVal val="ppt_y"/>
                                          </p:val>
                                        </p:tav>
                                        <p:tav tm="100000">
                                          <p:val>
                                            <p:strVal val="1+ppt_h/2"/>
                                          </p:val>
                                        </p:tav>
                                      </p:tavLst>
                                    </p:anim>
                                    <p:set>
                                      <p:cBhvr>
                                        <p:cTn id="26" dur="1" fill="hold">
                                          <p:stCondLst>
                                            <p:cond delay="499"/>
                                          </p:stCondLst>
                                        </p:cTn>
                                        <p:tgtEl>
                                          <p:spTgt spid="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5"/>
                                        </p:tgtEl>
                                        <p:attrNameLst>
                                          <p:attrName>ppt_x</p:attrName>
                                        </p:attrNameLst>
                                      </p:cBhvr>
                                      <p:tavLst>
                                        <p:tav tm="0">
                                          <p:val>
                                            <p:strVal val="ppt_x"/>
                                          </p:val>
                                        </p:tav>
                                        <p:tav tm="100000">
                                          <p:val>
                                            <p:strVal val="ppt_x"/>
                                          </p:val>
                                        </p:tav>
                                      </p:tavLst>
                                    </p:anim>
                                    <p:anim calcmode="lin" valueType="num">
                                      <p:cBhvr additive="base">
                                        <p:cTn id="37" dur="500"/>
                                        <p:tgtEl>
                                          <p:spTgt spid="5"/>
                                        </p:tgtEl>
                                        <p:attrNameLst>
                                          <p:attrName>ppt_y</p:attrName>
                                        </p:attrNameLst>
                                      </p:cBhvr>
                                      <p:tavLst>
                                        <p:tav tm="0">
                                          <p:val>
                                            <p:strVal val="ppt_y"/>
                                          </p:val>
                                        </p:tav>
                                        <p:tav tm="100000">
                                          <p:val>
                                            <p:strVal val="1+ppt_h/2"/>
                                          </p:val>
                                        </p:tav>
                                      </p:tavLst>
                                    </p:anim>
                                    <p:set>
                                      <p:cBhvr>
                                        <p:cTn id="38" dur="1" fill="hold">
                                          <p:stCondLst>
                                            <p:cond delay="499"/>
                                          </p:stCondLst>
                                        </p:cTn>
                                        <p:tgtEl>
                                          <p:spTgt spid="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6"/>
                                        </p:tgtEl>
                                        <p:attrNameLst>
                                          <p:attrName>ppt_x</p:attrName>
                                        </p:attrNameLst>
                                      </p:cBhvr>
                                      <p:tavLst>
                                        <p:tav tm="0">
                                          <p:val>
                                            <p:strVal val="ppt_x"/>
                                          </p:val>
                                        </p:tav>
                                        <p:tav tm="100000">
                                          <p:val>
                                            <p:strVal val="ppt_x"/>
                                          </p:val>
                                        </p:tav>
                                      </p:tavLst>
                                    </p:anim>
                                    <p:anim calcmode="lin" valueType="num">
                                      <p:cBhvr additive="base">
                                        <p:cTn id="49" dur="500"/>
                                        <p:tgtEl>
                                          <p:spTgt spid="6"/>
                                        </p:tgtEl>
                                        <p:attrNameLst>
                                          <p:attrName>ppt_y</p:attrName>
                                        </p:attrNameLst>
                                      </p:cBhvr>
                                      <p:tavLst>
                                        <p:tav tm="0">
                                          <p:val>
                                            <p:strVal val="ppt_y"/>
                                          </p:val>
                                        </p:tav>
                                        <p:tav tm="100000">
                                          <p:val>
                                            <p:strVal val="1+ppt_h/2"/>
                                          </p:val>
                                        </p:tav>
                                      </p:tavLst>
                                    </p:anim>
                                    <p:set>
                                      <p:cBhvr>
                                        <p:cTn id="5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5" grpId="0" animBg="1"/>
      <p:bldP spid="5" grpId="1" animBg="1"/>
      <p:bldP spid="6" grpId="0" animBg="1"/>
      <p:bldP spid="6"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descr="http://cdn.motorpage.ru/Photos/800/glonass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4185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47</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35636" y="2341171"/>
            <a:ext cx="10545140" cy="1323439"/>
          </a:xfrm>
          <a:prstGeom prst="rect">
            <a:avLst/>
          </a:prstGeom>
          <a:noFill/>
        </p:spPr>
        <p:txBody>
          <a:bodyPr wrap="square" rtlCol="0">
            <a:spAutoFit/>
          </a:bodyPr>
          <a:lstStyle/>
          <a:p>
            <a:pPr lvl="1" algn="ctr"/>
            <a:r>
              <a:rPr lang="ru-RU" sz="4000" b="1" dirty="0">
                <a:solidFill>
                  <a:srgbClr val="FF0000"/>
                </a:solidFill>
              </a:rPr>
              <a:t>ВОЗМОЖНОСТИ "ОБЛАЧНЫХ" ТЕХНОЛОГИЙ</a:t>
            </a:r>
          </a:p>
          <a:p>
            <a:pPr lvl="1" algn="ctr"/>
            <a:r>
              <a:rPr lang="ru-RU" sz="4000" b="1" dirty="0"/>
              <a:t>Вопрос 6</a:t>
            </a:r>
            <a:endParaRPr lang="ru-RU" sz="4000" dirty="0"/>
          </a:p>
        </p:txBody>
      </p:sp>
    </p:spTree>
    <p:extLst>
      <p:ext uri="{BB962C8B-B14F-4D97-AF65-F5344CB8AC3E}">
        <p14:creationId xmlns:p14="http://schemas.microsoft.com/office/powerpoint/2010/main" val="746367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092810" y="346366"/>
            <a:ext cx="8528040" cy="461665"/>
          </a:xfrm>
          <a:prstGeom prst="rect">
            <a:avLst/>
          </a:prstGeom>
        </p:spPr>
        <p:txBody>
          <a:bodyPr wrap="none">
            <a:spAutoFit/>
          </a:bodyPr>
          <a:lstStyle/>
          <a:p>
            <a:r>
              <a:rPr lang="ru-RU" sz="2400" b="1" kern="50" dirty="0">
                <a:solidFill>
                  <a:srgbClr val="000000"/>
                </a:solidFill>
                <a:latin typeface="Times New Roman" panose="02020603050405020304" pitchFamily="18" charset="0"/>
                <a:ea typeface="Times New Roman" panose="02020603050405020304" pitchFamily="18" charset="0"/>
              </a:rPr>
              <a:t>Гибридный подход к проектированию ИТ-инфраструктуры</a:t>
            </a:r>
            <a:endParaRPr lang="ru-RU" sz="2400" b="1" dirty="0"/>
          </a:p>
        </p:txBody>
      </p:sp>
      <p:pic>
        <p:nvPicPr>
          <p:cNvPr id="3" name="Рисунок 2" descr="Гибридный подход к проектированию ИТ-инфраструктуры"/>
          <p:cNvPicPr/>
          <p:nvPr/>
        </p:nvPicPr>
        <p:blipFill>
          <a:blip r:embed="rId2">
            <a:extLst>
              <a:ext uri="{28A0092B-C50C-407E-A947-70E740481C1C}">
                <a14:useLocalDpi xmlns:a14="http://schemas.microsoft.com/office/drawing/2010/main" val="0"/>
              </a:ext>
            </a:extLst>
          </a:blip>
          <a:srcRect/>
          <a:stretch>
            <a:fillRect/>
          </a:stretch>
        </p:blipFill>
        <p:spPr bwMode="auto">
          <a:xfrm>
            <a:off x="418235" y="1172441"/>
            <a:ext cx="5386820" cy="4355524"/>
          </a:xfrm>
          <a:prstGeom prst="rect">
            <a:avLst/>
          </a:prstGeom>
          <a:noFill/>
          <a:ln>
            <a:noFill/>
          </a:ln>
        </p:spPr>
      </p:pic>
      <p:sp>
        <p:nvSpPr>
          <p:cNvPr id="4" name="Прямоугольник 3"/>
          <p:cNvSpPr/>
          <p:nvPr/>
        </p:nvSpPr>
        <p:spPr>
          <a:xfrm>
            <a:off x="5805055" y="1332867"/>
            <a:ext cx="6096000" cy="4093428"/>
          </a:xfrm>
          <a:prstGeom prst="rect">
            <a:avLst/>
          </a:prstGeom>
        </p:spPr>
        <p:txBody>
          <a:bodyPr>
            <a:spAutoFit/>
          </a:bodyPr>
          <a:lstStyle/>
          <a:p>
            <a:r>
              <a:rPr lang="ru-RU" sz="2000" kern="50" dirty="0">
                <a:solidFill>
                  <a:srgbClr val="000000"/>
                </a:solidFill>
                <a:latin typeface="Calibri" panose="020F0502020204030204" pitchFamily="34" charset="0"/>
                <a:ea typeface="Times New Roman" panose="02020603050405020304" pitchFamily="18" charset="0"/>
              </a:rPr>
              <a:t>Одним из инструментов, позволяющим организовать такую работу, является корпоративный или образовательный портал. Портал MS </a:t>
            </a:r>
            <a:r>
              <a:rPr lang="ru-RU" sz="2000" kern="50" dirty="0" err="1">
                <a:solidFill>
                  <a:srgbClr val="000000"/>
                </a:solidFill>
                <a:latin typeface="Calibri" panose="020F0502020204030204" pitchFamily="34" charset="0"/>
                <a:ea typeface="Times New Roman" panose="02020603050405020304" pitchFamily="18" charset="0"/>
              </a:rPr>
              <a:t>SharePoint</a:t>
            </a:r>
            <a:r>
              <a:rPr lang="ru-RU" sz="2000" kern="50" dirty="0">
                <a:solidFill>
                  <a:srgbClr val="000000"/>
                </a:solidFill>
                <a:latin typeface="Calibri" panose="020F0502020204030204" pitchFamily="34" charset="0"/>
                <a:ea typeface="Times New Roman" panose="02020603050405020304" pitchFamily="18" charset="0"/>
              </a:rPr>
              <a:t> позволяет организовать распределённую работу. Если </a:t>
            </a:r>
            <a:r>
              <a:rPr lang="ru-RU" sz="2000" i="1" kern="50" dirty="0">
                <a:solidFill>
                  <a:srgbClr val="000000"/>
                </a:solidFill>
                <a:latin typeface="Calibri" panose="020F0502020204030204" pitchFamily="34" charset="0"/>
                <a:ea typeface="Times New Roman" panose="02020603050405020304" pitchFamily="18" charset="0"/>
              </a:rPr>
              <a:t>инфраструктура</a:t>
            </a:r>
            <a:r>
              <a:rPr lang="ru-RU" sz="2000" kern="50" dirty="0">
                <a:solidFill>
                  <a:srgbClr val="000000"/>
                </a:solidFill>
                <a:latin typeface="Calibri" panose="020F0502020204030204" pitchFamily="34" charset="0"/>
                <a:ea typeface="Times New Roman" panose="02020603050405020304" pitchFamily="18" charset="0"/>
              </a:rPr>
              <a:t> будет построена </a:t>
            </a:r>
            <a:r>
              <a:rPr lang="ru-RU" sz="2000" i="1" kern="50" dirty="0">
                <a:solidFill>
                  <a:srgbClr val="000000"/>
                </a:solidFill>
                <a:latin typeface="Calibri" panose="020F0502020204030204" pitchFamily="34" charset="0"/>
                <a:ea typeface="Times New Roman" panose="02020603050405020304" pitchFamily="18" charset="0"/>
              </a:rPr>
              <a:t>по</a:t>
            </a:r>
            <a:r>
              <a:rPr lang="ru-RU" sz="2000" kern="50" dirty="0">
                <a:solidFill>
                  <a:srgbClr val="000000"/>
                </a:solidFill>
                <a:latin typeface="Calibri" panose="020F0502020204030204" pitchFamily="34" charset="0"/>
                <a:ea typeface="Times New Roman" panose="02020603050405020304" pitchFamily="18" charset="0"/>
              </a:rPr>
              <a:t> принципу частного облака, то для этого потребуется всего лишь </a:t>
            </a:r>
            <a:r>
              <a:rPr lang="ru-RU" sz="2000" i="1" kern="50" dirty="0">
                <a:solidFill>
                  <a:srgbClr val="000000"/>
                </a:solidFill>
                <a:latin typeface="Calibri" panose="020F0502020204030204" pitchFamily="34" charset="0"/>
                <a:ea typeface="Times New Roman" panose="02020603050405020304" pitchFamily="18" charset="0"/>
              </a:rPr>
              <a:t>копирование</a:t>
            </a:r>
            <a:r>
              <a:rPr lang="ru-RU" sz="2000" kern="50" dirty="0">
                <a:solidFill>
                  <a:srgbClr val="000000"/>
                </a:solidFill>
                <a:latin typeface="Calibri" panose="020F0502020204030204" pitchFamily="34" charset="0"/>
                <a:ea typeface="Times New Roman" panose="02020603050405020304" pitchFamily="18" charset="0"/>
              </a:rPr>
              <a:t> виртуальных машин в публичное облако. В случае классического подхода к формированию информационной инфраструктуры, проект миграции включал бы в себя развёртывание новой инфраструктуры и перенос старых данных в новую среду, что является достаточно трудоёмким проектом.</a:t>
            </a:r>
            <a:endParaRPr lang="ru-RU" sz="2000" dirty="0"/>
          </a:p>
        </p:txBody>
      </p:sp>
      <p:sp>
        <p:nvSpPr>
          <p:cNvPr id="5" name="Прямоугольник 4"/>
          <p:cNvSpPr/>
          <p:nvPr/>
        </p:nvSpPr>
        <p:spPr>
          <a:xfrm>
            <a:off x="554180" y="5426295"/>
            <a:ext cx="11637819" cy="1015663"/>
          </a:xfrm>
          <a:prstGeom prst="rect">
            <a:avLst/>
          </a:prstGeom>
        </p:spPr>
        <p:txBody>
          <a:bodyPr wrap="square">
            <a:spAutoFit/>
          </a:bodyPr>
          <a:lstStyle/>
          <a:p>
            <a:r>
              <a:rPr lang="ru-RU" sz="2000" b="1" kern="50" dirty="0">
                <a:solidFill>
                  <a:srgbClr val="FF0000"/>
                </a:solidFill>
                <a:latin typeface="Calibri" panose="020F0502020204030204" pitchFamily="34" charset="0"/>
                <a:ea typeface="Times New Roman" panose="02020603050405020304" pitchFamily="18" charset="0"/>
              </a:rPr>
              <a:t>Гибридный подход к формированию информационной инфраструктуры </a:t>
            </a:r>
            <a:r>
              <a:rPr lang="ru-RU" sz="2000" kern="50" dirty="0">
                <a:solidFill>
                  <a:srgbClr val="FF0000"/>
                </a:solidFill>
                <a:latin typeface="Calibri" panose="020F0502020204030204" pitchFamily="34" charset="0"/>
                <a:ea typeface="Times New Roman" panose="02020603050405020304" pitchFamily="18" charset="0"/>
              </a:rPr>
              <a:t>— подход, при котором часть ресурсов, для которых это целесообразно, выносится в публичное облако, а часть наиболее критических, бизнес-значимых сервисов остаются в пределах информационной инфраструктуры компании</a:t>
            </a:r>
            <a:endParaRPr lang="ru-RU" sz="2000" dirty="0">
              <a:solidFill>
                <a:srgbClr val="FF0000"/>
              </a:solidFill>
            </a:endParaRPr>
          </a:p>
        </p:txBody>
      </p:sp>
    </p:spTree>
    <p:extLst>
      <p:ext uri="{BB962C8B-B14F-4D97-AF65-F5344CB8AC3E}">
        <p14:creationId xmlns:p14="http://schemas.microsoft.com/office/powerpoint/2010/main" val="30950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04799" y="221672"/>
            <a:ext cx="11499273" cy="4524315"/>
          </a:xfrm>
          <a:prstGeom prst="rect">
            <a:avLst/>
          </a:prstGeom>
        </p:spPr>
        <p:txBody>
          <a:bodyPr wrap="square">
            <a:spAutoFit/>
          </a:bodyPr>
          <a:lstStyle/>
          <a:p>
            <a:pPr indent="450215" algn="just">
              <a:spcAft>
                <a:spcPts val="0"/>
              </a:spcAft>
            </a:pPr>
            <a:r>
              <a:rPr lang="ru-RU" sz="2400" dirty="0">
                <a:solidFill>
                  <a:srgbClr val="000000"/>
                </a:solidFill>
                <a:latin typeface="Times New Roman" panose="02020603050405020304" pitchFamily="18" charset="0"/>
                <a:ea typeface="Times New Roman" panose="02020603050405020304" pitchFamily="18" charset="0"/>
              </a:rPr>
              <a:t>Для обеспечения безопасной работы при формировании гибридной инфраструктуры следует придерживаться следующих основных правил:</a:t>
            </a:r>
            <a:endParaRPr lang="ru-RU" sz="24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контроль строгого соблюдения политик информационной безопасности в распределенных частях организации;</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допуск к настройке сервисов в облаке или гибридном решении только профессионалов;</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согласование локальных политик и гарантий безопасности на уровне пользователей, сетевых провайдеров и владельцев сервисов;</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дополнительное сохранение данных локально, там, где это возможно;</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учёт значимости конкретного информационного ресурса предприятия для бизнеса в целом;</a:t>
            </a:r>
            <a:endParaRPr lang="ru-RU" sz="2400" kern="50" dirty="0">
              <a:solidFill>
                <a:srgbClr val="00000A"/>
              </a:solidFill>
              <a:latin typeface="Calibri" panose="020F0502020204030204" pitchFamily="34"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ru-RU" sz="2400" kern="50" dirty="0">
                <a:solidFill>
                  <a:srgbClr val="000000"/>
                </a:solidFill>
                <a:latin typeface="Times New Roman" panose="02020603050405020304" pitchFamily="18" charset="0"/>
                <a:ea typeface="Times New Roman" panose="02020603050405020304" pitchFamily="18" charset="0"/>
              </a:rPr>
              <a:t>учёт новых угроз при переносе любого контента во внешние сервисы.</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825927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s://fs.znanio.ru/d5af0e/3d/e4/62453b27bf99295cb70019e6c4fef7fb4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6956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ChangeArrowheads="1"/>
          </p:cNvSpPr>
          <p:nvPr/>
        </p:nvSpPr>
        <p:spPr bwMode="auto">
          <a:xfrm>
            <a:off x="4956265" y="510698"/>
            <a:ext cx="5691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fontAlgn="base">
              <a:spcBef>
                <a:spcPct val="0"/>
              </a:spcBef>
              <a:spcAft>
                <a:spcPct val="0"/>
              </a:spcAft>
            </a:pPr>
            <a:r>
              <a:rPr lang="ru-RU" altLang="ru-RU" sz="1400" b="1" dirty="0">
                <a:solidFill>
                  <a:srgbClr val="A40000"/>
                </a:solidFill>
                <a:latin typeface="+mn-lt"/>
                <a:cs typeface="Tahoma" pitchFamily="34" charset="0"/>
              </a:rPr>
              <a:t>НИЖЕГОРОДСКИЙ			</a:t>
            </a:r>
          </a:p>
          <a:p>
            <a:pPr fontAlgn="base">
              <a:spcBef>
                <a:spcPct val="0"/>
              </a:spcBef>
              <a:spcAft>
                <a:spcPct val="0"/>
              </a:spcAft>
            </a:pPr>
            <a:r>
              <a:rPr lang="ru-RU" altLang="ru-RU" sz="1400" b="1" dirty="0">
                <a:solidFill>
                  <a:srgbClr val="A40000"/>
                </a:solidFill>
                <a:latin typeface="+mn-lt"/>
                <a:cs typeface="Tahoma" pitchFamily="34" charset="0"/>
              </a:rPr>
              <a:t>ИНСТИТУТ				</a:t>
            </a:r>
          </a:p>
          <a:p>
            <a:pPr fontAlgn="base">
              <a:spcBef>
                <a:spcPct val="0"/>
              </a:spcBef>
              <a:spcAft>
                <a:spcPct val="0"/>
              </a:spcAft>
            </a:pPr>
            <a:r>
              <a:rPr lang="ru-RU" altLang="ru-RU" sz="1400" b="1" dirty="0">
                <a:solidFill>
                  <a:srgbClr val="A40000"/>
                </a:solidFill>
                <a:latin typeface="+mn-lt"/>
                <a:cs typeface="Tahoma" pitchFamily="34" charset="0"/>
              </a:rPr>
              <a:t>УПРАВЛЕНИЯ			</a:t>
            </a:r>
            <a:endParaRPr lang="en-US" altLang="ru-RU" sz="1400" b="1" dirty="0">
              <a:solidFill>
                <a:srgbClr val="A40000"/>
              </a:solidFill>
              <a:latin typeface="+mn-lt"/>
              <a:cs typeface="Tahoma" pitchFamily="34" charset="0"/>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854076"/>
            <a:ext cx="23447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Прямоугольник 7"/>
          <p:cNvSpPr>
            <a:spLocks noChangeArrowheads="1"/>
          </p:cNvSpPr>
          <p:nvPr/>
        </p:nvSpPr>
        <p:spPr bwMode="auto">
          <a:xfrm flipH="1">
            <a:off x="351631" y="2762182"/>
            <a:ext cx="2843213" cy="1538287"/>
          </a:xfrm>
          <a:prstGeom prst="rect">
            <a:avLst/>
          </a:prstGeom>
          <a:gradFill rotWithShape="1">
            <a:gsLst>
              <a:gs pos="0">
                <a:srgbClr val="770000"/>
              </a:gs>
              <a:gs pos="50000">
                <a:srgbClr val="AD0000"/>
              </a:gs>
              <a:gs pos="100000">
                <a:srgbClr val="CE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1042988">
              <a:defRPr>
                <a:solidFill>
                  <a:schemeClr val="tx1"/>
                </a:solidFill>
                <a:latin typeface="Arial" pitchFamily="34" charset="0"/>
              </a:defRPr>
            </a:lvl1pPr>
            <a:lvl2pPr marL="742950" indent="-285750" defTabSz="1042988">
              <a:defRPr>
                <a:solidFill>
                  <a:schemeClr val="tx1"/>
                </a:solidFill>
                <a:latin typeface="Arial" pitchFamily="34" charset="0"/>
              </a:defRPr>
            </a:lvl2pPr>
            <a:lvl3pPr marL="1143000" indent="-228600" defTabSz="1042988">
              <a:defRPr>
                <a:solidFill>
                  <a:schemeClr val="tx1"/>
                </a:solidFill>
                <a:latin typeface="Arial" pitchFamily="34" charset="0"/>
              </a:defRPr>
            </a:lvl3pPr>
            <a:lvl4pPr marL="1600200" indent="-228600" defTabSz="1042988">
              <a:defRPr>
                <a:solidFill>
                  <a:schemeClr val="tx1"/>
                </a:solidFill>
                <a:latin typeface="Arial" pitchFamily="34" charset="0"/>
              </a:defRPr>
            </a:lvl4pPr>
            <a:lvl5pPr marL="2057400" indent="-228600" defTabSz="1042988">
              <a:defRPr>
                <a:solidFill>
                  <a:schemeClr val="tx1"/>
                </a:solidFill>
                <a:latin typeface="Arial" pitchFamily="34" charset="0"/>
              </a:defRPr>
            </a:lvl5pPr>
            <a:lvl6pPr marL="2514600" indent="-228600" defTabSz="1042988" eaLnBrk="0" fontAlgn="base" hangingPunct="0">
              <a:spcBef>
                <a:spcPct val="0"/>
              </a:spcBef>
              <a:spcAft>
                <a:spcPct val="0"/>
              </a:spcAft>
              <a:defRPr>
                <a:solidFill>
                  <a:schemeClr val="tx1"/>
                </a:solidFill>
                <a:latin typeface="Arial" pitchFamily="34" charset="0"/>
              </a:defRPr>
            </a:lvl6pPr>
            <a:lvl7pPr marL="2971800" indent="-228600" defTabSz="1042988" eaLnBrk="0" fontAlgn="base" hangingPunct="0">
              <a:spcBef>
                <a:spcPct val="0"/>
              </a:spcBef>
              <a:spcAft>
                <a:spcPct val="0"/>
              </a:spcAft>
              <a:defRPr>
                <a:solidFill>
                  <a:schemeClr val="tx1"/>
                </a:solidFill>
                <a:latin typeface="Arial" pitchFamily="34" charset="0"/>
              </a:defRPr>
            </a:lvl7pPr>
            <a:lvl8pPr marL="3429000" indent="-228600" defTabSz="1042988" eaLnBrk="0" fontAlgn="base" hangingPunct="0">
              <a:spcBef>
                <a:spcPct val="0"/>
              </a:spcBef>
              <a:spcAft>
                <a:spcPct val="0"/>
              </a:spcAft>
              <a:defRPr>
                <a:solidFill>
                  <a:schemeClr val="tx1"/>
                </a:solidFill>
                <a:latin typeface="Arial" pitchFamily="34" charset="0"/>
              </a:defRPr>
            </a:lvl8pPr>
            <a:lvl9pPr marL="3886200" indent="-228600" defTabSz="1042988"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endParaRPr lang="ru-RU" altLang="ru-RU" sz="2400" b="1" dirty="0">
              <a:solidFill>
                <a:schemeClr val="bg1"/>
              </a:solidFill>
            </a:endParaRPr>
          </a:p>
        </p:txBody>
      </p:sp>
      <p:sp>
        <p:nvSpPr>
          <p:cNvPr id="17413" name="Text Box 23"/>
          <p:cNvSpPr txBox="1">
            <a:spLocks noChangeArrowheads="1"/>
          </p:cNvSpPr>
          <p:nvPr/>
        </p:nvSpPr>
        <p:spPr bwMode="auto">
          <a:xfrm>
            <a:off x="3194844" y="2767096"/>
            <a:ext cx="862201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sz="4000" b="1" dirty="0"/>
              <a:t>ИСТОЧНИКИ ДАННЫХ ДЛЯ ГИС. ВВОД ДАННЫХ В ГИС</a:t>
            </a:r>
            <a:r>
              <a:rPr lang="ru-RU" sz="4000" dirty="0"/>
              <a:t/>
            </a:r>
            <a:br>
              <a:rPr lang="ru-RU" sz="4000" dirty="0"/>
            </a:br>
            <a:endParaRPr lang="ru-RU" altLang="ru-RU" sz="4000" b="1" dirty="0">
              <a:solidFill>
                <a:srgbClr val="C00000"/>
              </a:solidFill>
            </a:endParaRPr>
          </a:p>
        </p:txBody>
      </p:sp>
      <p:sp>
        <p:nvSpPr>
          <p:cNvPr id="5127" name="Text Box 23"/>
          <p:cNvSpPr txBox="1">
            <a:spLocks noChangeArrowheads="1"/>
          </p:cNvSpPr>
          <p:nvPr/>
        </p:nvSpPr>
        <p:spPr bwMode="auto">
          <a:xfrm>
            <a:off x="7535435" y="4944070"/>
            <a:ext cx="443397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fontAlgn="base" hangingPunct="1">
              <a:spcBef>
                <a:spcPct val="0"/>
              </a:spcBef>
              <a:spcAft>
                <a:spcPct val="0"/>
              </a:spcAft>
              <a:defRPr/>
            </a:pPr>
            <a:r>
              <a:rPr lang="ru-RU" sz="1600" dirty="0"/>
              <a:t>Зав. кафедрой информатики и информационных технологий, </a:t>
            </a:r>
            <a:r>
              <a:rPr lang="ru-RU" sz="1600" dirty="0" err="1"/>
              <a:t>к.т.н</a:t>
            </a:r>
            <a:r>
              <a:rPr lang="ru-RU" sz="1600" dirty="0"/>
              <a:t>, доцент, заслуженный работник науки и образования  Гребенюк И.И.</a:t>
            </a:r>
            <a:endParaRPr lang="ru-RU" altLang="ru-RU" sz="1600" b="1" dirty="0">
              <a:solidFill>
                <a:srgbClr val="000000"/>
              </a:solidFill>
              <a:latin typeface="Arial"/>
              <a:cs typeface="Arial" charset="0"/>
            </a:endParaRPr>
          </a:p>
        </p:txBody>
      </p:sp>
      <p:grpSp>
        <p:nvGrpSpPr>
          <p:cNvPr id="17415" name="Группа 12"/>
          <p:cNvGrpSpPr>
            <a:grpSpLocks/>
          </p:cNvGrpSpPr>
          <p:nvPr/>
        </p:nvGrpSpPr>
        <p:grpSpPr bwMode="auto">
          <a:xfrm>
            <a:off x="4616451" y="1598613"/>
            <a:ext cx="5732463" cy="781050"/>
            <a:chOff x="0" y="0"/>
            <a:chExt cx="6210300" cy="781275"/>
          </a:xfrm>
        </p:grpSpPr>
        <p:pic>
          <p:nvPicPr>
            <p:cNvPr id="17416" name="Рисунок 13" descr="D:\ИПК\Фотографии\на стенд\на сайт\главная\Академия 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0"/>
              <a:ext cx="1028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Рисунок 14" descr="D:\для фотопрезентации ФПК\Презид.программа\фото Открытие Президентской  Прогр\6.jpg"/>
            <p:cNvPicPr>
              <a:picLocks noChangeAspect="1"/>
            </p:cNvPicPr>
            <p:nvPr/>
          </p:nvPicPr>
          <p:blipFill>
            <a:blip r:embed="rId5">
              <a:extLst>
                <a:ext uri="{28A0092B-C50C-407E-A947-70E740481C1C}">
                  <a14:useLocalDpi xmlns:a14="http://schemas.microsoft.com/office/drawing/2010/main" val="0"/>
                </a:ext>
              </a:extLst>
            </a:blip>
            <a:srcRect l="5675" r="-2" b="1205"/>
            <a:stretch>
              <a:fillRect/>
            </a:stretch>
          </p:blipFill>
          <p:spPr bwMode="auto">
            <a:xfrm>
              <a:off x="0" y="1"/>
              <a:ext cx="11144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Рисунок 15" descr="D:\Презид.программа 20 мая-05 июня 2013\30.05.13\работа в проектных группах_30.05.13\DSCF800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62300" y="9750"/>
              <a:ext cx="10382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Рисунок 16" descr="D:\для фотопрезентации ФПК\Президентская программа (6) 17 сентября 2012 (З).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9525"/>
              <a:ext cx="10287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Рисунок 17" descr="D:\ИПК\Фотографии\для книги Академии\1.2.Здание.jpg"/>
            <p:cNvPicPr>
              <a:picLocks noChangeAspect="1"/>
            </p:cNvPicPr>
            <p:nvPr/>
          </p:nvPicPr>
          <p:blipFill>
            <a:blip r:embed="rId8">
              <a:extLst>
                <a:ext uri="{28A0092B-C50C-407E-A947-70E740481C1C}">
                  <a14:useLocalDpi xmlns:a14="http://schemas.microsoft.com/office/drawing/2010/main" val="0"/>
                </a:ext>
              </a:extLst>
            </a:blip>
            <a:srcRect t="2" b="1219"/>
            <a:stretch>
              <a:fillRect/>
            </a:stretch>
          </p:blipFill>
          <p:spPr bwMode="auto">
            <a:xfrm>
              <a:off x="4191000" y="9525"/>
              <a:ext cx="971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Рисунок 18" descr="D:\ИПК\Фотографии\для книги Академии\5.2.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62550" y="9525"/>
              <a:ext cx="10477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p:cNvSpPr txBox="1"/>
          <p:nvPr/>
        </p:nvSpPr>
        <p:spPr>
          <a:xfrm>
            <a:off x="4367213" y="6021288"/>
            <a:ext cx="3718804" cy="338554"/>
          </a:xfrm>
          <a:prstGeom prst="rect">
            <a:avLst/>
          </a:prstGeom>
          <a:noFill/>
        </p:spPr>
        <p:txBody>
          <a:bodyPr wrap="square" rtlCol="0">
            <a:spAutoFit/>
          </a:bodyPr>
          <a:lstStyle/>
          <a:p>
            <a:r>
              <a:rPr lang="ru-RU" sz="1600" b="1" dirty="0"/>
              <a:t>Нижний Новгород 20</a:t>
            </a:r>
            <a:r>
              <a:rPr lang="en-US" sz="1600" b="1" dirty="0" smtClean="0"/>
              <a:t>2</a:t>
            </a:r>
            <a:r>
              <a:rPr lang="ru-RU" sz="1600" b="1" dirty="0" smtClean="0"/>
              <a:t>4</a:t>
            </a:r>
            <a:endParaRPr lang="ru-RU" sz="1600" b="1" dirty="0"/>
          </a:p>
        </p:txBody>
      </p:sp>
    </p:spTree>
    <p:extLst>
      <p:ext uri="{BB962C8B-B14F-4D97-AF65-F5344CB8AC3E}">
        <p14:creationId xmlns:p14="http://schemas.microsoft.com/office/powerpoint/2010/main" val="3942455893"/>
      </p:ext>
    </p:extLst>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52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323439"/>
          </a:xfrm>
          <a:prstGeom prst="rect">
            <a:avLst/>
          </a:prstGeom>
          <a:noFill/>
        </p:spPr>
        <p:txBody>
          <a:bodyPr wrap="square" rtlCol="0">
            <a:spAutoFit/>
          </a:bodyPr>
          <a:lstStyle/>
          <a:p>
            <a:pPr lvl="0" algn="ctr"/>
            <a:r>
              <a:rPr lang="ru-RU" sz="4000" b="1" dirty="0">
                <a:solidFill>
                  <a:srgbClr val="FF0000"/>
                </a:solidFill>
              </a:rPr>
              <a:t>СВОЙСТВА ИСХОДНЫХ ДАННЫХ ДЛЯ ГИС.</a:t>
            </a:r>
            <a:endParaRPr lang="ru-RU" sz="4000" dirty="0">
              <a:solidFill>
                <a:srgbClr val="FF0000"/>
              </a:solidFill>
            </a:endParaRPr>
          </a:p>
          <a:p>
            <a:pPr lvl="0" algn="ctr"/>
            <a:r>
              <a:rPr lang="ru-RU" sz="4000" b="1" dirty="0"/>
              <a:t>Вопрос 1</a:t>
            </a:r>
            <a:endParaRPr lang="ru-RU" sz="4000" dirty="0"/>
          </a:p>
        </p:txBody>
      </p:sp>
    </p:spTree>
    <p:extLst>
      <p:ext uri="{BB962C8B-B14F-4D97-AF65-F5344CB8AC3E}">
        <p14:creationId xmlns:p14="http://schemas.microsoft.com/office/powerpoint/2010/main" val="2743191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6a0be17dba5c1af0.png"/>
          <p:cNvPicPr/>
          <p:nvPr/>
        </p:nvPicPr>
        <p:blipFill>
          <a:blip r:embed="rId2">
            <a:extLst>
              <a:ext uri="{28A0092B-C50C-407E-A947-70E740481C1C}">
                <a14:useLocalDpi xmlns:a14="http://schemas.microsoft.com/office/drawing/2010/main" val="0"/>
              </a:ext>
            </a:extLst>
          </a:blip>
          <a:srcRect/>
          <a:stretch>
            <a:fillRect/>
          </a:stretch>
        </p:blipFill>
        <p:spPr bwMode="auto">
          <a:xfrm>
            <a:off x="220373" y="0"/>
            <a:ext cx="12082463" cy="6858000"/>
          </a:xfrm>
          <a:prstGeom prst="rect">
            <a:avLst/>
          </a:prstGeom>
          <a:noFill/>
          <a:ln>
            <a:noFill/>
          </a:ln>
        </p:spPr>
      </p:pic>
    </p:spTree>
    <p:extLst>
      <p:ext uri="{BB962C8B-B14F-4D97-AF65-F5344CB8AC3E}">
        <p14:creationId xmlns:p14="http://schemas.microsoft.com/office/powerpoint/2010/main" val="16968392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18655" y="266849"/>
            <a:ext cx="11540836" cy="4708981"/>
          </a:xfrm>
          <a:prstGeom prst="rect">
            <a:avLst/>
          </a:prstGeom>
        </p:spPr>
        <p:txBody>
          <a:bodyPr wrap="square">
            <a:spAutoFit/>
          </a:bodyPr>
          <a:lstStyle/>
          <a:p>
            <a:pPr indent="450215" algn="just">
              <a:spcAft>
                <a:spcPts val="0"/>
              </a:spcAft>
            </a:pPr>
            <a:r>
              <a:rPr lang="ru-RU" sz="2000" b="1" i="1" dirty="0">
                <a:latin typeface="Times New Roman" panose="02020603050405020304" pitchFamily="18" charset="0"/>
                <a:ea typeface="Times New Roman" panose="02020603050405020304" pitchFamily="18" charset="0"/>
              </a:rPr>
              <a:t>Точечные объекты</a:t>
            </a:r>
            <a:r>
              <a:rPr lang="ru-RU" sz="2000" dirty="0">
                <a:latin typeface="Times New Roman" panose="02020603050405020304" pitchFamily="18" charset="0"/>
                <a:ea typeface="Times New Roman" panose="02020603050405020304" pitchFamily="18" charset="0"/>
              </a:rPr>
              <a:t> – это объекты, которые в заданном масштабе не имеют длины и ширины и местоположение определяется только парой координат. В качество точечных объектов можно представить отдельно стоящие деревья, дома, населенные пункты, перекрестки дорог и т.д. О таких объектах говорят, что они дискретные, каждый их них в определенный момент времени может занимать только одну точку пространства.</a:t>
            </a:r>
          </a:p>
          <a:p>
            <a:pPr indent="450215" algn="just">
              <a:spcAft>
                <a:spcPts val="0"/>
              </a:spcAft>
            </a:pPr>
            <a:r>
              <a:rPr lang="ru-RU" sz="2000" b="1" i="1" dirty="0">
                <a:latin typeface="Times New Roman" panose="02020603050405020304" pitchFamily="18" charset="0"/>
                <a:ea typeface="Times New Roman" panose="02020603050405020304" pitchFamily="18" charset="0"/>
              </a:rPr>
              <a:t>Линейные объекты</a:t>
            </a:r>
            <a:r>
              <a:rPr lang="ru-RU" sz="2000" dirty="0">
                <a:latin typeface="Times New Roman" panose="02020603050405020304" pitchFamily="18" charset="0"/>
                <a:ea typeface="Times New Roman" panose="02020603050405020304" pitchFamily="18" charset="0"/>
              </a:rPr>
              <a:t> - это объекты, которые в заданном масштабе карты имеют длину, но не имеют ширины. Они представляются как бы одномерными в нашем пространстве. Такими объектами могут быть дороги, реки, границы, любые другие объекты, которые имеют большую протяженность, но небольшую ширину. Именно масштаб определяет порог, при пересечении которого мы считаем их объектами, не имеющими ширины.</a:t>
            </a:r>
          </a:p>
          <a:p>
            <a:pPr indent="450215" algn="just">
              <a:spcAft>
                <a:spcPts val="0"/>
              </a:spcAft>
            </a:pPr>
            <a:r>
              <a:rPr lang="ru-RU" sz="2000" b="1" i="1" dirty="0">
                <a:latin typeface="Times New Roman" panose="02020603050405020304" pitchFamily="18" charset="0"/>
                <a:ea typeface="Times New Roman" panose="02020603050405020304" pitchFamily="18" charset="0"/>
              </a:rPr>
              <a:t>Площадные объекты (полигоны)</a:t>
            </a:r>
            <a:r>
              <a:rPr lang="ru-RU" sz="2000" dirty="0">
                <a:latin typeface="Times New Roman" panose="02020603050405020304" pitchFamily="18" charset="0"/>
                <a:ea typeface="Times New Roman" panose="02020603050405020304" pitchFamily="18" charset="0"/>
              </a:rPr>
              <a:t> – это объекты, которые при заданном масштабе имеют и длину и ширину («двумерные объекты»). Примерами полигонов может быть территория государства, города, озера и т.д. Границей полигональных объектов является линия, которая начинается и заканчивается в одной точке. Полигональные объекты имеют несколько характеристик: местоположение линии, определяющей полигон, форма и ориентация линии, величины периметра и площади полигона.</a:t>
            </a:r>
          </a:p>
        </p:txBody>
      </p:sp>
    </p:spTree>
    <p:extLst>
      <p:ext uri="{BB962C8B-B14F-4D97-AF65-F5344CB8AC3E}">
        <p14:creationId xmlns:p14="http://schemas.microsoft.com/office/powerpoint/2010/main" val="27863583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6ac753d89a87673a.png"/>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p:spPr>
      </p:pic>
    </p:spTree>
    <p:extLst>
      <p:ext uri="{BB962C8B-B14F-4D97-AF65-F5344CB8AC3E}">
        <p14:creationId xmlns:p14="http://schemas.microsoft.com/office/powerpoint/2010/main" val="8533040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300f444650dfb145.png"/>
          <p:cNvPicPr/>
          <p:nvPr/>
        </p:nvPicPr>
        <p:blipFill>
          <a:blip r:embed="rId2">
            <a:extLst>
              <a:ext uri="{28A0092B-C50C-407E-A947-70E740481C1C}">
                <a14:useLocalDpi xmlns:a14="http://schemas.microsoft.com/office/drawing/2010/main" val="0"/>
              </a:ext>
            </a:extLst>
          </a:blip>
          <a:srcRect/>
          <a:stretch>
            <a:fillRect/>
          </a:stretch>
        </p:blipFill>
        <p:spPr bwMode="auto">
          <a:xfrm>
            <a:off x="209550" y="0"/>
            <a:ext cx="11982450" cy="6858000"/>
          </a:xfrm>
          <a:prstGeom prst="rect">
            <a:avLst/>
          </a:prstGeom>
          <a:noFill/>
          <a:ln>
            <a:noFill/>
          </a:ln>
        </p:spPr>
      </p:pic>
    </p:spTree>
    <p:extLst>
      <p:ext uri="{BB962C8B-B14F-4D97-AF65-F5344CB8AC3E}">
        <p14:creationId xmlns:p14="http://schemas.microsoft.com/office/powerpoint/2010/main" val="26511619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72e8fccd6b86e049.png"/>
          <p:cNvPicPr/>
          <p:nvPr/>
        </p:nvPicPr>
        <p:blipFill>
          <a:blip r:embed="rId2">
            <a:extLst>
              <a:ext uri="{28A0092B-C50C-407E-A947-70E740481C1C}">
                <a14:useLocalDpi xmlns:a14="http://schemas.microsoft.com/office/drawing/2010/main" val="0"/>
              </a:ext>
            </a:extLst>
          </a:blip>
          <a:srcRect/>
          <a:stretch>
            <a:fillRect/>
          </a:stretch>
        </p:blipFill>
        <p:spPr bwMode="auto">
          <a:xfrm>
            <a:off x="176212" y="221239"/>
            <a:ext cx="11794115" cy="6525925"/>
          </a:xfrm>
          <a:prstGeom prst="rect">
            <a:avLst/>
          </a:prstGeom>
          <a:noFill/>
          <a:ln>
            <a:noFill/>
          </a:ln>
        </p:spPr>
      </p:pic>
    </p:spTree>
    <p:extLst>
      <p:ext uri="{BB962C8B-B14F-4D97-AF65-F5344CB8AC3E}">
        <p14:creationId xmlns:p14="http://schemas.microsoft.com/office/powerpoint/2010/main" val="41211371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58</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0" algn="ctr"/>
            <a:r>
              <a:rPr lang="ru-RU" sz="4000" b="1" dirty="0">
                <a:solidFill>
                  <a:srgbClr val="FF0000"/>
                </a:solidFill>
              </a:rPr>
              <a:t>КАРТОГРАФИЧЕСКИЕ ИСТОЧНИКИ ДАННЫХ ДЛЯ ГИС.</a:t>
            </a:r>
            <a:endParaRPr lang="ru-RU" sz="4000" dirty="0">
              <a:solidFill>
                <a:srgbClr val="FF0000"/>
              </a:solidFill>
            </a:endParaRPr>
          </a:p>
          <a:p>
            <a:pPr lvl="0" algn="ctr"/>
            <a:r>
              <a:rPr lang="ru-RU" sz="4000" b="1" dirty="0"/>
              <a:t>Вопрос 2</a:t>
            </a:r>
            <a:endParaRPr lang="ru-RU" sz="4000" dirty="0"/>
          </a:p>
        </p:txBody>
      </p:sp>
    </p:spTree>
    <p:extLst>
      <p:ext uri="{BB962C8B-B14F-4D97-AF65-F5344CB8AC3E}">
        <p14:creationId xmlns:p14="http://schemas.microsoft.com/office/powerpoint/2010/main" val="14930873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40e0c70ae1f749a.png"/>
          <p:cNvPicPr/>
          <p:nvPr/>
        </p:nvPicPr>
        <p:blipFill>
          <a:blip r:embed="rId2">
            <a:extLst>
              <a:ext uri="{28A0092B-C50C-407E-A947-70E740481C1C}">
                <a14:useLocalDpi xmlns:a14="http://schemas.microsoft.com/office/drawing/2010/main" val="0"/>
              </a:ext>
            </a:extLst>
          </a:blip>
          <a:srcRect/>
          <a:stretch>
            <a:fillRect/>
          </a:stretch>
        </p:blipFill>
        <p:spPr bwMode="auto">
          <a:xfrm>
            <a:off x="322551" y="323417"/>
            <a:ext cx="11869449" cy="6382183"/>
          </a:xfrm>
          <a:prstGeom prst="rect">
            <a:avLst/>
          </a:prstGeom>
          <a:noFill/>
          <a:ln>
            <a:noFill/>
          </a:ln>
        </p:spPr>
      </p:pic>
    </p:spTree>
    <p:extLst>
      <p:ext uri="{BB962C8B-B14F-4D97-AF65-F5344CB8AC3E}">
        <p14:creationId xmlns:p14="http://schemas.microsoft.com/office/powerpoint/2010/main" val="37085522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21cdf9f39c0d9be0.png"/>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065818"/>
          </a:xfrm>
          <a:prstGeom prst="rect">
            <a:avLst/>
          </a:prstGeom>
          <a:noFill/>
          <a:ln>
            <a:noFill/>
          </a:ln>
        </p:spPr>
      </p:pic>
    </p:spTree>
    <p:extLst>
      <p:ext uri="{BB962C8B-B14F-4D97-AF65-F5344CB8AC3E}">
        <p14:creationId xmlns:p14="http://schemas.microsoft.com/office/powerpoint/2010/main" val="24282886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7c6d14348551c704.png"/>
          <p:cNvPicPr/>
          <p:nvPr/>
        </p:nvPicPr>
        <p:blipFill>
          <a:blip r:embed="rId2">
            <a:extLst>
              <a:ext uri="{28A0092B-C50C-407E-A947-70E740481C1C}">
                <a14:useLocalDpi xmlns:a14="http://schemas.microsoft.com/office/drawing/2010/main" val="0"/>
              </a:ext>
            </a:extLst>
          </a:blip>
          <a:srcRect/>
          <a:stretch>
            <a:fillRect/>
          </a:stretch>
        </p:blipFill>
        <p:spPr bwMode="auto">
          <a:xfrm>
            <a:off x="143740" y="0"/>
            <a:ext cx="12048259" cy="6206836"/>
          </a:xfrm>
          <a:prstGeom prst="rect">
            <a:avLst/>
          </a:prstGeom>
          <a:noFill/>
          <a:ln>
            <a:noFill/>
          </a:ln>
        </p:spPr>
      </p:pic>
    </p:spTree>
    <p:extLst>
      <p:ext uri="{BB962C8B-B14F-4D97-AF65-F5344CB8AC3E}">
        <p14:creationId xmlns:p14="http://schemas.microsoft.com/office/powerpoint/2010/main" val="42074356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81c2907ebf7b1814.png"/>
          <p:cNvPicPr/>
          <p:nvPr/>
        </p:nvPicPr>
        <p:blipFill>
          <a:blip r:embed="rId2">
            <a:extLst>
              <a:ext uri="{28A0092B-C50C-407E-A947-70E740481C1C}">
                <a14:useLocalDpi xmlns:a14="http://schemas.microsoft.com/office/drawing/2010/main" val="0"/>
              </a:ext>
            </a:extLst>
          </a:blip>
          <a:srcRect/>
          <a:stretch>
            <a:fillRect/>
          </a:stretch>
        </p:blipFill>
        <p:spPr bwMode="auto">
          <a:xfrm>
            <a:off x="163657" y="0"/>
            <a:ext cx="11903652" cy="6858000"/>
          </a:xfrm>
          <a:prstGeom prst="rect">
            <a:avLst/>
          </a:prstGeom>
          <a:noFill/>
          <a:ln>
            <a:noFill/>
          </a:ln>
        </p:spPr>
      </p:pic>
    </p:spTree>
    <p:extLst>
      <p:ext uri="{BB962C8B-B14F-4D97-AF65-F5344CB8AC3E}">
        <p14:creationId xmlns:p14="http://schemas.microsoft.com/office/powerpoint/2010/main" val="34306382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b95ad0c36a26c521.png"/>
          <p:cNvPicPr/>
          <p:nvPr/>
        </p:nvPicPr>
        <p:blipFill>
          <a:blip r:embed="rId2">
            <a:extLst>
              <a:ext uri="{28A0092B-C50C-407E-A947-70E740481C1C}">
                <a14:useLocalDpi xmlns:a14="http://schemas.microsoft.com/office/drawing/2010/main" val="0"/>
              </a:ext>
            </a:extLst>
          </a:blip>
          <a:srcRect/>
          <a:stretch>
            <a:fillRect/>
          </a:stretch>
        </p:blipFill>
        <p:spPr bwMode="auto">
          <a:xfrm>
            <a:off x="201756" y="188335"/>
            <a:ext cx="11990243" cy="6669665"/>
          </a:xfrm>
          <a:prstGeom prst="rect">
            <a:avLst/>
          </a:prstGeom>
          <a:noFill/>
          <a:ln>
            <a:noFill/>
          </a:ln>
        </p:spPr>
      </p:pic>
    </p:spTree>
    <p:extLst>
      <p:ext uri="{BB962C8B-B14F-4D97-AF65-F5344CB8AC3E}">
        <p14:creationId xmlns:p14="http://schemas.microsoft.com/office/powerpoint/2010/main" val="32570860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49da5232734977b.png"/>
          <p:cNvPicPr/>
          <p:nvPr/>
        </p:nvPicPr>
        <p:blipFill>
          <a:blip r:embed="rId2">
            <a:extLst>
              <a:ext uri="{28A0092B-C50C-407E-A947-70E740481C1C}">
                <a14:useLocalDpi xmlns:a14="http://schemas.microsoft.com/office/drawing/2010/main" val="0"/>
              </a:ext>
            </a:extLst>
          </a:blip>
          <a:srcRect/>
          <a:stretch>
            <a:fillRect/>
          </a:stretch>
        </p:blipFill>
        <p:spPr bwMode="auto">
          <a:xfrm>
            <a:off x="343765" y="149368"/>
            <a:ext cx="11681979" cy="6708632"/>
          </a:xfrm>
          <a:prstGeom prst="rect">
            <a:avLst/>
          </a:prstGeom>
          <a:noFill/>
          <a:ln>
            <a:noFill/>
          </a:ln>
        </p:spPr>
      </p:pic>
    </p:spTree>
    <p:extLst>
      <p:ext uri="{BB962C8B-B14F-4D97-AF65-F5344CB8AC3E}">
        <p14:creationId xmlns:p14="http://schemas.microsoft.com/office/powerpoint/2010/main" val="34967872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b4fd46cc8c6e664d.png"/>
          <p:cNvPicPr/>
          <p:nvPr/>
        </p:nvPicPr>
        <p:blipFill>
          <a:blip r:embed="rId2">
            <a:extLst>
              <a:ext uri="{28A0092B-C50C-407E-A947-70E740481C1C}">
                <a14:useLocalDpi xmlns:a14="http://schemas.microsoft.com/office/drawing/2010/main" val="0"/>
              </a:ext>
            </a:extLst>
          </a:blip>
          <a:srcRect/>
          <a:stretch>
            <a:fillRect/>
          </a:stretch>
        </p:blipFill>
        <p:spPr bwMode="auto">
          <a:xfrm>
            <a:off x="394853" y="0"/>
            <a:ext cx="11617037" cy="7107382"/>
          </a:xfrm>
          <a:prstGeom prst="rect">
            <a:avLst/>
          </a:prstGeom>
          <a:noFill/>
          <a:ln>
            <a:noFill/>
          </a:ln>
        </p:spPr>
      </p:pic>
    </p:spTree>
    <p:extLst>
      <p:ext uri="{BB962C8B-B14F-4D97-AF65-F5344CB8AC3E}">
        <p14:creationId xmlns:p14="http://schemas.microsoft.com/office/powerpoint/2010/main" val="5858678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4bca760f0770751.png"/>
          <p:cNvPicPr/>
          <p:nvPr/>
        </p:nvPicPr>
        <p:blipFill>
          <a:blip r:embed="rId2">
            <a:extLst>
              <a:ext uri="{28A0092B-C50C-407E-A947-70E740481C1C}">
                <a14:useLocalDpi xmlns:a14="http://schemas.microsoft.com/office/drawing/2010/main" val="0"/>
              </a:ext>
            </a:extLst>
          </a:blip>
          <a:srcRect/>
          <a:stretch>
            <a:fillRect/>
          </a:stretch>
        </p:blipFill>
        <p:spPr bwMode="auto">
          <a:xfrm>
            <a:off x="277090" y="0"/>
            <a:ext cx="11804073" cy="6761018"/>
          </a:xfrm>
          <a:prstGeom prst="rect">
            <a:avLst/>
          </a:prstGeom>
          <a:noFill/>
          <a:ln>
            <a:noFill/>
          </a:ln>
        </p:spPr>
      </p:pic>
    </p:spTree>
    <p:extLst>
      <p:ext uri="{BB962C8B-B14F-4D97-AF65-F5344CB8AC3E}">
        <p14:creationId xmlns:p14="http://schemas.microsoft.com/office/powerpoint/2010/main" val="4112139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b61a381fd890652.png"/>
          <p:cNvPicPr/>
          <p:nvPr/>
        </p:nvPicPr>
        <p:blipFill>
          <a:blip r:embed="rId2">
            <a:extLst>
              <a:ext uri="{28A0092B-C50C-407E-A947-70E740481C1C}">
                <a14:useLocalDpi xmlns:a14="http://schemas.microsoft.com/office/drawing/2010/main" val="0"/>
              </a:ext>
            </a:extLst>
          </a:blip>
          <a:srcRect/>
          <a:stretch>
            <a:fillRect/>
          </a:stretch>
        </p:blipFill>
        <p:spPr bwMode="auto">
          <a:xfrm>
            <a:off x="279255" y="0"/>
            <a:ext cx="11912745" cy="6858000"/>
          </a:xfrm>
          <a:prstGeom prst="rect">
            <a:avLst/>
          </a:prstGeom>
          <a:noFill/>
          <a:ln>
            <a:noFill/>
          </a:ln>
        </p:spPr>
      </p:pic>
    </p:spTree>
    <p:extLst>
      <p:ext uri="{BB962C8B-B14F-4D97-AF65-F5344CB8AC3E}">
        <p14:creationId xmlns:p14="http://schemas.microsoft.com/office/powerpoint/2010/main" val="16333358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fd5482e795074c59.png"/>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39600" cy="6858000"/>
          </a:xfrm>
          <a:prstGeom prst="rect">
            <a:avLst/>
          </a:prstGeom>
          <a:noFill/>
          <a:ln>
            <a:noFill/>
          </a:ln>
        </p:spPr>
      </p:pic>
    </p:spTree>
    <p:extLst>
      <p:ext uri="{BB962C8B-B14F-4D97-AF65-F5344CB8AC3E}">
        <p14:creationId xmlns:p14="http://schemas.microsoft.com/office/powerpoint/2010/main" val="26549465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21861eaecac24e4e.png"/>
          <p:cNvPicPr/>
          <p:nvPr/>
        </p:nvPicPr>
        <p:blipFill>
          <a:blip r:embed="rId2">
            <a:extLst>
              <a:ext uri="{28A0092B-C50C-407E-A947-70E740481C1C}">
                <a14:useLocalDpi xmlns:a14="http://schemas.microsoft.com/office/drawing/2010/main" val="0"/>
              </a:ext>
            </a:extLst>
          </a:blip>
          <a:srcRect/>
          <a:stretch>
            <a:fillRect/>
          </a:stretch>
        </p:blipFill>
        <p:spPr bwMode="auto">
          <a:xfrm>
            <a:off x="347662" y="166254"/>
            <a:ext cx="11525683" cy="6511637"/>
          </a:xfrm>
          <a:prstGeom prst="rect">
            <a:avLst/>
          </a:prstGeom>
          <a:noFill/>
          <a:ln>
            <a:noFill/>
          </a:ln>
        </p:spPr>
      </p:pic>
    </p:spTree>
    <p:extLst>
      <p:ext uri="{BB962C8B-B14F-4D97-AF65-F5344CB8AC3E}">
        <p14:creationId xmlns:p14="http://schemas.microsoft.com/office/powerpoint/2010/main" val="42431276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634ce9268ebe40f.png"/>
          <p:cNvPicPr/>
          <p:nvPr/>
        </p:nvPicPr>
        <p:blipFill>
          <a:blip r:embed="rId2">
            <a:extLst>
              <a:ext uri="{28A0092B-C50C-407E-A947-70E740481C1C}">
                <a14:useLocalDpi xmlns:a14="http://schemas.microsoft.com/office/drawing/2010/main" val="0"/>
              </a:ext>
            </a:extLst>
          </a:blip>
          <a:srcRect/>
          <a:stretch>
            <a:fillRect/>
          </a:stretch>
        </p:blipFill>
        <p:spPr bwMode="auto">
          <a:xfrm>
            <a:off x="299603" y="105207"/>
            <a:ext cx="11670723" cy="6849775"/>
          </a:xfrm>
          <a:prstGeom prst="rect">
            <a:avLst/>
          </a:prstGeom>
          <a:noFill/>
          <a:ln>
            <a:noFill/>
          </a:ln>
        </p:spPr>
      </p:pic>
    </p:spTree>
    <p:extLst>
      <p:ext uri="{BB962C8B-B14F-4D97-AF65-F5344CB8AC3E}">
        <p14:creationId xmlns:p14="http://schemas.microsoft.com/office/powerpoint/2010/main" val="33767533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fb05482cdf912c1.png"/>
          <p:cNvPicPr/>
          <p:nvPr/>
        </p:nvPicPr>
        <p:blipFill>
          <a:blip r:embed="rId2">
            <a:extLst>
              <a:ext uri="{28A0092B-C50C-407E-A947-70E740481C1C}">
                <a14:useLocalDpi xmlns:a14="http://schemas.microsoft.com/office/drawing/2010/main" val="0"/>
              </a:ext>
            </a:extLst>
          </a:blip>
          <a:srcRect/>
          <a:stretch>
            <a:fillRect/>
          </a:stretch>
        </p:blipFill>
        <p:spPr bwMode="auto">
          <a:xfrm>
            <a:off x="150235" y="0"/>
            <a:ext cx="11903220" cy="6497782"/>
          </a:xfrm>
          <a:prstGeom prst="rect">
            <a:avLst/>
          </a:prstGeom>
          <a:noFill/>
          <a:ln>
            <a:noFill/>
          </a:ln>
        </p:spPr>
      </p:pic>
    </p:spTree>
    <p:extLst>
      <p:ext uri="{BB962C8B-B14F-4D97-AF65-F5344CB8AC3E}">
        <p14:creationId xmlns:p14="http://schemas.microsoft.com/office/powerpoint/2010/main" val="24935766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f6618c7eba95ccb.png"/>
          <p:cNvPicPr/>
          <p:nvPr/>
        </p:nvPicPr>
        <p:blipFill>
          <a:blip r:embed="rId2">
            <a:extLst>
              <a:ext uri="{28A0092B-C50C-407E-A947-70E740481C1C}">
                <a14:useLocalDpi xmlns:a14="http://schemas.microsoft.com/office/drawing/2010/main" val="0"/>
              </a:ext>
            </a:extLst>
          </a:blip>
          <a:srcRect/>
          <a:stretch>
            <a:fillRect/>
          </a:stretch>
        </p:blipFill>
        <p:spPr bwMode="auto">
          <a:xfrm>
            <a:off x="143739" y="136814"/>
            <a:ext cx="11771169" cy="6721186"/>
          </a:xfrm>
          <a:prstGeom prst="rect">
            <a:avLst/>
          </a:prstGeom>
          <a:noFill/>
          <a:ln>
            <a:noFill/>
          </a:ln>
        </p:spPr>
      </p:pic>
    </p:spTree>
    <p:extLst>
      <p:ext uri="{BB962C8B-B14F-4D97-AF65-F5344CB8AC3E}">
        <p14:creationId xmlns:p14="http://schemas.microsoft.com/office/powerpoint/2010/main" val="12707710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studfile.net/html/2706/275/html_uufrm6TXaY.zw4o/htmlconvd-n2e4WQ_html_9f3f8de4d2f92624.png"/>
          <p:cNvPicPr/>
          <p:nvPr/>
        </p:nvPicPr>
        <p:blipFill>
          <a:blip r:embed="rId2">
            <a:extLst>
              <a:ext uri="{28A0092B-C50C-407E-A947-70E740481C1C}">
                <a14:useLocalDpi xmlns:a14="http://schemas.microsoft.com/office/drawing/2010/main" val="0"/>
              </a:ext>
            </a:extLst>
          </a:blip>
          <a:srcRect/>
          <a:stretch>
            <a:fillRect/>
          </a:stretch>
        </p:blipFill>
        <p:spPr bwMode="auto">
          <a:xfrm>
            <a:off x="265401" y="0"/>
            <a:ext cx="11788054" cy="6858000"/>
          </a:xfrm>
          <a:prstGeom prst="rect">
            <a:avLst/>
          </a:prstGeom>
          <a:noFill/>
          <a:ln>
            <a:noFill/>
          </a:ln>
        </p:spPr>
      </p:pic>
    </p:spTree>
    <p:extLst>
      <p:ext uri="{BB962C8B-B14F-4D97-AF65-F5344CB8AC3E}">
        <p14:creationId xmlns:p14="http://schemas.microsoft.com/office/powerpoint/2010/main" val="584966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74</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0" algn="ctr"/>
            <a:r>
              <a:rPr lang="ru-RU" sz="4000" b="1" dirty="0">
                <a:solidFill>
                  <a:srgbClr val="FF0000"/>
                </a:solidFill>
              </a:rPr>
              <a:t>ДАННЫЕ ДИСТАНЦИОННОГО ЗОНДИРОВАНИЯ</a:t>
            </a:r>
            <a:endParaRPr lang="ru-RU" sz="4000" dirty="0">
              <a:solidFill>
                <a:srgbClr val="FF0000"/>
              </a:solidFill>
            </a:endParaRPr>
          </a:p>
          <a:p>
            <a:pPr lvl="0" algn="ctr"/>
            <a:r>
              <a:rPr lang="ru-RU" sz="4000" b="1" dirty="0"/>
              <a:t>Вопрос 3</a:t>
            </a:r>
            <a:endParaRPr lang="ru-RU" sz="4000" dirty="0"/>
          </a:p>
        </p:txBody>
      </p:sp>
    </p:spTree>
    <p:extLst>
      <p:ext uri="{BB962C8B-B14F-4D97-AF65-F5344CB8AC3E}">
        <p14:creationId xmlns:p14="http://schemas.microsoft.com/office/powerpoint/2010/main" val="18494196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1.jpg"/>
          <p:cNvPicPr/>
          <p:nvPr/>
        </p:nvPicPr>
        <p:blipFill>
          <a:blip r:embed="rId2">
            <a:extLst>
              <a:ext uri="{28A0092B-C50C-407E-A947-70E740481C1C}">
                <a14:useLocalDpi xmlns:a14="http://schemas.microsoft.com/office/drawing/2010/main" val="0"/>
              </a:ext>
            </a:extLst>
          </a:blip>
          <a:srcRect/>
          <a:stretch>
            <a:fillRect/>
          </a:stretch>
        </p:blipFill>
        <p:spPr bwMode="auto">
          <a:xfrm>
            <a:off x="336838" y="547486"/>
            <a:ext cx="4895850" cy="2992120"/>
          </a:xfrm>
          <a:prstGeom prst="rect">
            <a:avLst/>
          </a:prstGeom>
          <a:noFill/>
          <a:ln>
            <a:noFill/>
          </a:ln>
        </p:spPr>
      </p:pic>
      <p:sp>
        <p:nvSpPr>
          <p:cNvPr id="3" name="Прямоугольник 2"/>
          <p:cNvSpPr/>
          <p:nvPr/>
        </p:nvSpPr>
        <p:spPr>
          <a:xfrm>
            <a:off x="5334001" y="252030"/>
            <a:ext cx="6096000" cy="3785652"/>
          </a:xfrm>
          <a:prstGeom prst="rect">
            <a:avLst/>
          </a:prstGeom>
        </p:spPr>
        <p:txBody>
          <a:bodyPr>
            <a:spAutoFit/>
          </a:bodyPr>
          <a:lstStyle/>
          <a:p>
            <a:pPr indent="450215" algn="just" fontAlgn="t">
              <a:spcAft>
                <a:spcPts val="0"/>
              </a:spcAft>
            </a:pPr>
            <a:r>
              <a:rPr lang="ru-RU" sz="2400" b="1" kern="50" dirty="0">
                <a:solidFill>
                  <a:srgbClr val="00000A"/>
                </a:solidFill>
                <a:latin typeface="Times New Roman" panose="02020603050405020304" pitchFamily="18" charset="0"/>
                <a:ea typeface="Times New Roman" panose="02020603050405020304" pitchFamily="18" charset="0"/>
              </a:rPr>
              <a:t>Дистанционное зондирование </a:t>
            </a:r>
            <a:r>
              <a:rPr lang="ru-RU" sz="2400" kern="50" dirty="0">
                <a:solidFill>
                  <a:srgbClr val="00000A"/>
                </a:solidFill>
                <a:latin typeface="Times New Roman" panose="02020603050405020304" pitchFamily="18" charset="0"/>
                <a:ea typeface="Times New Roman" panose="02020603050405020304" pitchFamily="18" charset="0"/>
              </a:rPr>
              <a:t>(ДЗ) - научное направление, основанное на сборе информации о поверхности Земли без фактического </a:t>
            </a:r>
            <a:r>
              <a:rPr lang="ru-RU" sz="2400" kern="50" dirty="0" err="1">
                <a:solidFill>
                  <a:srgbClr val="00000A"/>
                </a:solidFill>
                <a:latin typeface="Times New Roman" panose="02020603050405020304" pitchFamily="18" charset="0"/>
                <a:ea typeface="Times New Roman" panose="02020603050405020304" pitchFamily="18" charset="0"/>
              </a:rPr>
              <a:t>контактирования</a:t>
            </a:r>
            <a:r>
              <a:rPr lang="ru-RU" sz="2400" kern="50" dirty="0">
                <a:solidFill>
                  <a:srgbClr val="00000A"/>
                </a:solidFill>
                <a:latin typeface="Times New Roman" panose="02020603050405020304" pitchFamily="18" charset="0"/>
                <a:ea typeface="Times New Roman" panose="02020603050405020304" pitchFamily="18" charset="0"/>
              </a:rPr>
              <a:t> с ней. Процесс получения данных о поверхности включает в себя зондирование и запись информации об отраженной или испускаемой объектами энергии с целью последующей обработки, анализа и практического использования.</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
        <p:nvSpPr>
          <p:cNvPr id="5" name="Скругленный прямоугольник 4"/>
          <p:cNvSpPr/>
          <p:nvPr/>
        </p:nvSpPr>
        <p:spPr>
          <a:xfrm>
            <a:off x="138545" y="3948546"/>
            <a:ext cx="11942619" cy="2951018"/>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Наличие источника энергии или освещения (A) -т.е. должен иметься источник энергии, который освещает либо подпитывает энергией электромагнитного поля объекты, представляющие интерес для исследования.</a:t>
            </a:r>
          </a:p>
        </p:txBody>
      </p:sp>
      <p:sp>
        <p:nvSpPr>
          <p:cNvPr id="6" name="Скругленный прямоугольник 5"/>
          <p:cNvSpPr/>
          <p:nvPr/>
        </p:nvSpPr>
        <p:spPr>
          <a:xfrm>
            <a:off x="138545" y="3993114"/>
            <a:ext cx="11942619" cy="2951018"/>
          </a:xfrm>
          <a:prstGeom prst="round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Излучение и атмосфера (B) - излучение, распространяющееся от источника до объекта, часть пути проходит сквозь атмосферу Земли.</a:t>
            </a:r>
          </a:p>
        </p:txBody>
      </p:sp>
      <p:sp>
        <p:nvSpPr>
          <p:cNvPr id="7" name="Скругленный прямоугольник 6"/>
          <p:cNvSpPr/>
          <p:nvPr/>
        </p:nvSpPr>
        <p:spPr>
          <a:xfrm>
            <a:off x="138544" y="3948546"/>
            <a:ext cx="11942619" cy="2951018"/>
          </a:xfrm>
          <a:prstGeom prst="round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Взаимодействие с объектом исследования (C) - характер взаимодействия падающего на объект излучения сильно зависит от параметров, как объекта, так и излучения.</a:t>
            </a:r>
          </a:p>
        </p:txBody>
      </p:sp>
      <p:sp>
        <p:nvSpPr>
          <p:cNvPr id="9" name="Скругленный прямоугольник 8"/>
          <p:cNvSpPr/>
          <p:nvPr/>
        </p:nvSpPr>
        <p:spPr>
          <a:xfrm>
            <a:off x="138544" y="3903978"/>
            <a:ext cx="11942619" cy="2951018"/>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Регистрация энергии сенсором (D) - излучение, испускаемая объектом исследования, попадает на удаленный высокочувствительный сенсор, и затем полученная информация записывается </a:t>
            </a:r>
          </a:p>
        </p:txBody>
      </p:sp>
      <p:sp>
        <p:nvSpPr>
          <p:cNvPr id="10" name="Скругленный прямоугольник 9"/>
          <p:cNvSpPr/>
          <p:nvPr/>
        </p:nvSpPr>
        <p:spPr>
          <a:xfrm>
            <a:off x="138543" y="3993114"/>
            <a:ext cx="11942619" cy="2951018"/>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Передача, прием и обработка информации (E) - информация, </a:t>
            </a:r>
            <a:r>
              <a:rPr lang="ru-RU" sz="2400" dirty="0" err="1"/>
              <a:t>собран¬ная</a:t>
            </a:r>
            <a:r>
              <a:rPr lang="ru-RU" sz="2400" dirty="0"/>
              <a:t> чувствительным сенсором передается в цифровом виде на принимающую станцию, где данные трансформируются </a:t>
            </a:r>
            <a:endParaRPr lang="ru-RU" sz="3200" dirty="0"/>
          </a:p>
        </p:txBody>
      </p:sp>
      <p:sp>
        <p:nvSpPr>
          <p:cNvPr id="11" name="Скругленный прямоугольник 10"/>
          <p:cNvSpPr/>
          <p:nvPr/>
        </p:nvSpPr>
        <p:spPr>
          <a:xfrm>
            <a:off x="166251" y="3950049"/>
            <a:ext cx="11942619" cy="2951018"/>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Интерпретация и анализ (F) - обработанное изображение интерпретируется визуально либо с помощью ЭВМ, после чего из него извлекается информация относительно исследуемого объекта.</a:t>
            </a:r>
          </a:p>
        </p:txBody>
      </p:sp>
      <p:sp>
        <p:nvSpPr>
          <p:cNvPr id="12" name="Скругленный прямоугольник 11"/>
          <p:cNvSpPr/>
          <p:nvPr/>
        </p:nvSpPr>
        <p:spPr>
          <a:xfrm>
            <a:off x="249381" y="3970830"/>
            <a:ext cx="11942619" cy="2951018"/>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Применение полученной информации (G) - процесс дистанционного зондирования достигает завершения, когда мы получаем нужную информацию относительно объекта наблюдения для лучшего понимания его характеристик и поведения, т.е. когда решена какая-то практическая задача.</a:t>
            </a:r>
          </a:p>
        </p:txBody>
      </p:sp>
    </p:spTree>
    <p:extLst>
      <p:ext uri="{BB962C8B-B14F-4D97-AF65-F5344CB8AC3E}">
        <p14:creationId xmlns:p14="http://schemas.microsoft.com/office/powerpoint/2010/main" val="1979334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71055" y="249382"/>
            <a:ext cx="11319163" cy="3046988"/>
          </a:xfrm>
          <a:prstGeom prst="rect">
            <a:avLst/>
          </a:prstGeom>
        </p:spPr>
        <p:txBody>
          <a:bodyPr wrap="square">
            <a:spAutoFit/>
          </a:bodyPr>
          <a:lstStyle/>
          <a:p>
            <a:r>
              <a:rPr lang="ru-RU" sz="2400" b="1" kern="50" dirty="0">
                <a:latin typeface="Times New Roman" panose="02020603050405020304" pitchFamily="18" charset="0"/>
                <a:ea typeface="Times New Roman" panose="02020603050405020304" pitchFamily="18" charset="0"/>
              </a:rPr>
              <a:t>Области применения спутникового дистанционного зондирования (СДЗ):</a:t>
            </a:r>
            <a:br>
              <a:rPr lang="ru-RU" sz="2400" b="1" kern="50" dirty="0">
                <a:latin typeface="Times New Roman" panose="02020603050405020304" pitchFamily="18" charset="0"/>
                <a:ea typeface="Times New Roman" panose="02020603050405020304" pitchFamily="18" charset="0"/>
              </a:rPr>
            </a:br>
            <a:r>
              <a:rPr lang="ru-RU" sz="2400" kern="50" dirty="0">
                <a:latin typeface="Times New Roman" panose="02020603050405020304" pitchFamily="18" charset="0"/>
                <a:ea typeface="Times New Roman" panose="02020603050405020304" pitchFamily="18" charset="0"/>
              </a:rPr>
              <a:t>• получение информации о состоянии окружающей среды и землепользовании;</a:t>
            </a:r>
            <a:br>
              <a:rPr lang="ru-RU" sz="2400" kern="50" dirty="0">
                <a:latin typeface="Times New Roman" panose="02020603050405020304" pitchFamily="18" charset="0"/>
                <a:ea typeface="Times New Roman" panose="02020603050405020304" pitchFamily="18" charset="0"/>
              </a:rPr>
            </a:br>
            <a:r>
              <a:rPr lang="ru-RU" sz="2400" kern="50" dirty="0">
                <a:latin typeface="Times New Roman" panose="02020603050405020304" pitchFamily="18" charset="0"/>
                <a:ea typeface="Times New Roman" panose="02020603050405020304" pitchFamily="18" charset="0"/>
              </a:rPr>
              <a:t>• оценка урожая сельхоз угодий;</a:t>
            </a:r>
            <a:br>
              <a:rPr lang="ru-RU" sz="2400" kern="50" dirty="0">
                <a:latin typeface="Times New Roman" panose="02020603050405020304" pitchFamily="18" charset="0"/>
                <a:ea typeface="Times New Roman" panose="02020603050405020304" pitchFamily="18" charset="0"/>
              </a:rPr>
            </a:br>
            <a:r>
              <a:rPr lang="ru-RU" sz="2400" kern="50" dirty="0">
                <a:latin typeface="Times New Roman" panose="02020603050405020304" pitchFamily="18" charset="0"/>
                <a:ea typeface="Times New Roman" panose="02020603050405020304" pitchFamily="18" charset="0"/>
              </a:rPr>
              <a:t>• изучение флоры и фауны;</a:t>
            </a:r>
            <a:br>
              <a:rPr lang="ru-RU" sz="2400" kern="50" dirty="0">
                <a:latin typeface="Times New Roman" panose="02020603050405020304" pitchFamily="18" charset="0"/>
                <a:ea typeface="Times New Roman" panose="02020603050405020304" pitchFamily="18" charset="0"/>
              </a:rPr>
            </a:br>
            <a:r>
              <a:rPr lang="ru-RU" sz="2400" kern="50" dirty="0">
                <a:latin typeface="Times New Roman" panose="02020603050405020304" pitchFamily="18" charset="0"/>
                <a:ea typeface="Times New Roman" panose="02020603050405020304" pitchFamily="18" charset="0"/>
              </a:rPr>
              <a:t>• оценка последствий стихийных бедствий (землетрясения, наводнения, пожары, эпидемии, извержения вулканов);</a:t>
            </a:r>
            <a:br>
              <a:rPr lang="ru-RU" sz="2400" kern="50" dirty="0">
                <a:latin typeface="Times New Roman" panose="02020603050405020304" pitchFamily="18" charset="0"/>
                <a:ea typeface="Times New Roman" panose="02020603050405020304" pitchFamily="18" charset="0"/>
              </a:rPr>
            </a:br>
            <a:r>
              <a:rPr lang="ru-RU" sz="2400" kern="50" dirty="0">
                <a:latin typeface="Times New Roman" panose="02020603050405020304" pitchFamily="18" charset="0"/>
                <a:ea typeface="Times New Roman" panose="02020603050405020304" pitchFamily="18" charset="0"/>
              </a:rPr>
              <a:t>• оценка ущерба при загрязнении суши и водоемов;</a:t>
            </a:r>
            <a:br>
              <a:rPr lang="ru-RU" sz="2400" kern="50" dirty="0">
                <a:latin typeface="Times New Roman" panose="02020603050405020304" pitchFamily="18" charset="0"/>
                <a:ea typeface="Times New Roman" panose="02020603050405020304" pitchFamily="18" charset="0"/>
              </a:rPr>
            </a:br>
            <a:r>
              <a:rPr lang="ru-RU" sz="2400" kern="50" dirty="0">
                <a:latin typeface="Times New Roman" panose="02020603050405020304" pitchFamily="18" charset="0"/>
                <a:ea typeface="Times New Roman" panose="02020603050405020304" pitchFamily="18" charset="0"/>
              </a:rPr>
              <a:t>• океанология.</a:t>
            </a:r>
            <a:endParaRPr lang="ru-RU" sz="2400" dirty="0"/>
          </a:p>
        </p:txBody>
      </p:sp>
    </p:spTree>
    <p:extLst>
      <p:ext uri="{BB962C8B-B14F-4D97-AF65-F5344CB8AC3E}">
        <p14:creationId xmlns:p14="http://schemas.microsoft.com/office/powerpoint/2010/main" val="26964965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2.jpg"/>
          <p:cNvPicPr/>
          <p:nvPr/>
        </p:nvPicPr>
        <p:blipFill>
          <a:blip r:embed="rId2">
            <a:extLst>
              <a:ext uri="{28A0092B-C50C-407E-A947-70E740481C1C}">
                <a14:useLocalDpi xmlns:a14="http://schemas.microsoft.com/office/drawing/2010/main" val="0"/>
              </a:ext>
            </a:extLst>
          </a:blip>
          <a:srcRect/>
          <a:stretch>
            <a:fillRect/>
          </a:stretch>
        </p:blipFill>
        <p:spPr bwMode="auto">
          <a:xfrm>
            <a:off x="173903" y="969818"/>
            <a:ext cx="4473575" cy="3257550"/>
          </a:xfrm>
          <a:prstGeom prst="rect">
            <a:avLst/>
          </a:prstGeom>
          <a:noFill/>
          <a:ln>
            <a:noFill/>
          </a:ln>
        </p:spPr>
      </p:pic>
      <p:sp>
        <p:nvSpPr>
          <p:cNvPr id="3" name="Прямоугольник 2"/>
          <p:cNvSpPr/>
          <p:nvPr/>
        </p:nvSpPr>
        <p:spPr>
          <a:xfrm>
            <a:off x="4765963" y="193964"/>
            <a:ext cx="7245928" cy="5632311"/>
          </a:xfrm>
          <a:prstGeom prst="rect">
            <a:avLst/>
          </a:prstGeom>
        </p:spPr>
        <p:txBody>
          <a:bodyPr wrap="square">
            <a:spAutoFit/>
          </a:bodyPr>
          <a:lstStyle/>
          <a:p>
            <a:r>
              <a:rPr lang="ru-RU" sz="2400" kern="50" dirty="0">
                <a:latin typeface="Times New Roman" panose="02020603050405020304" pitchFamily="18" charset="0"/>
                <a:ea typeface="Times New Roman" panose="02020603050405020304" pitchFamily="18" charset="0"/>
              </a:rPr>
              <a:t>Средства СДЗ позволяют получать сведения о состоянии атмосферы не только в локальном, но и в глобальном масштабе. Данные зондирования поступают в виде изображений, как правило, в цифровой форме. Дальнейшая обработка осуществляется компьютером. Поэтому проблематика СДЗ тесно связана с задачами цифровой обработки изображений. Аппаратура спутника, задействованная в мониторинге, будет регистрировать лишь интенсивность светового потока от изучаемых объектов в нескольких участках оптического диапазона. Дистанционные методы зондирования, как правило, являются косвенными, то есть с их помощью измеряют не интересующие наблюдателя параметры, а некоторые связанные с ними величины. </a:t>
            </a:r>
            <a:endParaRPr lang="ru-RU" sz="2400" dirty="0"/>
          </a:p>
        </p:txBody>
      </p:sp>
    </p:spTree>
    <p:extLst>
      <p:ext uri="{BB962C8B-B14F-4D97-AF65-F5344CB8AC3E}">
        <p14:creationId xmlns:p14="http://schemas.microsoft.com/office/powerpoint/2010/main" val="30257699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3.jpg"/>
          <p:cNvPicPr/>
          <p:nvPr/>
        </p:nvPicPr>
        <p:blipFill>
          <a:blip r:embed="rId2">
            <a:extLst>
              <a:ext uri="{28A0092B-C50C-407E-A947-70E740481C1C}">
                <a14:useLocalDpi xmlns:a14="http://schemas.microsoft.com/office/drawing/2010/main" val="0"/>
              </a:ext>
            </a:extLst>
          </a:blip>
          <a:srcRect/>
          <a:stretch>
            <a:fillRect/>
          </a:stretch>
        </p:blipFill>
        <p:spPr bwMode="auto">
          <a:xfrm>
            <a:off x="422666" y="418698"/>
            <a:ext cx="5239731" cy="2757920"/>
          </a:xfrm>
          <a:prstGeom prst="rect">
            <a:avLst/>
          </a:prstGeom>
          <a:noFill/>
          <a:ln>
            <a:noFill/>
          </a:ln>
        </p:spPr>
      </p:pic>
      <p:sp>
        <p:nvSpPr>
          <p:cNvPr id="3" name="Прямоугольник 2"/>
          <p:cNvSpPr/>
          <p:nvPr/>
        </p:nvSpPr>
        <p:spPr>
          <a:xfrm>
            <a:off x="0" y="3341316"/>
            <a:ext cx="6085064" cy="461665"/>
          </a:xfrm>
          <a:prstGeom prst="rect">
            <a:avLst/>
          </a:prstGeom>
        </p:spPr>
        <p:txBody>
          <a:bodyPr wrap="none">
            <a:spAutoFit/>
          </a:bodyPr>
          <a:lstStyle/>
          <a:p>
            <a:pPr indent="450215" algn="just" fontAlgn="t">
              <a:spcAft>
                <a:spcPts val="0"/>
              </a:spcAft>
            </a:pPr>
            <a:r>
              <a:rPr lang="ru-RU" sz="2400" kern="50" dirty="0">
                <a:solidFill>
                  <a:srgbClr val="00000A"/>
                </a:solidFill>
                <a:latin typeface="Times New Roman" panose="02020603050405020304" pitchFamily="18" charset="0"/>
                <a:ea typeface="Times New Roman" panose="02020603050405020304" pitchFamily="18" charset="0"/>
              </a:rPr>
              <a:t>Активный (а) и пассивный (б) методы ДЗ</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
        <p:nvSpPr>
          <p:cNvPr id="4" name="Прямоугольник 3"/>
          <p:cNvSpPr/>
          <p:nvPr/>
        </p:nvSpPr>
        <p:spPr>
          <a:xfrm>
            <a:off x="6085064" y="418698"/>
            <a:ext cx="6096000" cy="5632311"/>
          </a:xfrm>
          <a:prstGeom prst="rect">
            <a:avLst/>
          </a:prstGeom>
        </p:spPr>
        <p:txBody>
          <a:bodyPr>
            <a:spAutoFit/>
          </a:bodyPr>
          <a:lstStyle/>
          <a:p>
            <a:pPr indent="450215" algn="just" fontAlgn="t">
              <a:spcAft>
                <a:spcPts val="0"/>
              </a:spcAft>
            </a:pPr>
            <a:r>
              <a:rPr lang="ru-RU" sz="2000" kern="50">
                <a:solidFill>
                  <a:srgbClr val="00000A"/>
                </a:solidFill>
                <a:latin typeface="Times New Roman" panose="02020603050405020304" pitchFamily="18" charset="0"/>
                <a:ea typeface="Times New Roman" panose="02020603050405020304" pitchFamily="18" charset="0"/>
              </a:rPr>
              <a:t>• При дистанционном зондировании Земли из космоса используются оптический диапазон электромагнитных волн и микроволновый участок </a:t>
            </a:r>
            <a:r>
              <a:rPr lang="ru-RU" sz="2000" kern="50" dirty="0" err="1">
                <a:solidFill>
                  <a:srgbClr val="00000A"/>
                </a:solidFill>
                <a:latin typeface="Times New Roman" panose="02020603050405020304" pitchFamily="18" charset="0"/>
                <a:ea typeface="Times New Roman" panose="02020603050405020304" pitchFamily="18" charset="0"/>
              </a:rPr>
              <a:t>радиоди-апазона</a:t>
            </a:r>
            <a:r>
              <a:rPr lang="ru-RU" sz="2000" kern="50" dirty="0">
                <a:solidFill>
                  <a:srgbClr val="00000A"/>
                </a:solidFill>
                <a:latin typeface="Times New Roman" panose="02020603050405020304" pitchFamily="18" charset="0"/>
                <a:ea typeface="Times New Roman" panose="02020603050405020304" pitchFamily="18" charset="0"/>
              </a:rPr>
              <a:t>. Оптический диапазон включает в себя ультрафиолетовый (УФ) участок спектра; видимый участок - синюю (B), зеленую (G) и красную (R) полосы; инфракрасный участок (ИК) - ближний (БИК), средний и тепловой.</a:t>
            </a:r>
            <a:br>
              <a:rPr lang="ru-RU" sz="2000" kern="50" dirty="0">
                <a:solidFill>
                  <a:srgbClr val="00000A"/>
                </a:solidFill>
                <a:latin typeface="Times New Roman" panose="02020603050405020304" pitchFamily="18" charset="0"/>
                <a:ea typeface="Times New Roman" panose="02020603050405020304" pitchFamily="18" charset="0"/>
              </a:rPr>
            </a:br>
            <a:r>
              <a:rPr lang="ru-RU" sz="2000" kern="50" dirty="0">
                <a:solidFill>
                  <a:srgbClr val="00000A"/>
                </a:solidFill>
                <a:latin typeface="Times New Roman" panose="02020603050405020304" pitchFamily="18" charset="0"/>
                <a:ea typeface="Times New Roman" panose="02020603050405020304" pitchFamily="18" charset="0"/>
              </a:rPr>
              <a:t>• При пассивных методах зондирования в оптическом диапазоне источниками электромагнитной энергии являются разогретые до достаточно высокой температуры твердые, жидкие, газообразные тела.</a:t>
            </a:r>
            <a:br>
              <a:rPr lang="ru-RU" sz="2000" kern="50" dirty="0">
                <a:solidFill>
                  <a:srgbClr val="00000A"/>
                </a:solidFill>
                <a:latin typeface="Times New Roman" panose="02020603050405020304" pitchFamily="18" charset="0"/>
                <a:ea typeface="Times New Roman" panose="02020603050405020304" pitchFamily="18" charset="0"/>
              </a:rPr>
            </a:br>
            <a:r>
              <a:rPr lang="ru-RU" sz="2000" kern="50" dirty="0">
                <a:solidFill>
                  <a:srgbClr val="00000A"/>
                </a:solidFill>
                <a:latin typeface="Times New Roman" panose="02020603050405020304" pitchFamily="18" charset="0"/>
                <a:ea typeface="Times New Roman" panose="02020603050405020304" pitchFamily="18" charset="0"/>
              </a:rPr>
              <a:t>• Регистрируя интенсивность теплового излучения Земли из космоса, можно достаточно точно оценить температуру суши и водной поверхности, которая является важнейшей экологической характеристикой. Измерив температуру верхней границы облачности, можно определить её высоту.</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5035196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359925" y="154771"/>
            <a:ext cx="6918369" cy="461665"/>
          </a:xfrm>
          <a:prstGeom prst="rect">
            <a:avLst/>
          </a:prstGeom>
        </p:spPr>
        <p:txBody>
          <a:bodyPr wrap="none">
            <a:spAutoFit/>
          </a:bodyPr>
          <a:lstStyle/>
          <a:p>
            <a:r>
              <a:rPr lang="ru-RU" sz="2400" kern="50" dirty="0">
                <a:latin typeface="Times New Roman" panose="02020603050405020304" pitchFamily="18" charset="0"/>
                <a:ea typeface="Times New Roman" panose="02020603050405020304" pitchFamily="18" charset="0"/>
              </a:rPr>
              <a:t>Оптические методы дистанционного зондирования</a:t>
            </a:r>
            <a:endParaRPr lang="ru-RU" sz="2400" dirty="0"/>
          </a:p>
        </p:txBody>
      </p:sp>
      <p:pic>
        <p:nvPicPr>
          <p:cNvPr id="3" name="Рисунок 2" descr="http://eor.dgu.ru/lectures_f/%D0%9B%D0%B5%D0%BA%D1%86%D0%B8%D0%B8%20%D0%BF%D0%BE%20%D0%93%D0%98%D0%A1/lec5/r4.jpg"/>
          <p:cNvPicPr/>
          <p:nvPr/>
        </p:nvPicPr>
        <p:blipFill>
          <a:blip r:embed="rId2">
            <a:extLst>
              <a:ext uri="{28A0092B-C50C-407E-A947-70E740481C1C}">
                <a14:useLocalDpi xmlns:a14="http://schemas.microsoft.com/office/drawing/2010/main" val="0"/>
              </a:ext>
            </a:extLst>
          </a:blip>
          <a:srcRect/>
          <a:stretch>
            <a:fillRect/>
          </a:stretch>
        </p:blipFill>
        <p:spPr bwMode="auto">
          <a:xfrm>
            <a:off x="183400" y="1621848"/>
            <a:ext cx="3013710" cy="3752850"/>
          </a:xfrm>
          <a:prstGeom prst="rect">
            <a:avLst/>
          </a:prstGeom>
          <a:noFill/>
          <a:ln>
            <a:noFill/>
          </a:ln>
        </p:spPr>
      </p:pic>
      <p:sp>
        <p:nvSpPr>
          <p:cNvPr id="4" name="Прямоугольник 3"/>
          <p:cNvSpPr/>
          <p:nvPr/>
        </p:nvSpPr>
        <p:spPr>
          <a:xfrm>
            <a:off x="3197110" y="1153081"/>
            <a:ext cx="8714509" cy="4093428"/>
          </a:xfrm>
          <a:prstGeom prst="rect">
            <a:avLst/>
          </a:prstGeom>
        </p:spPr>
        <p:txBody>
          <a:bodyPr wrap="square">
            <a:spAutoFit/>
          </a:bodyPr>
          <a:lstStyle/>
          <a:p>
            <a:pPr indent="450215" algn="just" fontAlgn="t">
              <a:spcAft>
                <a:spcPts val="0"/>
              </a:spcAft>
            </a:pPr>
            <a:r>
              <a:rPr lang="ru-RU" sz="2000" kern="50" dirty="0">
                <a:solidFill>
                  <a:srgbClr val="00000A"/>
                </a:solidFill>
                <a:latin typeface="Times New Roman" panose="02020603050405020304" pitchFamily="18" charset="0"/>
                <a:ea typeface="Times New Roman" panose="02020603050405020304" pitchFamily="18" charset="0"/>
              </a:rPr>
              <a:t>Метод обеспечивает высокую геометрическую точность изображения; можно увеличить снимки без заметного ухудшения качества.</a:t>
            </a:r>
            <a:br>
              <a:rPr lang="ru-RU" sz="2000" kern="50" dirty="0">
                <a:solidFill>
                  <a:srgbClr val="00000A"/>
                </a:solidFill>
                <a:latin typeface="Times New Roman" panose="02020603050405020304" pitchFamily="18" charset="0"/>
                <a:ea typeface="Times New Roman" panose="02020603050405020304" pitchFamily="18" charset="0"/>
              </a:rPr>
            </a:br>
            <a:r>
              <a:rPr lang="ru-RU" sz="2000" kern="50" dirty="0">
                <a:solidFill>
                  <a:srgbClr val="00000A"/>
                </a:solidFill>
                <a:latin typeface="Times New Roman" panose="02020603050405020304" pitchFamily="18" charset="0"/>
                <a:ea typeface="Times New Roman" panose="02020603050405020304" pitchFamily="18" charset="0"/>
              </a:rPr>
              <a:t>Сканер с цилиндрической разверткой Представляет собой маятник, закрепленный в одной точке и колеблющийся поперек направления движения. На конце маятника в его фокальной плоскости установлен объектив с точечным </a:t>
            </a:r>
            <a:r>
              <a:rPr lang="ru-RU" sz="2000" kern="50" dirty="0" err="1">
                <a:solidFill>
                  <a:srgbClr val="00000A"/>
                </a:solidFill>
                <a:latin typeface="Times New Roman" panose="02020603050405020304" pitchFamily="18" charset="0"/>
                <a:ea typeface="Times New Roman" panose="02020603050405020304" pitchFamily="18" charset="0"/>
              </a:rPr>
              <a:t>фотоприемным</a:t>
            </a:r>
            <a:r>
              <a:rPr lang="ru-RU" sz="2000" kern="50" dirty="0">
                <a:solidFill>
                  <a:srgbClr val="00000A"/>
                </a:solidFill>
                <a:latin typeface="Times New Roman" panose="02020603050405020304" pitchFamily="18" charset="0"/>
                <a:ea typeface="Times New Roman" panose="02020603050405020304" pitchFamily="18" charset="0"/>
              </a:rPr>
              <a:t> устройством. При движении аппарата над Землей с выхода </a:t>
            </a:r>
            <a:r>
              <a:rPr lang="ru-RU" sz="2000" kern="50" dirty="0" err="1">
                <a:solidFill>
                  <a:srgbClr val="00000A"/>
                </a:solidFill>
                <a:latin typeface="Times New Roman" panose="02020603050405020304" pitchFamily="18" charset="0"/>
                <a:ea typeface="Times New Roman" panose="02020603050405020304" pitchFamily="18" charset="0"/>
              </a:rPr>
              <a:t>фотоприемного</a:t>
            </a:r>
            <a:r>
              <a:rPr lang="ru-RU" sz="2000" kern="50" dirty="0">
                <a:solidFill>
                  <a:srgbClr val="00000A"/>
                </a:solidFill>
                <a:latin typeface="Times New Roman" panose="02020603050405020304" pitchFamily="18" charset="0"/>
                <a:ea typeface="Times New Roman" panose="02020603050405020304" pitchFamily="18" charset="0"/>
              </a:rPr>
              <a:t> устройства снимается сигнал, пропорциональный освещенности в видимом или ближнем ИК-диапазоне того участка земной поверхности, на который в данный момент направлена ось объектива. На практике сканер неподвижен, а качается (вращается) зеркало, отражение от которого через объектив попадает в </a:t>
            </a:r>
            <a:r>
              <a:rPr lang="ru-RU" sz="2000" kern="50" dirty="0" err="1">
                <a:solidFill>
                  <a:srgbClr val="00000A"/>
                </a:solidFill>
                <a:latin typeface="Times New Roman" panose="02020603050405020304" pitchFamily="18" charset="0"/>
                <a:ea typeface="Times New Roman" panose="02020603050405020304" pitchFamily="18" charset="0"/>
              </a:rPr>
              <a:t>фотоприемное</a:t>
            </a:r>
            <a:r>
              <a:rPr lang="ru-RU" sz="2000" kern="50" dirty="0">
                <a:solidFill>
                  <a:srgbClr val="00000A"/>
                </a:solidFill>
                <a:latin typeface="Times New Roman" panose="02020603050405020304" pitchFamily="18" charset="0"/>
                <a:ea typeface="Times New Roman" panose="02020603050405020304" pitchFamily="18" charset="0"/>
              </a:rPr>
              <a:t> устройство. Сканерная информация в цифровой форме передается со спутника в реальном времени или в записи на бортовой магнитофон; на Земле она обрабатывается на ЭВМ.</a:t>
            </a:r>
            <a:endParaRPr lang="ru-RU" sz="20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6386419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91816" y="265606"/>
            <a:ext cx="4765022" cy="461665"/>
          </a:xfrm>
          <a:prstGeom prst="rect">
            <a:avLst/>
          </a:prstGeom>
        </p:spPr>
        <p:txBody>
          <a:bodyPr wrap="none">
            <a:spAutoFit/>
          </a:bodyPr>
          <a:lstStyle/>
          <a:p>
            <a:pPr indent="450215" algn="just" fontAlgn="t">
              <a:spcBef>
                <a:spcPts val="200"/>
              </a:spcBef>
              <a:spcAft>
                <a:spcPts val="0"/>
              </a:spcAft>
            </a:pPr>
            <a:r>
              <a:rPr lang="ru-RU" sz="2400" b="1" kern="5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rPr>
              <a:t>Радиотехнические методы ДЗ</a:t>
            </a:r>
            <a:endParaRPr lang="ru-RU" sz="2400" b="1" kern="5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3" name="Рисунок 2" descr="http://eor.dgu.ru/lectures_f/%D0%9B%D0%B5%D0%BA%D1%86%D0%B8%D0%B8%20%D0%BF%D0%BE%20%D0%93%D0%98%D0%A1/lec5/r5.jpg"/>
          <p:cNvPicPr/>
          <p:nvPr/>
        </p:nvPicPr>
        <p:blipFill>
          <a:blip r:embed="rId2">
            <a:extLst>
              <a:ext uri="{28A0092B-C50C-407E-A947-70E740481C1C}">
                <a14:useLocalDpi xmlns:a14="http://schemas.microsoft.com/office/drawing/2010/main" val="0"/>
              </a:ext>
            </a:extLst>
          </a:blip>
          <a:srcRect/>
          <a:stretch>
            <a:fillRect/>
          </a:stretch>
        </p:blipFill>
        <p:spPr bwMode="auto">
          <a:xfrm>
            <a:off x="616959" y="1131310"/>
            <a:ext cx="5298932" cy="5601999"/>
          </a:xfrm>
          <a:prstGeom prst="rect">
            <a:avLst/>
          </a:prstGeom>
          <a:noFill/>
          <a:ln>
            <a:noFill/>
          </a:ln>
        </p:spPr>
      </p:pic>
      <p:sp>
        <p:nvSpPr>
          <p:cNvPr id="4" name="Прямоугольник 3"/>
          <p:cNvSpPr/>
          <p:nvPr/>
        </p:nvSpPr>
        <p:spPr>
          <a:xfrm>
            <a:off x="5915891" y="4560608"/>
            <a:ext cx="6096000" cy="1569660"/>
          </a:xfrm>
          <a:prstGeom prst="rect">
            <a:avLst/>
          </a:prstGeom>
        </p:spPr>
        <p:txBody>
          <a:bodyPr>
            <a:spAutoFit/>
          </a:bodyPr>
          <a:lstStyle/>
          <a:p>
            <a:pPr indent="450215" algn="just" fontAlgn="t">
              <a:spcAft>
                <a:spcPts val="0"/>
              </a:spcAft>
            </a:pPr>
            <a:r>
              <a:rPr lang="ru-RU" sz="2400" kern="50" dirty="0">
                <a:solidFill>
                  <a:srgbClr val="00000A"/>
                </a:solidFill>
                <a:latin typeface="Times New Roman" panose="02020603050405020304" pitchFamily="18" charset="0"/>
                <a:ea typeface="Times New Roman" panose="02020603050405020304" pitchFamily="18" charset="0"/>
              </a:rPr>
              <a:t>Средствами радиолокационной техники автоматически осуществляется сканирование по дальности, так как сигналы от разных объектов приходят в разное время</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9679927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6.jpg"/>
          <p:cNvPicPr/>
          <p:nvPr/>
        </p:nvPicPr>
        <p:blipFill>
          <a:blip r:embed="rId2">
            <a:extLst>
              <a:ext uri="{28A0092B-C50C-407E-A947-70E740481C1C}">
                <a14:useLocalDpi xmlns:a14="http://schemas.microsoft.com/office/drawing/2010/main" val="0"/>
              </a:ext>
            </a:extLst>
          </a:blip>
          <a:srcRect/>
          <a:stretch>
            <a:fillRect/>
          </a:stretch>
        </p:blipFill>
        <p:spPr bwMode="auto">
          <a:xfrm>
            <a:off x="117187" y="905740"/>
            <a:ext cx="5632450" cy="4234295"/>
          </a:xfrm>
          <a:prstGeom prst="rect">
            <a:avLst/>
          </a:prstGeom>
          <a:noFill/>
          <a:ln>
            <a:noFill/>
          </a:ln>
        </p:spPr>
      </p:pic>
      <p:sp>
        <p:nvSpPr>
          <p:cNvPr id="3" name="Прямоугольник 2"/>
          <p:cNvSpPr/>
          <p:nvPr/>
        </p:nvSpPr>
        <p:spPr>
          <a:xfrm>
            <a:off x="5943600" y="750885"/>
            <a:ext cx="6096000" cy="5262979"/>
          </a:xfrm>
          <a:prstGeom prst="rect">
            <a:avLst/>
          </a:prstGeom>
        </p:spPr>
        <p:txBody>
          <a:bodyPr>
            <a:spAutoFit/>
          </a:bodyPr>
          <a:lstStyle/>
          <a:p>
            <a:pPr marL="342900" indent="-342900" fontAlgn="t">
              <a:spcAft>
                <a:spcPts val="0"/>
              </a:spcAft>
              <a:buFont typeface="Wingdings" panose="05000000000000000000" pitchFamily="2" charset="2"/>
              <a:buChar char="v"/>
            </a:pPr>
            <a:r>
              <a:rPr lang="ru-RU" sz="2400" kern="50" dirty="0">
                <a:solidFill>
                  <a:srgbClr val="00000A"/>
                </a:solidFill>
                <a:latin typeface="Times New Roman" panose="02020603050405020304" pitchFamily="18" charset="0"/>
                <a:ea typeface="Times New Roman" panose="02020603050405020304" pitchFamily="18" charset="0"/>
              </a:rPr>
              <a:t>Станции для приема информации со спутников на Земле содержат антенну с опорно-поворотным устройством (ОПУ), радиоприемное устройство и средства обработки, хранения и отображения информации.</a:t>
            </a:r>
          </a:p>
          <a:p>
            <a:pPr marL="342900" indent="-342900" fontAlgn="t">
              <a:spcAft>
                <a:spcPts val="0"/>
              </a:spcAft>
              <a:buFont typeface="Wingdings" panose="05000000000000000000" pitchFamily="2" charset="2"/>
              <a:buChar char="v"/>
            </a:pPr>
            <a:r>
              <a:rPr lang="ru-RU" sz="2400" kern="50" dirty="0">
                <a:solidFill>
                  <a:srgbClr val="00000A"/>
                </a:solidFill>
                <a:latin typeface="Times New Roman" panose="02020603050405020304" pitchFamily="18" charset="0"/>
                <a:ea typeface="Times New Roman" panose="02020603050405020304" pitchFamily="18" charset="0"/>
              </a:rPr>
              <a:t> В фокусе антенны установлен облучатель, сигнал с которого усиливается малошумящим усилителем (МШУ). Далее сигнал по кабелю поступает на приемник, цифровой сигнал с выхода которого обрабатывается на компьютере. </a:t>
            </a:r>
          </a:p>
          <a:p>
            <a:pPr marL="342900" indent="-342900" fontAlgn="t">
              <a:spcAft>
                <a:spcPts val="0"/>
              </a:spcAft>
              <a:buFont typeface="Wingdings" panose="05000000000000000000" pitchFamily="2" charset="2"/>
              <a:buChar char="v"/>
            </a:pPr>
            <a:r>
              <a:rPr lang="ru-RU" sz="2400" kern="50" dirty="0">
                <a:solidFill>
                  <a:srgbClr val="00000A"/>
                </a:solidFill>
                <a:latin typeface="Times New Roman" panose="02020603050405020304" pitchFamily="18" charset="0"/>
                <a:ea typeface="Times New Roman" panose="02020603050405020304" pitchFamily="18" charset="0"/>
              </a:rPr>
              <a:t>Обработанные изображения помещаются в базу данных.</a:t>
            </a:r>
            <a:endParaRPr lang="ru-RU" sz="2400" kern="50" dirty="0">
              <a:solidFill>
                <a:srgbClr val="00000A"/>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4631760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87401" y="210188"/>
            <a:ext cx="6536789" cy="461665"/>
          </a:xfrm>
          <a:prstGeom prst="rect">
            <a:avLst/>
          </a:prstGeom>
        </p:spPr>
        <p:txBody>
          <a:bodyPr wrap="none">
            <a:spAutoFit/>
          </a:bodyPr>
          <a:lstStyle/>
          <a:p>
            <a:r>
              <a:rPr lang="ru-RU" sz="2400" b="1" kern="50" dirty="0">
                <a:latin typeface="Times New Roman" panose="02020603050405020304" pitchFamily="18" charset="0"/>
                <a:ea typeface="Times New Roman" panose="02020603050405020304" pitchFamily="18" charset="0"/>
              </a:rPr>
              <a:t>Спутники для дистанционного зондирования</a:t>
            </a:r>
            <a:endParaRPr lang="ru-RU" sz="2400" b="1" dirty="0"/>
          </a:p>
        </p:txBody>
      </p:sp>
      <p:pic>
        <p:nvPicPr>
          <p:cNvPr id="3" name="Рисунок 2" descr="http://eor.dgu.ru/lectures_f/%D0%9B%D0%B5%D0%BA%D1%86%D0%B8%D0%B8%20%D0%BF%D0%BE%20%D0%93%D0%98%D0%A1/lec5/r7.jpg"/>
          <p:cNvPicPr/>
          <p:nvPr/>
        </p:nvPicPr>
        <p:blipFill>
          <a:blip r:embed="rId2">
            <a:extLst>
              <a:ext uri="{28A0092B-C50C-407E-A947-70E740481C1C}">
                <a14:useLocalDpi xmlns:a14="http://schemas.microsoft.com/office/drawing/2010/main" val="0"/>
              </a:ext>
            </a:extLst>
          </a:blip>
          <a:srcRect/>
          <a:stretch>
            <a:fillRect/>
          </a:stretch>
        </p:blipFill>
        <p:spPr bwMode="auto">
          <a:xfrm>
            <a:off x="228600" y="785812"/>
            <a:ext cx="5029200" cy="4067175"/>
          </a:xfrm>
          <a:prstGeom prst="rect">
            <a:avLst/>
          </a:prstGeom>
          <a:noFill/>
          <a:ln>
            <a:noFill/>
          </a:ln>
        </p:spPr>
      </p:pic>
      <p:pic>
        <p:nvPicPr>
          <p:cNvPr id="4" name="Рисунок 3" descr="http://eor.dgu.ru/lectures_f/%D0%9B%D0%B5%D0%BA%D1%86%D0%B8%D0%B8%20%D0%BF%D0%BE%20%D0%93%D0%98%D0%A1/lec5/r8.jpg"/>
          <p:cNvPicPr/>
          <p:nvPr/>
        </p:nvPicPr>
        <p:blipFill>
          <a:blip r:embed="rId3">
            <a:extLst>
              <a:ext uri="{28A0092B-C50C-407E-A947-70E740481C1C}">
                <a14:useLocalDpi xmlns:a14="http://schemas.microsoft.com/office/drawing/2010/main" val="0"/>
              </a:ext>
            </a:extLst>
          </a:blip>
          <a:srcRect/>
          <a:stretch>
            <a:fillRect/>
          </a:stretch>
        </p:blipFill>
        <p:spPr bwMode="auto">
          <a:xfrm>
            <a:off x="6146222" y="785812"/>
            <a:ext cx="5524500" cy="4248150"/>
          </a:xfrm>
          <a:prstGeom prst="rect">
            <a:avLst/>
          </a:prstGeom>
          <a:noFill/>
          <a:ln>
            <a:noFill/>
          </a:ln>
        </p:spPr>
      </p:pic>
      <p:sp>
        <p:nvSpPr>
          <p:cNvPr id="5" name="Прямоугольник 4"/>
          <p:cNvSpPr/>
          <p:nvPr/>
        </p:nvSpPr>
        <p:spPr>
          <a:xfrm>
            <a:off x="436177" y="5207235"/>
            <a:ext cx="11420090" cy="1631216"/>
          </a:xfrm>
          <a:prstGeom prst="rect">
            <a:avLst/>
          </a:prstGeom>
        </p:spPr>
        <p:txBody>
          <a:bodyPr wrap="square">
            <a:spAutoFit/>
          </a:bodyPr>
          <a:lstStyle/>
          <a:p>
            <a:r>
              <a:rPr lang="ru-RU" sz="2000" kern="50" dirty="0">
                <a:latin typeface="Times New Roman" panose="02020603050405020304" pitchFamily="18" charset="0"/>
                <a:ea typeface="Times New Roman" panose="02020603050405020304" pitchFamily="18" charset="0"/>
              </a:rPr>
              <a:t>Спутники NOAA (США) имеют длину 4.18 м, диаметр 1.88 м, массу на орбите 1030 кг. Круговая орбита имеет высоту 870 км, один виток спутник совершает за 102 мин. Площадь солнечных батарей спутника 11.6 м2, мощность батарей не менее 1.6 кВт, но со временем батареи деградируют из-за воздействия космических лучей и микрометеоров. Для нормальной работы спутника необходима мощность не менее 515 Вт.</a:t>
            </a:r>
            <a:endParaRPr lang="ru-RU" sz="2000" dirty="0"/>
          </a:p>
        </p:txBody>
      </p:sp>
    </p:spTree>
    <p:extLst>
      <p:ext uri="{BB962C8B-B14F-4D97-AF65-F5344CB8AC3E}">
        <p14:creationId xmlns:p14="http://schemas.microsoft.com/office/powerpoint/2010/main" val="15351697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9.jpg"/>
          <p:cNvPicPr/>
          <p:nvPr/>
        </p:nvPicPr>
        <p:blipFill>
          <a:blip r:embed="rId2">
            <a:extLst>
              <a:ext uri="{28A0092B-C50C-407E-A947-70E740481C1C}">
                <a14:useLocalDpi xmlns:a14="http://schemas.microsoft.com/office/drawing/2010/main" val="0"/>
              </a:ext>
            </a:extLst>
          </a:blip>
          <a:srcRect/>
          <a:stretch>
            <a:fillRect/>
          </a:stretch>
        </p:blipFill>
        <p:spPr bwMode="auto">
          <a:xfrm>
            <a:off x="157479" y="578155"/>
            <a:ext cx="6274926" cy="4369172"/>
          </a:xfrm>
          <a:prstGeom prst="rect">
            <a:avLst/>
          </a:prstGeom>
          <a:noFill/>
          <a:ln>
            <a:noFill/>
          </a:ln>
        </p:spPr>
      </p:pic>
      <p:sp>
        <p:nvSpPr>
          <p:cNvPr id="3" name="Прямоугольник 2"/>
          <p:cNvSpPr/>
          <p:nvPr/>
        </p:nvSpPr>
        <p:spPr>
          <a:xfrm>
            <a:off x="637310" y="5223734"/>
            <a:ext cx="7731475" cy="461665"/>
          </a:xfrm>
          <a:prstGeom prst="rect">
            <a:avLst/>
          </a:prstGeom>
        </p:spPr>
        <p:txBody>
          <a:bodyPr wrap="none">
            <a:spAutoFit/>
          </a:bodyPr>
          <a:lstStyle/>
          <a:p>
            <a:pPr indent="450215" algn="just" fontAlgn="t">
              <a:spcAft>
                <a:spcPts val="0"/>
              </a:spcAft>
            </a:pPr>
            <a:r>
              <a:rPr lang="ru-RU" sz="2400" b="1" kern="50" dirty="0">
                <a:solidFill>
                  <a:srgbClr val="00000A"/>
                </a:solidFill>
                <a:latin typeface="Times New Roman" panose="02020603050405020304" pitchFamily="18" charset="0"/>
                <a:ea typeface="Times New Roman" panose="02020603050405020304" pitchFamily="18" charset="0"/>
              </a:rPr>
              <a:t>Схематическое изображение спутника LANDSAT-7</a:t>
            </a:r>
            <a:endParaRPr lang="ru-RU" sz="2400" b="1" kern="50" dirty="0">
              <a:solidFill>
                <a:srgbClr val="00000A"/>
              </a:solidFill>
              <a:effectLst/>
              <a:latin typeface="Calibri" panose="020F0502020204030204" pitchFamily="34" charset="0"/>
              <a:ea typeface="Times New Roman" panose="02020603050405020304" pitchFamily="18" charset="0"/>
            </a:endParaRPr>
          </a:p>
        </p:txBody>
      </p:sp>
      <p:pic>
        <p:nvPicPr>
          <p:cNvPr id="4" name="Рисунок 3" descr="http://eor.dgu.ru/lectures_f/%D0%9B%D0%B5%D0%BA%D1%86%D0%B8%D0%B8%20%D0%BF%D0%BE%20%D0%93%D0%98%D0%A1/lec5/r10.jpg"/>
          <p:cNvPicPr/>
          <p:nvPr/>
        </p:nvPicPr>
        <p:blipFill>
          <a:blip r:embed="rId3">
            <a:extLst>
              <a:ext uri="{28A0092B-C50C-407E-A947-70E740481C1C}">
                <a14:useLocalDpi xmlns:a14="http://schemas.microsoft.com/office/drawing/2010/main" val="0"/>
              </a:ext>
            </a:extLst>
          </a:blip>
          <a:srcRect/>
          <a:stretch>
            <a:fillRect/>
          </a:stretch>
        </p:blipFill>
        <p:spPr bwMode="auto">
          <a:xfrm>
            <a:off x="6432405" y="632319"/>
            <a:ext cx="5534025" cy="4038600"/>
          </a:xfrm>
          <a:prstGeom prst="rect">
            <a:avLst/>
          </a:prstGeom>
          <a:noFill/>
          <a:ln>
            <a:noFill/>
          </a:ln>
        </p:spPr>
      </p:pic>
    </p:spTree>
    <p:extLst>
      <p:ext uri="{BB962C8B-B14F-4D97-AF65-F5344CB8AC3E}">
        <p14:creationId xmlns:p14="http://schemas.microsoft.com/office/powerpoint/2010/main" val="22446315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167712" y="138825"/>
            <a:ext cx="2205797" cy="461665"/>
          </a:xfrm>
          <a:prstGeom prst="rect">
            <a:avLst/>
          </a:prstGeom>
        </p:spPr>
        <p:txBody>
          <a:bodyPr wrap="none">
            <a:spAutoFit/>
          </a:bodyPr>
          <a:lstStyle/>
          <a:p>
            <a:pPr fontAlgn="t"/>
            <a:r>
              <a:rPr lang="ru-RU" sz="2400" dirty="0"/>
              <a:t>Спутник SPOT-5</a:t>
            </a:r>
          </a:p>
        </p:txBody>
      </p:sp>
      <p:pic>
        <p:nvPicPr>
          <p:cNvPr id="3" name="Рисунок 2" descr="http://eor.dgu.ru/lectures_f/%D0%9B%D0%B5%D0%BA%D1%86%D0%B8%D0%B8%20%D0%BF%D0%BE%20%D0%93%D0%98%D0%A1/lec5/r11.jpg"/>
          <p:cNvPicPr/>
          <p:nvPr/>
        </p:nvPicPr>
        <p:blipFill>
          <a:blip r:embed="rId2">
            <a:extLst>
              <a:ext uri="{28A0092B-C50C-407E-A947-70E740481C1C}">
                <a14:useLocalDpi xmlns:a14="http://schemas.microsoft.com/office/drawing/2010/main" val="0"/>
              </a:ext>
            </a:extLst>
          </a:blip>
          <a:srcRect/>
          <a:stretch>
            <a:fillRect/>
          </a:stretch>
        </p:blipFill>
        <p:spPr bwMode="auto">
          <a:xfrm>
            <a:off x="166771" y="0"/>
            <a:ext cx="5078095" cy="2867025"/>
          </a:xfrm>
          <a:prstGeom prst="rect">
            <a:avLst/>
          </a:prstGeom>
          <a:noFill/>
          <a:ln>
            <a:noFill/>
          </a:ln>
        </p:spPr>
      </p:pic>
      <p:pic>
        <p:nvPicPr>
          <p:cNvPr id="4" name="Рисунок 3" descr="http://eor.dgu.ru/lectures_f/%D0%9B%D0%B5%D0%BA%D1%86%D0%B8%D0%B8%20%D0%BF%D0%BE%20%D0%93%D0%98%D0%A1/lec5/r12.jpg"/>
          <p:cNvPicPr/>
          <p:nvPr/>
        </p:nvPicPr>
        <p:blipFill>
          <a:blip r:embed="rId3">
            <a:extLst>
              <a:ext uri="{28A0092B-C50C-407E-A947-70E740481C1C}">
                <a14:useLocalDpi xmlns:a14="http://schemas.microsoft.com/office/drawing/2010/main" val="0"/>
              </a:ext>
            </a:extLst>
          </a:blip>
          <a:srcRect/>
          <a:stretch>
            <a:fillRect/>
          </a:stretch>
        </p:blipFill>
        <p:spPr bwMode="auto">
          <a:xfrm>
            <a:off x="7419975" y="0"/>
            <a:ext cx="4772025" cy="4743450"/>
          </a:xfrm>
          <a:prstGeom prst="rect">
            <a:avLst/>
          </a:prstGeom>
          <a:noFill/>
          <a:ln>
            <a:noFill/>
          </a:ln>
        </p:spPr>
      </p:pic>
      <p:sp>
        <p:nvSpPr>
          <p:cNvPr id="5" name="Прямоугольник 4"/>
          <p:cNvSpPr/>
          <p:nvPr/>
        </p:nvSpPr>
        <p:spPr>
          <a:xfrm>
            <a:off x="278921" y="2954418"/>
            <a:ext cx="7094588" cy="3970318"/>
          </a:xfrm>
          <a:prstGeom prst="rect">
            <a:avLst/>
          </a:prstGeom>
        </p:spPr>
        <p:txBody>
          <a:bodyPr wrap="square">
            <a:spAutoFit/>
          </a:bodyPr>
          <a:lstStyle/>
          <a:p>
            <a:pPr fontAlgn="t"/>
            <a:r>
              <a:rPr lang="ru-RU" dirty="0"/>
              <a:t>Особенностью спутников SPOT является возможность получать стереоизображения земной поверхности путем съемки одного и того же участка на двух последовательных витках Спутники ERS (Европейское космическое агентство) Режим построения радиолокационных изображений подстилающей </a:t>
            </a:r>
            <a:r>
              <a:rPr lang="ru-RU" dirty="0" err="1"/>
              <a:t>по-верхности</a:t>
            </a:r>
            <a:r>
              <a:rPr lang="ru-RU" dirty="0"/>
              <a:t> с использованием синтезированной апертуры антенны (AMI-SAR </a:t>
            </a:r>
            <a:r>
              <a:rPr lang="ru-RU" dirty="0" err="1"/>
              <a:t>image</a:t>
            </a:r>
            <a:r>
              <a:rPr lang="ru-RU" dirty="0"/>
              <a:t> </a:t>
            </a:r>
            <a:r>
              <a:rPr lang="ru-RU" dirty="0" err="1"/>
              <a:t>mode</a:t>
            </a:r>
            <a:r>
              <a:rPr lang="ru-RU" dirty="0"/>
              <a:t>) применяется при наблюдении береговой зоны, полярных льдов, при определении состояния поверхности моря, выявлении особенностей геологического строения земной поверхности, изучении растительного покрова. Сигналы, отраженные от поверхности Земли, могут приниматься двумя антеннами, расположенными одна над другой. По разности фаз их сигналов (интерферометрический метод измерения) можно определять высоту наземных объектов с точностью 10м.</a:t>
            </a:r>
          </a:p>
        </p:txBody>
      </p:sp>
    </p:spTree>
    <p:extLst>
      <p:ext uri="{BB962C8B-B14F-4D97-AF65-F5344CB8AC3E}">
        <p14:creationId xmlns:p14="http://schemas.microsoft.com/office/powerpoint/2010/main" val="256269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15.jpg"/>
          <p:cNvPicPr/>
          <p:nvPr/>
        </p:nvPicPr>
        <p:blipFill>
          <a:blip r:embed="rId2">
            <a:extLst>
              <a:ext uri="{28A0092B-C50C-407E-A947-70E740481C1C}">
                <a14:useLocalDpi xmlns:a14="http://schemas.microsoft.com/office/drawing/2010/main" val="0"/>
              </a:ext>
            </a:extLst>
          </a:blip>
          <a:srcRect/>
          <a:stretch>
            <a:fillRect/>
          </a:stretch>
        </p:blipFill>
        <p:spPr bwMode="auto">
          <a:xfrm>
            <a:off x="70898" y="106033"/>
            <a:ext cx="5476875" cy="4610100"/>
          </a:xfrm>
          <a:prstGeom prst="rect">
            <a:avLst/>
          </a:prstGeom>
          <a:noFill/>
          <a:ln>
            <a:noFill/>
          </a:ln>
        </p:spPr>
      </p:pic>
      <p:sp>
        <p:nvSpPr>
          <p:cNvPr id="3" name="Прямоугольник 2"/>
          <p:cNvSpPr/>
          <p:nvPr/>
        </p:nvSpPr>
        <p:spPr>
          <a:xfrm>
            <a:off x="5808453" y="204976"/>
            <a:ext cx="6096000" cy="2031325"/>
          </a:xfrm>
          <a:prstGeom prst="rect">
            <a:avLst/>
          </a:prstGeom>
        </p:spPr>
        <p:txBody>
          <a:bodyPr>
            <a:spAutoFit/>
          </a:bodyPr>
          <a:lstStyle/>
          <a:p>
            <a:pPr fontAlgn="t"/>
            <a:r>
              <a:rPr lang="ru-RU" dirty="0"/>
              <a:t>Режим </a:t>
            </a:r>
            <a:r>
              <a:rPr lang="ru-RU" dirty="0" err="1"/>
              <a:t>трехлучевого</a:t>
            </a:r>
            <a:r>
              <a:rPr lang="ru-RU" dirty="0"/>
              <a:t> </a:t>
            </a:r>
            <a:r>
              <a:rPr lang="ru-RU" dirty="0" err="1"/>
              <a:t>скаттерометра</a:t>
            </a:r>
            <a:r>
              <a:rPr lang="ru-RU" dirty="0"/>
              <a:t> (AMI </a:t>
            </a:r>
            <a:r>
              <a:rPr lang="ru-RU" dirty="0" err="1"/>
              <a:t>Scatterometer</a:t>
            </a:r>
            <a:r>
              <a:rPr lang="ru-RU" dirty="0"/>
              <a:t> </a:t>
            </a:r>
            <a:r>
              <a:rPr lang="ru-RU" dirty="0" err="1"/>
              <a:t>mode</a:t>
            </a:r>
            <a:r>
              <a:rPr lang="ru-RU" dirty="0"/>
              <a:t>) предназначен для определения характеристик приповерхностных морских ветров. В этом режиме три передающие антенны формируют три луча, сканирующие в полосе шириной до 500 км, позволяя определять направление и скорость ветра. Элементы разрешения размером 50*50 км формируются с интервалом 25 км.</a:t>
            </a:r>
          </a:p>
        </p:txBody>
      </p:sp>
      <p:pic>
        <p:nvPicPr>
          <p:cNvPr id="4" name="Рисунок 3" descr="http://eor.dgu.ru/lectures_f/%D0%9B%D0%B5%D0%BA%D1%86%D0%B8%D0%B8%20%D0%BF%D0%BE%20%D0%93%D0%98%D0%A1/lec5/r14.jpg"/>
          <p:cNvPicPr/>
          <p:nvPr/>
        </p:nvPicPr>
        <p:blipFill>
          <a:blip r:embed="rId3">
            <a:extLst>
              <a:ext uri="{28A0092B-C50C-407E-A947-70E740481C1C}">
                <a14:useLocalDpi xmlns:a14="http://schemas.microsoft.com/office/drawing/2010/main" val="0"/>
              </a:ext>
            </a:extLst>
          </a:blip>
          <a:srcRect/>
          <a:stretch>
            <a:fillRect/>
          </a:stretch>
        </p:blipFill>
        <p:spPr bwMode="auto">
          <a:xfrm>
            <a:off x="5998953" y="2411083"/>
            <a:ext cx="5905500" cy="4324350"/>
          </a:xfrm>
          <a:prstGeom prst="rect">
            <a:avLst/>
          </a:prstGeom>
          <a:noFill/>
          <a:ln>
            <a:noFill/>
          </a:ln>
        </p:spPr>
      </p:pic>
    </p:spTree>
    <p:extLst>
      <p:ext uri="{BB962C8B-B14F-4D97-AF65-F5344CB8AC3E}">
        <p14:creationId xmlns:p14="http://schemas.microsoft.com/office/powerpoint/2010/main" val="29698271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16.jpg"/>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86350" cy="2847975"/>
          </a:xfrm>
          <a:prstGeom prst="rect">
            <a:avLst/>
          </a:prstGeom>
          <a:noFill/>
          <a:ln>
            <a:noFill/>
          </a:ln>
        </p:spPr>
      </p:pic>
      <p:sp>
        <p:nvSpPr>
          <p:cNvPr id="3" name="Прямоугольник 2"/>
          <p:cNvSpPr/>
          <p:nvPr/>
        </p:nvSpPr>
        <p:spPr>
          <a:xfrm>
            <a:off x="5299495" y="224656"/>
            <a:ext cx="6518694" cy="5355312"/>
          </a:xfrm>
          <a:prstGeom prst="rect">
            <a:avLst/>
          </a:prstGeom>
        </p:spPr>
        <p:txBody>
          <a:bodyPr wrap="square">
            <a:spAutoFit/>
          </a:bodyPr>
          <a:lstStyle/>
          <a:p>
            <a:pPr fontAlgn="t"/>
            <a:r>
              <a:rPr lang="ru-RU" dirty="0"/>
              <a:t>В состав измерительной аппаратуры входит также радиолокационный высотомер RA (</a:t>
            </a:r>
            <a:r>
              <a:rPr lang="ru-RU" dirty="0" err="1"/>
              <a:t>Radar</a:t>
            </a:r>
            <a:r>
              <a:rPr lang="ru-RU" dirty="0"/>
              <a:t> </a:t>
            </a:r>
            <a:r>
              <a:rPr lang="ru-RU" dirty="0" err="1"/>
              <a:t>Altimeter</a:t>
            </a:r>
            <a:r>
              <a:rPr lang="ru-RU" dirty="0"/>
              <a:t>) для определения скорости ветра, измерения характерной высоты волн, топографии морской поверхности, ледяного покрова и поверхности суши, построения контуров ледяных массивов, а также выявления границ морских льдов. Высотомер может работать в режиме исследования океана (</a:t>
            </a:r>
            <a:r>
              <a:rPr lang="ru-RU" dirty="0" err="1"/>
              <a:t>Ocean</a:t>
            </a:r>
            <a:r>
              <a:rPr lang="ru-RU" dirty="0"/>
              <a:t> </a:t>
            </a:r>
            <a:r>
              <a:rPr lang="ru-RU" dirty="0" err="1"/>
              <a:t>Mode</a:t>
            </a:r>
            <a:r>
              <a:rPr lang="ru-RU" dirty="0"/>
              <a:t>), обеспечивая точность измерения скорости волн 2 м/с и точность измерения высоты волн 0.5 м в диапазоне 1-20 м в пределах пятна размером 1.6-2.0 км, точность определения высоты подъема поверхности моря 10 см. Комплекс приборов ATSR (</a:t>
            </a:r>
            <a:r>
              <a:rPr lang="ru-RU" dirty="0" err="1"/>
              <a:t>Along-Track</a:t>
            </a:r>
            <a:r>
              <a:rPr lang="ru-RU" dirty="0"/>
              <a:t> </a:t>
            </a:r>
            <a:r>
              <a:rPr lang="ru-RU" dirty="0" err="1"/>
              <a:t>Scanning</a:t>
            </a:r>
            <a:r>
              <a:rPr lang="ru-RU" dirty="0"/>
              <a:t> </a:t>
            </a:r>
            <a:r>
              <a:rPr lang="ru-RU" dirty="0" err="1"/>
              <a:t>Radiometer</a:t>
            </a:r>
            <a:r>
              <a:rPr lang="ru-RU" dirty="0"/>
              <a:t> </a:t>
            </a:r>
            <a:r>
              <a:rPr lang="ru-RU" dirty="0" err="1"/>
              <a:t>and</a:t>
            </a:r>
            <a:r>
              <a:rPr lang="ru-RU" dirty="0"/>
              <a:t> </a:t>
            </a:r>
            <a:r>
              <a:rPr lang="ru-RU" dirty="0" err="1"/>
              <a:t>Microwave</a:t>
            </a:r>
            <a:r>
              <a:rPr lang="ru-RU" dirty="0"/>
              <a:t> </a:t>
            </a:r>
            <a:r>
              <a:rPr lang="ru-RU" dirty="0" err="1"/>
              <a:t>Sounder</a:t>
            </a:r>
            <a:r>
              <a:rPr lang="ru-RU" dirty="0"/>
              <a:t>) включает радиометр оптического диапазона и двухканальное микроволновое устройство вертикального зондирования. Радиометр предназначен для наблюдения поверхности моря и суши, измерения их температуры, температуры верхней облачности и обеспечивает прием излучения в спектральных каналах 0.65; 0.85; 1.27; 1.6; 3.7; 11 и 12 мкм с пространственным разрешением 1 км.</a:t>
            </a:r>
          </a:p>
        </p:txBody>
      </p:sp>
      <p:pic>
        <p:nvPicPr>
          <p:cNvPr id="4" name="Рисунок 3" descr="http://eor.dgu.ru/lectures_f/%D0%9B%D0%B5%D0%BA%D1%86%D0%B8%D0%B8%20%D0%BF%D0%BE%20%D0%93%D0%98%D0%A1/lec5/r13.jpg"/>
          <p:cNvPicPr/>
          <p:nvPr/>
        </p:nvPicPr>
        <p:blipFill>
          <a:blip r:embed="rId3">
            <a:extLst>
              <a:ext uri="{28A0092B-C50C-407E-A947-70E740481C1C}">
                <a14:useLocalDpi xmlns:a14="http://schemas.microsoft.com/office/drawing/2010/main" val="0"/>
              </a:ext>
            </a:extLst>
          </a:blip>
          <a:srcRect/>
          <a:stretch>
            <a:fillRect/>
          </a:stretch>
        </p:blipFill>
        <p:spPr bwMode="auto">
          <a:xfrm>
            <a:off x="345056" y="2902312"/>
            <a:ext cx="3608718" cy="3592273"/>
          </a:xfrm>
          <a:prstGeom prst="rect">
            <a:avLst/>
          </a:prstGeom>
          <a:noFill/>
          <a:ln>
            <a:noFill/>
          </a:ln>
        </p:spPr>
      </p:pic>
    </p:spTree>
    <p:extLst>
      <p:ext uri="{BB962C8B-B14F-4D97-AF65-F5344CB8AC3E}">
        <p14:creationId xmlns:p14="http://schemas.microsoft.com/office/powerpoint/2010/main" val="7943220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17.jpg"/>
          <p:cNvPicPr/>
          <p:nvPr/>
        </p:nvPicPr>
        <p:blipFill>
          <a:blip r:embed="rId2">
            <a:extLst>
              <a:ext uri="{28A0092B-C50C-407E-A947-70E740481C1C}">
                <a14:useLocalDpi xmlns:a14="http://schemas.microsoft.com/office/drawing/2010/main" val="0"/>
              </a:ext>
            </a:extLst>
          </a:blip>
          <a:srcRect/>
          <a:stretch>
            <a:fillRect/>
          </a:stretch>
        </p:blipFill>
        <p:spPr bwMode="auto">
          <a:xfrm>
            <a:off x="97676" y="0"/>
            <a:ext cx="4543425" cy="4533900"/>
          </a:xfrm>
          <a:prstGeom prst="rect">
            <a:avLst/>
          </a:prstGeom>
          <a:noFill/>
          <a:ln>
            <a:noFill/>
          </a:ln>
        </p:spPr>
      </p:pic>
      <p:sp>
        <p:nvSpPr>
          <p:cNvPr id="3" name="Прямоугольник 2"/>
          <p:cNvSpPr/>
          <p:nvPr/>
        </p:nvSpPr>
        <p:spPr>
          <a:xfrm>
            <a:off x="4738777" y="273510"/>
            <a:ext cx="7079412" cy="2554545"/>
          </a:xfrm>
          <a:prstGeom prst="rect">
            <a:avLst/>
          </a:prstGeom>
        </p:spPr>
        <p:txBody>
          <a:bodyPr wrap="square">
            <a:spAutoFit/>
          </a:bodyPr>
          <a:lstStyle/>
          <a:p>
            <a:pPr fontAlgn="t"/>
            <a:r>
              <a:rPr lang="ru-RU" sz="2000" dirty="0"/>
              <a:t>Спектрометр GOME (</a:t>
            </a:r>
            <a:r>
              <a:rPr lang="ru-RU" sz="2000" dirty="0" err="1"/>
              <a:t>Global</a:t>
            </a:r>
            <a:r>
              <a:rPr lang="ru-RU" sz="2000" dirty="0"/>
              <a:t> </a:t>
            </a:r>
            <a:r>
              <a:rPr lang="ru-RU" sz="2000" dirty="0" err="1"/>
              <a:t>Monitoring</a:t>
            </a:r>
            <a:r>
              <a:rPr lang="ru-RU" sz="2000" dirty="0"/>
              <a:t> </a:t>
            </a:r>
            <a:r>
              <a:rPr lang="ru-RU" sz="2000" dirty="0" err="1"/>
              <a:t>Experiment</a:t>
            </a:r>
            <a:r>
              <a:rPr lang="ru-RU" sz="2000" dirty="0"/>
              <a:t>) используется для </a:t>
            </a:r>
            <a:r>
              <a:rPr lang="ru-RU" sz="2000" dirty="0" err="1"/>
              <a:t>по-строения</a:t>
            </a:r>
            <a:r>
              <a:rPr lang="ru-RU" sz="2000" dirty="0"/>
              <a:t> вертикальных профилей концентрации озона (O3) и малых газовых компонентов (NO, NO2, </a:t>
            </a:r>
            <a:r>
              <a:rPr lang="ru-RU" sz="2000" dirty="0" err="1"/>
              <a:t>BrO</a:t>
            </a:r>
            <a:r>
              <a:rPr lang="ru-RU" sz="2000" dirty="0"/>
              <a:t>, H2O) в тропосфере и стратосфере, измерения потоков солнечного излучения, отражаемого поверхностью Земли и рассеиваемого атмосферой. Прибор работает в ультрафиолетовом диапазоне в спектральных каналах 0.24-0.295; 0.29-0.405; 0.4-0.605 и 0.59-0.79 мкм.</a:t>
            </a:r>
          </a:p>
        </p:txBody>
      </p:sp>
    </p:spTree>
    <p:extLst>
      <p:ext uri="{BB962C8B-B14F-4D97-AF65-F5344CB8AC3E}">
        <p14:creationId xmlns:p14="http://schemas.microsoft.com/office/powerpoint/2010/main" val="20623385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340413" y="138825"/>
            <a:ext cx="4854342" cy="461665"/>
          </a:xfrm>
          <a:prstGeom prst="rect">
            <a:avLst/>
          </a:prstGeom>
        </p:spPr>
        <p:txBody>
          <a:bodyPr wrap="none">
            <a:spAutoFit/>
          </a:bodyPr>
          <a:lstStyle/>
          <a:p>
            <a:pPr fontAlgn="t"/>
            <a:r>
              <a:rPr lang="ru-RU" sz="2400" b="1" dirty="0"/>
              <a:t>Анализ спутниковых изображений</a:t>
            </a:r>
          </a:p>
        </p:txBody>
      </p:sp>
      <p:sp>
        <p:nvSpPr>
          <p:cNvPr id="3" name="Прямоугольник 2"/>
          <p:cNvSpPr/>
          <p:nvPr/>
        </p:nvSpPr>
        <p:spPr>
          <a:xfrm>
            <a:off x="451449" y="823693"/>
            <a:ext cx="11740551" cy="2246769"/>
          </a:xfrm>
          <a:prstGeom prst="rect">
            <a:avLst/>
          </a:prstGeom>
        </p:spPr>
        <p:txBody>
          <a:bodyPr wrap="square">
            <a:spAutoFit/>
          </a:bodyPr>
          <a:lstStyle/>
          <a:p>
            <a:r>
              <a:rPr lang="ru-RU" sz="2000" dirty="0"/>
              <a:t>Для эффективного использования данных ДЗ в ГИС нужно уметь извлекать полезную информацию из спутниковых изображений. Процесс интерпретации и анализа изображений ДЗ состоит из идентификации и/или измерения параметров целей наблюдения. Цифровой анализ незаменим при одновременном анализе множества спектральных полос и обработке больших массивов данных. Цифровая обработка применяется для расширения возможностей визуальной интерпретации, для автоматизированного распознавания объектов, исключая человеческое вмешательство.</a:t>
            </a:r>
            <a:br>
              <a:rPr lang="ru-RU" sz="2000" dirty="0"/>
            </a:br>
            <a:endParaRPr lang="ru-RU" sz="2000" dirty="0"/>
          </a:p>
        </p:txBody>
      </p:sp>
      <p:sp>
        <p:nvSpPr>
          <p:cNvPr id="4" name="Скругленный прямоугольник 3"/>
          <p:cNvSpPr/>
          <p:nvPr/>
        </p:nvSpPr>
        <p:spPr>
          <a:xfrm>
            <a:off x="267419" y="2743200"/>
            <a:ext cx="11680166" cy="3950898"/>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Цветовой тон - это фундаментальный признак, по которому различают объекты. При помощи тона на изображении становятся различимы объекты с различной формой, размером, текстурой.</a:t>
            </a:r>
            <a:br>
              <a:rPr lang="ru-RU" sz="2400" dirty="0"/>
            </a:br>
            <a:endParaRPr lang="ru-RU" sz="2400" dirty="0"/>
          </a:p>
        </p:txBody>
      </p:sp>
      <p:sp>
        <p:nvSpPr>
          <p:cNvPr id="5" name="Скругленный прямоугольник 4"/>
          <p:cNvSpPr/>
          <p:nvPr/>
        </p:nvSpPr>
        <p:spPr>
          <a:xfrm>
            <a:off x="267419" y="2743200"/>
            <a:ext cx="11680166" cy="3950898"/>
          </a:xfrm>
          <a:prstGeom prst="round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400" dirty="0"/>
              <a:t> Форма относится к общему очертанию, структуре или схеме (иерархической структуре) индивидуальных объектов. Форма является одной из ключевых характеристик для интерпретации. Формы с правильными краями обычно представляют городские или сельскохозяйственные объекты, в то время как природ-</a:t>
            </a:r>
            <a:r>
              <a:rPr lang="ru-RU" sz="2400" dirty="0" err="1"/>
              <a:t>ные</a:t>
            </a:r>
            <a:r>
              <a:rPr lang="ru-RU" sz="2400" dirty="0"/>
              <a:t> объекты, типа границ лесного массива, имеют неправильные формы, исключая те случаи, когда люди искусственно создают грани объектов</a:t>
            </a:r>
          </a:p>
        </p:txBody>
      </p:sp>
      <p:sp>
        <p:nvSpPr>
          <p:cNvPr id="6" name="Скругленный прямоугольник 5"/>
          <p:cNvSpPr/>
          <p:nvPr/>
        </p:nvSpPr>
        <p:spPr>
          <a:xfrm>
            <a:off x="342181" y="2734032"/>
            <a:ext cx="11680166" cy="3950898"/>
          </a:xfrm>
          <a:prstGeom prst="round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400" dirty="0"/>
              <a:t> Размер объектов в изображении - функция масштаба. Важно оценить размер объекта относительно других объектов в сцене, также как и абсолютный размер. Быстрая аппроксимация размера объекта может скорее привести процесс интерпретации к соответствующему результату.</a:t>
            </a:r>
          </a:p>
        </p:txBody>
      </p:sp>
      <p:sp>
        <p:nvSpPr>
          <p:cNvPr id="7" name="Скругленный прямоугольник 6"/>
          <p:cNvSpPr/>
          <p:nvPr/>
        </p:nvSpPr>
        <p:spPr>
          <a:xfrm>
            <a:off x="342181" y="2670771"/>
            <a:ext cx="11680166" cy="3950898"/>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400" dirty="0"/>
              <a:t> Структура относится к пространственному расположению различимых объектов. Упорядоченное повторение схожих тонов и текстур позволяет отличать и, в конечном счете, распознавать модель.</a:t>
            </a:r>
          </a:p>
        </p:txBody>
      </p:sp>
      <p:sp>
        <p:nvSpPr>
          <p:cNvPr id="8" name="Скругленный прямоугольник 7"/>
          <p:cNvSpPr/>
          <p:nvPr/>
        </p:nvSpPr>
        <p:spPr>
          <a:xfrm>
            <a:off x="437071" y="2734032"/>
            <a:ext cx="11680166" cy="3950898"/>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400" dirty="0"/>
              <a:t> Текстура относится к расположению и частоте тонального изменения в отдельных областях изображения. Неровные текстуры представляются обычно пятнистым тоном, где уровни серого цвета изменяются резко на малой площади, принимая во внимание, что гладкие текстуры имеют незначительные тональные изменения. Гладкие текстуры - это наиболее часто встречающийся результат отображения однородных поверхностей, таких как поля, асфальт или пастбища. Объект с шероховатой поверхностью и неправильной структурой, типа лесопосадок, приводит к неровной текстуре. Текстура - один из наиболее важных элементов процесса интерпретации объектов и их особенностей</a:t>
            </a:r>
          </a:p>
        </p:txBody>
      </p:sp>
      <p:sp>
        <p:nvSpPr>
          <p:cNvPr id="9" name="Скругленный прямоугольник 8"/>
          <p:cNvSpPr/>
          <p:nvPr/>
        </p:nvSpPr>
        <p:spPr>
          <a:xfrm>
            <a:off x="451449" y="2743200"/>
            <a:ext cx="11680166" cy="3950898"/>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400" dirty="0"/>
              <a:t> Тень тоже полезна при интерпретации, поскольку она способна снабжать наблюдателя информацией относительно профиля и высоты объектов. Однако, тени могут также усложнять интерпретацию объектов, попадающих в их зону действия, так как объекты в пределах теней менее заметны и различимы от их окружения. Тень важна при идентификации топографии и рельефов</a:t>
            </a:r>
          </a:p>
        </p:txBody>
      </p:sp>
      <p:sp>
        <p:nvSpPr>
          <p:cNvPr id="10" name="Скругленный прямоугольник 9"/>
          <p:cNvSpPr/>
          <p:nvPr/>
        </p:nvSpPr>
        <p:spPr>
          <a:xfrm>
            <a:off x="437071" y="2670771"/>
            <a:ext cx="11680166" cy="3950898"/>
          </a:xfrm>
          <a:prstGeom prst="round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sz="2400" dirty="0"/>
              <a:t> Ассоциация принимает во внимание зависимость между другими распознаваемыми объектами или их особенностями вблизи наблюдаемого объекта. Идентификация особенностей объектов, которые находятся в связи с особенностями других объектов, облегчает процесс распознавания.</a:t>
            </a:r>
          </a:p>
        </p:txBody>
      </p:sp>
    </p:spTree>
    <p:extLst>
      <p:ext uri="{BB962C8B-B14F-4D97-AF65-F5344CB8AC3E}">
        <p14:creationId xmlns:p14="http://schemas.microsoft.com/office/powerpoint/2010/main" val="187259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ppt_x"/>
                                          </p:val>
                                        </p:tav>
                                      </p:tavLst>
                                    </p:anim>
                                    <p:anim calcmode="lin" valueType="num">
                                      <p:cBhvr additive="base">
                                        <p:cTn id="13" dur="500"/>
                                        <p:tgtEl>
                                          <p:spTgt spid="4"/>
                                        </p:tgtEl>
                                        <p:attrNameLst>
                                          <p:attrName>ppt_y</p:attrName>
                                        </p:attrNameLst>
                                      </p:cBhvr>
                                      <p:tavLst>
                                        <p:tav tm="0">
                                          <p:val>
                                            <p:strVal val="ppt_y"/>
                                          </p:val>
                                        </p:tav>
                                        <p:tav tm="100000">
                                          <p:val>
                                            <p:strVal val="1+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5"/>
                                        </p:tgtEl>
                                        <p:attrNameLst>
                                          <p:attrName>ppt_x</p:attrName>
                                        </p:attrNameLst>
                                      </p:cBhvr>
                                      <p:tavLst>
                                        <p:tav tm="0">
                                          <p:val>
                                            <p:strVal val="ppt_x"/>
                                          </p:val>
                                        </p:tav>
                                        <p:tav tm="100000">
                                          <p:val>
                                            <p:strVal val="ppt_x"/>
                                          </p:val>
                                        </p:tav>
                                      </p:tavLst>
                                    </p:anim>
                                    <p:anim calcmode="lin" valueType="num">
                                      <p:cBhvr additive="base">
                                        <p:cTn id="25" dur="500"/>
                                        <p:tgtEl>
                                          <p:spTgt spid="5"/>
                                        </p:tgtEl>
                                        <p:attrNameLst>
                                          <p:attrName>ppt_y</p:attrName>
                                        </p:attrNameLst>
                                      </p:cBhvr>
                                      <p:tavLst>
                                        <p:tav tm="0">
                                          <p:val>
                                            <p:strVal val="ppt_y"/>
                                          </p:val>
                                        </p:tav>
                                        <p:tav tm="100000">
                                          <p:val>
                                            <p:strVal val="1+ppt_h/2"/>
                                          </p:val>
                                        </p:tav>
                                      </p:tavLst>
                                    </p:anim>
                                    <p:set>
                                      <p:cBhvr>
                                        <p:cTn id="26" dur="1" fill="hold">
                                          <p:stCondLst>
                                            <p:cond delay="499"/>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6"/>
                                        </p:tgtEl>
                                        <p:attrNameLst>
                                          <p:attrName>ppt_x</p:attrName>
                                        </p:attrNameLst>
                                      </p:cBhvr>
                                      <p:tavLst>
                                        <p:tav tm="0">
                                          <p:val>
                                            <p:strVal val="ppt_x"/>
                                          </p:val>
                                        </p:tav>
                                        <p:tav tm="100000">
                                          <p:val>
                                            <p:strVal val="ppt_x"/>
                                          </p:val>
                                        </p:tav>
                                      </p:tavLst>
                                    </p:anim>
                                    <p:anim calcmode="lin" valueType="num">
                                      <p:cBhvr additive="base">
                                        <p:cTn id="37" dur="500"/>
                                        <p:tgtEl>
                                          <p:spTgt spid="6"/>
                                        </p:tgtEl>
                                        <p:attrNameLst>
                                          <p:attrName>ppt_y</p:attrName>
                                        </p:attrNameLst>
                                      </p:cBhvr>
                                      <p:tavLst>
                                        <p:tav tm="0">
                                          <p:val>
                                            <p:strVal val="ppt_y"/>
                                          </p:val>
                                        </p:tav>
                                        <p:tav tm="100000">
                                          <p:val>
                                            <p:strVal val="1+ppt_h/2"/>
                                          </p:val>
                                        </p:tav>
                                      </p:tavLst>
                                    </p:anim>
                                    <p:set>
                                      <p:cBhvr>
                                        <p:cTn id="38" dur="1" fill="hold">
                                          <p:stCondLst>
                                            <p:cond delay="499"/>
                                          </p:stCondLst>
                                        </p:cTn>
                                        <p:tgtEl>
                                          <p:spTgt spid="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7"/>
                                        </p:tgtEl>
                                        <p:attrNameLst>
                                          <p:attrName>ppt_x</p:attrName>
                                        </p:attrNameLst>
                                      </p:cBhvr>
                                      <p:tavLst>
                                        <p:tav tm="0">
                                          <p:val>
                                            <p:strVal val="ppt_x"/>
                                          </p:val>
                                        </p:tav>
                                        <p:tav tm="100000">
                                          <p:val>
                                            <p:strVal val="ppt_x"/>
                                          </p:val>
                                        </p:tav>
                                      </p:tavLst>
                                    </p:anim>
                                    <p:anim calcmode="lin" valueType="num">
                                      <p:cBhvr additive="base">
                                        <p:cTn id="49" dur="500"/>
                                        <p:tgtEl>
                                          <p:spTgt spid="7"/>
                                        </p:tgtEl>
                                        <p:attrNameLst>
                                          <p:attrName>ppt_y</p:attrName>
                                        </p:attrNameLst>
                                      </p:cBhvr>
                                      <p:tavLst>
                                        <p:tav tm="0">
                                          <p:val>
                                            <p:strVal val="ppt_y"/>
                                          </p:val>
                                        </p:tav>
                                        <p:tav tm="100000">
                                          <p:val>
                                            <p:strVal val="1+ppt_h/2"/>
                                          </p:val>
                                        </p:tav>
                                      </p:tavLst>
                                    </p:anim>
                                    <p:set>
                                      <p:cBhvr>
                                        <p:cTn id="50" dur="1" fill="hold">
                                          <p:stCondLst>
                                            <p:cond delay="499"/>
                                          </p:stCondLst>
                                        </p:cTn>
                                        <p:tgtEl>
                                          <p:spTgt spid="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8"/>
                                        </p:tgtEl>
                                        <p:attrNameLst>
                                          <p:attrName>ppt_x</p:attrName>
                                        </p:attrNameLst>
                                      </p:cBhvr>
                                      <p:tavLst>
                                        <p:tav tm="0">
                                          <p:val>
                                            <p:strVal val="ppt_x"/>
                                          </p:val>
                                        </p:tav>
                                        <p:tav tm="100000">
                                          <p:val>
                                            <p:strVal val="ppt_x"/>
                                          </p:val>
                                        </p:tav>
                                      </p:tavLst>
                                    </p:anim>
                                    <p:anim calcmode="lin" valueType="num">
                                      <p:cBhvr additive="base">
                                        <p:cTn id="61" dur="500"/>
                                        <p:tgtEl>
                                          <p:spTgt spid="8"/>
                                        </p:tgtEl>
                                        <p:attrNameLst>
                                          <p:attrName>ppt_y</p:attrName>
                                        </p:attrNameLst>
                                      </p:cBhvr>
                                      <p:tavLst>
                                        <p:tav tm="0">
                                          <p:val>
                                            <p:strVal val="ppt_y"/>
                                          </p:val>
                                        </p:tav>
                                        <p:tav tm="100000">
                                          <p:val>
                                            <p:strVal val="1+ppt_h/2"/>
                                          </p:val>
                                        </p:tav>
                                      </p:tavLst>
                                    </p:anim>
                                    <p:set>
                                      <p:cBhvr>
                                        <p:cTn id="62" dur="1" fill="hold">
                                          <p:stCondLst>
                                            <p:cond delay="499"/>
                                          </p:stCondLst>
                                        </p:cTn>
                                        <p:tgtEl>
                                          <p:spTgt spid="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500" fill="hold"/>
                                        <p:tgtEl>
                                          <p:spTgt spid="9"/>
                                        </p:tgtEl>
                                        <p:attrNameLst>
                                          <p:attrName>ppt_x</p:attrName>
                                        </p:attrNameLst>
                                      </p:cBhvr>
                                      <p:tavLst>
                                        <p:tav tm="0">
                                          <p:val>
                                            <p:strVal val="#ppt_x"/>
                                          </p:val>
                                        </p:tav>
                                        <p:tav tm="100000">
                                          <p:val>
                                            <p:strVal val="#ppt_x"/>
                                          </p:val>
                                        </p:tav>
                                      </p:tavLst>
                                    </p:anim>
                                    <p:anim calcmode="lin" valueType="num">
                                      <p:cBhvr additive="base">
                                        <p:cTn id="6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9"/>
                                        </p:tgtEl>
                                        <p:attrNameLst>
                                          <p:attrName>ppt_x</p:attrName>
                                        </p:attrNameLst>
                                      </p:cBhvr>
                                      <p:tavLst>
                                        <p:tav tm="0">
                                          <p:val>
                                            <p:strVal val="ppt_x"/>
                                          </p:val>
                                        </p:tav>
                                        <p:tav tm="100000">
                                          <p:val>
                                            <p:strVal val="ppt_x"/>
                                          </p:val>
                                        </p:tav>
                                      </p:tavLst>
                                    </p:anim>
                                    <p:anim calcmode="lin" valueType="num">
                                      <p:cBhvr additive="base">
                                        <p:cTn id="73" dur="500"/>
                                        <p:tgtEl>
                                          <p:spTgt spid="9"/>
                                        </p:tgtEl>
                                        <p:attrNameLst>
                                          <p:attrName>ppt_y</p:attrName>
                                        </p:attrNameLst>
                                      </p:cBhvr>
                                      <p:tavLst>
                                        <p:tav tm="0">
                                          <p:val>
                                            <p:strVal val="ppt_y"/>
                                          </p:val>
                                        </p:tav>
                                        <p:tav tm="100000">
                                          <p:val>
                                            <p:strVal val="1+ppt_h/2"/>
                                          </p:val>
                                        </p:tav>
                                      </p:tavLst>
                                    </p:anim>
                                    <p:set>
                                      <p:cBhvr>
                                        <p:cTn id="74" dur="1" fill="hold">
                                          <p:stCondLst>
                                            <p:cond delay="499"/>
                                          </p:stCondLst>
                                        </p:cTn>
                                        <p:tgtEl>
                                          <p:spTgt spid="9"/>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additive="base">
                                        <p:cTn id="79" dur="500" fill="hold"/>
                                        <p:tgtEl>
                                          <p:spTgt spid="10"/>
                                        </p:tgtEl>
                                        <p:attrNameLst>
                                          <p:attrName>ppt_x</p:attrName>
                                        </p:attrNameLst>
                                      </p:cBhvr>
                                      <p:tavLst>
                                        <p:tav tm="0">
                                          <p:val>
                                            <p:strVal val="#ppt_x"/>
                                          </p:val>
                                        </p:tav>
                                        <p:tav tm="100000">
                                          <p:val>
                                            <p:strVal val="#ppt_x"/>
                                          </p:val>
                                        </p:tav>
                                      </p:tavLst>
                                    </p:anim>
                                    <p:anim calcmode="lin" valueType="num">
                                      <p:cBhvr additive="base">
                                        <p:cTn id="8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1" nodeType="clickEffect">
                                  <p:stCondLst>
                                    <p:cond delay="0"/>
                                  </p:stCondLst>
                                  <p:childTnLst>
                                    <p:anim calcmode="lin" valueType="num">
                                      <p:cBhvr additive="base">
                                        <p:cTn id="84" dur="500"/>
                                        <p:tgtEl>
                                          <p:spTgt spid="10"/>
                                        </p:tgtEl>
                                        <p:attrNameLst>
                                          <p:attrName>ppt_x</p:attrName>
                                        </p:attrNameLst>
                                      </p:cBhvr>
                                      <p:tavLst>
                                        <p:tav tm="0">
                                          <p:val>
                                            <p:strVal val="ppt_x"/>
                                          </p:val>
                                        </p:tav>
                                        <p:tav tm="100000">
                                          <p:val>
                                            <p:strVal val="ppt_x"/>
                                          </p:val>
                                        </p:tav>
                                      </p:tavLst>
                                    </p:anim>
                                    <p:anim calcmode="lin" valueType="num">
                                      <p:cBhvr additive="base">
                                        <p:cTn id="85" dur="500"/>
                                        <p:tgtEl>
                                          <p:spTgt spid="10"/>
                                        </p:tgtEl>
                                        <p:attrNameLst>
                                          <p:attrName>ppt_y</p:attrName>
                                        </p:attrNameLst>
                                      </p:cBhvr>
                                      <p:tavLst>
                                        <p:tav tm="0">
                                          <p:val>
                                            <p:strVal val="ppt_y"/>
                                          </p:val>
                                        </p:tav>
                                        <p:tav tm="100000">
                                          <p:val>
                                            <p:strVal val="1+ppt_h/2"/>
                                          </p:val>
                                        </p:tav>
                                      </p:tavLst>
                                    </p:anim>
                                    <p:set>
                                      <p:cBhvr>
                                        <p:cTn id="86"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175360" y="121572"/>
            <a:ext cx="4445128" cy="369332"/>
          </a:xfrm>
          <a:prstGeom prst="rect">
            <a:avLst/>
          </a:prstGeom>
        </p:spPr>
        <p:txBody>
          <a:bodyPr wrap="none">
            <a:spAutoFit/>
          </a:bodyPr>
          <a:lstStyle/>
          <a:p>
            <a:pPr fontAlgn="t"/>
            <a:r>
              <a:rPr lang="ru-RU" b="1" dirty="0"/>
              <a:t>Связь информации ДЗ с реальным миром</a:t>
            </a:r>
          </a:p>
        </p:txBody>
      </p:sp>
      <p:pic>
        <p:nvPicPr>
          <p:cNvPr id="3" name="Рисунок 2" descr="http://eor.dgu.ru/lectures_f/%D0%9B%D0%B5%D0%BA%D1%86%D0%B8%D0%B8%20%D0%BF%D0%BE%20%D0%93%D0%98%D0%A1/lec5/r18.jpg"/>
          <p:cNvPicPr/>
          <p:nvPr/>
        </p:nvPicPr>
        <p:blipFill>
          <a:blip r:embed="rId2">
            <a:extLst>
              <a:ext uri="{28A0092B-C50C-407E-A947-70E740481C1C}">
                <a14:useLocalDpi xmlns:a14="http://schemas.microsoft.com/office/drawing/2010/main" val="0"/>
              </a:ext>
            </a:extLst>
          </a:blip>
          <a:srcRect/>
          <a:stretch>
            <a:fillRect/>
          </a:stretch>
        </p:blipFill>
        <p:spPr bwMode="auto">
          <a:xfrm>
            <a:off x="165273" y="816364"/>
            <a:ext cx="4805045" cy="2809875"/>
          </a:xfrm>
          <a:prstGeom prst="rect">
            <a:avLst/>
          </a:prstGeom>
          <a:noFill/>
          <a:ln>
            <a:noFill/>
          </a:ln>
        </p:spPr>
      </p:pic>
      <p:sp>
        <p:nvSpPr>
          <p:cNvPr id="4" name="Прямоугольник 3"/>
          <p:cNvSpPr/>
          <p:nvPr/>
        </p:nvSpPr>
        <p:spPr>
          <a:xfrm>
            <a:off x="5072332" y="1375783"/>
            <a:ext cx="6374921" cy="3785652"/>
          </a:xfrm>
          <a:prstGeom prst="rect">
            <a:avLst/>
          </a:prstGeom>
        </p:spPr>
        <p:txBody>
          <a:bodyPr wrap="square">
            <a:spAutoFit/>
          </a:bodyPr>
          <a:lstStyle/>
          <a:p>
            <a:pPr fontAlgn="t"/>
            <a:r>
              <a:rPr lang="ru-RU" sz="2000" dirty="0"/>
              <a:t>Результатом процедуры обработки данных ДЗ является цифровая карта, координаты объектов которой ссылаются на действительные координаты объектов реального мира, которые они представляют. Положение объектов на сферической поверхности земного шара измеряют в градусах широты и долготы, известных как географические координаты. Значения широты равняются нулю на экваторе и достигает 90 градусов на Северном и Южном полюсах. Значение долготы равно нулю на гринвичском меридиане и увеличивается до 180 градусов по мере удаления в западном или восточном направлении от Гринвичского меридиана.</a:t>
            </a:r>
          </a:p>
        </p:txBody>
      </p:sp>
    </p:spTree>
    <p:extLst>
      <p:ext uri="{BB962C8B-B14F-4D97-AF65-F5344CB8AC3E}">
        <p14:creationId xmlns:p14="http://schemas.microsoft.com/office/powerpoint/2010/main" val="19865059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19.jpg"/>
          <p:cNvPicPr/>
          <p:nvPr/>
        </p:nvPicPr>
        <p:blipFill>
          <a:blip r:embed="rId2">
            <a:extLst>
              <a:ext uri="{28A0092B-C50C-407E-A947-70E740481C1C}">
                <a14:useLocalDpi xmlns:a14="http://schemas.microsoft.com/office/drawing/2010/main" val="0"/>
              </a:ext>
            </a:extLst>
          </a:blip>
          <a:srcRect/>
          <a:stretch>
            <a:fillRect/>
          </a:stretch>
        </p:blipFill>
        <p:spPr bwMode="auto">
          <a:xfrm>
            <a:off x="218896" y="447508"/>
            <a:ext cx="4991100" cy="2150110"/>
          </a:xfrm>
          <a:prstGeom prst="rect">
            <a:avLst/>
          </a:prstGeom>
          <a:noFill/>
          <a:ln>
            <a:noFill/>
          </a:ln>
        </p:spPr>
      </p:pic>
      <p:sp>
        <p:nvSpPr>
          <p:cNvPr id="3" name="Прямоугольник 2"/>
          <p:cNvSpPr/>
          <p:nvPr/>
        </p:nvSpPr>
        <p:spPr>
          <a:xfrm>
            <a:off x="5385758" y="602743"/>
            <a:ext cx="6673970" cy="1631216"/>
          </a:xfrm>
          <a:prstGeom prst="rect">
            <a:avLst/>
          </a:prstGeom>
        </p:spPr>
        <p:txBody>
          <a:bodyPr wrap="square">
            <a:spAutoFit/>
          </a:bodyPr>
          <a:lstStyle/>
          <a:p>
            <a:pPr algn="just" fontAlgn="t"/>
            <a:r>
              <a:rPr lang="ru-RU" sz="2000" b="1" dirty="0"/>
              <a:t>Картографическая проекция </a:t>
            </a:r>
            <a:r>
              <a:rPr lang="ru-RU" sz="2000" dirty="0"/>
              <a:t>- определенный способ отображения одной поверхности на другую, устанавливающий аналитическую зависимость между координатами точек эллипсоида (сферы) и соответствующих точек плоскости</a:t>
            </a:r>
          </a:p>
        </p:txBody>
      </p:sp>
      <p:pic>
        <p:nvPicPr>
          <p:cNvPr id="4" name="Рисунок 3" descr="http://eor.dgu.ru/lectures_f/%D0%9B%D0%B5%D0%BA%D1%86%D0%B8%D0%B8%20%D0%BF%D0%BE%20%D0%93%D0%98%D0%A1/lec5/r20.jpg"/>
          <p:cNvPicPr/>
          <p:nvPr/>
        </p:nvPicPr>
        <p:blipFill>
          <a:blip r:embed="rId3">
            <a:extLst>
              <a:ext uri="{28A0092B-C50C-407E-A947-70E740481C1C}">
                <a14:useLocalDpi xmlns:a14="http://schemas.microsoft.com/office/drawing/2010/main" val="0"/>
              </a:ext>
            </a:extLst>
          </a:blip>
          <a:srcRect/>
          <a:stretch>
            <a:fillRect/>
          </a:stretch>
        </p:blipFill>
        <p:spPr bwMode="auto">
          <a:xfrm>
            <a:off x="218896" y="2725408"/>
            <a:ext cx="5058410" cy="3028950"/>
          </a:xfrm>
          <a:prstGeom prst="rect">
            <a:avLst/>
          </a:prstGeom>
          <a:noFill/>
          <a:ln>
            <a:noFill/>
          </a:ln>
        </p:spPr>
      </p:pic>
      <p:sp>
        <p:nvSpPr>
          <p:cNvPr id="5" name="Прямоугольник 4"/>
          <p:cNvSpPr/>
          <p:nvPr/>
        </p:nvSpPr>
        <p:spPr>
          <a:xfrm>
            <a:off x="1341575" y="5815006"/>
            <a:ext cx="2297167" cy="369332"/>
          </a:xfrm>
          <a:prstGeom prst="rect">
            <a:avLst/>
          </a:prstGeom>
        </p:spPr>
        <p:txBody>
          <a:bodyPr wrap="none">
            <a:spAutoFit/>
          </a:bodyPr>
          <a:lstStyle/>
          <a:p>
            <a:pPr fontAlgn="t"/>
            <a:r>
              <a:rPr lang="ru-RU" dirty="0"/>
              <a:t>Проекция Меркатора</a:t>
            </a:r>
          </a:p>
        </p:txBody>
      </p:sp>
      <p:pic>
        <p:nvPicPr>
          <p:cNvPr id="6" name="Рисунок 5" descr="http://eor.dgu.ru/lectures_f/%D0%9B%D0%B5%D0%BA%D1%86%D0%B8%D0%B8%20%D0%BF%D0%BE%20%D0%93%D0%98%D0%A1/lec5/r21.jpg"/>
          <p:cNvPicPr/>
          <p:nvPr/>
        </p:nvPicPr>
        <p:blipFill>
          <a:blip r:embed="rId4">
            <a:extLst>
              <a:ext uri="{28A0092B-C50C-407E-A947-70E740481C1C}">
                <a14:useLocalDpi xmlns:a14="http://schemas.microsoft.com/office/drawing/2010/main" val="0"/>
              </a:ext>
            </a:extLst>
          </a:blip>
          <a:srcRect/>
          <a:stretch>
            <a:fillRect/>
          </a:stretch>
        </p:blipFill>
        <p:spPr bwMode="auto">
          <a:xfrm>
            <a:off x="7713152" y="2067996"/>
            <a:ext cx="4346575" cy="2352675"/>
          </a:xfrm>
          <a:prstGeom prst="rect">
            <a:avLst/>
          </a:prstGeom>
          <a:noFill/>
          <a:ln>
            <a:noFill/>
          </a:ln>
        </p:spPr>
      </p:pic>
      <p:sp>
        <p:nvSpPr>
          <p:cNvPr id="7" name="Прямоугольник 6"/>
          <p:cNvSpPr/>
          <p:nvPr/>
        </p:nvSpPr>
        <p:spPr>
          <a:xfrm>
            <a:off x="7835012" y="4486538"/>
            <a:ext cx="4102854" cy="369332"/>
          </a:xfrm>
          <a:prstGeom prst="rect">
            <a:avLst/>
          </a:prstGeom>
        </p:spPr>
        <p:txBody>
          <a:bodyPr wrap="none">
            <a:spAutoFit/>
          </a:bodyPr>
          <a:lstStyle/>
          <a:p>
            <a:pPr fontAlgn="t"/>
            <a:r>
              <a:rPr lang="ru-RU" dirty="0"/>
              <a:t>Сравнение картографических проекций</a:t>
            </a:r>
          </a:p>
        </p:txBody>
      </p:sp>
      <p:pic>
        <p:nvPicPr>
          <p:cNvPr id="8" name="Рисунок 7" descr="http://eor.dgu.ru/lectures_f/%D0%9B%D0%B5%D0%BA%D1%86%D0%B8%D0%B8%20%D0%BF%D0%BE%20%D0%93%D0%98%D0%A1/lec5/r22.jpg"/>
          <p:cNvPicPr/>
          <p:nvPr/>
        </p:nvPicPr>
        <p:blipFill>
          <a:blip r:embed="rId5">
            <a:extLst>
              <a:ext uri="{28A0092B-C50C-407E-A947-70E740481C1C}">
                <a14:useLocalDpi xmlns:a14="http://schemas.microsoft.com/office/drawing/2010/main" val="0"/>
              </a:ext>
            </a:extLst>
          </a:blip>
          <a:srcRect/>
          <a:stretch>
            <a:fillRect/>
          </a:stretch>
        </p:blipFill>
        <p:spPr bwMode="auto">
          <a:xfrm>
            <a:off x="5584166" y="4771846"/>
            <a:ext cx="4923790" cy="1524000"/>
          </a:xfrm>
          <a:prstGeom prst="rect">
            <a:avLst/>
          </a:prstGeom>
          <a:noFill/>
          <a:ln>
            <a:noFill/>
          </a:ln>
        </p:spPr>
      </p:pic>
      <p:sp>
        <p:nvSpPr>
          <p:cNvPr id="9" name="Прямоугольник 8"/>
          <p:cNvSpPr/>
          <p:nvPr/>
        </p:nvSpPr>
        <p:spPr>
          <a:xfrm>
            <a:off x="8366590" y="6295846"/>
            <a:ext cx="2566985" cy="369332"/>
          </a:xfrm>
          <a:prstGeom prst="rect">
            <a:avLst/>
          </a:prstGeom>
        </p:spPr>
        <p:txBody>
          <a:bodyPr wrap="none">
            <a:spAutoFit/>
          </a:bodyPr>
          <a:lstStyle/>
          <a:p>
            <a:pPr fontAlgn="t"/>
            <a:r>
              <a:rPr lang="ru-RU" dirty="0"/>
              <a:t>Азимутальная проекция</a:t>
            </a:r>
          </a:p>
        </p:txBody>
      </p:sp>
      <p:sp>
        <p:nvSpPr>
          <p:cNvPr id="10" name="Прямоугольник с двумя вырезанными соседними углами 9"/>
          <p:cNvSpPr/>
          <p:nvPr/>
        </p:nvSpPr>
        <p:spPr>
          <a:xfrm>
            <a:off x="1000664" y="1418351"/>
            <a:ext cx="10739887" cy="4765987"/>
          </a:xfrm>
          <a:prstGeom prst="snip2Same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400" b="1" i="1" dirty="0"/>
              <a:t>Проекция Меркатора</a:t>
            </a:r>
            <a:r>
              <a:rPr lang="ru-RU" sz="2400" dirty="0"/>
              <a:t>, является равновеликой, то есть сохраняющей формы в пределах небольших площадей. Показания компасной стрелки в этой проекции также представляются точными.</a:t>
            </a:r>
            <a:br>
              <a:rPr lang="ru-RU" sz="2400" dirty="0"/>
            </a:br>
            <a:r>
              <a:rPr lang="ru-RU" sz="2400" b="1" i="1" dirty="0"/>
              <a:t>Проекция </a:t>
            </a:r>
            <a:r>
              <a:rPr lang="ru-RU" sz="2400" b="1" i="1" dirty="0" err="1"/>
              <a:t>Моллвейде</a:t>
            </a:r>
            <a:r>
              <a:rPr lang="ru-RU" sz="2400" b="1" i="1" dirty="0"/>
              <a:t> </a:t>
            </a:r>
            <a:r>
              <a:rPr lang="ru-RU" sz="2400" dirty="0"/>
              <a:t>является проекцией точных форм, то есть стремится к сохранению свойств формы объектов.</a:t>
            </a:r>
            <a:br>
              <a:rPr lang="ru-RU" sz="2400" dirty="0"/>
            </a:br>
            <a:r>
              <a:rPr lang="ru-RU" sz="2400" b="1" i="1" dirty="0"/>
              <a:t>Проекция Робинсона </a:t>
            </a:r>
            <a:r>
              <a:rPr lang="ru-RU" sz="2400" dirty="0"/>
              <a:t>представляет собой пример компромиссной проекции: она пытается уменьшить искажение по нескольким параметрам и то же время не сохраняет точность ни по одному из параметров. Проекция Робинсона уменьшает искажения формы и площади.</a:t>
            </a:r>
            <a:br>
              <a:rPr lang="ru-RU" sz="2400" dirty="0"/>
            </a:br>
            <a:r>
              <a:rPr lang="ru-RU" sz="2400" b="1" i="1" dirty="0"/>
              <a:t>Азимутальная проекция </a:t>
            </a:r>
            <a:r>
              <a:rPr lang="ru-RU" sz="2400" dirty="0"/>
              <a:t>является проекцией равных расстояний.</a:t>
            </a:r>
          </a:p>
        </p:txBody>
      </p:sp>
    </p:spTree>
    <p:extLst>
      <p:ext uri="{BB962C8B-B14F-4D97-AF65-F5344CB8AC3E}">
        <p14:creationId xmlns:p14="http://schemas.microsoft.com/office/powerpoint/2010/main" val="188124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850763" y="190583"/>
            <a:ext cx="5540043" cy="461665"/>
          </a:xfrm>
          <a:prstGeom prst="rect">
            <a:avLst/>
          </a:prstGeom>
        </p:spPr>
        <p:txBody>
          <a:bodyPr wrap="none">
            <a:spAutoFit/>
          </a:bodyPr>
          <a:lstStyle/>
          <a:p>
            <a:pPr fontAlgn="t"/>
            <a:r>
              <a:rPr lang="ru-RU" sz="2400" b="1" dirty="0"/>
              <a:t>Глобальная система позиционирования</a:t>
            </a:r>
          </a:p>
        </p:txBody>
      </p:sp>
      <p:sp>
        <p:nvSpPr>
          <p:cNvPr id="3" name="Прямоугольник 2"/>
          <p:cNvSpPr/>
          <p:nvPr/>
        </p:nvSpPr>
        <p:spPr>
          <a:xfrm>
            <a:off x="261668" y="797337"/>
            <a:ext cx="11418324" cy="2246769"/>
          </a:xfrm>
          <a:prstGeom prst="rect">
            <a:avLst/>
          </a:prstGeom>
        </p:spPr>
        <p:txBody>
          <a:bodyPr wrap="square">
            <a:spAutoFit/>
          </a:bodyPr>
          <a:lstStyle/>
          <a:p>
            <a:pPr fontAlgn="t"/>
            <a:r>
              <a:rPr lang="ru-RU" sz="2000" b="1" i="1" dirty="0" err="1"/>
              <a:t>Global</a:t>
            </a:r>
            <a:r>
              <a:rPr lang="ru-RU" sz="2000" b="1" i="1" dirty="0"/>
              <a:t> </a:t>
            </a:r>
            <a:r>
              <a:rPr lang="ru-RU" sz="2000" b="1" i="1" dirty="0" err="1"/>
              <a:t>Positioning</a:t>
            </a:r>
            <a:r>
              <a:rPr lang="ru-RU" sz="2000" b="1" i="1" dirty="0"/>
              <a:t> </a:t>
            </a:r>
            <a:r>
              <a:rPr lang="ru-RU" sz="2000" b="1" i="1" dirty="0" err="1"/>
              <a:t>System</a:t>
            </a:r>
            <a:r>
              <a:rPr lang="ru-RU" sz="2000" b="1" i="1" dirty="0"/>
              <a:t> - Глобальная Система Позиционирования</a:t>
            </a:r>
            <a:r>
              <a:rPr lang="ru-RU" sz="2000" dirty="0"/>
              <a:t>. Эта система состоит из сети спутников, которые в непрерывном режиме посылают электромагнитные сигналы на Землю. Используя специальный приемник такого излучения, измеряющий расстояние до спутников, можно с установленной точностью (от нескольких десятков километров до нескольких миллиметров) определить месторасположение объекта на земной поверхности. GPS была создана по заказу Министерства Обороны США в 1969 году и изначально состояла из 24 спутников, вращающихся по 6 круговым орбитам на высоте около 20.2 км над уровнем моря с наклонением 550</a:t>
            </a:r>
          </a:p>
        </p:txBody>
      </p:sp>
      <p:pic>
        <p:nvPicPr>
          <p:cNvPr id="4" name="Рисунок 3" descr="http://eor.dgu.ru/lectures_f/%D0%9B%D0%B5%D0%BA%D1%86%D0%B8%D0%B8%20%D0%BF%D0%BE%20%D0%93%D0%98%D0%A1/lec5/r23.jpg"/>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194558"/>
            <a:ext cx="3611245" cy="2867025"/>
          </a:xfrm>
          <a:prstGeom prst="rect">
            <a:avLst/>
          </a:prstGeom>
          <a:noFill/>
          <a:ln>
            <a:noFill/>
          </a:ln>
        </p:spPr>
      </p:pic>
    </p:spTree>
    <p:extLst>
      <p:ext uri="{BB962C8B-B14F-4D97-AF65-F5344CB8AC3E}">
        <p14:creationId xmlns:p14="http://schemas.microsoft.com/office/powerpoint/2010/main" val="26742872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38023" y="-79653"/>
            <a:ext cx="11740551" cy="4524315"/>
          </a:xfrm>
          <a:prstGeom prst="rect">
            <a:avLst/>
          </a:prstGeom>
        </p:spPr>
        <p:txBody>
          <a:bodyPr wrap="square">
            <a:spAutoFit/>
          </a:bodyPr>
          <a:lstStyle/>
          <a:p>
            <a:pPr fontAlgn="t"/>
            <a:r>
              <a:rPr lang="ru-RU" dirty="0"/>
              <a:t>Каждый современный спутник на своем борту несёт ряд высокотехнологического оборудования, основу которого составляют:</a:t>
            </a:r>
            <a:br>
              <a:rPr lang="ru-RU" dirty="0"/>
            </a:br>
            <a:r>
              <a:rPr lang="ru-RU" dirty="0"/>
              <a:t>• четверо атомных часов;</a:t>
            </a:r>
            <a:br>
              <a:rPr lang="ru-RU" dirty="0"/>
            </a:br>
            <a:r>
              <a:rPr lang="ru-RU" dirty="0"/>
              <a:t>• три кадмий-никелевые батареи;</a:t>
            </a:r>
            <a:br>
              <a:rPr lang="ru-RU" dirty="0"/>
            </a:br>
            <a:r>
              <a:rPr lang="ru-RU" dirty="0"/>
              <a:t>• две солнечные батареи мощностью 1136 Вт;</a:t>
            </a:r>
            <a:br>
              <a:rPr lang="ru-RU" dirty="0"/>
            </a:br>
            <a:r>
              <a:rPr lang="ru-RU" dirty="0"/>
              <a:t>• антенна коротковолнового диапазона для управления спутником;</a:t>
            </a:r>
            <a:br>
              <a:rPr lang="ru-RU" dirty="0"/>
            </a:br>
            <a:r>
              <a:rPr lang="ru-RU" dirty="0"/>
              <a:t>• 12-ти элементная антенна длинноволнового диапазона для связи с пользователем.</a:t>
            </a:r>
            <a:br>
              <a:rPr lang="ru-RU" dirty="0"/>
            </a:br>
            <a:r>
              <a:rPr lang="ru-RU" dirty="0"/>
              <a:t>В настоящее время используются GPS-приемники, размер которых сравним с размером сотового телефона, а вес составляет несколько сотен граммов. При этом GPS-приемник сообщает пользователю не только координаты нахождения (широта и долгота), но и отображает местоположение на электронной карте наряду с городами, транспортными магистралями и многими другими объектами.</a:t>
            </a:r>
            <a:br>
              <a:rPr lang="ru-RU" dirty="0"/>
            </a:br>
            <a:r>
              <a:rPr lang="ru-RU" dirty="0"/>
              <a:t>Кроме определения трех текущих координат (долгота, широта и высота над уровнем моря) GPS обеспечивает:</a:t>
            </a:r>
            <a:br>
              <a:rPr lang="ru-RU" dirty="0"/>
            </a:br>
            <a:r>
              <a:rPr lang="ru-RU" dirty="0"/>
              <a:t>• определение трех составляющих скорости объекта;</a:t>
            </a:r>
            <a:br>
              <a:rPr lang="ru-RU" dirty="0"/>
            </a:br>
            <a:r>
              <a:rPr lang="ru-RU" dirty="0"/>
              <a:t>• определение точного времени с точностью не менее 0.1 с;</a:t>
            </a:r>
            <a:br>
              <a:rPr lang="ru-RU" dirty="0"/>
            </a:br>
            <a:r>
              <a:rPr lang="ru-RU" dirty="0"/>
              <a:t>• вычисление истинного путевого угла объекта;</a:t>
            </a:r>
            <a:br>
              <a:rPr lang="ru-RU" dirty="0"/>
            </a:br>
            <a:r>
              <a:rPr lang="ru-RU" dirty="0"/>
              <a:t>прием и обработку вспомогательной информации.</a:t>
            </a:r>
          </a:p>
        </p:txBody>
      </p:sp>
      <p:pic>
        <p:nvPicPr>
          <p:cNvPr id="3" name="Рисунок 2" descr="http://eor.dgu.ru/lectures_f/%D0%9B%D0%B5%D0%BA%D1%86%D0%B8%D0%B8%20%D0%BF%D0%BE%20%D0%93%D0%98%D0%A1/lec5/r24.jpg"/>
          <p:cNvPicPr/>
          <p:nvPr/>
        </p:nvPicPr>
        <p:blipFill>
          <a:blip r:embed="rId2">
            <a:extLst>
              <a:ext uri="{28A0092B-C50C-407E-A947-70E740481C1C}">
                <a14:useLocalDpi xmlns:a14="http://schemas.microsoft.com/office/drawing/2010/main" val="0"/>
              </a:ext>
            </a:extLst>
          </a:blip>
          <a:srcRect/>
          <a:stretch>
            <a:fillRect/>
          </a:stretch>
        </p:blipFill>
        <p:spPr bwMode="auto">
          <a:xfrm>
            <a:off x="7105200" y="3596137"/>
            <a:ext cx="4848225" cy="2857500"/>
          </a:xfrm>
          <a:prstGeom prst="rect">
            <a:avLst/>
          </a:prstGeom>
          <a:noFill/>
          <a:ln>
            <a:noFill/>
          </a:ln>
        </p:spPr>
      </p:pic>
    </p:spTree>
    <p:extLst>
      <p:ext uri="{BB962C8B-B14F-4D97-AF65-F5344CB8AC3E}">
        <p14:creationId xmlns:p14="http://schemas.microsoft.com/office/powerpoint/2010/main" val="3683071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eor.dgu.ru/lectures_f/%D0%9B%D0%B5%D0%BA%D1%86%D0%B8%D0%B8%20%D0%BF%D0%BE%20%D0%93%D0%98%D0%A1/lec5/r25.jpg"/>
          <p:cNvPicPr/>
          <p:nvPr/>
        </p:nvPicPr>
        <p:blipFill>
          <a:blip r:embed="rId2">
            <a:extLst>
              <a:ext uri="{28A0092B-C50C-407E-A947-70E740481C1C}">
                <a14:useLocalDpi xmlns:a14="http://schemas.microsoft.com/office/drawing/2010/main" val="0"/>
              </a:ext>
            </a:extLst>
          </a:blip>
          <a:srcRect/>
          <a:stretch>
            <a:fillRect/>
          </a:stretch>
        </p:blipFill>
        <p:spPr bwMode="auto">
          <a:xfrm>
            <a:off x="0" y="233812"/>
            <a:ext cx="4860290" cy="4095750"/>
          </a:xfrm>
          <a:prstGeom prst="rect">
            <a:avLst/>
          </a:prstGeom>
          <a:noFill/>
          <a:ln>
            <a:noFill/>
          </a:ln>
        </p:spPr>
      </p:pic>
      <p:sp>
        <p:nvSpPr>
          <p:cNvPr id="3" name="Прямоугольник 2"/>
          <p:cNvSpPr/>
          <p:nvPr/>
        </p:nvSpPr>
        <p:spPr>
          <a:xfrm>
            <a:off x="5489275" y="814113"/>
            <a:ext cx="6096000" cy="4401205"/>
          </a:xfrm>
          <a:prstGeom prst="rect">
            <a:avLst/>
          </a:prstGeom>
        </p:spPr>
        <p:txBody>
          <a:bodyPr>
            <a:spAutoFit/>
          </a:bodyPr>
          <a:lstStyle/>
          <a:p>
            <a:pPr fontAlgn="t"/>
            <a:r>
              <a:rPr lang="ru-RU" sz="2000" dirty="0"/>
              <a:t>Области применения GPS чрезвычайно широки. Это и навигация любых подвижных объектов - частных автомобилей, инкассаторских машин, кораблей и самолетов. Землеустроительные задачи, картография и координирование строительных объектов относятся к такой группе приложений, как измерение Земли и ее поверхности. Здесь могут использоваться не только отдельные приемники, но и целые измерительно-вычислительные комплексы, точность измерений которыми доходит до долей сантиметра. На основе сочетания возможностей GPS и других технических средств создаются информационно-измерительные системы, позволяющие получать новые качества в решении старых задач.</a:t>
            </a:r>
          </a:p>
        </p:txBody>
      </p:sp>
    </p:spTree>
    <p:extLst>
      <p:ext uri="{BB962C8B-B14F-4D97-AF65-F5344CB8AC3E}">
        <p14:creationId xmlns:p14="http://schemas.microsoft.com/office/powerpoint/2010/main" val="22223382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01925" y="239047"/>
            <a:ext cx="11602528" cy="5324535"/>
          </a:xfrm>
          <a:prstGeom prst="rect">
            <a:avLst/>
          </a:prstGeom>
        </p:spPr>
        <p:txBody>
          <a:bodyPr wrap="square">
            <a:spAutoFit/>
          </a:bodyPr>
          <a:lstStyle/>
          <a:p>
            <a:pPr fontAlgn="t"/>
            <a:r>
              <a:rPr lang="ru-RU" sz="2000" b="1" i="1" dirty="0"/>
              <a:t>Основные функциональные особенности системы </a:t>
            </a:r>
            <a:r>
              <a:rPr lang="ru-RU" sz="2000" b="1" i="1" dirty="0" err="1"/>
              <a:t>Axiom</a:t>
            </a:r>
            <a:r>
              <a:rPr lang="ru-RU" sz="2000" b="1" i="1" dirty="0"/>
              <a:t>. </a:t>
            </a:r>
            <a:r>
              <a:rPr lang="ru-RU" sz="2000" b="1" i="1" dirty="0" err="1"/>
              <a:t>Logistics</a:t>
            </a:r>
            <a:r>
              <a:rPr lang="ru-RU" sz="2000" b="1" i="1" dirty="0"/>
              <a:t>:</a:t>
            </a:r>
            <a:br>
              <a:rPr lang="ru-RU" sz="2000" b="1" i="1" dirty="0"/>
            </a:br>
            <a:r>
              <a:rPr lang="ru-RU" sz="2000" dirty="0"/>
              <a:t>• Оперативное получение информации о местоположении каждого </a:t>
            </a:r>
            <a:r>
              <a:rPr lang="ru-RU" sz="2000" dirty="0" err="1"/>
              <a:t>транс¬портного</a:t>
            </a:r>
            <a:r>
              <a:rPr lang="ru-RU" sz="2000" dirty="0"/>
              <a:t> средства и груза;</a:t>
            </a:r>
            <a:br>
              <a:rPr lang="ru-RU" sz="2000" dirty="0"/>
            </a:br>
            <a:r>
              <a:rPr lang="ru-RU" sz="2000" dirty="0"/>
              <a:t>• Доступ через </a:t>
            </a:r>
            <a:r>
              <a:rPr lang="ru-RU" sz="2000" dirty="0" err="1"/>
              <a:t>web</a:t>
            </a:r>
            <a:r>
              <a:rPr lang="ru-RU" sz="2000" dirty="0"/>
              <a:t>-интерфейс </a:t>
            </a:r>
            <a:r>
              <a:rPr lang="ru-RU" sz="2000" dirty="0" err="1"/>
              <a:t>Axiom.Logistics</a:t>
            </a:r>
            <a:r>
              <a:rPr lang="ru-RU" sz="2000" dirty="0"/>
              <a:t> к карте с координатами и маршрутом транспортного средства;</a:t>
            </a:r>
            <a:br>
              <a:rPr lang="ru-RU" sz="2000" dirty="0"/>
            </a:br>
            <a:r>
              <a:rPr lang="ru-RU" sz="2000" dirty="0"/>
              <a:t>• Контроль графика и точности прохождения маршрута;</a:t>
            </a:r>
            <a:br>
              <a:rPr lang="ru-RU" sz="2000" dirty="0"/>
            </a:br>
            <a:r>
              <a:rPr lang="ru-RU" sz="2000" dirty="0"/>
              <a:t>• Возможность экстренной связи с транспортным средством;</a:t>
            </a:r>
            <a:br>
              <a:rPr lang="ru-RU" sz="2000" dirty="0"/>
            </a:br>
            <a:r>
              <a:rPr lang="ru-RU" sz="2000" dirty="0"/>
              <a:t>• Ведение базы данных клиентов, перевозчиков, транспортных средств и грузчиков в </a:t>
            </a:r>
            <a:r>
              <a:rPr lang="ru-RU" sz="2000" dirty="0" err="1"/>
              <a:t>Axiom.Logistics</a:t>
            </a:r>
            <a:r>
              <a:rPr lang="ru-RU" sz="2000" dirty="0"/>
              <a:t>;</a:t>
            </a:r>
            <a:br>
              <a:rPr lang="ru-RU" sz="2000" dirty="0"/>
            </a:br>
            <a:r>
              <a:rPr lang="ru-RU" sz="2000" dirty="0"/>
              <a:t>• Автоматизация процедуры оформления транспортных и таможенных документов в </a:t>
            </a:r>
            <a:r>
              <a:rPr lang="ru-RU" sz="2000" dirty="0" err="1"/>
              <a:t>Axiom.Logistics</a:t>
            </a:r>
            <a:r>
              <a:rPr lang="ru-RU" sz="2000" dirty="0"/>
              <a:t>;</a:t>
            </a:r>
            <a:br>
              <a:rPr lang="ru-RU" sz="2000" dirty="0"/>
            </a:br>
            <a:r>
              <a:rPr lang="ru-RU" sz="2000" dirty="0"/>
              <a:t>• Надежность системы, определяемая зрелостью технологий GPS и GSM;</a:t>
            </a:r>
            <a:br>
              <a:rPr lang="ru-RU" sz="2000" dirty="0"/>
            </a:br>
            <a:r>
              <a:rPr lang="ru-RU" sz="2000" dirty="0"/>
              <a:t>• Низкие затраты на оборудование (используется стандартное оборудование);</a:t>
            </a:r>
            <a:br>
              <a:rPr lang="ru-RU" sz="2000" dirty="0"/>
            </a:br>
            <a:r>
              <a:rPr lang="ru-RU" sz="2000" dirty="0"/>
              <a:t>• Низкие затраты на обмен информацией (используется дешевый SMS- трафик + специальный тариф);</a:t>
            </a:r>
            <a:br>
              <a:rPr lang="ru-RU" sz="2000" dirty="0"/>
            </a:br>
            <a:r>
              <a:rPr lang="ru-RU" sz="2000" dirty="0"/>
              <a:t>• Безопасность доступа к данным </a:t>
            </a:r>
            <a:r>
              <a:rPr lang="ru-RU" sz="2000" dirty="0" err="1"/>
              <a:t>Axiom.Logistics</a:t>
            </a:r>
            <a:r>
              <a:rPr lang="ru-RU" sz="2000" dirty="0"/>
              <a:t>;</a:t>
            </a:r>
            <a:br>
              <a:rPr lang="ru-RU" sz="2000" dirty="0"/>
            </a:br>
            <a:r>
              <a:rPr lang="ru-RU" sz="2000" dirty="0"/>
              <a:t>• Комплексное </a:t>
            </a:r>
            <a:r>
              <a:rPr lang="ru-RU" sz="2000" dirty="0" err="1"/>
              <a:t>web</a:t>
            </a:r>
            <a:r>
              <a:rPr lang="ru-RU" sz="2000" dirty="0"/>
              <a:t>-решение;</a:t>
            </a:r>
            <a:br>
              <a:rPr lang="ru-RU" sz="2000" dirty="0"/>
            </a:br>
            <a:r>
              <a:rPr lang="ru-RU" sz="2000" dirty="0"/>
              <a:t>• GPS/GSM - устройство в транспортном средстве;</a:t>
            </a:r>
            <a:br>
              <a:rPr lang="ru-RU" sz="2000" dirty="0"/>
            </a:br>
            <a:r>
              <a:rPr lang="ru-RU" sz="2000" dirty="0"/>
              <a:t>• Операторский центр приема и обработки SMS-сообщений при движении по маршруту в </a:t>
            </a:r>
            <a:r>
              <a:rPr lang="ru-RU" sz="2000" dirty="0" err="1"/>
              <a:t>Axiom.Logistics</a:t>
            </a:r>
            <a:r>
              <a:rPr lang="ru-RU" sz="2000" dirty="0"/>
              <a:t>;</a:t>
            </a:r>
            <a:br>
              <a:rPr lang="ru-RU" sz="2000" dirty="0"/>
            </a:br>
            <a:r>
              <a:rPr lang="ru-RU" sz="2000" dirty="0"/>
              <a:t>• Сервер анализа и визуализации данных (SMS - сообщений).</a:t>
            </a:r>
          </a:p>
        </p:txBody>
      </p:sp>
    </p:spTree>
    <p:extLst>
      <p:ext uri="{BB962C8B-B14F-4D97-AF65-F5344CB8AC3E}">
        <p14:creationId xmlns:p14="http://schemas.microsoft.com/office/powerpoint/2010/main" val="9549359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body" idx="1"/>
          </p:nvPr>
        </p:nvSpPr>
        <p:spPr>
          <a:xfrm>
            <a:off x="2208214" y="1700213"/>
            <a:ext cx="1811337" cy="533400"/>
          </a:xfrm>
        </p:spPr>
        <p:txBody>
          <a:bodyPr/>
          <a:lstStyle/>
          <a:p>
            <a:pPr>
              <a:buFontTx/>
              <a:buNone/>
            </a:pPr>
            <a:r>
              <a:rPr lang="ru-RU">
                <a:solidFill>
                  <a:srgbClr val="C0C0C0"/>
                </a:solidFill>
              </a:rPr>
              <a:t>Спасибо</a:t>
            </a:r>
          </a:p>
        </p:txBody>
      </p:sp>
      <p:sp>
        <p:nvSpPr>
          <p:cNvPr id="36866" name="Rectangle 3"/>
          <p:cNvSpPr>
            <a:spLocks noChangeArrowheads="1"/>
          </p:cNvSpPr>
          <p:nvPr/>
        </p:nvSpPr>
        <p:spPr bwMode="auto">
          <a:xfrm rot="-1966961">
            <a:off x="4249739" y="1474788"/>
            <a:ext cx="237648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67" name="Rectangle 4"/>
          <p:cNvSpPr>
            <a:spLocks noChangeArrowheads="1"/>
          </p:cNvSpPr>
          <p:nvPr/>
        </p:nvSpPr>
        <p:spPr bwMode="auto">
          <a:xfrm rot="1339931">
            <a:off x="3287714" y="3429000"/>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8" name="Rectangle 5"/>
          <p:cNvSpPr>
            <a:spLocks noChangeArrowheads="1"/>
          </p:cNvSpPr>
          <p:nvPr/>
        </p:nvSpPr>
        <p:spPr bwMode="auto">
          <a:xfrm rot="932178">
            <a:off x="5016500" y="2347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9" name="Rectangle 6"/>
          <p:cNvSpPr>
            <a:spLocks noChangeArrowheads="1"/>
          </p:cNvSpPr>
          <p:nvPr/>
        </p:nvSpPr>
        <p:spPr bwMode="auto">
          <a:xfrm>
            <a:off x="6024564" y="30686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0" name="Rectangle 7"/>
          <p:cNvSpPr>
            <a:spLocks noChangeArrowheads="1"/>
          </p:cNvSpPr>
          <p:nvPr/>
        </p:nvSpPr>
        <p:spPr bwMode="auto">
          <a:xfrm rot="-634205">
            <a:off x="2063751" y="2060575"/>
            <a:ext cx="28797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71" name="Rectangle 8"/>
          <p:cNvSpPr>
            <a:spLocks noChangeArrowheads="1"/>
          </p:cNvSpPr>
          <p:nvPr/>
        </p:nvSpPr>
        <p:spPr bwMode="auto">
          <a:xfrm>
            <a:off x="6743700" y="14843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2" name="Rectangle 9"/>
          <p:cNvSpPr>
            <a:spLocks noChangeArrowheads="1"/>
          </p:cNvSpPr>
          <p:nvPr/>
        </p:nvSpPr>
        <p:spPr bwMode="auto">
          <a:xfrm rot="-2708425">
            <a:off x="1353344" y="1331119"/>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3" name="Rectangle 10"/>
          <p:cNvSpPr>
            <a:spLocks noChangeArrowheads="1"/>
          </p:cNvSpPr>
          <p:nvPr/>
        </p:nvSpPr>
        <p:spPr bwMode="auto">
          <a:xfrm rot="-1124404">
            <a:off x="7175500" y="44370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4" name="Rectangle 11"/>
          <p:cNvSpPr>
            <a:spLocks noChangeArrowheads="1"/>
          </p:cNvSpPr>
          <p:nvPr/>
        </p:nvSpPr>
        <p:spPr bwMode="auto">
          <a:xfrm>
            <a:off x="2486025" y="34655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75" name="Rectangle 12"/>
          <p:cNvSpPr>
            <a:spLocks noChangeArrowheads="1"/>
          </p:cNvSpPr>
          <p:nvPr/>
        </p:nvSpPr>
        <p:spPr bwMode="auto">
          <a:xfrm rot="-1966961">
            <a:off x="3000375" y="6207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6" name="Rectangle 13"/>
          <p:cNvSpPr>
            <a:spLocks noChangeArrowheads="1"/>
          </p:cNvSpPr>
          <p:nvPr/>
        </p:nvSpPr>
        <p:spPr bwMode="auto">
          <a:xfrm rot="1339931">
            <a:off x="3071814"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7" name="Rectangle 14"/>
          <p:cNvSpPr>
            <a:spLocks noChangeArrowheads="1"/>
          </p:cNvSpPr>
          <p:nvPr/>
        </p:nvSpPr>
        <p:spPr bwMode="auto">
          <a:xfrm rot="932178">
            <a:off x="5521325" y="4357688"/>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8" name="Rectangle 15"/>
          <p:cNvSpPr>
            <a:spLocks noChangeArrowheads="1"/>
          </p:cNvSpPr>
          <p:nvPr/>
        </p:nvSpPr>
        <p:spPr bwMode="auto">
          <a:xfrm>
            <a:off x="6529389"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9" name="Rectangle 16"/>
          <p:cNvSpPr>
            <a:spLocks noChangeArrowheads="1"/>
          </p:cNvSpPr>
          <p:nvPr/>
        </p:nvSpPr>
        <p:spPr bwMode="auto">
          <a:xfrm rot="-634205">
            <a:off x="3144839" y="414178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0" name="Rectangle 17"/>
          <p:cNvSpPr>
            <a:spLocks noChangeArrowheads="1"/>
          </p:cNvSpPr>
          <p:nvPr/>
        </p:nvSpPr>
        <p:spPr bwMode="auto">
          <a:xfrm rot="932178">
            <a:off x="7608889" y="35718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1" name="Rectangle 18"/>
          <p:cNvSpPr>
            <a:spLocks noChangeArrowheads="1"/>
          </p:cNvSpPr>
          <p:nvPr/>
        </p:nvSpPr>
        <p:spPr bwMode="auto">
          <a:xfrm rot="-2708425">
            <a:off x="4945857" y="4933157"/>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2" name="Rectangle 19"/>
          <p:cNvSpPr>
            <a:spLocks noChangeArrowheads="1"/>
          </p:cNvSpPr>
          <p:nvPr/>
        </p:nvSpPr>
        <p:spPr bwMode="auto">
          <a:xfrm rot="-2055057">
            <a:off x="8616950" y="55895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3" name="Rectangle 20"/>
          <p:cNvSpPr>
            <a:spLocks noChangeArrowheads="1"/>
          </p:cNvSpPr>
          <p:nvPr/>
        </p:nvSpPr>
        <p:spPr bwMode="auto">
          <a:xfrm rot="-1966961">
            <a:off x="8856664" y="21320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84" name="Rectangle 21"/>
          <p:cNvSpPr>
            <a:spLocks noChangeArrowheads="1"/>
          </p:cNvSpPr>
          <p:nvPr/>
        </p:nvSpPr>
        <p:spPr bwMode="auto">
          <a:xfrm rot="932178">
            <a:off x="7535864" y="22764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5" name="Rectangle 22"/>
          <p:cNvSpPr>
            <a:spLocks noChangeArrowheads="1"/>
          </p:cNvSpPr>
          <p:nvPr/>
        </p:nvSpPr>
        <p:spPr bwMode="auto">
          <a:xfrm>
            <a:off x="8543925" y="299720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6" name="Rectangle 23"/>
          <p:cNvSpPr>
            <a:spLocks noChangeArrowheads="1"/>
          </p:cNvSpPr>
          <p:nvPr/>
        </p:nvSpPr>
        <p:spPr bwMode="auto">
          <a:xfrm rot="550398">
            <a:off x="5664200" y="19161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thanks</a:t>
            </a:r>
          </a:p>
        </p:txBody>
      </p:sp>
      <p:sp>
        <p:nvSpPr>
          <p:cNvPr id="36887" name="Rectangle 24"/>
          <p:cNvSpPr>
            <a:spLocks noChangeArrowheads="1"/>
          </p:cNvSpPr>
          <p:nvPr/>
        </p:nvSpPr>
        <p:spPr bwMode="auto">
          <a:xfrm>
            <a:off x="5005389" y="3394075"/>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88" name="Rectangle 25"/>
          <p:cNvSpPr>
            <a:spLocks noChangeArrowheads="1"/>
          </p:cNvSpPr>
          <p:nvPr/>
        </p:nvSpPr>
        <p:spPr bwMode="auto">
          <a:xfrm rot="1339931">
            <a:off x="4151314" y="47244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89" name="Rectangle 26"/>
          <p:cNvSpPr>
            <a:spLocks noChangeArrowheads="1"/>
          </p:cNvSpPr>
          <p:nvPr/>
        </p:nvSpPr>
        <p:spPr bwMode="auto">
          <a:xfrm rot="-1966961">
            <a:off x="3333750" y="23495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0" name="Rectangle 27"/>
          <p:cNvSpPr>
            <a:spLocks noChangeArrowheads="1"/>
          </p:cNvSpPr>
          <p:nvPr/>
        </p:nvSpPr>
        <p:spPr bwMode="auto">
          <a:xfrm rot="932178">
            <a:off x="6240464" y="37163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1" name="Rectangle 28"/>
          <p:cNvSpPr>
            <a:spLocks noChangeArrowheads="1"/>
          </p:cNvSpPr>
          <p:nvPr/>
        </p:nvSpPr>
        <p:spPr bwMode="auto">
          <a:xfrm>
            <a:off x="6888164" y="25638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2" name="Rectangle 29"/>
          <p:cNvSpPr>
            <a:spLocks noChangeArrowheads="1"/>
          </p:cNvSpPr>
          <p:nvPr/>
        </p:nvSpPr>
        <p:spPr bwMode="auto">
          <a:xfrm rot="-634205">
            <a:off x="1524000" y="27082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3" name="Rectangle 30"/>
          <p:cNvSpPr>
            <a:spLocks noChangeArrowheads="1"/>
          </p:cNvSpPr>
          <p:nvPr/>
        </p:nvSpPr>
        <p:spPr bwMode="auto">
          <a:xfrm>
            <a:off x="1524000" y="40767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4" name="Rectangle 31"/>
          <p:cNvSpPr>
            <a:spLocks noChangeArrowheads="1"/>
          </p:cNvSpPr>
          <p:nvPr/>
        </p:nvSpPr>
        <p:spPr bwMode="auto">
          <a:xfrm rot="1339931">
            <a:off x="1524000" y="59483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5" name="Rectangle 32"/>
          <p:cNvSpPr>
            <a:spLocks noChangeArrowheads="1"/>
          </p:cNvSpPr>
          <p:nvPr/>
        </p:nvSpPr>
        <p:spPr bwMode="auto">
          <a:xfrm>
            <a:off x="2351089" y="5516563"/>
            <a:ext cx="1811337" cy="533400"/>
          </a:xfrm>
          <a:prstGeom prst="rect">
            <a:avLst/>
          </a:prstGeom>
          <a:noFill/>
          <a:ln w="9525">
            <a:noFill/>
            <a:miter lim="800000"/>
            <a:headEnd/>
            <a:tailEnd/>
          </a:ln>
        </p:spPr>
        <p:txBody>
          <a:bodyPr/>
          <a:lstStyle/>
          <a:p>
            <a:pPr marL="342900" indent="-342900" eaLnBrk="0" hangingPunct="0">
              <a:spcBef>
                <a:spcPct val="20000"/>
              </a:spcBef>
            </a:pPr>
            <a:r>
              <a:rPr lang="en-US" sz="3200">
                <a:solidFill>
                  <a:srgbClr val="C0C0C0"/>
                </a:solidFill>
              </a:rPr>
              <a:t>thanks</a:t>
            </a:r>
            <a:endParaRPr lang="ru-RU" sz="3200">
              <a:solidFill>
                <a:srgbClr val="C0C0C0"/>
              </a:solidFill>
            </a:endParaRPr>
          </a:p>
        </p:txBody>
      </p:sp>
      <p:sp>
        <p:nvSpPr>
          <p:cNvPr id="36896" name="Rectangle 33"/>
          <p:cNvSpPr>
            <a:spLocks noChangeArrowheads="1"/>
          </p:cNvSpPr>
          <p:nvPr/>
        </p:nvSpPr>
        <p:spPr bwMode="auto">
          <a:xfrm>
            <a:off x="6743700" y="60213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7" name="Rectangle 34"/>
          <p:cNvSpPr>
            <a:spLocks noChangeArrowheads="1"/>
          </p:cNvSpPr>
          <p:nvPr/>
        </p:nvSpPr>
        <p:spPr bwMode="auto">
          <a:xfrm rot="932178">
            <a:off x="7896225" y="51562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8" name="Rectangle 35"/>
          <p:cNvSpPr>
            <a:spLocks noChangeArrowheads="1"/>
          </p:cNvSpPr>
          <p:nvPr/>
        </p:nvSpPr>
        <p:spPr bwMode="auto">
          <a:xfrm rot="-634205">
            <a:off x="4943476" y="5589588"/>
            <a:ext cx="24479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9" name="Rectangle 36"/>
          <p:cNvSpPr>
            <a:spLocks noChangeArrowheads="1"/>
          </p:cNvSpPr>
          <p:nvPr/>
        </p:nvSpPr>
        <p:spPr bwMode="auto">
          <a:xfrm rot="-1966961">
            <a:off x="3478214" y="5805488"/>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0" name="Rectangle 37"/>
          <p:cNvSpPr>
            <a:spLocks noGrp="1" noChangeArrowheads="1"/>
          </p:cNvSpPr>
          <p:nvPr>
            <p:ph type="title"/>
          </p:nvPr>
        </p:nvSpPr>
        <p:spPr>
          <a:xfrm>
            <a:off x="2063750" y="2492376"/>
            <a:ext cx="8229600" cy="1439863"/>
          </a:xfrm>
        </p:spPr>
        <p:txBody>
          <a:bodyPr/>
          <a:lstStyle/>
          <a:p>
            <a:r>
              <a:rPr lang="ru-RU" sz="4800" b="1">
                <a:solidFill>
                  <a:srgbClr val="000099"/>
                </a:solidFill>
              </a:rPr>
              <a:t>Спасибо за внимание!</a:t>
            </a:r>
          </a:p>
        </p:txBody>
      </p:sp>
      <p:sp>
        <p:nvSpPr>
          <p:cNvPr id="36901" name="Rectangle 38"/>
          <p:cNvSpPr>
            <a:spLocks noChangeArrowheads="1"/>
          </p:cNvSpPr>
          <p:nvPr/>
        </p:nvSpPr>
        <p:spPr bwMode="auto">
          <a:xfrm>
            <a:off x="184785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2" name="Rectangle 39"/>
          <p:cNvSpPr>
            <a:spLocks noChangeArrowheads="1"/>
          </p:cNvSpPr>
          <p:nvPr/>
        </p:nvSpPr>
        <p:spPr bwMode="auto">
          <a:xfrm rot="-1966961">
            <a:off x="674370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3" name="Rectangle 40"/>
          <p:cNvSpPr>
            <a:spLocks noChangeArrowheads="1"/>
          </p:cNvSpPr>
          <p:nvPr/>
        </p:nvSpPr>
        <p:spPr bwMode="auto">
          <a:xfrm rot="932178">
            <a:off x="8543925"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4" name="Rectangle 41"/>
          <p:cNvSpPr>
            <a:spLocks noChangeArrowheads="1"/>
          </p:cNvSpPr>
          <p:nvPr/>
        </p:nvSpPr>
        <p:spPr bwMode="auto">
          <a:xfrm rot="-634205">
            <a:off x="5303839" y="8366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5" name="Rectangle 42"/>
          <p:cNvSpPr>
            <a:spLocks noChangeArrowheads="1"/>
          </p:cNvSpPr>
          <p:nvPr/>
        </p:nvSpPr>
        <p:spPr bwMode="auto">
          <a:xfrm rot="-1966961">
            <a:off x="3719514" y="112395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906" name="Rectangle 43"/>
          <p:cNvSpPr>
            <a:spLocks noChangeArrowheads="1"/>
          </p:cNvSpPr>
          <p:nvPr/>
        </p:nvSpPr>
        <p:spPr bwMode="auto">
          <a:xfrm rot="1073047">
            <a:off x="7535864" y="10525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7" name="Rectangle 44"/>
          <p:cNvSpPr>
            <a:spLocks noChangeArrowheads="1"/>
          </p:cNvSpPr>
          <p:nvPr/>
        </p:nvSpPr>
        <p:spPr bwMode="auto">
          <a:xfrm rot="-1124404">
            <a:off x="8856664" y="42926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908" name="Rectangle 45"/>
          <p:cNvSpPr>
            <a:spLocks noChangeArrowheads="1"/>
          </p:cNvSpPr>
          <p:nvPr/>
        </p:nvSpPr>
        <p:spPr bwMode="auto">
          <a:xfrm rot="-1966961">
            <a:off x="8129589" y="1374775"/>
            <a:ext cx="24844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909" name="Rectangle 46"/>
          <p:cNvSpPr>
            <a:spLocks noChangeArrowheads="1"/>
          </p:cNvSpPr>
          <p:nvPr/>
        </p:nvSpPr>
        <p:spPr bwMode="auto">
          <a:xfrm rot="-634205">
            <a:off x="4800600" y="188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10" name="Rectangle 47"/>
          <p:cNvSpPr>
            <a:spLocks noChangeArrowheads="1"/>
          </p:cNvSpPr>
          <p:nvPr/>
        </p:nvSpPr>
        <p:spPr bwMode="auto">
          <a:xfrm rot="932178">
            <a:off x="8975725" y="35718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Tree>
    <p:extLst>
      <p:ext uri="{BB962C8B-B14F-4D97-AF65-F5344CB8AC3E}">
        <p14:creationId xmlns:p14="http://schemas.microsoft.com/office/powerpoint/2010/main" val="953922217"/>
      </p:ext>
    </p:extLst>
  </p:cSld>
  <p:clrMapOvr>
    <a:masterClrMapping/>
  </p:clrMapOvr>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753</TotalTime>
  <Words>5289</Words>
  <Application>Microsoft Office PowerPoint</Application>
  <PresentationFormat>Широкоэкранный</PresentationFormat>
  <Paragraphs>276</Paragraphs>
  <Slides>95</Slides>
  <Notes>3</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95</vt:i4>
      </vt:variant>
    </vt:vector>
  </HeadingPairs>
  <TitlesOfParts>
    <vt:vector size="103" baseType="lpstr">
      <vt:lpstr>Arial</vt:lpstr>
      <vt:lpstr>Calibri</vt:lpstr>
      <vt:lpstr>Calibri Light</vt:lpstr>
      <vt:lpstr>Symbol</vt:lpstr>
      <vt:lpstr>Tahoma</vt:lpstr>
      <vt:lpstr>Times New Roman</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 Информационно-вычислительные и ситуационные центры в государственном и региональном управлении.</dc:title>
  <dc:creator>Андрей Руфеев</dc:creator>
  <cp:lastModifiedBy>cluser</cp:lastModifiedBy>
  <cp:revision>72</cp:revision>
  <dcterms:created xsi:type="dcterms:W3CDTF">2021-10-24T19:59:40Z</dcterms:created>
  <dcterms:modified xsi:type="dcterms:W3CDTF">2026-03-24T12:03:05Z</dcterms:modified>
</cp:coreProperties>
</file>