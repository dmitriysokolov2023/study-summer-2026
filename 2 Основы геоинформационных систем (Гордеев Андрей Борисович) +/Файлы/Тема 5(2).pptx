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sldIdLst>
    <p:sldId id="319" r:id="rId2"/>
    <p:sldId id="330" r:id="rId3"/>
    <p:sldId id="465" r:id="rId4"/>
    <p:sldId id="466" r:id="rId5"/>
    <p:sldId id="467" r:id="rId6"/>
    <p:sldId id="468" r:id="rId7"/>
    <p:sldId id="470" r:id="rId8"/>
    <p:sldId id="469" r:id="rId9"/>
    <p:sldId id="472" r:id="rId10"/>
    <p:sldId id="471" r:id="rId11"/>
    <p:sldId id="473" r:id="rId12"/>
    <p:sldId id="474" r:id="rId13"/>
    <p:sldId id="337" r:id="rId14"/>
    <p:sldId id="475" r:id="rId15"/>
    <p:sldId id="476" r:id="rId16"/>
    <p:sldId id="477" r:id="rId17"/>
    <p:sldId id="478" r:id="rId18"/>
    <p:sldId id="479" r:id="rId19"/>
    <p:sldId id="480" r:id="rId20"/>
    <p:sldId id="481" r:id="rId21"/>
    <p:sldId id="482" r:id="rId22"/>
    <p:sldId id="483" r:id="rId23"/>
    <p:sldId id="484" r:id="rId24"/>
    <p:sldId id="485" r:id="rId25"/>
    <p:sldId id="486" r:id="rId26"/>
    <p:sldId id="419" r:id="rId27"/>
    <p:sldId id="487" r:id="rId28"/>
    <p:sldId id="488" r:id="rId29"/>
    <p:sldId id="489" r:id="rId30"/>
    <p:sldId id="490" r:id="rId31"/>
    <p:sldId id="491" r:id="rId32"/>
    <p:sldId id="492" r:id="rId33"/>
    <p:sldId id="493" r:id="rId34"/>
    <p:sldId id="494" r:id="rId35"/>
    <p:sldId id="495" r:id="rId36"/>
    <p:sldId id="496" r:id="rId37"/>
    <p:sldId id="497" r:id="rId38"/>
    <p:sldId id="498" r:id="rId39"/>
    <p:sldId id="499" r:id="rId40"/>
    <p:sldId id="500" r:id="rId41"/>
    <p:sldId id="501" r:id="rId42"/>
    <p:sldId id="502" r:id="rId43"/>
    <p:sldId id="503" r:id="rId44"/>
    <p:sldId id="504" r:id="rId45"/>
    <p:sldId id="505" r:id="rId46"/>
    <p:sldId id="506" r:id="rId47"/>
    <p:sldId id="507" r:id="rId48"/>
    <p:sldId id="508" r:id="rId49"/>
    <p:sldId id="509" r:id="rId50"/>
    <p:sldId id="510" r:id="rId51"/>
    <p:sldId id="511" r:id="rId52"/>
    <p:sldId id="512" r:id="rId53"/>
    <p:sldId id="513" r:id="rId54"/>
    <p:sldId id="514" r:id="rId55"/>
    <p:sldId id="515" r:id="rId56"/>
    <p:sldId id="516" r:id="rId57"/>
    <p:sldId id="517" r:id="rId58"/>
    <p:sldId id="518" r:id="rId59"/>
    <p:sldId id="519" r:id="rId60"/>
    <p:sldId id="520" r:id="rId61"/>
    <p:sldId id="338" r:id="rId62"/>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62" autoAdjust="0"/>
  </p:normalViewPr>
  <p:slideViewPr>
    <p:cSldViewPr snapToGrid="0">
      <p:cViewPr varScale="1">
        <p:scale>
          <a:sx n="56" d="100"/>
          <a:sy n="56" d="100"/>
        </p:scale>
        <p:origin x="102" y="780"/>
      </p:cViewPr>
      <p:guideLst>
        <p:guide orient="horz" pos="2160"/>
        <p:guide pos="3840"/>
      </p:guideLst>
    </p:cSldViewPr>
  </p:slideViewPr>
  <p:outlineViewPr>
    <p:cViewPr>
      <p:scale>
        <a:sx n="33" d="100"/>
        <a:sy n="33" d="100"/>
      </p:scale>
      <p:origin x="18" y="223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0A63E4E-E3AE-48F4-9DE3-123E3888D599}" type="doc">
      <dgm:prSet loTypeId="urn:microsoft.com/office/officeart/2005/8/layout/hList3" loCatId="list" qsTypeId="urn:microsoft.com/office/officeart/2005/8/quickstyle/3d2" qsCatId="3D" csTypeId="urn:microsoft.com/office/officeart/2005/8/colors/accent1_2" csCatId="accent1" phldr="1"/>
      <dgm:spPr/>
      <dgm:t>
        <a:bodyPr/>
        <a:lstStyle/>
        <a:p>
          <a:endParaRPr lang="ru-RU"/>
        </a:p>
      </dgm:t>
    </dgm:pt>
    <dgm:pt modelId="{EDDA3A4F-794E-4E51-8CFF-82D51998AF86}">
      <dgm:prSet phldrT="[Текст]"/>
      <dgm:spPr>
        <a:solidFill>
          <a:schemeClr val="tx2">
            <a:lumMod val="50000"/>
          </a:schemeClr>
        </a:solidFill>
      </dgm:spPr>
      <dgm:t>
        <a:bodyPr/>
        <a:lstStyle/>
        <a:p>
          <a:r>
            <a:rPr lang="ru-RU" dirty="0" smtClean="0"/>
            <a:t>В последнее время самое широкое распространение получил объектно-реляционный подход, являющийся синтезом первого и третьего подходов. </a:t>
          </a:r>
        </a:p>
        <a:p>
          <a:r>
            <a:rPr lang="ru-RU" dirty="0" smtClean="0"/>
            <a:t>Следует отметить, что в ГИС выделяют несколько форм представления объектов: </a:t>
          </a:r>
          <a:endParaRPr lang="ru-RU" dirty="0"/>
        </a:p>
      </dgm:t>
    </dgm:pt>
    <dgm:pt modelId="{E809EC0E-589C-4280-AF23-E214F3C37B69}" type="parTrans" cxnId="{0BC001E4-A649-4BE3-89E1-A0A6B6E1D62E}">
      <dgm:prSet/>
      <dgm:spPr/>
      <dgm:t>
        <a:bodyPr/>
        <a:lstStyle/>
        <a:p>
          <a:endParaRPr lang="ru-RU"/>
        </a:p>
      </dgm:t>
    </dgm:pt>
    <dgm:pt modelId="{E2CCB92A-6515-495D-8D6D-EE1F5FCF8C0C}" type="sibTrans" cxnId="{0BC001E4-A649-4BE3-89E1-A0A6B6E1D62E}">
      <dgm:prSet/>
      <dgm:spPr/>
      <dgm:t>
        <a:bodyPr/>
        <a:lstStyle/>
        <a:p>
          <a:endParaRPr lang="ru-RU"/>
        </a:p>
      </dgm:t>
    </dgm:pt>
    <dgm:pt modelId="{6606F9AD-C7D8-4E30-9277-2B28E2EAA908}">
      <dgm:prSet phldrT="[Текст]"/>
      <dgm:spPr>
        <a:solidFill>
          <a:schemeClr val="accent2">
            <a:lumMod val="50000"/>
          </a:schemeClr>
        </a:solidFill>
      </dgm:spPr>
      <dgm:t>
        <a:bodyPr/>
        <a:lstStyle/>
        <a:p>
          <a:r>
            <a:rPr lang="ru-RU" dirty="0" smtClean="0"/>
            <a:t>в виде нерегулярной сети точек;</a:t>
          </a:r>
          <a:endParaRPr lang="ru-RU" dirty="0"/>
        </a:p>
      </dgm:t>
    </dgm:pt>
    <dgm:pt modelId="{9D13CCD8-DF7F-47F2-A659-024B271242ED}" type="parTrans" cxnId="{F47B4011-FDA1-4C7A-AF8C-093E56F17CA3}">
      <dgm:prSet/>
      <dgm:spPr/>
      <dgm:t>
        <a:bodyPr/>
        <a:lstStyle/>
        <a:p>
          <a:endParaRPr lang="ru-RU"/>
        </a:p>
      </dgm:t>
    </dgm:pt>
    <dgm:pt modelId="{AAD7AEF9-6B4F-4C60-A463-6CEFB0EB00D1}" type="sibTrans" cxnId="{F47B4011-FDA1-4C7A-AF8C-093E56F17CA3}">
      <dgm:prSet/>
      <dgm:spPr/>
      <dgm:t>
        <a:bodyPr/>
        <a:lstStyle/>
        <a:p>
          <a:endParaRPr lang="ru-RU"/>
        </a:p>
      </dgm:t>
    </dgm:pt>
    <dgm:pt modelId="{FE6A9C39-2A3D-4249-9697-BA8EB9795B3C}">
      <dgm:prSet phldrT="[Текст]"/>
      <dgm:spPr>
        <a:solidFill>
          <a:schemeClr val="accent4">
            <a:lumMod val="50000"/>
          </a:schemeClr>
        </a:solidFill>
      </dgm:spPr>
      <dgm:t>
        <a:bodyPr/>
        <a:lstStyle/>
        <a:p>
          <a:r>
            <a:rPr lang="ru-RU" dirty="0" smtClean="0"/>
            <a:t>в виде регулярной сети точек; </a:t>
          </a:r>
          <a:endParaRPr lang="ru-RU" dirty="0"/>
        </a:p>
      </dgm:t>
    </dgm:pt>
    <dgm:pt modelId="{5C34D252-5D51-4002-9CDA-603FB078F7E3}" type="parTrans" cxnId="{672A61ED-31D3-48CE-8CDB-A8033BE8BEA4}">
      <dgm:prSet/>
      <dgm:spPr/>
      <dgm:t>
        <a:bodyPr/>
        <a:lstStyle/>
        <a:p>
          <a:endParaRPr lang="ru-RU"/>
        </a:p>
      </dgm:t>
    </dgm:pt>
    <dgm:pt modelId="{E57A8BBE-25F1-4459-8B08-A9C13F015E26}" type="sibTrans" cxnId="{672A61ED-31D3-48CE-8CDB-A8033BE8BEA4}">
      <dgm:prSet/>
      <dgm:spPr/>
      <dgm:t>
        <a:bodyPr/>
        <a:lstStyle/>
        <a:p>
          <a:endParaRPr lang="ru-RU"/>
        </a:p>
      </dgm:t>
    </dgm:pt>
    <dgm:pt modelId="{8F38D9DA-1FA9-4DCB-B16D-FABB90243B34}">
      <dgm:prSet phldrT="[Текст]"/>
      <dgm:spPr>
        <a:solidFill>
          <a:schemeClr val="accent6">
            <a:lumMod val="50000"/>
          </a:schemeClr>
        </a:solidFill>
      </dgm:spPr>
      <dgm:t>
        <a:bodyPr/>
        <a:lstStyle/>
        <a:p>
          <a:r>
            <a:rPr lang="ru-RU" dirty="0" smtClean="0"/>
            <a:t>в виде регулярной сети точек; </a:t>
          </a:r>
          <a:endParaRPr lang="ru-RU" dirty="0"/>
        </a:p>
      </dgm:t>
    </dgm:pt>
    <dgm:pt modelId="{E2F3C7BE-3EC0-4AB9-967F-4AB98A2EFD65}" type="parTrans" cxnId="{EC7CA713-3324-4A09-9411-FF188D3A5AE0}">
      <dgm:prSet/>
      <dgm:spPr/>
      <dgm:t>
        <a:bodyPr/>
        <a:lstStyle/>
        <a:p>
          <a:endParaRPr lang="ru-RU"/>
        </a:p>
      </dgm:t>
    </dgm:pt>
    <dgm:pt modelId="{B8CE8B76-D62C-40B1-AE00-E1A0BE388E80}" type="sibTrans" cxnId="{EC7CA713-3324-4A09-9411-FF188D3A5AE0}">
      <dgm:prSet/>
      <dgm:spPr/>
      <dgm:t>
        <a:bodyPr/>
        <a:lstStyle/>
        <a:p>
          <a:endParaRPr lang="ru-RU"/>
        </a:p>
      </dgm:t>
    </dgm:pt>
    <dgm:pt modelId="{A1915FE7-5EE3-4554-813D-ACAF2868A9A0}" type="pres">
      <dgm:prSet presAssocID="{50A63E4E-E3AE-48F4-9DE3-123E3888D599}" presName="composite" presStyleCnt="0">
        <dgm:presLayoutVars>
          <dgm:chMax val="1"/>
          <dgm:dir/>
          <dgm:resizeHandles val="exact"/>
        </dgm:presLayoutVars>
      </dgm:prSet>
      <dgm:spPr/>
      <dgm:t>
        <a:bodyPr/>
        <a:lstStyle/>
        <a:p>
          <a:endParaRPr lang="ru-RU"/>
        </a:p>
      </dgm:t>
    </dgm:pt>
    <dgm:pt modelId="{084AEF5C-3D9D-425C-83E3-7FA3B938FB9E}" type="pres">
      <dgm:prSet presAssocID="{EDDA3A4F-794E-4E51-8CFF-82D51998AF86}" presName="roof" presStyleLbl="dkBgShp" presStyleIdx="0" presStyleCnt="2" custScaleX="99481" custScaleY="99391"/>
      <dgm:spPr/>
      <dgm:t>
        <a:bodyPr/>
        <a:lstStyle/>
        <a:p>
          <a:endParaRPr lang="ru-RU"/>
        </a:p>
      </dgm:t>
    </dgm:pt>
    <dgm:pt modelId="{84442373-E640-42DA-833C-F3683501F812}" type="pres">
      <dgm:prSet presAssocID="{EDDA3A4F-794E-4E51-8CFF-82D51998AF86}" presName="pillars" presStyleCnt="0"/>
      <dgm:spPr/>
    </dgm:pt>
    <dgm:pt modelId="{BE76EF05-1D90-4D23-928B-4D048E8A4E82}" type="pres">
      <dgm:prSet presAssocID="{EDDA3A4F-794E-4E51-8CFF-82D51998AF86}" presName="pillar1" presStyleLbl="node1" presStyleIdx="0" presStyleCnt="3">
        <dgm:presLayoutVars>
          <dgm:bulletEnabled val="1"/>
        </dgm:presLayoutVars>
      </dgm:prSet>
      <dgm:spPr/>
      <dgm:t>
        <a:bodyPr/>
        <a:lstStyle/>
        <a:p>
          <a:endParaRPr lang="ru-RU"/>
        </a:p>
      </dgm:t>
    </dgm:pt>
    <dgm:pt modelId="{16A5130B-2BF9-4576-AB20-4228D0B2E633}" type="pres">
      <dgm:prSet presAssocID="{FE6A9C39-2A3D-4249-9697-BA8EB9795B3C}" presName="pillarX" presStyleLbl="node1" presStyleIdx="1" presStyleCnt="3">
        <dgm:presLayoutVars>
          <dgm:bulletEnabled val="1"/>
        </dgm:presLayoutVars>
      </dgm:prSet>
      <dgm:spPr/>
      <dgm:t>
        <a:bodyPr/>
        <a:lstStyle/>
        <a:p>
          <a:endParaRPr lang="ru-RU"/>
        </a:p>
      </dgm:t>
    </dgm:pt>
    <dgm:pt modelId="{25EA5305-40BF-492E-AE1C-AA1AD67BC466}" type="pres">
      <dgm:prSet presAssocID="{8F38D9DA-1FA9-4DCB-B16D-FABB90243B34}" presName="pillarX" presStyleLbl="node1" presStyleIdx="2" presStyleCnt="3">
        <dgm:presLayoutVars>
          <dgm:bulletEnabled val="1"/>
        </dgm:presLayoutVars>
      </dgm:prSet>
      <dgm:spPr/>
      <dgm:t>
        <a:bodyPr/>
        <a:lstStyle/>
        <a:p>
          <a:endParaRPr lang="ru-RU"/>
        </a:p>
      </dgm:t>
    </dgm:pt>
    <dgm:pt modelId="{C21DABF1-C295-483F-A04A-E03770040AB7}" type="pres">
      <dgm:prSet presAssocID="{EDDA3A4F-794E-4E51-8CFF-82D51998AF86}" presName="base" presStyleLbl="dkBgShp" presStyleIdx="1" presStyleCnt="2"/>
      <dgm:spPr>
        <a:solidFill>
          <a:schemeClr val="tx2">
            <a:lumMod val="50000"/>
          </a:schemeClr>
        </a:solidFill>
      </dgm:spPr>
    </dgm:pt>
  </dgm:ptLst>
  <dgm:cxnLst>
    <dgm:cxn modelId="{EC7CA713-3324-4A09-9411-FF188D3A5AE0}" srcId="{EDDA3A4F-794E-4E51-8CFF-82D51998AF86}" destId="{8F38D9DA-1FA9-4DCB-B16D-FABB90243B34}" srcOrd="2" destOrd="0" parTransId="{E2F3C7BE-3EC0-4AB9-967F-4AB98A2EFD65}" sibTransId="{B8CE8B76-D62C-40B1-AE00-E1A0BE388E80}"/>
    <dgm:cxn modelId="{F53AC6C2-4C05-4122-BACA-825106F3457E}" type="presOf" srcId="{8F38D9DA-1FA9-4DCB-B16D-FABB90243B34}" destId="{25EA5305-40BF-492E-AE1C-AA1AD67BC466}" srcOrd="0" destOrd="0" presId="urn:microsoft.com/office/officeart/2005/8/layout/hList3"/>
    <dgm:cxn modelId="{958C9861-FE3C-4446-BFF6-7F3EB1C61516}" type="presOf" srcId="{FE6A9C39-2A3D-4249-9697-BA8EB9795B3C}" destId="{16A5130B-2BF9-4576-AB20-4228D0B2E633}" srcOrd="0" destOrd="0" presId="urn:microsoft.com/office/officeart/2005/8/layout/hList3"/>
    <dgm:cxn modelId="{04E2A3CF-68F5-4A58-A390-650AA8016494}" type="presOf" srcId="{50A63E4E-E3AE-48F4-9DE3-123E3888D599}" destId="{A1915FE7-5EE3-4554-813D-ACAF2868A9A0}" srcOrd="0" destOrd="0" presId="urn:microsoft.com/office/officeart/2005/8/layout/hList3"/>
    <dgm:cxn modelId="{D99D02AF-CA0C-40AA-8DE1-C3A9D0D0FF9F}" type="presOf" srcId="{6606F9AD-C7D8-4E30-9277-2B28E2EAA908}" destId="{BE76EF05-1D90-4D23-928B-4D048E8A4E82}" srcOrd="0" destOrd="0" presId="urn:microsoft.com/office/officeart/2005/8/layout/hList3"/>
    <dgm:cxn modelId="{672A61ED-31D3-48CE-8CDB-A8033BE8BEA4}" srcId="{EDDA3A4F-794E-4E51-8CFF-82D51998AF86}" destId="{FE6A9C39-2A3D-4249-9697-BA8EB9795B3C}" srcOrd="1" destOrd="0" parTransId="{5C34D252-5D51-4002-9CDA-603FB078F7E3}" sibTransId="{E57A8BBE-25F1-4459-8B08-A9C13F015E26}"/>
    <dgm:cxn modelId="{0BC001E4-A649-4BE3-89E1-A0A6B6E1D62E}" srcId="{50A63E4E-E3AE-48F4-9DE3-123E3888D599}" destId="{EDDA3A4F-794E-4E51-8CFF-82D51998AF86}" srcOrd="0" destOrd="0" parTransId="{E809EC0E-589C-4280-AF23-E214F3C37B69}" sibTransId="{E2CCB92A-6515-495D-8D6D-EE1F5FCF8C0C}"/>
    <dgm:cxn modelId="{F47B4011-FDA1-4C7A-AF8C-093E56F17CA3}" srcId="{EDDA3A4F-794E-4E51-8CFF-82D51998AF86}" destId="{6606F9AD-C7D8-4E30-9277-2B28E2EAA908}" srcOrd="0" destOrd="0" parTransId="{9D13CCD8-DF7F-47F2-A659-024B271242ED}" sibTransId="{AAD7AEF9-6B4F-4C60-A463-6CEFB0EB00D1}"/>
    <dgm:cxn modelId="{F0F49AC1-4D63-407C-A9F2-8F7A6E6D912C}" type="presOf" srcId="{EDDA3A4F-794E-4E51-8CFF-82D51998AF86}" destId="{084AEF5C-3D9D-425C-83E3-7FA3B938FB9E}" srcOrd="0" destOrd="0" presId="urn:microsoft.com/office/officeart/2005/8/layout/hList3"/>
    <dgm:cxn modelId="{B4DD3ECC-B256-448D-B56A-C477608B84C2}" type="presParOf" srcId="{A1915FE7-5EE3-4554-813D-ACAF2868A9A0}" destId="{084AEF5C-3D9D-425C-83E3-7FA3B938FB9E}" srcOrd="0" destOrd="0" presId="urn:microsoft.com/office/officeart/2005/8/layout/hList3"/>
    <dgm:cxn modelId="{04CD32D2-0012-4C79-A0AF-FF92442F676D}" type="presParOf" srcId="{A1915FE7-5EE3-4554-813D-ACAF2868A9A0}" destId="{84442373-E640-42DA-833C-F3683501F812}" srcOrd="1" destOrd="0" presId="urn:microsoft.com/office/officeart/2005/8/layout/hList3"/>
    <dgm:cxn modelId="{066BE748-1535-4AEF-8619-676195B4453E}" type="presParOf" srcId="{84442373-E640-42DA-833C-F3683501F812}" destId="{BE76EF05-1D90-4D23-928B-4D048E8A4E82}" srcOrd="0" destOrd="0" presId="urn:microsoft.com/office/officeart/2005/8/layout/hList3"/>
    <dgm:cxn modelId="{B1985F69-CA91-4DD4-836B-83FB0D0C7581}" type="presParOf" srcId="{84442373-E640-42DA-833C-F3683501F812}" destId="{16A5130B-2BF9-4576-AB20-4228D0B2E633}" srcOrd="1" destOrd="0" presId="urn:microsoft.com/office/officeart/2005/8/layout/hList3"/>
    <dgm:cxn modelId="{1BAF3863-2A05-458E-BAA7-0BBD580B4206}" type="presParOf" srcId="{84442373-E640-42DA-833C-F3683501F812}" destId="{25EA5305-40BF-492E-AE1C-AA1AD67BC466}" srcOrd="2" destOrd="0" presId="urn:microsoft.com/office/officeart/2005/8/layout/hList3"/>
    <dgm:cxn modelId="{F26B4E5C-CBAA-4530-B860-81E15B48FACE}" type="presParOf" srcId="{A1915FE7-5EE3-4554-813D-ACAF2868A9A0}" destId="{C21DABF1-C295-483F-A04A-E03770040AB7}" srcOrd="2" destOrd="0" presId="urn:microsoft.com/office/officeart/2005/8/layout/h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0A63E4E-E3AE-48F4-9DE3-123E3888D599}" type="doc">
      <dgm:prSet loTypeId="urn:microsoft.com/office/officeart/2005/8/layout/hList3" loCatId="list" qsTypeId="urn:microsoft.com/office/officeart/2005/8/quickstyle/3d2" qsCatId="3D" csTypeId="urn:microsoft.com/office/officeart/2005/8/colors/accent1_2" csCatId="accent1" phldr="1"/>
      <dgm:spPr/>
      <dgm:t>
        <a:bodyPr/>
        <a:lstStyle/>
        <a:p>
          <a:endParaRPr lang="ru-RU"/>
        </a:p>
      </dgm:t>
    </dgm:pt>
    <dgm:pt modelId="{EDDA3A4F-794E-4E51-8CFF-82D51998AF86}">
      <dgm:prSet phldrT="[Текст]"/>
      <dgm:spPr>
        <a:solidFill>
          <a:schemeClr val="tx2">
            <a:lumMod val="50000"/>
          </a:schemeClr>
        </a:solidFill>
      </dgm:spPr>
      <dgm:t>
        <a:bodyPr/>
        <a:lstStyle/>
        <a:p>
          <a:r>
            <a:rPr lang="ru-RU" b="1" dirty="0" smtClean="0"/>
            <a:t>Ввод информации в ГИС </a:t>
          </a:r>
          <a:endParaRPr lang="ru-RU" dirty="0" smtClean="0"/>
        </a:p>
        <a:p>
          <a:r>
            <a:rPr lang="ru-RU" dirty="0" smtClean="0"/>
            <a:t>Ввод данных – это процедура, связанная с кодированием данных в компьютерно-читаемую форму и их записью в базу данных ГИС. Выделяют три главных этапа ввода данных: </a:t>
          </a:r>
          <a:endParaRPr lang="ru-RU" dirty="0"/>
        </a:p>
      </dgm:t>
    </dgm:pt>
    <dgm:pt modelId="{E809EC0E-589C-4280-AF23-E214F3C37B69}" type="parTrans" cxnId="{0BC001E4-A649-4BE3-89E1-A0A6B6E1D62E}">
      <dgm:prSet/>
      <dgm:spPr/>
      <dgm:t>
        <a:bodyPr/>
        <a:lstStyle/>
        <a:p>
          <a:endParaRPr lang="ru-RU"/>
        </a:p>
      </dgm:t>
    </dgm:pt>
    <dgm:pt modelId="{E2CCB92A-6515-495D-8D6D-EE1F5FCF8C0C}" type="sibTrans" cxnId="{0BC001E4-A649-4BE3-89E1-A0A6B6E1D62E}">
      <dgm:prSet/>
      <dgm:spPr/>
      <dgm:t>
        <a:bodyPr/>
        <a:lstStyle/>
        <a:p>
          <a:endParaRPr lang="ru-RU"/>
        </a:p>
      </dgm:t>
    </dgm:pt>
    <dgm:pt modelId="{6606F9AD-C7D8-4E30-9277-2B28E2EAA908}">
      <dgm:prSet phldrT="[Текст]"/>
      <dgm:spPr>
        <a:solidFill>
          <a:schemeClr val="accent2">
            <a:lumMod val="50000"/>
          </a:schemeClr>
        </a:solidFill>
      </dgm:spPr>
      <dgm:t>
        <a:bodyPr/>
        <a:lstStyle/>
        <a:p>
          <a:r>
            <a:rPr lang="ru-RU" dirty="0" smtClean="0"/>
            <a:t>сбор данных; </a:t>
          </a:r>
          <a:endParaRPr lang="ru-RU" dirty="0"/>
        </a:p>
      </dgm:t>
    </dgm:pt>
    <dgm:pt modelId="{9D13CCD8-DF7F-47F2-A659-024B271242ED}" type="parTrans" cxnId="{F47B4011-FDA1-4C7A-AF8C-093E56F17CA3}">
      <dgm:prSet/>
      <dgm:spPr/>
      <dgm:t>
        <a:bodyPr/>
        <a:lstStyle/>
        <a:p>
          <a:endParaRPr lang="ru-RU"/>
        </a:p>
      </dgm:t>
    </dgm:pt>
    <dgm:pt modelId="{AAD7AEF9-6B4F-4C60-A463-6CEFB0EB00D1}" type="sibTrans" cxnId="{F47B4011-FDA1-4C7A-AF8C-093E56F17CA3}">
      <dgm:prSet/>
      <dgm:spPr/>
      <dgm:t>
        <a:bodyPr/>
        <a:lstStyle/>
        <a:p>
          <a:endParaRPr lang="ru-RU"/>
        </a:p>
      </dgm:t>
    </dgm:pt>
    <dgm:pt modelId="{8F38D9DA-1FA9-4DCB-B16D-FABB90243B34}">
      <dgm:prSet phldrT="[Текст]"/>
      <dgm:spPr>
        <a:solidFill>
          <a:schemeClr val="accent6">
            <a:lumMod val="50000"/>
          </a:schemeClr>
        </a:solidFill>
      </dgm:spPr>
      <dgm:t>
        <a:bodyPr/>
        <a:lstStyle/>
        <a:p>
          <a:r>
            <a:rPr lang="ru-RU" dirty="0" smtClean="0"/>
            <a:t>географическое кодирование данных. </a:t>
          </a:r>
          <a:endParaRPr lang="ru-RU" dirty="0"/>
        </a:p>
      </dgm:t>
    </dgm:pt>
    <dgm:pt modelId="{E2F3C7BE-3EC0-4AB9-967F-4AB98A2EFD65}" type="parTrans" cxnId="{EC7CA713-3324-4A09-9411-FF188D3A5AE0}">
      <dgm:prSet/>
      <dgm:spPr/>
      <dgm:t>
        <a:bodyPr/>
        <a:lstStyle/>
        <a:p>
          <a:endParaRPr lang="ru-RU"/>
        </a:p>
      </dgm:t>
    </dgm:pt>
    <dgm:pt modelId="{B8CE8B76-D62C-40B1-AE00-E1A0BE388E80}" type="sibTrans" cxnId="{EC7CA713-3324-4A09-9411-FF188D3A5AE0}">
      <dgm:prSet/>
      <dgm:spPr/>
      <dgm:t>
        <a:bodyPr/>
        <a:lstStyle/>
        <a:p>
          <a:endParaRPr lang="ru-RU"/>
        </a:p>
      </dgm:t>
    </dgm:pt>
    <dgm:pt modelId="{FE6A9C39-2A3D-4249-9697-BA8EB9795B3C}">
      <dgm:prSet phldrT="[Текст]"/>
      <dgm:spPr>
        <a:solidFill>
          <a:schemeClr val="accent4">
            <a:lumMod val="50000"/>
          </a:schemeClr>
        </a:solidFill>
      </dgm:spPr>
      <dgm:t>
        <a:bodyPr/>
        <a:lstStyle/>
        <a:p>
          <a:r>
            <a:rPr lang="ru-RU" dirty="0" smtClean="0"/>
            <a:t>редактирование и очистка данных; </a:t>
          </a:r>
          <a:endParaRPr lang="ru-RU" dirty="0"/>
        </a:p>
      </dgm:t>
    </dgm:pt>
    <dgm:pt modelId="{E57A8BBE-25F1-4459-8B08-A9C13F015E26}" type="sibTrans" cxnId="{672A61ED-31D3-48CE-8CDB-A8033BE8BEA4}">
      <dgm:prSet/>
      <dgm:spPr/>
      <dgm:t>
        <a:bodyPr/>
        <a:lstStyle/>
        <a:p>
          <a:endParaRPr lang="ru-RU"/>
        </a:p>
      </dgm:t>
    </dgm:pt>
    <dgm:pt modelId="{5C34D252-5D51-4002-9CDA-603FB078F7E3}" type="parTrans" cxnId="{672A61ED-31D3-48CE-8CDB-A8033BE8BEA4}">
      <dgm:prSet/>
      <dgm:spPr/>
      <dgm:t>
        <a:bodyPr/>
        <a:lstStyle/>
        <a:p>
          <a:endParaRPr lang="ru-RU"/>
        </a:p>
      </dgm:t>
    </dgm:pt>
    <dgm:pt modelId="{A1915FE7-5EE3-4554-813D-ACAF2868A9A0}" type="pres">
      <dgm:prSet presAssocID="{50A63E4E-E3AE-48F4-9DE3-123E3888D599}" presName="composite" presStyleCnt="0">
        <dgm:presLayoutVars>
          <dgm:chMax val="1"/>
          <dgm:dir/>
          <dgm:resizeHandles val="exact"/>
        </dgm:presLayoutVars>
      </dgm:prSet>
      <dgm:spPr/>
      <dgm:t>
        <a:bodyPr/>
        <a:lstStyle/>
        <a:p>
          <a:endParaRPr lang="ru-RU"/>
        </a:p>
      </dgm:t>
    </dgm:pt>
    <dgm:pt modelId="{084AEF5C-3D9D-425C-83E3-7FA3B938FB9E}" type="pres">
      <dgm:prSet presAssocID="{EDDA3A4F-794E-4E51-8CFF-82D51998AF86}" presName="roof" presStyleLbl="dkBgShp" presStyleIdx="0" presStyleCnt="2" custScaleX="99481" custScaleY="99391"/>
      <dgm:spPr/>
      <dgm:t>
        <a:bodyPr/>
        <a:lstStyle/>
        <a:p>
          <a:endParaRPr lang="ru-RU"/>
        </a:p>
      </dgm:t>
    </dgm:pt>
    <dgm:pt modelId="{84442373-E640-42DA-833C-F3683501F812}" type="pres">
      <dgm:prSet presAssocID="{EDDA3A4F-794E-4E51-8CFF-82D51998AF86}" presName="pillars" presStyleCnt="0"/>
      <dgm:spPr/>
    </dgm:pt>
    <dgm:pt modelId="{BE76EF05-1D90-4D23-928B-4D048E8A4E82}" type="pres">
      <dgm:prSet presAssocID="{EDDA3A4F-794E-4E51-8CFF-82D51998AF86}" presName="pillar1" presStyleLbl="node1" presStyleIdx="0" presStyleCnt="3">
        <dgm:presLayoutVars>
          <dgm:bulletEnabled val="1"/>
        </dgm:presLayoutVars>
      </dgm:prSet>
      <dgm:spPr/>
      <dgm:t>
        <a:bodyPr/>
        <a:lstStyle/>
        <a:p>
          <a:endParaRPr lang="ru-RU"/>
        </a:p>
      </dgm:t>
    </dgm:pt>
    <dgm:pt modelId="{16A5130B-2BF9-4576-AB20-4228D0B2E633}" type="pres">
      <dgm:prSet presAssocID="{FE6A9C39-2A3D-4249-9697-BA8EB9795B3C}" presName="pillarX" presStyleLbl="node1" presStyleIdx="1" presStyleCnt="3">
        <dgm:presLayoutVars>
          <dgm:bulletEnabled val="1"/>
        </dgm:presLayoutVars>
      </dgm:prSet>
      <dgm:spPr/>
      <dgm:t>
        <a:bodyPr/>
        <a:lstStyle/>
        <a:p>
          <a:endParaRPr lang="ru-RU"/>
        </a:p>
      </dgm:t>
    </dgm:pt>
    <dgm:pt modelId="{25EA5305-40BF-492E-AE1C-AA1AD67BC466}" type="pres">
      <dgm:prSet presAssocID="{8F38D9DA-1FA9-4DCB-B16D-FABB90243B34}" presName="pillarX" presStyleLbl="node1" presStyleIdx="2" presStyleCnt="3">
        <dgm:presLayoutVars>
          <dgm:bulletEnabled val="1"/>
        </dgm:presLayoutVars>
      </dgm:prSet>
      <dgm:spPr/>
      <dgm:t>
        <a:bodyPr/>
        <a:lstStyle/>
        <a:p>
          <a:endParaRPr lang="ru-RU"/>
        </a:p>
      </dgm:t>
    </dgm:pt>
    <dgm:pt modelId="{C21DABF1-C295-483F-A04A-E03770040AB7}" type="pres">
      <dgm:prSet presAssocID="{EDDA3A4F-794E-4E51-8CFF-82D51998AF86}" presName="base" presStyleLbl="dkBgShp" presStyleIdx="1" presStyleCnt="2"/>
      <dgm:spPr>
        <a:solidFill>
          <a:schemeClr val="tx2">
            <a:lumMod val="50000"/>
          </a:schemeClr>
        </a:solidFill>
      </dgm:spPr>
    </dgm:pt>
  </dgm:ptLst>
  <dgm:cxnLst>
    <dgm:cxn modelId="{CD4C5F10-DB07-404E-A7EC-25621BC6B766}" type="presOf" srcId="{50A63E4E-E3AE-48F4-9DE3-123E3888D599}" destId="{A1915FE7-5EE3-4554-813D-ACAF2868A9A0}" srcOrd="0" destOrd="0" presId="urn:microsoft.com/office/officeart/2005/8/layout/hList3"/>
    <dgm:cxn modelId="{023389D5-56F8-4825-B94C-714DB02B013B}" type="presOf" srcId="{EDDA3A4F-794E-4E51-8CFF-82D51998AF86}" destId="{084AEF5C-3D9D-425C-83E3-7FA3B938FB9E}" srcOrd="0" destOrd="0" presId="urn:microsoft.com/office/officeart/2005/8/layout/hList3"/>
    <dgm:cxn modelId="{E10EE62C-9768-4BCE-8F53-D8229A79E9B6}" type="presOf" srcId="{6606F9AD-C7D8-4E30-9277-2B28E2EAA908}" destId="{BE76EF05-1D90-4D23-928B-4D048E8A4E82}" srcOrd="0" destOrd="0" presId="urn:microsoft.com/office/officeart/2005/8/layout/hList3"/>
    <dgm:cxn modelId="{F033D2CF-A19A-45D9-8D67-F88DB48F2288}" type="presOf" srcId="{FE6A9C39-2A3D-4249-9697-BA8EB9795B3C}" destId="{16A5130B-2BF9-4576-AB20-4228D0B2E633}" srcOrd="0" destOrd="0" presId="urn:microsoft.com/office/officeart/2005/8/layout/hList3"/>
    <dgm:cxn modelId="{EC7CA713-3324-4A09-9411-FF188D3A5AE0}" srcId="{EDDA3A4F-794E-4E51-8CFF-82D51998AF86}" destId="{8F38D9DA-1FA9-4DCB-B16D-FABB90243B34}" srcOrd="2" destOrd="0" parTransId="{E2F3C7BE-3EC0-4AB9-967F-4AB98A2EFD65}" sibTransId="{B8CE8B76-D62C-40B1-AE00-E1A0BE388E80}"/>
    <dgm:cxn modelId="{672A61ED-31D3-48CE-8CDB-A8033BE8BEA4}" srcId="{EDDA3A4F-794E-4E51-8CFF-82D51998AF86}" destId="{FE6A9C39-2A3D-4249-9697-BA8EB9795B3C}" srcOrd="1" destOrd="0" parTransId="{5C34D252-5D51-4002-9CDA-603FB078F7E3}" sibTransId="{E57A8BBE-25F1-4459-8B08-A9C13F015E26}"/>
    <dgm:cxn modelId="{0BC001E4-A649-4BE3-89E1-A0A6B6E1D62E}" srcId="{50A63E4E-E3AE-48F4-9DE3-123E3888D599}" destId="{EDDA3A4F-794E-4E51-8CFF-82D51998AF86}" srcOrd="0" destOrd="0" parTransId="{E809EC0E-589C-4280-AF23-E214F3C37B69}" sibTransId="{E2CCB92A-6515-495D-8D6D-EE1F5FCF8C0C}"/>
    <dgm:cxn modelId="{F47B4011-FDA1-4C7A-AF8C-093E56F17CA3}" srcId="{EDDA3A4F-794E-4E51-8CFF-82D51998AF86}" destId="{6606F9AD-C7D8-4E30-9277-2B28E2EAA908}" srcOrd="0" destOrd="0" parTransId="{9D13CCD8-DF7F-47F2-A659-024B271242ED}" sibTransId="{AAD7AEF9-6B4F-4C60-A463-6CEFB0EB00D1}"/>
    <dgm:cxn modelId="{9E4B0FE4-374F-4B4A-81E1-345C828690F7}" type="presOf" srcId="{8F38D9DA-1FA9-4DCB-B16D-FABB90243B34}" destId="{25EA5305-40BF-492E-AE1C-AA1AD67BC466}" srcOrd="0" destOrd="0" presId="urn:microsoft.com/office/officeart/2005/8/layout/hList3"/>
    <dgm:cxn modelId="{1453FC06-BFA5-41A5-AC70-2ABFBEEF56DE}" type="presParOf" srcId="{A1915FE7-5EE3-4554-813D-ACAF2868A9A0}" destId="{084AEF5C-3D9D-425C-83E3-7FA3B938FB9E}" srcOrd="0" destOrd="0" presId="urn:microsoft.com/office/officeart/2005/8/layout/hList3"/>
    <dgm:cxn modelId="{162A93C4-88E3-4152-85B7-B2CB753C601C}" type="presParOf" srcId="{A1915FE7-5EE3-4554-813D-ACAF2868A9A0}" destId="{84442373-E640-42DA-833C-F3683501F812}" srcOrd="1" destOrd="0" presId="urn:microsoft.com/office/officeart/2005/8/layout/hList3"/>
    <dgm:cxn modelId="{87965611-D827-4895-8EAF-BBBAA8E59F19}" type="presParOf" srcId="{84442373-E640-42DA-833C-F3683501F812}" destId="{BE76EF05-1D90-4D23-928B-4D048E8A4E82}" srcOrd="0" destOrd="0" presId="urn:microsoft.com/office/officeart/2005/8/layout/hList3"/>
    <dgm:cxn modelId="{BB0E8D32-E120-494F-A485-F90E18389B0E}" type="presParOf" srcId="{84442373-E640-42DA-833C-F3683501F812}" destId="{16A5130B-2BF9-4576-AB20-4228D0B2E633}" srcOrd="1" destOrd="0" presId="urn:microsoft.com/office/officeart/2005/8/layout/hList3"/>
    <dgm:cxn modelId="{98030E4B-535D-4F70-93DB-9B2FF09D1917}" type="presParOf" srcId="{84442373-E640-42DA-833C-F3683501F812}" destId="{25EA5305-40BF-492E-AE1C-AA1AD67BC466}" srcOrd="2" destOrd="0" presId="urn:microsoft.com/office/officeart/2005/8/layout/hList3"/>
    <dgm:cxn modelId="{630B1D03-2D2F-4EC6-BBB2-4419AA6EFCA5}" type="presParOf" srcId="{A1915FE7-5EE3-4554-813D-ACAF2868A9A0}" destId="{C21DABF1-C295-483F-A04A-E03770040AB7}" srcOrd="2" destOrd="0" presId="urn:microsoft.com/office/officeart/2005/8/layout/h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40B0C9E-63F3-4689-9131-DEF8FAC6A210}"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ru-RU"/>
        </a:p>
      </dgm:t>
    </dgm:pt>
    <dgm:pt modelId="{033EF34C-E2DE-4DC0-979E-11D1E9BD3335}">
      <dgm:prSet phldrT="[Текст]"/>
      <dgm:spPr>
        <a:solidFill>
          <a:schemeClr val="accent6">
            <a:lumMod val="50000"/>
          </a:schemeClr>
        </a:solidFill>
      </dgm:spPr>
      <dgm:t>
        <a:bodyPr/>
        <a:lstStyle/>
        <a:p>
          <a:r>
            <a:rPr lang="ru-RU" dirty="0" smtClean="0"/>
            <a:t>дату получения; </a:t>
          </a:r>
          <a:endParaRPr lang="ru-RU" dirty="0"/>
        </a:p>
      </dgm:t>
    </dgm:pt>
    <dgm:pt modelId="{7D7E867F-58E8-4C83-98A4-D7A546C12D53}" type="parTrans" cxnId="{8DB97F1C-45DB-40A2-8054-8E0D5963BE08}">
      <dgm:prSet/>
      <dgm:spPr/>
      <dgm:t>
        <a:bodyPr/>
        <a:lstStyle/>
        <a:p>
          <a:endParaRPr lang="ru-RU"/>
        </a:p>
      </dgm:t>
    </dgm:pt>
    <dgm:pt modelId="{9ACA8083-D240-4631-B9D5-341FE5CD7D6C}" type="sibTrans" cxnId="{8DB97F1C-45DB-40A2-8054-8E0D5963BE08}">
      <dgm:prSet/>
      <dgm:spPr/>
      <dgm:t>
        <a:bodyPr/>
        <a:lstStyle/>
        <a:p>
          <a:endParaRPr lang="ru-RU"/>
        </a:p>
      </dgm:t>
    </dgm:pt>
    <dgm:pt modelId="{8C5F28F8-3E68-47C3-B47D-B0955D0119A2}">
      <dgm:prSet phldrT="[Текст]"/>
      <dgm:spPr>
        <a:solidFill>
          <a:schemeClr val="accent5">
            <a:lumMod val="50000"/>
          </a:schemeClr>
        </a:solidFill>
      </dgm:spPr>
      <dgm:t>
        <a:bodyPr/>
        <a:lstStyle/>
        <a:p>
          <a:r>
            <a:rPr lang="ru-RU" dirty="0" smtClean="0"/>
            <a:t>точность позиционирования;</a:t>
          </a:r>
          <a:endParaRPr lang="ru-RU" dirty="0"/>
        </a:p>
      </dgm:t>
    </dgm:pt>
    <dgm:pt modelId="{B8651D73-3CDD-42F4-94D4-6557A8AC6079}" type="parTrans" cxnId="{030E4117-4489-45EE-9F5C-62B2CC2C4563}">
      <dgm:prSet/>
      <dgm:spPr/>
      <dgm:t>
        <a:bodyPr/>
        <a:lstStyle/>
        <a:p>
          <a:endParaRPr lang="ru-RU"/>
        </a:p>
      </dgm:t>
    </dgm:pt>
    <dgm:pt modelId="{435A1E6C-DE60-44CB-B269-7E238A975E6A}" type="sibTrans" cxnId="{030E4117-4489-45EE-9F5C-62B2CC2C4563}">
      <dgm:prSet/>
      <dgm:spPr/>
      <dgm:t>
        <a:bodyPr/>
        <a:lstStyle/>
        <a:p>
          <a:endParaRPr lang="ru-RU"/>
        </a:p>
      </dgm:t>
    </dgm:pt>
    <dgm:pt modelId="{5CF092F0-9D5F-4696-9FFF-7A4DE817BDDF}">
      <dgm:prSet phldrT="[Текст]"/>
      <dgm:spPr>
        <a:solidFill>
          <a:schemeClr val="accent4">
            <a:lumMod val="50000"/>
          </a:schemeClr>
        </a:solidFill>
      </dgm:spPr>
      <dgm:t>
        <a:bodyPr/>
        <a:lstStyle/>
        <a:p>
          <a:r>
            <a:rPr lang="ru-RU" dirty="0" smtClean="0"/>
            <a:t>точность классификации;</a:t>
          </a:r>
          <a:endParaRPr lang="ru-RU" dirty="0"/>
        </a:p>
      </dgm:t>
    </dgm:pt>
    <dgm:pt modelId="{CAA6CA2E-85DF-4212-BC9F-4AF510A08E79}" type="parTrans" cxnId="{39F6A45A-A835-423C-AF21-9F391A325A2C}">
      <dgm:prSet/>
      <dgm:spPr/>
      <dgm:t>
        <a:bodyPr/>
        <a:lstStyle/>
        <a:p>
          <a:endParaRPr lang="ru-RU"/>
        </a:p>
      </dgm:t>
    </dgm:pt>
    <dgm:pt modelId="{24179069-7C7F-4C26-BFB0-C01A18C1EA67}" type="sibTrans" cxnId="{39F6A45A-A835-423C-AF21-9F391A325A2C}">
      <dgm:prSet/>
      <dgm:spPr/>
      <dgm:t>
        <a:bodyPr/>
        <a:lstStyle/>
        <a:p>
          <a:endParaRPr lang="ru-RU"/>
        </a:p>
      </dgm:t>
    </dgm:pt>
    <dgm:pt modelId="{6A70FEDE-70A1-4EC8-A7C8-34759685B43C}">
      <dgm:prSet phldrT="[Текст]"/>
      <dgm:spPr>
        <a:solidFill>
          <a:schemeClr val="accent2">
            <a:lumMod val="50000"/>
          </a:schemeClr>
        </a:solidFill>
      </dgm:spPr>
      <dgm:t>
        <a:bodyPr/>
        <a:lstStyle/>
        <a:p>
          <a:r>
            <a:rPr lang="ru-RU" dirty="0" smtClean="0"/>
            <a:t>степень полноты; </a:t>
          </a:r>
          <a:endParaRPr lang="ru-RU" dirty="0"/>
        </a:p>
      </dgm:t>
    </dgm:pt>
    <dgm:pt modelId="{ECD8EDA6-8F1A-46DD-9B58-B9F71234C337}" type="parTrans" cxnId="{CD440CFE-25BC-4287-B5D3-440CA176A1E0}">
      <dgm:prSet/>
      <dgm:spPr/>
      <dgm:t>
        <a:bodyPr/>
        <a:lstStyle/>
        <a:p>
          <a:endParaRPr lang="ru-RU"/>
        </a:p>
      </dgm:t>
    </dgm:pt>
    <dgm:pt modelId="{545868F6-58E4-446F-ACEB-DB2269AED17A}" type="sibTrans" cxnId="{CD440CFE-25BC-4287-B5D3-440CA176A1E0}">
      <dgm:prSet/>
      <dgm:spPr/>
      <dgm:t>
        <a:bodyPr/>
        <a:lstStyle/>
        <a:p>
          <a:endParaRPr lang="ru-RU"/>
        </a:p>
      </dgm:t>
    </dgm:pt>
    <dgm:pt modelId="{81864B85-E513-4630-A554-D06DF20CD1E4}">
      <dgm:prSet phldrT="[Текст]"/>
      <dgm:spPr>
        <a:solidFill>
          <a:schemeClr val="tx2">
            <a:lumMod val="50000"/>
          </a:schemeClr>
        </a:solidFill>
      </dgm:spPr>
      <dgm:t>
        <a:bodyPr/>
        <a:lstStyle/>
        <a:p>
          <a:r>
            <a:rPr lang="ru-RU" dirty="0" smtClean="0"/>
            <a:t>метод, использованный для получения и кодирования данных.</a:t>
          </a:r>
          <a:endParaRPr lang="ru-RU" dirty="0"/>
        </a:p>
      </dgm:t>
    </dgm:pt>
    <dgm:pt modelId="{DD1A0463-59F2-47A6-9F58-8698757DDA74}" type="parTrans" cxnId="{1EC020FC-A735-4884-8F55-B5213992F56B}">
      <dgm:prSet/>
      <dgm:spPr/>
      <dgm:t>
        <a:bodyPr/>
        <a:lstStyle/>
        <a:p>
          <a:endParaRPr lang="ru-RU"/>
        </a:p>
      </dgm:t>
    </dgm:pt>
    <dgm:pt modelId="{BCE301A8-A4C2-4815-933A-F5BB5C081696}" type="sibTrans" cxnId="{1EC020FC-A735-4884-8F55-B5213992F56B}">
      <dgm:prSet/>
      <dgm:spPr/>
      <dgm:t>
        <a:bodyPr/>
        <a:lstStyle/>
        <a:p>
          <a:endParaRPr lang="ru-RU"/>
        </a:p>
      </dgm:t>
    </dgm:pt>
    <dgm:pt modelId="{6CDB9611-D48C-430B-84C9-BDA0EE3D725D}" type="pres">
      <dgm:prSet presAssocID="{640B0C9E-63F3-4689-9131-DEF8FAC6A210}" presName="diagram" presStyleCnt="0">
        <dgm:presLayoutVars>
          <dgm:dir/>
          <dgm:resizeHandles val="exact"/>
        </dgm:presLayoutVars>
      </dgm:prSet>
      <dgm:spPr/>
      <dgm:t>
        <a:bodyPr/>
        <a:lstStyle/>
        <a:p>
          <a:endParaRPr lang="ru-RU"/>
        </a:p>
      </dgm:t>
    </dgm:pt>
    <dgm:pt modelId="{5FFB8C43-8F68-48F0-BCD7-64CE246ED9FA}" type="pres">
      <dgm:prSet presAssocID="{033EF34C-E2DE-4DC0-979E-11D1E9BD3335}" presName="node" presStyleLbl="node1" presStyleIdx="0" presStyleCnt="5">
        <dgm:presLayoutVars>
          <dgm:bulletEnabled val="1"/>
        </dgm:presLayoutVars>
      </dgm:prSet>
      <dgm:spPr/>
      <dgm:t>
        <a:bodyPr/>
        <a:lstStyle/>
        <a:p>
          <a:endParaRPr lang="ru-RU"/>
        </a:p>
      </dgm:t>
    </dgm:pt>
    <dgm:pt modelId="{BA2864E6-9B03-4565-B4C3-777F43FDD19F}" type="pres">
      <dgm:prSet presAssocID="{9ACA8083-D240-4631-B9D5-341FE5CD7D6C}" presName="sibTrans" presStyleCnt="0"/>
      <dgm:spPr/>
    </dgm:pt>
    <dgm:pt modelId="{58E9A1F4-C812-41B2-A54F-EA0C072EEF72}" type="pres">
      <dgm:prSet presAssocID="{8C5F28F8-3E68-47C3-B47D-B0955D0119A2}" presName="node" presStyleLbl="node1" presStyleIdx="1" presStyleCnt="5">
        <dgm:presLayoutVars>
          <dgm:bulletEnabled val="1"/>
        </dgm:presLayoutVars>
      </dgm:prSet>
      <dgm:spPr/>
      <dgm:t>
        <a:bodyPr/>
        <a:lstStyle/>
        <a:p>
          <a:endParaRPr lang="ru-RU"/>
        </a:p>
      </dgm:t>
    </dgm:pt>
    <dgm:pt modelId="{37D95F72-6643-4D52-9577-21942E8521C7}" type="pres">
      <dgm:prSet presAssocID="{435A1E6C-DE60-44CB-B269-7E238A975E6A}" presName="sibTrans" presStyleCnt="0"/>
      <dgm:spPr/>
    </dgm:pt>
    <dgm:pt modelId="{E58CC801-C329-48CF-923E-5A918A293B8C}" type="pres">
      <dgm:prSet presAssocID="{5CF092F0-9D5F-4696-9FFF-7A4DE817BDDF}" presName="node" presStyleLbl="node1" presStyleIdx="2" presStyleCnt="5" custLinFactNeighborX="464" custLinFactNeighborY="-1548">
        <dgm:presLayoutVars>
          <dgm:bulletEnabled val="1"/>
        </dgm:presLayoutVars>
      </dgm:prSet>
      <dgm:spPr/>
      <dgm:t>
        <a:bodyPr/>
        <a:lstStyle/>
        <a:p>
          <a:endParaRPr lang="ru-RU"/>
        </a:p>
      </dgm:t>
    </dgm:pt>
    <dgm:pt modelId="{0014C916-6AD6-444D-B7FE-6D97209EFE2E}" type="pres">
      <dgm:prSet presAssocID="{24179069-7C7F-4C26-BFB0-C01A18C1EA67}" presName="sibTrans" presStyleCnt="0"/>
      <dgm:spPr/>
    </dgm:pt>
    <dgm:pt modelId="{41EED82B-281E-45B1-8FB1-B6D85B308905}" type="pres">
      <dgm:prSet presAssocID="{6A70FEDE-70A1-4EC8-A7C8-34759685B43C}" presName="node" presStyleLbl="node1" presStyleIdx="3" presStyleCnt="5">
        <dgm:presLayoutVars>
          <dgm:bulletEnabled val="1"/>
        </dgm:presLayoutVars>
      </dgm:prSet>
      <dgm:spPr/>
      <dgm:t>
        <a:bodyPr/>
        <a:lstStyle/>
        <a:p>
          <a:endParaRPr lang="ru-RU"/>
        </a:p>
      </dgm:t>
    </dgm:pt>
    <dgm:pt modelId="{46EAD41F-E23D-4542-AB73-86A5F1C5F360}" type="pres">
      <dgm:prSet presAssocID="{545868F6-58E4-446F-ACEB-DB2269AED17A}" presName="sibTrans" presStyleCnt="0"/>
      <dgm:spPr/>
    </dgm:pt>
    <dgm:pt modelId="{6649EE89-27F5-410C-9902-F14AFD09D427}" type="pres">
      <dgm:prSet presAssocID="{81864B85-E513-4630-A554-D06DF20CD1E4}" presName="node" presStyleLbl="node1" presStyleIdx="4" presStyleCnt="5">
        <dgm:presLayoutVars>
          <dgm:bulletEnabled val="1"/>
        </dgm:presLayoutVars>
      </dgm:prSet>
      <dgm:spPr/>
      <dgm:t>
        <a:bodyPr/>
        <a:lstStyle/>
        <a:p>
          <a:endParaRPr lang="ru-RU"/>
        </a:p>
      </dgm:t>
    </dgm:pt>
  </dgm:ptLst>
  <dgm:cxnLst>
    <dgm:cxn modelId="{1AB86BF6-3E19-4574-9E28-D817CA8A31C2}" type="presOf" srcId="{5CF092F0-9D5F-4696-9FFF-7A4DE817BDDF}" destId="{E58CC801-C329-48CF-923E-5A918A293B8C}" srcOrd="0" destOrd="0" presId="urn:microsoft.com/office/officeart/2005/8/layout/default"/>
    <dgm:cxn modelId="{F6225E33-BA15-4155-972B-9B8D0AFF8169}" type="presOf" srcId="{033EF34C-E2DE-4DC0-979E-11D1E9BD3335}" destId="{5FFB8C43-8F68-48F0-BCD7-64CE246ED9FA}" srcOrd="0" destOrd="0" presId="urn:microsoft.com/office/officeart/2005/8/layout/default"/>
    <dgm:cxn modelId="{030E4117-4489-45EE-9F5C-62B2CC2C4563}" srcId="{640B0C9E-63F3-4689-9131-DEF8FAC6A210}" destId="{8C5F28F8-3E68-47C3-B47D-B0955D0119A2}" srcOrd="1" destOrd="0" parTransId="{B8651D73-3CDD-42F4-94D4-6557A8AC6079}" sibTransId="{435A1E6C-DE60-44CB-B269-7E238A975E6A}"/>
    <dgm:cxn modelId="{85B2E085-DBC0-463C-A68E-024B6E302BC2}" type="presOf" srcId="{6A70FEDE-70A1-4EC8-A7C8-34759685B43C}" destId="{41EED82B-281E-45B1-8FB1-B6D85B308905}" srcOrd="0" destOrd="0" presId="urn:microsoft.com/office/officeart/2005/8/layout/default"/>
    <dgm:cxn modelId="{CD440CFE-25BC-4287-B5D3-440CA176A1E0}" srcId="{640B0C9E-63F3-4689-9131-DEF8FAC6A210}" destId="{6A70FEDE-70A1-4EC8-A7C8-34759685B43C}" srcOrd="3" destOrd="0" parTransId="{ECD8EDA6-8F1A-46DD-9B58-B9F71234C337}" sibTransId="{545868F6-58E4-446F-ACEB-DB2269AED17A}"/>
    <dgm:cxn modelId="{124145DB-9FC1-48A2-8796-842CC6CD091B}" type="presOf" srcId="{81864B85-E513-4630-A554-D06DF20CD1E4}" destId="{6649EE89-27F5-410C-9902-F14AFD09D427}" srcOrd="0" destOrd="0" presId="urn:microsoft.com/office/officeart/2005/8/layout/default"/>
    <dgm:cxn modelId="{E288DAB2-6D2D-4BDB-B9E2-9693AF068086}" type="presOf" srcId="{640B0C9E-63F3-4689-9131-DEF8FAC6A210}" destId="{6CDB9611-D48C-430B-84C9-BDA0EE3D725D}" srcOrd="0" destOrd="0" presId="urn:microsoft.com/office/officeart/2005/8/layout/default"/>
    <dgm:cxn modelId="{1EC020FC-A735-4884-8F55-B5213992F56B}" srcId="{640B0C9E-63F3-4689-9131-DEF8FAC6A210}" destId="{81864B85-E513-4630-A554-D06DF20CD1E4}" srcOrd="4" destOrd="0" parTransId="{DD1A0463-59F2-47A6-9F58-8698757DDA74}" sibTransId="{BCE301A8-A4C2-4815-933A-F5BB5C081696}"/>
    <dgm:cxn modelId="{8DB97F1C-45DB-40A2-8054-8E0D5963BE08}" srcId="{640B0C9E-63F3-4689-9131-DEF8FAC6A210}" destId="{033EF34C-E2DE-4DC0-979E-11D1E9BD3335}" srcOrd="0" destOrd="0" parTransId="{7D7E867F-58E8-4C83-98A4-D7A546C12D53}" sibTransId="{9ACA8083-D240-4631-B9D5-341FE5CD7D6C}"/>
    <dgm:cxn modelId="{39F6A45A-A835-423C-AF21-9F391A325A2C}" srcId="{640B0C9E-63F3-4689-9131-DEF8FAC6A210}" destId="{5CF092F0-9D5F-4696-9FFF-7A4DE817BDDF}" srcOrd="2" destOrd="0" parTransId="{CAA6CA2E-85DF-4212-BC9F-4AF510A08E79}" sibTransId="{24179069-7C7F-4C26-BFB0-C01A18C1EA67}"/>
    <dgm:cxn modelId="{F34A06EC-601F-4773-AC39-BFF6A01252F6}" type="presOf" srcId="{8C5F28F8-3E68-47C3-B47D-B0955D0119A2}" destId="{58E9A1F4-C812-41B2-A54F-EA0C072EEF72}" srcOrd="0" destOrd="0" presId="urn:microsoft.com/office/officeart/2005/8/layout/default"/>
    <dgm:cxn modelId="{3CDCD186-EB5D-4C52-B1BC-8C87B13E5D08}" type="presParOf" srcId="{6CDB9611-D48C-430B-84C9-BDA0EE3D725D}" destId="{5FFB8C43-8F68-48F0-BCD7-64CE246ED9FA}" srcOrd="0" destOrd="0" presId="urn:microsoft.com/office/officeart/2005/8/layout/default"/>
    <dgm:cxn modelId="{6FDDA07B-53F6-463B-8F74-312CCEDCA497}" type="presParOf" srcId="{6CDB9611-D48C-430B-84C9-BDA0EE3D725D}" destId="{BA2864E6-9B03-4565-B4C3-777F43FDD19F}" srcOrd="1" destOrd="0" presId="urn:microsoft.com/office/officeart/2005/8/layout/default"/>
    <dgm:cxn modelId="{C9F9B49A-B152-40AC-A2A6-EB0A9E4AC664}" type="presParOf" srcId="{6CDB9611-D48C-430B-84C9-BDA0EE3D725D}" destId="{58E9A1F4-C812-41B2-A54F-EA0C072EEF72}" srcOrd="2" destOrd="0" presId="urn:microsoft.com/office/officeart/2005/8/layout/default"/>
    <dgm:cxn modelId="{247A159E-EA33-4F1E-93C7-38F58552B1EF}" type="presParOf" srcId="{6CDB9611-D48C-430B-84C9-BDA0EE3D725D}" destId="{37D95F72-6643-4D52-9577-21942E8521C7}" srcOrd="3" destOrd="0" presId="urn:microsoft.com/office/officeart/2005/8/layout/default"/>
    <dgm:cxn modelId="{5F73E12F-AA44-41A6-8A60-B436B6930734}" type="presParOf" srcId="{6CDB9611-D48C-430B-84C9-BDA0EE3D725D}" destId="{E58CC801-C329-48CF-923E-5A918A293B8C}" srcOrd="4" destOrd="0" presId="urn:microsoft.com/office/officeart/2005/8/layout/default"/>
    <dgm:cxn modelId="{1F085031-EA17-4052-A96D-9BA4AA979EEE}" type="presParOf" srcId="{6CDB9611-D48C-430B-84C9-BDA0EE3D725D}" destId="{0014C916-6AD6-444D-B7FE-6D97209EFE2E}" srcOrd="5" destOrd="0" presId="urn:microsoft.com/office/officeart/2005/8/layout/default"/>
    <dgm:cxn modelId="{FC84C22D-F5F7-4E24-AB0A-0E01901F3397}" type="presParOf" srcId="{6CDB9611-D48C-430B-84C9-BDA0EE3D725D}" destId="{41EED82B-281E-45B1-8FB1-B6D85B308905}" srcOrd="6" destOrd="0" presId="urn:microsoft.com/office/officeart/2005/8/layout/default"/>
    <dgm:cxn modelId="{AAADCF52-3270-4A9E-9ECB-ACB3A76B88A0}" type="presParOf" srcId="{6CDB9611-D48C-430B-84C9-BDA0EE3D725D}" destId="{46EAD41F-E23D-4542-AB73-86A5F1C5F360}" srcOrd="7" destOrd="0" presId="urn:microsoft.com/office/officeart/2005/8/layout/default"/>
    <dgm:cxn modelId="{4B060E89-DDDB-4AFA-8148-9D24C64C6DBE}" type="presParOf" srcId="{6CDB9611-D48C-430B-84C9-BDA0EE3D725D}" destId="{6649EE89-27F5-410C-9902-F14AFD09D427}"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AEF5C-3D9D-425C-83E3-7FA3B938FB9E}">
      <dsp:nvSpPr>
        <dsp:cNvPr id="0" name=""/>
        <dsp:cNvSpPr/>
      </dsp:nvSpPr>
      <dsp:spPr>
        <a:xfrm>
          <a:off x="31638" y="3104"/>
          <a:ext cx="12128723" cy="2026864"/>
        </a:xfrm>
        <a:prstGeom prst="rect">
          <a:avLst/>
        </a:prstGeom>
        <a:solidFill>
          <a:schemeClr val="tx2">
            <a:lumMod val="50000"/>
          </a:schemeClr>
        </a:solidFill>
        <a:ln>
          <a:noFill/>
        </a:ln>
        <a:effectLst/>
        <a:scene3d>
          <a:camera prst="orthographicFront"/>
          <a:lightRig rig="threePt" dir="t">
            <a:rot lat="0" lon="0" rev="7500000"/>
          </a:lightRig>
        </a:scene3d>
        <a:sp3d prstMaterial="plastic">
          <a:bevelT w="127000" h="25400" prst="relaxedInset"/>
          <a:bevelB w="88900" h="121750" prst="angle"/>
        </a:sp3d>
      </dsp:spPr>
      <dsp:style>
        <a:lnRef idx="0">
          <a:scrgbClr r="0" g="0" b="0"/>
        </a:lnRef>
        <a:fillRef idx="1">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ru-RU" sz="2900" kern="1200" dirty="0" smtClean="0"/>
            <a:t>В последнее время самое широкое распространение получил объектно-реляционный подход, являющийся синтезом первого и третьего подходов. </a:t>
          </a:r>
        </a:p>
        <a:p>
          <a:pPr lvl="0" algn="ctr" defTabSz="1289050">
            <a:lnSpc>
              <a:spcPct val="90000"/>
            </a:lnSpc>
            <a:spcBef>
              <a:spcPct val="0"/>
            </a:spcBef>
            <a:spcAft>
              <a:spcPct val="35000"/>
            </a:spcAft>
          </a:pPr>
          <a:r>
            <a:rPr lang="ru-RU" sz="2900" kern="1200" dirty="0" smtClean="0"/>
            <a:t>Следует отметить, что в ГИС выделяют несколько форм представления объектов: </a:t>
          </a:r>
          <a:endParaRPr lang="ru-RU" sz="2900" kern="1200" dirty="0"/>
        </a:p>
      </dsp:txBody>
      <dsp:txXfrm>
        <a:off x="31638" y="3104"/>
        <a:ext cx="12128723" cy="2026864"/>
      </dsp:txXfrm>
    </dsp:sp>
    <dsp:sp modelId="{BE76EF05-1D90-4D23-928B-4D048E8A4E82}">
      <dsp:nvSpPr>
        <dsp:cNvPr id="0" name=""/>
        <dsp:cNvSpPr/>
      </dsp:nvSpPr>
      <dsp:spPr>
        <a:xfrm>
          <a:off x="5953" y="2036179"/>
          <a:ext cx="4060031" cy="4282496"/>
        </a:xfrm>
        <a:prstGeom prst="rect">
          <a:avLst/>
        </a:prstGeom>
        <a:solidFill>
          <a:schemeClr val="accent2">
            <a:lumMod val="5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82880" tIns="182880" rIns="182880" bIns="182880" numCol="1" spcCol="1270" anchor="ctr" anchorCtr="0">
          <a:noAutofit/>
        </a:bodyPr>
        <a:lstStyle/>
        <a:p>
          <a:pPr lvl="0" algn="ctr" defTabSz="2133600">
            <a:lnSpc>
              <a:spcPct val="90000"/>
            </a:lnSpc>
            <a:spcBef>
              <a:spcPct val="0"/>
            </a:spcBef>
            <a:spcAft>
              <a:spcPct val="35000"/>
            </a:spcAft>
          </a:pPr>
          <a:r>
            <a:rPr lang="ru-RU" sz="4800" kern="1200" dirty="0" smtClean="0"/>
            <a:t>в виде нерегулярной сети точек;</a:t>
          </a:r>
          <a:endParaRPr lang="ru-RU" sz="4800" kern="1200" dirty="0"/>
        </a:p>
      </dsp:txBody>
      <dsp:txXfrm>
        <a:off x="5953" y="2036179"/>
        <a:ext cx="4060031" cy="4282496"/>
      </dsp:txXfrm>
    </dsp:sp>
    <dsp:sp modelId="{16A5130B-2BF9-4576-AB20-4228D0B2E633}">
      <dsp:nvSpPr>
        <dsp:cNvPr id="0" name=""/>
        <dsp:cNvSpPr/>
      </dsp:nvSpPr>
      <dsp:spPr>
        <a:xfrm>
          <a:off x="4065984" y="2036179"/>
          <a:ext cx="4060031" cy="4282496"/>
        </a:xfrm>
        <a:prstGeom prst="rect">
          <a:avLst/>
        </a:prstGeom>
        <a:solidFill>
          <a:schemeClr val="accent4">
            <a:lumMod val="5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82880" tIns="182880" rIns="182880" bIns="182880" numCol="1" spcCol="1270" anchor="ctr" anchorCtr="0">
          <a:noAutofit/>
        </a:bodyPr>
        <a:lstStyle/>
        <a:p>
          <a:pPr lvl="0" algn="ctr" defTabSz="2133600">
            <a:lnSpc>
              <a:spcPct val="90000"/>
            </a:lnSpc>
            <a:spcBef>
              <a:spcPct val="0"/>
            </a:spcBef>
            <a:spcAft>
              <a:spcPct val="35000"/>
            </a:spcAft>
          </a:pPr>
          <a:r>
            <a:rPr lang="ru-RU" sz="4800" kern="1200" dirty="0" smtClean="0"/>
            <a:t>в виде регулярной сети точек; </a:t>
          </a:r>
          <a:endParaRPr lang="ru-RU" sz="4800" kern="1200" dirty="0"/>
        </a:p>
      </dsp:txBody>
      <dsp:txXfrm>
        <a:off x="4065984" y="2036179"/>
        <a:ext cx="4060031" cy="4282496"/>
      </dsp:txXfrm>
    </dsp:sp>
    <dsp:sp modelId="{25EA5305-40BF-492E-AE1C-AA1AD67BC466}">
      <dsp:nvSpPr>
        <dsp:cNvPr id="0" name=""/>
        <dsp:cNvSpPr/>
      </dsp:nvSpPr>
      <dsp:spPr>
        <a:xfrm>
          <a:off x="8126015" y="2036179"/>
          <a:ext cx="4060031" cy="4282496"/>
        </a:xfrm>
        <a:prstGeom prst="rect">
          <a:avLst/>
        </a:prstGeom>
        <a:solidFill>
          <a:schemeClr val="accent6">
            <a:lumMod val="5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82880" tIns="182880" rIns="182880" bIns="182880" numCol="1" spcCol="1270" anchor="ctr" anchorCtr="0">
          <a:noAutofit/>
        </a:bodyPr>
        <a:lstStyle/>
        <a:p>
          <a:pPr lvl="0" algn="ctr" defTabSz="2133600">
            <a:lnSpc>
              <a:spcPct val="90000"/>
            </a:lnSpc>
            <a:spcBef>
              <a:spcPct val="0"/>
            </a:spcBef>
            <a:spcAft>
              <a:spcPct val="35000"/>
            </a:spcAft>
          </a:pPr>
          <a:r>
            <a:rPr lang="ru-RU" sz="4800" kern="1200" dirty="0" smtClean="0"/>
            <a:t>в виде регулярной сети точек; </a:t>
          </a:r>
          <a:endParaRPr lang="ru-RU" sz="4800" kern="1200" dirty="0"/>
        </a:p>
      </dsp:txBody>
      <dsp:txXfrm>
        <a:off x="8126015" y="2036179"/>
        <a:ext cx="4060031" cy="4282496"/>
      </dsp:txXfrm>
    </dsp:sp>
    <dsp:sp modelId="{C21DABF1-C295-483F-A04A-E03770040AB7}">
      <dsp:nvSpPr>
        <dsp:cNvPr id="0" name=""/>
        <dsp:cNvSpPr/>
      </dsp:nvSpPr>
      <dsp:spPr>
        <a:xfrm>
          <a:off x="0" y="6318676"/>
          <a:ext cx="12192000" cy="475832"/>
        </a:xfrm>
        <a:prstGeom prst="rect">
          <a:avLst/>
        </a:prstGeom>
        <a:solidFill>
          <a:schemeClr val="tx2">
            <a:lumMod val="50000"/>
          </a:schemeClr>
        </a:solidFill>
        <a:ln>
          <a:noFill/>
        </a:ln>
        <a:effectLst/>
        <a:scene3d>
          <a:camera prst="orthographicFront"/>
          <a:lightRig rig="threePt" dir="t">
            <a:rot lat="0" lon="0" rev="7500000"/>
          </a:lightRig>
        </a:scene3d>
        <a:sp3d prstMaterial="plastic">
          <a:bevelT w="127000" h="25400" prst="relaxedInset"/>
          <a:bevelB w="88900" h="121750" prst="angle"/>
        </a:sp3d>
      </dsp:spPr>
      <dsp:style>
        <a:lnRef idx="0">
          <a:scrgbClr r="0" g="0" b="0"/>
        </a:lnRef>
        <a:fillRef idx="1">
          <a:scrgbClr r="0" g="0" b="0"/>
        </a:fillRef>
        <a:effectRef idx="2">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AEF5C-3D9D-425C-83E3-7FA3B938FB9E}">
      <dsp:nvSpPr>
        <dsp:cNvPr id="0" name=""/>
        <dsp:cNvSpPr/>
      </dsp:nvSpPr>
      <dsp:spPr>
        <a:xfrm>
          <a:off x="31638" y="3104"/>
          <a:ext cx="12128723" cy="2026864"/>
        </a:xfrm>
        <a:prstGeom prst="rect">
          <a:avLst/>
        </a:prstGeom>
        <a:solidFill>
          <a:schemeClr val="tx2">
            <a:lumMod val="50000"/>
          </a:schemeClr>
        </a:solidFill>
        <a:ln>
          <a:noFill/>
        </a:ln>
        <a:effectLst/>
        <a:scene3d>
          <a:camera prst="orthographicFront"/>
          <a:lightRig rig="threePt" dir="t">
            <a:rot lat="0" lon="0" rev="7500000"/>
          </a:lightRig>
        </a:scene3d>
        <a:sp3d prstMaterial="plastic">
          <a:bevelT w="127000" h="25400" prst="relaxedInset"/>
          <a:bevelB w="88900" h="121750" prst="angle"/>
        </a:sp3d>
      </dsp:spPr>
      <dsp:style>
        <a:lnRef idx="0">
          <a:scrgbClr r="0" g="0" b="0"/>
        </a:lnRef>
        <a:fillRef idx="1">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ru-RU" sz="2900" b="1" kern="1200" dirty="0" smtClean="0"/>
            <a:t>Ввод информации в ГИС </a:t>
          </a:r>
          <a:endParaRPr lang="ru-RU" sz="2900" kern="1200" dirty="0" smtClean="0"/>
        </a:p>
        <a:p>
          <a:pPr lvl="0" algn="ctr" defTabSz="1289050">
            <a:lnSpc>
              <a:spcPct val="90000"/>
            </a:lnSpc>
            <a:spcBef>
              <a:spcPct val="0"/>
            </a:spcBef>
            <a:spcAft>
              <a:spcPct val="35000"/>
            </a:spcAft>
          </a:pPr>
          <a:r>
            <a:rPr lang="ru-RU" sz="2900" kern="1200" dirty="0" smtClean="0"/>
            <a:t>Ввод данных – это процедура, связанная с кодированием данных в компьютерно-читаемую форму и их записью в базу данных ГИС. Выделяют три главных этапа ввода данных: </a:t>
          </a:r>
          <a:endParaRPr lang="ru-RU" sz="2900" kern="1200" dirty="0"/>
        </a:p>
      </dsp:txBody>
      <dsp:txXfrm>
        <a:off x="31638" y="3104"/>
        <a:ext cx="12128723" cy="2026864"/>
      </dsp:txXfrm>
    </dsp:sp>
    <dsp:sp modelId="{BE76EF05-1D90-4D23-928B-4D048E8A4E82}">
      <dsp:nvSpPr>
        <dsp:cNvPr id="0" name=""/>
        <dsp:cNvSpPr/>
      </dsp:nvSpPr>
      <dsp:spPr>
        <a:xfrm>
          <a:off x="5953" y="2036179"/>
          <a:ext cx="4060031" cy="4282496"/>
        </a:xfrm>
        <a:prstGeom prst="rect">
          <a:avLst/>
        </a:prstGeom>
        <a:solidFill>
          <a:schemeClr val="accent2">
            <a:lumMod val="5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6210" tIns="156210" rIns="156210" bIns="156210" numCol="1" spcCol="1270" anchor="ctr" anchorCtr="0">
          <a:noAutofit/>
        </a:bodyPr>
        <a:lstStyle/>
        <a:p>
          <a:pPr lvl="0" algn="ctr" defTabSz="1822450">
            <a:lnSpc>
              <a:spcPct val="90000"/>
            </a:lnSpc>
            <a:spcBef>
              <a:spcPct val="0"/>
            </a:spcBef>
            <a:spcAft>
              <a:spcPct val="35000"/>
            </a:spcAft>
          </a:pPr>
          <a:r>
            <a:rPr lang="ru-RU" sz="4100" kern="1200" dirty="0" smtClean="0"/>
            <a:t>сбор данных; </a:t>
          </a:r>
          <a:endParaRPr lang="ru-RU" sz="4100" kern="1200" dirty="0"/>
        </a:p>
      </dsp:txBody>
      <dsp:txXfrm>
        <a:off x="5953" y="2036179"/>
        <a:ext cx="4060031" cy="4282496"/>
      </dsp:txXfrm>
    </dsp:sp>
    <dsp:sp modelId="{16A5130B-2BF9-4576-AB20-4228D0B2E633}">
      <dsp:nvSpPr>
        <dsp:cNvPr id="0" name=""/>
        <dsp:cNvSpPr/>
      </dsp:nvSpPr>
      <dsp:spPr>
        <a:xfrm>
          <a:off x="4065984" y="2036179"/>
          <a:ext cx="4060031" cy="4282496"/>
        </a:xfrm>
        <a:prstGeom prst="rect">
          <a:avLst/>
        </a:prstGeom>
        <a:solidFill>
          <a:schemeClr val="accent4">
            <a:lumMod val="5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6210" tIns="156210" rIns="156210" bIns="156210" numCol="1" spcCol="1270" anchor="ctr" anchorCtr="0">
          <a:noAutofit/>
        </a:bodyPr>
        <a:lstStyle/>
        <a:p>
          <a:pPr lvl="0" algn="ctr" defTabSz="1822450">
            <a:lnSpc>
              <a:spcPct val="90000"/>
            </a:lnSpc>
            <a:spcBef>
              <a:spcPct val="0"/>
            </a:spcBef>
            <a:spcAft>
              <a:spcPct val="35000"/>
            </a:spcAft>
          </a:pPr>
          <a:r>
            <a:rPr lang="ru-RU" sz="4100" kern="1200" dirty="0" smtClean="0"/>
            <a:t>редактирование и очистка данных; </a:t>
          </a:r>
          <a:endParaRPr lang="ru-RU" sz="4100" kern="1200" dirty="0"/>
        </a:p>
      </dsp:txBody>
      <dsp:txXfrm>
        <a:off x="4065984" y="2036179"/>
        <a:ext cx="4060031" cy="4282496"/>
      </dsp:txXfrm>
    </dsp:sp>
    <dsp:sp modelId="{25EA5305-40BF-492E-AE1C-AA1AD67BC466}">
      <dsp:nvSpPr>
        <dsp:cNvPr id="0" name=""/>
        <dsp:cNvSpPr/>
      </dsp:nvSpPr>
      <dsp:spPr>
        <a:xfrm>
          <a:off x="8126015" y="2036179"/>
          <a:ext cx="4060031" cy="4282496"/>
        </a:xfrm>
        <a:prstGeom prst="rect">
          <a:avLst/>
        </a:prstGeom>
        <a:solidFill>
          <a:schemeClr val="accent6">
            <a:lumMod val="5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6210" tIns="156210" rIns="156210" bIns="156210" numCol="1" spcCol="1270" anchor="ctr" anchorCtr="0">
          <a:noAutofit/>
        </a:bodyPr>
        <a:lstStyle/>
        <a:p>
          <a:pPr lvl="0" algn="ctr" defTabSz="1822450">
            <a:lnSpc>
              <a:spcPct val="90000"/>
            </a:lnSpc>
            <a:spcBef>
              <a:spcPct val="0"/>
            </a:spcBef>
            <a:spcAft>
              <a:spcPct val="35000"/>
            </a:spcAft>
          </a:pPr>
          <a:r>
            <a:rPr lang="ru-RU" sz="4100" kern="1200" dirty="0" smtClean="0"/>
            <a:t>географическое кодирование данных. </a:t>
          </a:r>
          <a:endParaRPr lang="ru-RU" sz="4100" kern="1200" dirty="0"/>
        </a:p>
      </dsp:txBody>
      <dsp:txXfrm>
        <a:off x="8126015" y="2036179"/>
        <a:ext cx="4060031" cy="4282496"/>
      </dsp:txXfrm>
    </dsp:sp>
    <dsp:sp modelId="{C21DABF1-C295-483F-A04A-E03770040AB7}">
      <dsp:nvSpPr>
        <dsp:cNvPr id="0" name=""/>
        <dsp:cNvSpPr/>
      </dsp:nvSpPr>
      <dsp:spPr>
        <a:xfrm>
          <a:off x="0" y="6318676"/>
          <a:ext cx="12192000" cy="475832"/>
        </a:xfrm>
        <a:prstGeom prst="rect">
          <a:avLst/>
        </a:prstGeom>
        <a:solidFill>
          <a:schemeClr val="tx2">
            <a:lumMod val="50000"/>
          </a:schemeClr>
        </a:solidFill>
        <a:ln>
          <a:noFill/>
        </a:ln>
        <a:effectLst/>
        <a:scene3d>
          <a:camera prst="orthographicFront"/>
          <a:lightRig rig="threePt" dir="t">
            <a:rot lat="0" lon="0" rev="7500000"/>
          </a:lightRig>
        </a:scene3d>
        <a:sp3d prstMaterial="plastic">
          <a:bevelT w="127000" h="25400" prst="relaxedInset"/>
          <a:bevelB w="88900" h="121750" prst="angle"/>
        </a:sp3d>
      </dsp:spPr>
      <dsp:style>
        <a:lnRef idx="0">
          <a:scrgbClr r="0" g="0" b="0"/>
        </a:lnRef>
        <a:fillRef idx="1">
          <a:scrgbClr r="0" g="0" b="0"/>
        </a:fillRef>
        <a:effectRef idx="2">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FB8C43-8F68-48F0-BCD7-64CE246ED9FA}">
      <dsp:nvSpPr>
        <dsp:cNvPr id="0" name=""/>
        <dsp:cNvSpPr/>
      </dsp:nvSpPr>
      <dsp:spPr>
        <a:xfrm>
          <a:off x="0" y="598508"/>
          <a:ext cx="3714749" cy="2228849"/>
        </a:xfrm>
        <a:prstGeom prst="rect">
          <a:avLst/>
        </a:prstGeom>
        <a:solidFill>
          <a:schemeClr val="accent6">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ru-RU" sz="2900" kern="1200" dirty="0" smtClean="0"/>
            <a:t>дату получения; </a:t>
          </a:r>
          <a:endParaRPr lang="ru-RU" sz="2900" kern="1200" dirty="0"/>
        </a:p>
      </dsp:txBody>
      <dsp:txXfrm>
        <a:off x="0" y="598508"/>
        <a:ext cx="3714749" cy="2228849"/>
      </dsp:txXfrm>
    </dsp:sp>
    <dsp:sp modelId="{58E9A1F4-C812-41B2-A54F-EA0C072EEF72}">
      <dsp:nvSpPr>
        <dsp:cNvPr id="0" name=""/>
        <dsp:cNvSpPr/>
      </dsp:nvSpPr>
      <dsp:spPr>
        <a:xfrm>
          <a:off x="4086225" y="598508"/>
          <a:ext cx="3714749" cy="2228849"/>
        </a:xfrm>
        <a:prstGeom prst="rect">
          <a:avLst/>
        </a:prstGeom>
        <a:solidFill>
          <a:schemeClr val="accent5">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ru-RU" sz="2900" kern="1200" dirty="0" smtClean="0"/>
            <a:t>точность позиционирования;</a:t>
          </a:r>
          <a:endParaRPr lang="ru-RU" sz="2900" kern="1200" dirty="0"/>
        </a:p>
      </dsp:txBody>
      <dsp:txXfrm>
        <a:off x="4086225" y="598508"/>
        <a:ext cx="3714749" cy="2228849"/>
      </dsp:txXfrm>
    </dsp:sp>
    <dsp:sp modelId="{E58CC801-C329-48CF-923E-5A918A293B8C}">
      <dsp:nvSpPr>
        <dsp:cNvPr id="0" name=""/>
        <dsp:cNvSpPr/>
      </dsp:nvSpPr>
      <dsp:spPr>
        <a:xfrm>
          <a:off x="8172450" y="564005"/>
          <a:ext cx="3714749" cy="2228849"/>
        </a:xfrm>
        <a:prstGeom prst="rect">
          <a:avLst/>
        </a:prstGeom>
        <a:solidFill>
          <a:schemeClr val="accent4">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ru-RU" sz="2900" kern="1200" dirty="0" smtClean="0"/>
            <a:t>точность классификации;</a:t>
          </a:r>
          <a:endParaRPr lang="ru-RU" sz="2900" kern="1200" dirty="0"/>
        </a:p>
      </dsp:txBody>
      <dsp:txXfrm>
        <a:off x="8172450" y="564005"/>
        <a:ext cx="3714749" cy="2228849"/>
      </dsp:txXfrm>
    </dsp:sp>
    <dsp:sp modelId="{41EED82B-281E-45B1-8FB1-B6D85B308905}">
      <dsp:nvSpPr>
        <dsp:cNvPr id="0" name=""/>
        <dsp:cNvSpPr/>
      </dsp:nvSpPr>
      <dsp:spPr>
        <a:xfrm>
          <a:off x="2043112" y="3198833"/>
          <a:ext cx="3714749" cy="2228849"/>
        </a:xfrm>
        <a:prstGeom prst="rect">
          <a:avLst/>
        </a:prstGeom>
        <a:solidFill>
          <a:schemeClr val="accent2">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ru-RU" sz="2900" kern="1200" dirty="0" smtClean="0"/>
            <a:t>степень полноты; </a:t>
          </a:r>
          <a:endParaRPr lang="ru-RU" sz="2900" kern="1200" dirty="0"/>
        </a:p>
      </dsp:txBody>
      <dsp:txXfrm>
        <a:off x="2043112" y="3198833"/>
        <a:ext cx="3714749" cy="2228849"/>
      </dsp:txXfrm>
    </dsp:sp>
    <dsp:sp modelId="{6649EE89-27F5-410C-9902-F14AFD09D427}">
      <dsp:nvSpPr>
        <dsp:cNvPr id="0" name=""/>
        <dsp:cNvSpPr/>
      </dsp:nvSpPr>
      <dsp:spPr>
        <a:xfrm>
          <a:off x="6129337" y="3198833"/>
          <a:ext cx="3714749" cy="2228849"/>
        </a:xfrm>
        <a:prstGeom prst="rect">
          <a:avLst/>
        </a:prstGeom>
        <a:solidFill>
          <a:schemeClr val="tx2">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ru-RU" sz="2900" kern="1200" dirty="0" smtClean="0"/>
            <a:t>метод, использованный для получения и кодирования данных.</a:t>
          </a:r>
          <a:endParaRPr lang="ru-RU" sz="2900" kern="1200" dirty="0"/>
        </a:p>
      </dsp:txBody>
      <dsp:txXfrm>
        <a:off x="6129337" y="3198833"/>
        <a:ext cx="3714749" cy="2228849"/>
      </dsp:txXfrm>
    </dsp:sp>
  </dsp:spTree>
</dsp:drawing>
</file>

<file path=ppt/diagrams/layout1.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D1E16D-40AE-4F7B-89DA-08FA8576FE62}" type="datetimeFigureOut">
              <a:rPr lang="ru-RU" smtClean="0"/>
              <a:t>24.03.2026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E7B180-2896-4825-A371-C953116C1FCE}" type="slidenum">
              <a:rPr lang="ru-RU" smtClean="0"/>
              <a:t>‹#›</a:t>
            </a:fld>
            <a:endParaRPr lang="ru-RU"/>
          </a:p>
        </p:txBody>
      </p:sp>
    </p:spTree>
    <p:extLst>
      <p:ext uri="{BB962C8B-B14F-4D97-AF65-F5344CB8AC3E}">
        <p14:creationId xmlns:p14="http://schemas.microsoft.com/office/powerpoint/2010/main" val="1966748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Образ слайда 1"/>
          <p:cNvSpPr>
            <a:spLocks noGrp="1" noRot="1" noChangeAspect="1" noTextEdit="1"/>
          </p:cNvSpPr>
          <p:nvPr>
            <p:ph type="sldImg"/>
          </p:nvPr>
        </p:nvSpPr>
        <p:spPr>
          <a:xfrm>
            <a:off x="90488" y="744538"/>
            <a:ext cx="6616700" cy="3722687"/>
          </a:xfrm>
          <a:ln/>
        </p:spPr>
      </p:sp>
      <p:sp>
        <p:nvSpPr>
          <p:cNvPr id="34819" name="Заметки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ru-RU" altLang="ru-RU" smtClean="0">
              <a:latin typeface="Arial" pitchFamily="34" charset="0"/>
            </a:endParaRPr>
          </a:p>
        </p:txBody>
      </p:sp>
      <p:sp>
        <p:nvSpPr>
          <p:cNvPr id="34820" name="Номер слайда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fld id="{3995C959-3E6F-4A2D-BBCE-A1FF53A98587}" type="slidenum">
              <a:rPr lang="ru-RU" altLang="ru-RU">
                <a:solidFill>
                  <a:prstClr val="black"/>
                </a:solidFill>
              </a:rPr>
              <a:pPr/>
              <a:t>1</a:t>
            </a:fld>
            <a:endParaRPr lang="ru-RU" altLang="ru-RU">
              <a:solidFill>
                <a:prstClr val="black"/>
              </a:solidFill>
            </a:endParaRPr>
          </a:p>
        </p:txBody>
      </p:sp>
    </p:spTree>
    <p:extLst>
      <p:ext uri="{BB962C8B-B14F-4D97-AF65-F5344CB8AC3E}">
        <p14:creationId xmlns:p14="http://schemas.microsoft.com/office/powerpoint/2010/main" val="42918793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FBE7B180-2896-4825-A371-C953116C1FCE}" type="slidenum">
              <a:rPr lang="ru-RU" smtClean="0"/>
              <a:t>34</a:t>
            </a:fld>
            <a:endParaRPr lang="ru-RU"/>
          </a:p>
        </p:txBody>
      </p:sp>
    </p:spTree>
    <p:extLst>
      <p:ext uri="{BB962C8B-B14F-4D97-AF65-F5344CB8AC3E}">
        <p14:creationId xmlns:p14="http://schemas.microsoft.com/office/powerpoint/2010/main" val="20204498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ru-RU"/>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44454585-7C67-480B-A3E7-2717674931C3}" type="datetimeFigureOut">
              <a:rPr lang="ru-RU" smtClean="0"/>
              <a:t>24.03.2026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378964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44454585-7C67-480B-A3E7-2717674931C3}" type="datetimeFigureOut">
              <a:rPr lang="ru-RU" smtClean="0"/>
              <a:t>24.03.2026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3889928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ru-RU"/>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44454585-7C67-480B-A3E7-2717674931C3}" type="datetimeFigureOut">
              <a:rPr lang="ru-RU" smtClean="0"/>
              <a:t>24.03.2026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1303067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44454585-7C67-480B-A3E7-2717674931C3}" type="datetimeFigureOut">
              <a:rPr lang="ru-RU" smtClean="0"/>
              <a:t>24.03.2026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3351046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ru-RU"/>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44454585-7C67-480B-A3E7-2717674931C3}" type="datetimeFigureOut">
              <a:rPr lang="ru-RU" smtClean="0"/>
              <a:t>24.03.2026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13998000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44454585-7C67-480B-A3E7-2717674931C3}" type="datetimeFigureOut">
              <a:rPr lang="ru-RU" smtClean="0"/>
              <a:t>24.03.2026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39098789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44454585-7C67-480B-A3E7-2717674931C3}" type="datetimeFigureOut">
              <a:rPr lang="ru-RU" smtClean="0"/>
              <a:t>24.03.2026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2308135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44454585-7C67-480B-A3E7-2717674931C3}" type="datetimeFigureOut">
              <a:rPr lang="ru-RU" smtClean="0"/>
              <a:t>24.03.2026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3771137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44454585-7C67-480B-A3E7-2717674931C3}" type="datetimeFigureOut">
              <a:rPr lang="ru-RU" smtClean="0"/>
              <a:t>24.03.2026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281202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44454585-7C67-480B-A3E7-2717674931C3}" type="datetimeFigureOut">
              <a:rPr lang="ru-RU" smtClean="0"/>
              <a:t>24.03.2026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448889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44454585-7C67-480B-A3E7-2717674931C3}" type="datetimeFigureOut">
              <a:rPr lang="ru-RU" smtClean="0"/>
              <a:t>24.03.2026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1265443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454585-7C67-480B-A3E7-2717674931C3}" type="datetimeFigureOut">
              <a:rPr lang="ru-RU" smtClean="0"/>
              <a:t>24.03.2026</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26E1B2-CEBD-427E-9745-F7D5EC90EFA3}" type="slidenum">
              <a:rPr lang="ru-RU" smtClean="0"/>
              <a:t>‹#›</a:t>
            </a:fld>
            <a:endParaRPr lang="ru-RU"/>
          </a:p>
        </p:txBody>
      </p:sp>
    </p:spTree>
    <p:extLst>
      <p:ext uri="{BB962C8B-B14F-4D97-AF65-F5344CB8AC3E}">
        <p14:creationId xmlns:p14="http://schemas.microsoft.com/office/powerpoint/2010/main" val="7572085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 Id="rId9" Type="http://schemas.openxmlformats.org/officeDocument/2006/relationships/image" Target="../media/image7.jpeg"/></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0.gi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3.gi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4.gi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hyperlink" Target="http://www.geopainting.com/en/License.html" TargetMode="External"/><Relationship Id="rId2" Type="http://schemas.openxmlformats.org/officeDocument/2006/relationships/hyperlink" Target="http://www.geopainting.com/ru/" TargetMode="External"/><Relationship Id="rId1" Type="http://schemas.openxmlformats.org/officeDocument/2006/relationships/slideLayout" Target="../slideLayouts/slideLayout7.xml"/><Relationship Id="rId6" Type="http://schemas.openxmlformats.org/officeDocument/2006/relationships/hyperlink" Target="http://v-dorogu.narod.ru/load.htm" TargetMode="External"/><Relationship Id="rId5" Type="http://schemas.openxmlformats.org/officeDocument/2006/relationships/hyperlink" Target="http://www.geopainting.com/download/gdiplus.zip" TargetMode="External"/><Relationship Id="rId4" Type="http://schemas.openxmlformats.org/officeDocument/2006/relationships/hyperlink" Target="http://www.geopainting.com/ru/limitations.html"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image" Target="../media/image35.gi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8.gif"/><Relationship Id="rId2" Type="http://schemas.openxmlformats.org/officeDocument/2006/relationships/image" Target="../media/image37.gif"/><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8.gif"/><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8.gif"/><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9.gif"/><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9.gif"/><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9.gif"/><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9.gif"/><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0.gif"/><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1.gif"/><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42.gif"/><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3.gif"/><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hyperlink" Target="https://www.zwsoft.ru/spm-desktop-pro" TargetMode="Externa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hyperlink" Target="https://www.zwsoft.ru/spm-zwcad-pro" TargetMode="Externa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hyperlink" Target="https://www.zwsoft.ru/progeo" TargetMode="Externa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6"/>
          <p:cNvSpPr>
            <a:spLocks noChangeArrowheads="1"/>
          </p:cNvSpPr>
          <p:nvPr/>
        </p:nvSpPr>
        <p:spPr bwMode="auto">
          <a:xfrm>
            <a:off x="4956265" y="510698"/>
            <a:ext cx="569118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fontAlgn="base">
              <a:spcBef>
                <a:spcPct val="0"/>
              </a:spcBef>
              <a:spcAft>
                <a:spcPct val="0"/>
              </a:spcAft>
            </a:pPr>
            <a:r>
              <a:rPr lang="ru-RU" altLang="ru-RU" sz="1400" b="1" dirty="0">
                <a:solidFill>
                  <a:srgbClr val="A40000"/>
                </a:solidFill>
                <a:latin typeface="+mn-lt"/>
                <a:cs typeface="Tahoma" pitchFamily="34" charset="0"/>
              </a:rPr>
              <a:t>НИЖЕГОРОДСКИЙ			</a:t>
            </a:r>
          </a:p>
          <a:p>
            <a:pPr fontAlgn="base">
              <a:spcBef>
                <a:spcPct val="0"/>
              </a:spcBef>
              <a:spcAft>
                <a:spcPct val="0"/>
              </a:spcAft>
            </a:pPr>
            <a:r>
              <a:rPr lang="ru-RU" altLang="ru-RU" sz="1400" b="1" dirty="0">
                <a:solidFill>
                  <a:srgbClr val="A40000"/>
                </a:solidFill>
                <a:latin typeface="+mn-lt"/>
                <a:cs typeface="Tahoma" pitchFamily="34" charset="0"/>
              </a:rPr>
              <a:t>ИНСТИТУТ				</a:t>
            </a:r>
          </a:p>
          <a:p>
            <a:pPr fontAlgn="base">
              <a:spcBef>
                <a:spcPct val="0"/>
              </a:spcBef>
              <a:spcAft>
                <a:spcPct val="0"/>
              </a:spcAft>
            </a:pPr>
            <a:r>
              <a:rPr lang="ru-RU" altLang="ru-RU" sz="1400" b="1" dirty="0">
                <a:solidFill>
                  <a:srgbClr val="A40000"/>
                </a:solidFill>
                <a:latin typeface="+mn-lt"/>
                <a:cs typeface="Tahoma" pitchFamily="34" charset="0"/>
              </a:rPr>
              <a:t>УПРАВЛЕНИЯ			</a:t>
            </a:r>
            <a:endParaRPr lang="en-US" altLang="ru-RU" sz="1400" b="1" dirty="0">
              <a:solidFill>
                <a:srgbClr val="A40000"/>
              </a:solidFill>
              <a:latin typeface="+mn-lt"/>
              <a:cs typeface="Tahoma" pitchFamily="34" charset="0"/>
            </a:endParaRPr>
          </a:p>
        </p:txBody>
      </p:sp>
      <p:pic>
        <p:nvPicPr>
          <p:cNvPr id="174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2475" y="854076"/>
            <a:ext cx="2344738"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2" name="Прямоугольник 7"/>
          <p:cNvSpPr>
            <a:spLocks noChangeArrowheads="1"/>
          </p:cNvSpPr>
          <p:nvPr/>
        </p:nvSpPr>
        <p:spPr bwMode="auto">
          <a:xfrm flipH="1">
            <a:off x="351631" y="2762182"/>
            <a:ext cx="2843213" cy="1538287"/>
          </a:xfrm>
          <a:prstGeom prst="rect">
            <a:avLst/>
          </a:prstGeom>
          <a:gradFill rotWithShape="1">
            <a:gsLst>
              <a:gs pos="0">
                <a:srgbClr val="770000"/>
              </a:gs>
              <a:gs pos="50000">
                <a:srgbClr val="AD0000"/>
              </a:gs>
              <a:gs pos="100000">
                <a:srgbClr val="CE0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defTabSz="1042988">
              <a:defRPr>
                <a:solidFill>
                  <a:schemeClr val="tx1"/>
                </a:solidFill>
                <a:latin typeface="Arial" pitchFamily="34" charset="0"/>
              </a:defRPr>
            </a:lvl1pPr>
            <a:lvl2pPr marL="742950" indent="-285750" defTabSz="1042988">
              <a:defRPr>
                <a:solidFill>
                  <a:schemeClr val="tx1"/>
                </a:solidFill>
                <a:latin typeface="Arial" pitchFamily="34" charset="0"/>
              </a:defRPr>
            </a:lvl2pPr>
            <a:lvl3pPr marL="1143000" indent="-228600" defTabSz="1042988">
              <a:defRPr>
                <a:solidFill>
                  <a:schemeClr val="tx1"/>
                </a:solidFill>
                <a:latin typeface="Arial" pitchFamily="34" charset="0"/>
              </a:defRPr>
            </a:lvl3pPr>
            <a:lvl4pPr marL="1600200" indent="-228600" defTabSz="1042988">
              <a:defRPr>
                <a:solidFill>
                  <a:schemeClr val="tx1"/>
                </a:solidFill>
                <a:latin typeface="Arial" pitchFamily="34" charset="0"/>
              </a:defRPr>
            </a:lvl4pPr>
            <a:lvl5pPr marL="2057400" indent="-228600" defTabSz="1042988">
              <a:defRPr>
                <a:solidFill>
                  <a:schemeClr val="tx1"/>
                </a:solidFill>
                <a:latin typeface="Arial" pitchFamily="34" charset="0"/>
              </a:defRPr>
            </a:lvl5pPr>
            <a:lvl6pPr marL="2514600" indent="-228600" defTabSz="1042988" eaLnBrk="0" fontAlgn="base" hangingPunct="0">
              <a:spcBef>
                <a:spcPct val="0"/>
              </a:spcBef>
              <a:spcAft>
                <a:spcPct val="0"/>
              </a:spcAft>
              <a:defRPr>
                <a:solidFill>
                  <a:schemeClr val="tx1"/>
                </a:solidFill>
                <a:latin typeface="Arial" pitchFamily="34" charset="0"/>
              </a:defRPr>
            </a:lvl6pPr>
            <a:lvl7pPr marL="2971800" indent="-228600" defTabSz="1042988" eaLnBrk="0" fontAlgn="base" hangingPunct="0">
              <a:spcBef>
                <a:spcPct val="0"/>
              </a:spcBef>
              <a:spcAft>
                <a:spcPct val="0"/>
              </a:spcAft>
              <a:defRPr>
                <a:solidFill>
                  <a:schemeClr val="tx1"/>
                </a:solidFill>
                <a:latin typeface="Arial" pitchFamily="34" charset="0"/>
              </a:defRPr>
            </a:lvl7pPr>
            <a:lvl8pPr marL="3429000" indent="-228600" defTabSz="1042988" eaLnBrk="0" fontAlgn="base" hangingPunct="0">
              <a:spcBef>
                <a:spcPct val="0"/>
              </a:spcBef>
              <a:spcAft>
                <a:spcPct val="0"/>
              </a:spcAft>
              <a:defRPr>
                <a:solidFill>
                  <a:schemeClr val="tx1"/>
                </a:solidFill>
                <a:latin typeface="Arial" pitchFamily="34" charset="0"/>
              </a:defRPr>
            </a:lvl8pPr>
            <a:lvl9pPr marL="3886200" indent="-228600" defTabSz="1042988" eaLnBrk="0" fontAlgn="base" hangingPunct="0">
              <a:spcBef>
                <a:spcPct val="0"/>
              </a:spcBef>
              <a:spcAft>
                <a:spcPct val="0"/>
              </a:spcAft>
              <a:defRPr>
                <a:solidFill>
                  <a:schemeClr val="tx1"/>
                </a:solidFill>
                <a:latin typeface="Arial" pitchFamily="34" charset="0"/>
              </a:defRPr>
            </a:lvl9pPr>
          </a:lstStyle>
          <a:p>
            <a:pPr algn="ctr" fontAlgn="base">
              <a:spcBef>
                <a:spcPct val="0"/>
              </a:spcBef>
              <a:spcAft>
                <a:spcPct val="0"/>
              </a:spcAft>
            </a:pPr>
            <a:r>
              <a:rPr lang="ru-RU" altLang="ru-RU" sz="2400" b="1" dirty="0" smtClean="0">
                <a:solidFill>
                  <a:schemeClr val="bg1"/>
                </a:solidFill>
              </a:rPr>
              <a:t>ТЕМА № 5</a:t>
            </a:r>
            <a:endParaRPr lang="ru-RU" altLang="ru-RU" sz="2400" b="1" dirty="0">
              <a:solidFill>
                <a:schemeClr val="bg1"/>
              </a:solidFill>
            </a:endParaRPr>
          </a:p>
        </p:txBody>
      </p:sp>
      <p:sp>
        <p:nvSpPr>
          <p:cNvPr id="17413" name="Text Box 23"/>
          <p:cNvSpPr txBox="1">
            <a:spLocks noChangeArrowheads="1"/>
          </p:cNvSpPr>
          <p:nvPr/>
        </p:nvSpPr>
        <p:spPr bwMode="auto">
          <a:xfrm>
            <a:off x="3224426" y="2481858"/>
            <a:ext cx="8622017"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fontAlgn="base">
              <a:spcBef>
                <a:spcPct val="0"/>
              </a:spcBef>
              <a:spcAft>
                <a:spcPct val="0"/>
              </a:spcAft>
            </a:pPr>
            <a:r>
              <a:rPr lang="ru-RU" sz="3600" b="1" dirty="0"/>
              <a:t>ТЕХНОЛОГИИ СОЗДАНИЯ И РЕАЛИЗАЦИИ ГЕОИНФОРМАЦИОННЫХ ПРОЕКТОВ И ЭЛЕКТРОННЫХ ВЕКТОРНЫХ КАРТ</a:t>
            </a:r>
            <a:r>
              <a:rPr lang="ru-RU" sz="2400" dirty="0"/>
              <a:t/>
            </a:r>
            <a:br>
              <a:rPr lang="ru-RU" sz="2400" dirty="0"/>
            </a:br>
            <a:endParaRPr lang="ru-RU" altLang="ru-RU" sz="2400" b="1" dirty="0">
              <a:solidFill>
                <a:srgbClr val="C00000"/>
              </a:solidFill>
            </a:endParaRPr>
          </a:p>
        </p:txBody>
      </p:sp>
      <p:sp>
        <p:nvSpPr>
          <p:cNvPr id="5127" name="Text Box 23"/>
          <p:cNvSpPr txBox="1">
            <a:spLocks noChangeArrowheads="1"/>
          </p:cNvSpPr>
          <p:nvPr/>
        </p:nvSpPr>
        <p:spPr bwMode="auto">
          <a:xfrm>
            <a:off x="7535435" y="4944070"/>
            <a:ext cx="443397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fontAlgn="base" hangingPunct="1">
              <a:spcBef>
                <a:spcPct val="0"/>
              </a:spcBef>
              <a:spcAft>
                <a:spcPct val="0"/>
              </a:spcAft>
              <a:defRPr/>
            </a:pPr>
            <a:r>
              <a:rPr lang="ru-RU" sz="1600" dirty="0" smtClean="0"/>
              <a:t>Кафедра </a:t>
            </a:r>
            <a:r>
              <a:rPr lang="ru-RU" sz="1600" dirty="0"/>
              <a:t>информатики и информационных технологий, </a:t>
            </a:r>
            <a:r>
              <a:rPr lang="ru-RU" sz="1600" dirty="0" err="1"/>
              <a:t>к.т.н</a:t>
            </a:r>
            <a:r>
              <a:rPr lang="ru-RU" sz="1600" dirty="0"/>
              <a:t>, доцент, </a:t>
            </a:r>
            <a:r>
              <a:rPr lang="ru-RU" sz="1600" dirty="0" smtClean="0"/>
              <a:t>Гордеев А.Б.</a:t>
            </a:r>
            <a:endParaRPr lang="ru-RU" altLang="ru-RU" sz="1600" b="1" dirty="0">
              <a:solidFill>
                <a:srgbClr val="000000"/>
              </a:solidFill>
              <a:latin typeface="Arial"/>
              <a:cs typeface="Arial" charset="0"/>
            </a:endParaRPr>
          </a:p>
        </p:txBody>
      </p:sp>
      <p:grpSp>
        <p:nvGrpSpPr>
          <p:cNvPr id="17415" name="Группа 12"/>
          <p:cNvGrpSpPr>
            <a:grpSpLocks/>
          </p:cNvGrpSpPr>
          <p:nvPr/>
        </p:nvGrpSpPr>
        <p:grpSpPr bwMode="auto">
          <a:xfrm>
            <a:off x="4616451" y="1598613"/>
            <a:ext cx="5732463" cy="781050"/>
            <a:chOff x="0" y="0"/>
            <a:chExt cx="6210300" cy="781275"/>
          </a:xfrm>
        </p:grpSpPr>
        <p:pic>
          <p:nvPicPr>
            <p:cNvPr id="17416" name="Рисунок 13" descr="D:\ИПК\Фотографии\на стенд\на сайт\главная\Академия 2.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04900" y="0"/>
              <a:ext cx="10287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7" name="Рисунок 14" descr="D:\для фотопрезентации ФПК\Презид.программа\фото Открытие Президентской  Прогр\6.jpg"/>
            <p:cNvPicPr>
              <a:picLocks noChangeAspect="1"/>
            </p:cNvPicPr>
            <p:nvPr/>
          </p:nvPicPr>
          <p:blipFill>
            <a:blip r:embed="rId5">
              <a:extLst>
                <a:ext uri="{28A0092B-C50C-407E-A947-70E740481C1C}">
                  <a14:useLocalDpi xmlns:a14="http://schemas.microsoft.com/office/drawing/2010/main" val="0"/>
                </a:ext>
              </a:extLst>
            </a:blip>
            <a:srcRect l="5675" r="-2" b="1205"/>
            <a:stretch>
              <a:fillRect/>
            </a:stretch>
          </p:blipFill>
          <p:spPr bwMode="auto">
            <a:xfrm>
              <a:off x="0" y="1"/>
              <a:ext cx="1114425"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8" name="Рисунок 15" descr="D:\Презид.программа 20 мая-05 июня 2013\30.05.13\работа в проектных группах_30.05.13\DSCF8003.JP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162300" y="9750"/>
              <a:ext cx="1038225"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9" name="Рисунок 16" descr="D:\для фотопрезентации ФПК\Президентская программа (6) 17 сентября 2012 (З).JPG"/>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2133600" y="9525"/>
              <a:ext cx="102870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20" name="Рисунок 17" descr="D:\ИПК\Фотографии\для книги Академии\1.2.Здание.jpg"/>
            <p:cNvPicPr>
              <a:picLocks noChangeAspect="1"/>
            </p:cNvPicPr>
            <p:nvPr/>
          </p:nvPicPr>
          <p:blipFill>
            <a:blip r:embed="rId8">
              <a:extLst>
                <a:ext uri="{28A0092B-C50C-407E-A947-70E740481C1C}">
                  <a14:useLocalDpi xmlns:a14="http://schemas.microsoft.com/office/drawing/2010/main" val="0"/>
                </a:ext>
              </a:extLst>
            </a:blip>
            <a:srcRect t="2" b="1219"/>
            <a:stretch>
              <a:fillRect/>
            </a:stretch>
          </p:blipFill>
          <p:spPr bwMode="auto">
            <a:xfrm>
              <a:off x="4191000" y="9525"/>
              <a:ext cx="97155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21" name="Рисунок 18" descr="D:\ИПК\Фотографии\для книги Академии\5.2.JPG"/>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5162550" y="9525"/>
              <a:ext cx="104775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TextBox 1"/>
          <p:cNvSpPr txBox="1"/>
          <p:nvPr/>
        </p:nvSpPr>
        <p:spPr>
          <a:xfrm>
            <a:off x="4367213" y="6021288"/>
            <a:ext cx="3718804" cy="338554"/>
          </a:xfrm>
          <a:prstGeom prst="rect">
            <a:avLst/>
          </a:prstGeom>
          <a:noFill/>
        </p:spPr>
        <p:txBody>
          <a:bodyPr wrap="square" rtlCol="0">
            <a:spAutoFit/>
          </a:bodyPr>
          <a:lstStyle/>
          <a:p>
            <a:r>
              <a:rPr lang="ru-RU" sz="1600" b="1" dirty="0"/>
              <a:t>Нижний Новгород 20</a:t>
            </a:r>
            <a:r>
              <a:rPr lang="en-US" sz="1600" b="1" dirty="0" smtClean="0"/>
              <a:t>2</a:t>
            </a:r>
            <a:r>
              <a:rPr lang="ru-RU" sz="1600" b="1" smtClean="0"/>
              <a:t>6</a:t>
            </a:r>
            <a:endParaRPr lang="ru-RU" sz="1600" b="1" dirty="0"/>
          </a:p>
        </p:txBody>
      </p:sp>
    </p:spTree>
    <p:extLst>
      <p:ext uri="{BB962C8B-B14F-4D97-AF65-F5344CB8AC3E}">
        <p14:creationId xmlns:p14="http://schemas.microsoft.com/office/powerpoint/2010/main" val="771745572"/>
      </p:ext>
    </p:extLst>
  </p:cSld>
  <p:clrMapOvr>
    <a:masterClrMapping/>
  </p:clrMapOvr>
  <p:transition advClick="0"/>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Прямоугольник 12"/>
          <p:cNvSpPr>
            <a:spLocks noChangeArrowheads="1"/>
          </p:cNvSpPr>
          <p:nvPr/>
        </p:nvSpPr>
        <p:spPr bwMode="auto">
          <a:xfrm>
            <a:off x="435635" y="463138"/>
            <a:ext cx="581890" cy="843149"/>
          </a:xfrm>
          <a:prstGeom prst="rect">
            <a:avLst/>
          </a:prstGeom>
          <a:gradFill rotWithShape="1">
            <a:gsLst>
              <a:gs pos="0">
                <a:srgbClr val="770000"/>
              </a:gs>
              <a:gs pos="50000">
                <a:srgbClr val="AD0000"/>
              </a:gs>
              <a:gs pos="100000">
                <a:srgbClr val="CE0000"/>
              </a:gs>
            </a:gsLst>
            <a:lin ang="0" scaled="1"/>
          </a:gradFill>
          <a:ln w="9525" algn="ctr">
            <a:noFill/>
            <a:round/>
            <a:headEnd/>
            <a:tailEnd/>
          </a:ln>
        </p:spPr>
        <p:txBody>
          <a:bodyPr/>
          <a:lstStyle/>
          <a:p>
            <a:pPr defTabSz="1043001"/>
            <a:endParaRPr lang="ru-RU" sz="2100" dirty="0"/>
          </a:p>
        </p:txBody>
      </p:sp>
      <p:sp>
        <p:nvSpPr>
          <p:cNvPr id="9" name="Номер слайда 8"/>
          <p:cNvSpPr>
            <a:spLocks noGrp="1"/>
          </p:cNvSpPr>
          <p:nvPr>
            <p:ph type="sldNum" sz="quarter" idx="12"/>
          </p:nvPr>
        </p:nvSpPr>
        <p:spPr/>
        <p:txBody>
          <a:bodyPr/>
          <a:lstStyle/>
          <a:p>
            <a:fld id="{027F3A33-6A4A-4395-8324-C6DCD486F135}" type="slidenum">
              <a:rPr lang="ru-RU" smtClean="0">
                <a:solidFill>
                  <a:schemeClr val="bg2">
                    <a:lumMod val="75000"/>
                  </a:schemeClr>
                </a:solidFill>
              </a:rPr>
              <a:pPr/>
              <a:t>2</a:t>
            </a:fld>
            <a:endParaRPr lang="ru-RU" dirty="0">
              <a:solidFill>
                <a:schemeClr val="bg2">
                  <a:lumMod val="75000"/>
                </a:schemeClr>
              </a:solidFill>
            </a:endParaRPr>
          </a:p>
        </p:txBody>
      </p:sp>
      <p:pic>
        <p:nvPicPr>
          <p:cNvPr id="1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0250" y="463138"/>
            <a:ext cx="2827683" cy="880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726580" y="2341171"/>
            <a:ext cx="10254195" cy="1323439"/>
          </a:xfrm>
          <a:prstGeom prst="rect">
            <a:avLst/>
          </a:prstGeom>
          <a:noFill/>
        </p:spPr>
        <p:txBody>
          <a:bodyPr wrap="square" rtlCol="0">
            <a:spAutoFit/>
          </a:bodyPr>
          <a:lstStyle/>
          <a:p>
            <a:pPr lvl="0"/>
            <a:r>
              <a:rPr lang="ru-RU" sz="4000" b="1" dirty="0">
                <a:solidFill>
                  <a:srgbClr val="FF0000"/>
                </a:solidFill>
              </a:rPr>
              <a:t>ПРЕДСТАВЛЕНИЕ И ВЫВОД ИНФОРМАЦИИ</a:t>
            </a:r>
            <a:endParaRPr lang="ru-RU" sz="4000" dirty="0">
              <a:solidFill>
                <a:srgbClr val="FF0000"/>
              </a:solidFill>
            </a:endParaRPr>
          </a:p>
          <a:p>
            <a:pPr lvl="1" algn="ctr"/>
            <a:r>
              <a:rPr lang="ru-RU" sz="4000" b="1" dirty="0" smtClean="0"/>
              <a:t>Вопрос 5</a:t>
            </a:r>
            <a:endParaRPr lang="ru-RU" sz="4000" dirty="0"/>
          </a:p>
        </p:txBody>
      </p:sp>
    </p:spTree>
    <p:extLst>
      <p:ext uri="{BB962C8B-B14F-4D97-AF65-F5344CB8AC3E}">
        <p14:creationId xmlns:p14="http://schemas.microsoft.com/office/powerpoint/2010/main" val="280734832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22052" y="167609"/>
            <a:ext cx="11556521" cy="2031325"/>
          </a:xfrm>
          <a:prstGeom prst="rect">
            <a:avLst/>
          </a:prstGeom>
        </p:spPr>
        <p:txBody>
          <a:bodyPr wrap="square">
            <a:spAutoFit/>
          </a:bodyPr>
          <a:lstStyle/>
          <a:p>
            <a:r>
              <a:rPr lang="ru-RU" b="1" i="1" dirty="0"/>
              <a:t>Подсистема ввода информации </a:t>
            </a:r>
            <a:r>
              <a:rPr lang="ru-RU" dirty="0"/>
              <a:t>- это устройства для преобразования пространственной информации в цифровую форму и ввода ее в память компьютера или в базы данных.</a:t>
            </a:r>
          </a:p>
          <a:p>
            <a:r>
              <a:rPr lang="ru-RU" dirty="0"/>
              <a:t>Данные для использования в ГИС должны быть сначала преобразованы в подходящий цифровой формат, поэтому под вводом данных понимается процедура кодирования данных в компьютерную читаемую форму и их запись в базу данных ГИС.</a:t>
            </a:r>
          </a:p>
          <a:p>
            <a:r>
              <a:rPr lang="ru-RU" dirty="0"/>
              <a:t>Ввод данных включает три главных шага - сбор, редактирование и очистка, а также </a:t>
            </a:r>
            <a:r>
              <a:rPr lang="ru-RU" dirty="0" err="1"/>
              <a:t>геокодирование</a:t>
            </a:r>
            <a:r>
              <a:rPr lang="ru-RU" dirty="0"/>
              <a:t> данных. Последние два этапа называют также предобработкой данных.</a:t>
            </a:r>
          </a:p>
        </p:txBody>
      </p:sp>
      <p:sp>
        <p:nvSpPr>
          <p:cNvPr id="3" name="Прямоугольник 2"/>
          <p:cNvSpPr/>
          <p:nvPr/>
        </p:nvSpPr>
        <p:spPr>
          <a:xfrm>
            <a:off x="322051" y="2228671"/>
            <a:ext cx="11556521" cy="646331"/>
          </a:xfrm>
          <a:prstGeom prst="rect">
            <a:avLst/>
          </a:prstGeom>
          <a:solidFill>
            <a:schemeClr val="accent4">
              <a:lumMod val="20000"/>
              <a:lumOff val="80000"/>
            </a:schemeClr>
          </a:solidFill>
        </p:spPr>
        <p:txBody>
          <a:bodyPr wrap="square">
            <a:spAutoFit/>
          </a:bodyPr>
          <a:lstStyle/>
          <a:p>
            <a:r>
              <a:rPr lang="ru-RU" dirty="0"/>
              <a:t>Ввод с помощью клавиатуры</a:t>
            </a:r>
            <a:r>
              <a:rPr lang="ru-RU" i="1" dirty="0"/>
              <a:t>. </a:t>
            </a:r>
            <a:r>
              <a:rPr lang="ru-RU" dirty="0"/>
              <a:t>Качественные и количественные характеристики цифруемых объектов, а также статистические данные вводят с клавиатуры компьютера. </a:t>
            </a:r>
          </a:p>
        </p:txBody>
      </p:sp>
      <p:sp>
        <p:nvSpPr>
          <p:cNvPr id="4" name="Прямоугольник 3"/>
          <p:cNvSpPr/>
          <p:nvPr/>
        </p:nvSpPr>
        <p:spPr>
          <a:xfrm>
            <a:off x="333554" y="3034440"/>
            <a:ext cx="11545018" cy="1200329"/>
          </a:xfrm>
          <a:prstGeom prst="rect">
            <a:avLst/>
          </a:prstGeom>
          <a:solidFill>
            <a:schemeClr val="accent5">
              <a:lumMod val="20000"/>
              <a:lumOff val="80000"/>
            </a:schemeClr>
          </a:solidFill>
        </p:spPr>
        <p:txBody>
          <a:bodyPr wrap="square">
            <a:spAutoFit/>
          </a:bodyPr>
          <a:lstStyle/>
          <a:p>
            <a:r>
              <a:rPr lang="ru-RU" dirty="0"/>
              <a:t>Координатная геометрия включает процедуры, используемые, чтобы ввести данные, требующие очень высокой точности расположения. Этот способ характеризуется очень высоким уровнем точности, получаемым за счет полевых геодезических измерений. В целом способ очень дорогой, наиболее широко используемый для целей земельного кадастра.</a:t>
            </a:r>
          </a:p>
        </p:txBody>
      </p:sp>
      <p:sp>
        <p:nvSpPr>
          <p:cNvPr id="5" name="Прямоугольник 4"/>
          <p:cNvSpPr/>
          <p:nvPr/>
        </p:nvSpPr>
        <p:spPr>
          <a:xfrm>
            <a:off x="442820" y="4325064"/>
            <a:ext cx="11642787" cy="2031325"/>
          </a:xfrm>
          <a:prstGeom prst="rect">
            <a:avLst/>
          </a:prstGeom>
          <a:solidFill>
            <a:schemeClr val="accent2">
              <a:lumMod val="20000"/>
              <a:lumOff val="80000"/>
            </a:schemeClr>
          </a:solidFill>
        </p:spPr>
        <p:txBody>
          <a:bodyPr wrap="square">
            <a:spAutoFit/>
          </a:bodyPr>
          <a:lstStyle/>
          <a:p>
            <a:r>
              <a:rPr lang="ru-RU" dirty="0"/>
              <a:t>Сканирование подразумевает автоматическое получение цифрового изображения карты с помощью сканера. Сама карта размещается на планшете или на барабане. Сканирование выполняется быстро и точно, но приходится дополнительно разделять (распознавать) оцифрованные элементы: реки, дороги, другие контуры и т.п. Точность метода определяется размером ячейки, который можно отсканировать (минимальный фрагмент карты - около 20 микрон (0,02 мм). Полученное изображение затем нуждается в дальнейшей обработке и редактировании для улучшения качества, иногда преобразовании в векторный формат. В некоторых ГИС сканированные изображения могут непосредственно использоваться для производства карты.</a:t>
            </a:r>
          </a:p>
        </p:txBody>
      </p:sp>
    </p:spTree>
    <p:extLst>
      <p:ext uri="{BB962C8B-B14F-4D97-AF65-F5344CB8AC3E}">
        <p14:creationId xmlns:p14="http://schemas.microsoft.com/office/powerpoint/2010/main" val="41794368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27803" y="225133"/>
            <a:ext cx="11542143" cy="2862322"/>
          </a:xfrm>
          <a:prstGeom prst="rect">
            <a:avLst/>
          </a:prstGeom>
        </p:spPr>
        <p:txBody>
          <a:bodyPr wrap="square">
            <a:spAutoFit/>
          </a:bodyPr>
          <a:lstStyle/>
          <a:p>
            <a:r>
              <a:rPr lang="ru-RU" dirty="0"/>
              <a:t>Ввод существующих цифровых файлов подразумевает использование доступных наборов данных различных ведомств и организаций. Приобретение и использование существующих цифровых наборов данных является наиболее эффективным способом заполнения ГИС. В настоящее время все более широкое распространение получает преобразование данных других цифровых источников таких как, данные на магнитных носителях, данных, доступных в сети Интернет (цифровые карты, цифровые космические снимки) и пр. Однако, нужно помнить, что пока изображения, распространяемые в Интернет зачастую имеют низкое разрешение, растровый формат и ограниченные размеры.</a:t>
            </a:r>
          </a:p>
          <a:p>
            <a:r>
              <a:rPr lang="ru-RU" dirty="0"/>
              <a:t>Главным критерием выбора формы ввода данных является тип источника данных: для снимков предпочтительнее использовать сканирование, карты можно цифровать или сканировать. Другой критерий связан с типом модели используемой базы данных: сканирование лучше подходит для растровой модели, </a:t>
            </a:r>
            <a:r>
              <a:rPr lang="ru-RU" dirty="0" err="1"/>
              <a:t>цифрование</a:t>
            </a:r>
            <a:r>
              <a:rPr lang="ru-RU" dirty="0"/>
              <a:t> - для векторной</a:t>
            </a:r>
          </a:p>
        </p:txBody>
      </p:sp>
    </p:spTree>
    <p:extLst>
      <p:ext uri="{BB962C8B-B14F-4D97-AF65-F5344CB8AC3E}">
        <p14:creationId xmlns:p14="http://schemas.microsoft.com/office/powerpoint/2010/main" val="828032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p:nvPr/>
        </p:nvPicPr>
        <p:blipFill>
          <a:blip r:embed="rId2">
            <a:extLst>
              <a:ext uri="{28A0092B-C50C-407E-A947-70E740481C1C}">
                <a14:useLocalDpi xmlns:a14="http://schemas.microsoft.com/office/drawing/2010/main" val="0"/>
              </a:ext>
            </a:extLst>
          </a:blip>
          <a:srcRect/>
          <a:stretch>
            <a:fillRect/>
          </a:stretch>
        </p:blipFill>
        <p:spPr bwMode="auto">
          <a:xfrm>
            <a:off x="468120" y="2282837"/>
            <a:ext cx="3371215" cy="2499360"/>
          </a:xfrm>
          <a:prstGeom prst="rect">
            <a:avLst/>
          </a:prstGeom>
          <a:noFill/>
          <a:ln>
            <a:noFill/>
          </a:ln>
        </p:spPr>
      </p:pic>
      <p:sp>
        <p:nvSpPr>
          <p:cNvPr id="3" name="Прямоугольник 2"/>
          <p:cNvSpPr/>
          <p:nvPr/>
        </p:nvSpPr>
        <p:spPr>
          <a:xfrm>
            <a:off x="330098" y="5069320"/>
            <a:ext cx="11573774" cy="1477328"/>
          </a:xfrm>
          <a:prstGeom prst="rect">
            <a:avLst/>
          </a:prstGeom>
        </p:spPr>
        <p:txBody>
          <a:bodyPr wrap="square">
            <a:spAutoFit/>
          </a:bodyPr>
          <a:lstStyle/>
          <a:p>
            <a:r>
              <a:rPr lang="ru-RU" dirty="0"/>
              <a:t>Более подробное рассмотрение организации данных часто называется структурой данных. В структуре фигурируют математические и программистские термины, такие как “матрица”, “список”, “система ссылок”, “указатель”, “способ сжатия информации”. На следующем по детальности уровне организации данных специалисты имеют дело со структурой файлов данных и их непосредственными форматами. Уровень организации конкретной БД является уникальным для каждого проекта</a:t>
            </a:r>
          </a:p>
        </p:txBody>
      </p:sp>
      <p:sp>
        <p:nvSpPr>
          <p:cNvPr id="4" name="Прямоугольник 3"/>
          <p:cNvSpPr/>
          <p:nvPr/>
        </p:nvSpPr>
        <p:spPr>
          <a:xfrm>
            <a:off x="3479321" y="2690336"/>
            <a:ext cx="6096000" cy="1477328"/>
          </a:xfrm>
          <a:prstGeom prst="rect">
            <a:avLst/>
          </a:prstGeom>
        </p:spPr>
        <p:txBody>
          <a:bodyPr>
            <a:spAutoFit/>
          </a:bodyPr>
          <a:lstStyle/>
          <a:p>
            <a:r>
              <a:rPr lang="ru-RU" dirty="0"/>
              <a:t>Модель данных – это концептуальный уровень организации данных. Рассмотренные в прошлом модуле термины, типа “полигон”, “узел”, “линия”, “дуга”, “идентификатор”, “таблица” как раз относятся к этому уровню, в равной степени, как и понятия “тема” и “слой”. </a:t>
            </a:r>
          </a:p>
        </p:txBody>
      </p:sp>
      <p:sp>
        <p:nvSpPr>
          <p:cNvPr id="5" name="Прямоугольник 4"/>
          <p:cNvSpPr/>
          <p:nvPr/>
        </p:nvSpPr>
        <p:spPr>
          <a:xfrm>
            <a:off x="115018" y="2753"/>
            <a:ext cx="11788853" cy="2031325"/>
          </a:xfrm>
          <a:prstGeom prst="rect">
            <a:avLst/>
          </a:prstGeom>
        </p:spPr>
        <p:txBody>
          <a:bodyPr wrap="square">
            <a:spAutoFit/>
          </a:bodyPr>
          <a:lstStyle/>
          <a:p>
            <a:r>
              <a:rPr lang="ru-RU" dirty="0"/>
              <a:t>Выбор метода организации данных в геоинформационной системе, и, в первую очередь, модели данных, т.е. способа цифрового описания пространственных объектов, значительно важнее, чем выбор ПО. Это обусловлено тем, что модель данных напрямую определяет многие функциональные возможности создаваемой ГИС и применимость тех или иных технологий ввода. От модели зависит как пространственная точность представления визуальной части информации, так и возможность получения качественного картографического материала и организации контроля цифровых карт. От способа организации данных в ГИС очень сильно зависит производительность системы, например, при выполнении запроса к базе данных или рендеринге (визуализации) на экране монитора.</a:t>
            </a:r>
          </a:p>
        </p:txBody>
      </p:sp>
    </p:spTree>
    <p:extLst>
      <p:ext uri="{BB962C8B-B14F-4D97-AF65-F5344CB8AC3E}">
        <p14:creationId xmlns:p14="http://schemas.microsoft.com/office/powerpoint/2010/main" val="391840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706375" y="233716"/>
            <a:ext cx="7284623" cy="523220"/>
          </a:xfrm>
          <a:prstGeom prst="rect">
            <a:avLst/>
          </a:prstGeom>
        </p:spPr>
        <p:txBody>
          <a:bodyPr wrap="none">
            <a:spAutoFit/>
          </a:bodyPr>
          <a:lstStyle/>
          <a:p>
            <a:r>
              <a:rPr lang="ru-RU" sz="2800" b="1" dirty="0"/>
              <a:t>Организация и обработка информации в ГИС</a:t>
            </a:r>
            <a:endParaRPr lang="ru-RU" sz="2800" dirty="0"/>
          </a:p>
        </p:txBody>
      </p:sp>
      <p:pic>
        <p:nvPicPr>
          <p:cNvPr id="3" name="Рисунок 2"/>
          <p:cNvPicPr/>
          <p:nvPr/>
        </p:nvPicPr>
        <p:blipFill>
          <a:blip r:embed="rId2">
            <a:extLst>
              <a:ext uri="{28A0092B-C50C-407E-A947-70E740481C1C}">
                <a14:useLocalDpi xmlns:a14="http://schemas.microsoft.com/office/drawing/2010/main" val="0"/>
              </a:ext>
            </a:extLst>
          </a:blip>
          <a:srcRect/>
          <a:stretch>
            <a:fillRect/>
          </a:stretch>
        </p:blipFill>
        <p:spPr bwMode="auto">
          <a:xfrm>
            <a:off x="158359" y="1076049"/>
            <a:ext cx="5931535" cy="3601720"/>
          </a:xfrm>
          <a:prstGeom prst="rect">
            <a:avLst/>
          </a:prstGeom>
          <a:noFill/>
          <a:ln>
            <a:noFill/>
          </a:ln>
        </p:spPr>
      </p:pic>
      <p:sp>
        <p:nvSpPr>
          <p:cNvPr id="4" name="Прямоугольник 3"/>
          <p:cNvSpPr/>
          <p:nvPr/>
        </p:nvSpPr>
        <p:spPr>
          <a:xfrm>
            <a:off x="6162135" y="1076049"/>
            <a:ext cx="5932099" cy="3970318"/>
          </a:xfrm>
          <a:prstGeom prst="rect">
            <a:avLst/>
          </a:prstGeom>
        </p:spPr>
        <p:txBody>
          <a:bodyPr wrap="square">
            <a:spAutoFit/>
          </a:bodyPr>
          <a:lstStyle/>
          <a:p>
            <a:r>
              <a:rPr lang="ru-RU" dirty="0"/>
              <a:t>На первом этапе производится “коллекционирование” как географической (цифровые карты, изображения), так и атрибутивной информации. Собранные данные являются наполнением двух баз данных. Первая БД хранит картографические данные, вторая же наполнена информацией описательного характера. На втором этапе система обработки пространственных данных обращается к базам данных для проведения обработки и анализа востребованной информации. При этом весь процесс контролируется системой управления БД (СУБД), с помощью которой можно осуществлять быстрый поиск табличной и статистической информации. Конечно, главным результатом работы ГИС являются разнообразные карты</a:t>
            </a:r>
          </a:p>
        </p:txBody>
      </p:sp>
      <p:sp>
        <p:nvSpPr>
          <p:cNvPr id="5" name="Прямоугольник 4"/>
          <p:cNvSpPr/>
          <p:nvPr/>
        </p:nvSpPr>
        <p:spPr>
          <a:xfrm>
            <a:off x="158359" y="5103674"/>
            <a:ext cx="11789226" cy="1754326"/>
          </a:xfrm>
          <a:prstGeom prst="rect">
            <a:avLst/>
          </a:prstGeom>
          <a:solidFill>
            <a:schemeClr val="accent2">
              <a:lumMod val="20000"/>
              <a:lumOff val="80000"/>
            </a:schemeClr>
          </a:solidFill>
        </p:spPr>
        <p:txBody>
          <a:bodyPr wrap="square">
            <a:spAutoFit/>
          </a:bodyPr>
          <a:lstStyle/>
          <a:p>
            <a:r>
              <a:rPr lang="ru-RU" dirty="0"/>
              <a:t>Следующий подход называется интегрированным. При этом подходе предусматривается использование средств реляционных СУБД для хранения как пространственной, так и атрибутивной информации. В этом случае ГИС выступает в качестве надстройки над СУБД.</a:t>
            </a:r>
          </a:p>
          <a:p>
            <a:r>
              <a:rPr lang="ru-RU" dirty="0"/>
              <a:t>Третий подход называют объектным. Плюсы этого подхода в легкости описания сложных структур данных и взаимоотношений между объектами. Объектный подход позволяет выстраивать иерархические цепочки объектов и решать многочисленные задачи моделирования.</a:t>
            </a:r>
          </a:p>
        </p:txBody>
      </p:sp>
    </p:spTree>
    <p:extLst>
      <p:ext uri="{BB962C8B-B14F-4D97-AF65-F5344CB8AC3E}">
        <p14:creationId xmlns:p14="http://schemas.microsoft.com/office/powerpoint/2010/main" val="1724001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Схема 1"/>
          <p:cNvGraphicFramePr/>
          <p:nvPr>
            <p:extLst>
              <p:ext uri="{D42A27DB-BD31-4B8C-83A1-F6EECF244321}">
                <p14:modId xmlns:p14="http://schemas.microsoft.com/office/powerpoint/2010/main" val="1613993214"/>
              </p:ext>
            </p:extLst>
          </p:nvPr>
        </p:nvGraphicFramePr>
        <p:xfrm>
          <a:off x="0" y="60386"/>
          <a:ext cx="12192000" cy="67976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01867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87547" y="223659"/>
            <a:ext cx="6096000" cy="1200329"/>
          </a:xfrm>
          <a:prstGeom prst="rect">
            <a:avLst/>
          </a:prstGeom>
        </p:spPr>
        <p:txBody>
          <a:bodyPr>
            <a:spAutoFit/>
          </a:bodyPr>
          <a:lstStyle/>
          <a:p>
            <a:r>
              <a:rPr lang="ru-RU" dirty="0"/>
              <a:t>Представление в виде нерегулярной сети точек – это произвольно расположенные точечные объекты в качестве атрибутов имеющие какое-то значение в данной точке поля. </a:t>
            </a:r>
          </a:p>
        </p:txBody>
      </p:sp>
      <p:pic>
        <p:nvPicPr>
          <p:cNvPr id="3" name="Рисунок 2"/>
          <p:cNvPicPr/>
          <p:nvPr/>
        </p:nvPicPr>
        <p:blipFill>
          <a:blip r:embed="rId2">
            <a:extLst>
              <a:ext uri="{28A0092B-C50C-407E-A947-70E740481C1C}">
                <a14:useLocalDpi xmlns:a14="http://schemas.microsoft.com/office/drawing/2010/main" val="0"/>
              </a:ext>
            </a:extLst>
          </a:blip>
          <a:srcRect/>
          <a:stretch>
            <a:fillRect/>
          </a:stretch>
        </p:blipFill>
        <p:spPr bwMode="auto">
          <a:xfrm>
            <a:off x="6383547" y="0"/>
            <a:ext cx="5494655" cy="2456815"/>
          </a:xfrm>
          <a:prstGeom prst="rect">
            <a:avLst/>
          </a:prstGeom>
          <a:noFill/>
          <a:ln>
            <a:noFill/>
          </a:ln>
        </p:spPr>
      </p:pic>
      <p:sp>
        <p:nvSpPr>
          <p:cNvPr id="4" name="Прямоугольник 3"/>
          <p:cNvSpPr/>
          <p:nvPr/>
        </p:nvSpPr>
        <p:spPr>
          <a:xfrm>
            <a:off x="227162" y="3725506"/>
            <a:ext cx="6096000" cy="1477328"/>
          </a:xfrm>
          <a:prstGeom prst="rect">
            <a:avLst/>
          </a:prstGeom>
        </p:spPr>
        <p:txBody>
          <a:bodyPr>
            <a:spAutoFit/>
          </a:bodyPr>
          <a:lstStyle/>
          <a:p>
            <a:r>
              <a:rPr lang="ru-RU" dirty="0"/>
              <a:t>Представление в виде регулярной сети точек – это равномерно расположенные в пространстве точки достаточной густоты. Регулярную сеть точек можно получать интерполяцией из нерегулярных либо путем проведения измерений по регулярной сети. </a:t>
            </a:r>
          </a:p>
        </p:txBody>
      </p:sp>
      <p:pic>
        <p:nvPicPr>
          <p:cNvPr id="5" name="Рисунок 4"/>
          <p:cNvPicPr/>
          <p:nvPr/>
        </p:nvPicPr>
        <p:blipFill>
          <a:blip r:embed="rId3">
            <a:extLst>
              <a:ext uri="{28A0092B-C50C-407E-A947-70E740481C1C}">
                <a14:useLocalDpi xmlns:a14="http://schemas.microsoft.com/office/drawing/2010/main" val="0"/>
              </a:ext>
            </a:extLst>
          </a:blip>
          <a:srcRect/>
          <a:stretch>
            <a:fillRect/>
          </a:stretch>
        </p:blipFill>
        <p:spPr bwMode="auto">
          <a:xfrm>
            <a:off x="7219848" y="3503882"/>
            <a:ext cx="4222115" cy="2679700"/>
          </a:xfrm>
          <a:prstGeom prst="rect">
            <a:avLst/>
          </a:prstGeom>
          <a:noFill/>
          <a:ln>
            <a:noFill/>
          </a:ln>
        </p:spPr>
      </p:pic>
    </p:spTree>
    <p:extLst>
      <p:ext uri="{BB962C8B-B14F-4D97-AF65-F5344CB8AC3E}">
        <p14:creationId xmlns:p14="http://schemas.microsoft.com/office/powerpoint/2010/main" val="37216120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Схема 1"/>
          <p:cNvGraphicFramePr/>
          <p:nvPr>
            <p:extLst>
              <p:ext uri="{D42A27DB-BD31-4B8C-83A1-F6EECF244321}">
                <p14:modId xmlns:p14="http://schemas.microsoft.com/office/powerpoint/2010/main" val="1244588185"/>
              </p:ext>
            </p:extLst>
          </p:nvPr>
        </p:nvGraphicFramePr>
        <p:xfrm>
          <a:off x="0" y="60386"/>
          <a:ext cx="12192000" cy="67976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43938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4417656" y="121572"/>
            <a:ext cx="5241115" cy="523220"/>
          </a:xfrm>
          <a:prstGeom prst="rect">
            <a:avLst/>
          </a:prstGeom>
        </p:spPr>
        <p:txBody>
          <a:bodyPr wrap="none">
            <a:spAutoFit/>
          </a:bodyPr>
          <a:lstStyle/>
          <a:p>
            <a:r>
              <a:rPr lang="ru-RU" sz="2800" b="1" dirty="0"/>
              <a:t>Метаданные обычно содержат: </a:t>
            </a:r>
          </a:p>
        </p:txBody>
      </p:sp>
      <p:graphicFrame>
        <p:nvGraphicFramePr>
          <p:cNvPr id="3" name="Схема 2"/>
          <p:cNvGraphicFramePr/>
          <p:nvPr>
            <p:extLst>
              <p:ext uri="{D42A27DB-BD31-4B8C-83A1-F6EECF244321}">
                <p14:modId xmlns:p14="http://schemas.microsoft.com/office/powerpoint/2010/main" val="3055726322"/>
              </p:ext>
            </p:extLst>
          </p:nvPr>
        </p:nvGraphicFramePr>
        <p:xfrm>
          <a:off x="120770" y="719666"/>
          <a:ext cx="11887200" cy="60261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298996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632102" y="190583"/>
            <a:ext cx="7988790" cy="523220"/>
          </a:xfrm>
          <a:prstGeom prst="rect">
            <a:avLst/>
          </a:prstGeom>
        </p:spPr>
        <p:txBody>
          <a:bodyPr wrap="none">
            <a:spAutoFit/>
          </a:bodyPr>
          <a:lstStyle/>
          <a:p>
            <a:r>
              <a:rPr lang="ru-RU" sz="2800" b="1" dirty="0"/>
              <a:t>Ввод данных в ГИС с растровой моделью данных </a:t>
            </a:r>
            <a:endParaRPr lang="ru-RU" sz="2800" dirty="0"/>
          </a:p>
        </p:txBody>
      </p:sp>
      <p:sp>
        <p:nvSpPr>
          <p:cNvPr id="3" name="Прямоугольник 2"/>
          <p:cNvSpPr/>
          <p:nvPr/>
        </p:nvSpPr>
        <p:spPr>
          <a:xfrm>
            <a:off x="370936" y="830413"/>
            <a:ext cx="11680166" cy="2308324"/>
          </a:xfrm>
          <a:prstGeom prst="rect">
            <a:avLst/>
          </a:prstGeom>
        </p:spPr>
        <p:txBody>
          <a:bodyPr wrap="square">
            <a:spAutoFit/>
          </a:bodyPr>
          <a:lstStyle/>
          <a:p>
            <a:r>
              <a:rPr lang="ru-RU" dirty="0"/>
              <a:t>В общем случае растровая картина – это обычное фотоизображение, которое получено сканированием традиционной бумажной карты или </a:t>
            </a:r>
            <a:r>
              <a:rPr lang="ru-RU" dirty="0" err="1"/>
              <a:t>аэро</a:t>
            </a:r>
            <a:r>
              <a:rPr lang="ru-RU" dirty="0"/>
              <a:t>- и космического фотографированием участка земной поверхности. Растровое изображение можно охарактеризовать разрешением, измеряемым в единицах </a:t>
            </a:r>
            <a:r>
              <a:rPr lang="ru-RU" dirty="0" err="1"/>
              <a:t>dpi</a:t>
            </a:r>
            <a:r>
              <a:rPr lang="ru-RU" dirty="0"/>
              <a:t> (</a:t>
            </a:r>
            <a:r>
              <a:rPr lang="ru-RU" dirty="0" err="1"/>
              <a:t>dot’s</a:t>
            </a:r>
            <a:r>
              <a:rPr lang="ru-RU" dirty="0"/>
              <a:t> </a:t>
            </a:r>
            <a:r>
              <a:rPr lang="ru-RU" dirty="0" err="1"/>
              <a:t>per</a:t>
            </a:r>
            <a:r>
              <a:rPr lang="ru-RU" dirty="0"/>
              <a:t> </a:t>
            </a:r>
            <a:r>
              <a:rPr lang="ru-RU" dirty="0" err="1"/>
              <a:t>inch</a:t>
            </a:r>
            <a:r>
              <a:rPr lang="ru-RU" dirty="0"/>
              <a:t> – точек на дюйм) и указывающим, сколько пикселей располагается в одном дюйме изображения. Чем выше разрешение, тем качественнее и информативнее изображение. Но не следует забывать, что с увеличением разрешения увеличивается и файл растрового изображения. В ГИС обычно используются растровые изображения, разрешение которых лежит в диапазоне 200–600 </a:t>
            </a:r>
            <a:r>
              <a:rPr lang="ru-RU" dirty="0" err="1"/>
              <a:t>dpi</a:t>
            </a:r>
            <a:r>
              <a:rPr lang="ru-RU" dirty="0"/>
              <a:t> (исключением могут быть только </a:t>
            </a:r>
            <a:r>
              <a:rPr lang="ru-RU" dirty="0" err="1"/>
              <a:t>аэро</a:t>
            </a:r>
            <a:r>
              <a:rPr lang="ru-RU" dirty="0"/>
              <a:t>- и </a:t>
            </a:r>
            <a:r>
              <a:rPr lang="ru-RU" dirty="0" err="1"/>
              <a:t>космоснимки</a:t>
            </a:r>
            <a:r>
              <a:rPr lang="ru-RU" dirty="0"/>
              <a:t>, разрешение которых может достигать нескольких тысяч </a:t>
            </a:r>
            <a:r>
              <a:rPr lang="ru-RU" dirty="0" err="1"/>
              <a:t>dpi</a:t>
            </a:r>
            <a:r>
              <a:rPr lang="ru-RU" dirty="0"/>
              <a:t>).</a:t>
            </a:r>
          </a:p>
        </p:txBody>
      </p:sp>
      <p:pic>
        <p:nvPicPr>
          <p:cNvPr id="4" name="Рисунок 3"/>
          <p:cNvPicPr/>
          <p:nvPr/>
        </p:nvPicPr>
        <p:blipFill>
          <a:blip r:embed="rId2">
            <a:extLst>
              <a:ext uri="{28A0092B-C50C-407E-A947-70E740481C1C}">
                <a14:useLocalDpi xmlns:a14="http://schemas.microsoft.com/office/drawing/2010/main" val="0"/>
              </a:ext>
            </a:extLst>
          </a:blip>
          <a:srcRect/>
          <a:stretch>
            <a:fillRect/>
          </a:stretch>
        </p:blipFill>
        <p:spPr bwMode="auto">
          <a:xfrm>
            <a:off x="6456919" y="2912456"/>
            <a:ext cx="5413027" cy="3867905"/>
          </a:xfrm>
          <a:prstGeom prst="rect">
            <a:avLst/>
          </a:prstGeom>
          <a:noFill/>
          <a:ln>
            <a:noFill/>
          </a:ln>
        </p:spPr>
      </p:pic>
    </p:spTree>
    <p:extLst>
      <p:ext uri="{BB962C8B-B14F-4D97-AF65-F5344CB8AC3E}">
        <p14:creationId xmlns:p14="http://schemas.microsoft.com/office/powerpoint/2010/main" val="46401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13427" y="109608"/>
            <a:ext cx="6096000" cy="2308324"/>
          </a:xfrm>
          <a:prstGeom prst="rect">
            <a:avLst/>
          </a:prstGeom>
        </p:spPr>
        <p:txBody>
          <a:bodyPr>
            <a:spAutoFit/>
          </a:bodyPr>
          <a:lstStyle/>
          <a:p>
            <a:r>
              <a:rPr lang="ru-RU" dirty="0"/>
              <a:t>В процессе оцифровки можно выделить следующие ошибки:</a:t>
            </a:r>
          </a:p>
          <a:p>
            <a:r>
              <a:rPr lang="ru-RU" dirty="0"/>
              <a:t> • разрывы (два сегмента линии не стыкуются друг с другом);</a:t>
            </a:r>
          </a:p>
          <a:p>
            <a:r>
              <a:rPr lang="ru-RU" dirty="0"/>
              <a:t> • подергивания (линия имеет участки “пульсирования”);</a:t>
            </a:r>
          </a:p>
          <a:p>
            <a:r>
              <a:rPr lang="ru-RU" dirty="0"/>
              <a:t> • петли (линия местами закручивается);</a:t>
            </a:r>
          </a:p>
          <a:p>
            <a:r>
              <a:rPr lang="ru-RU" dirty="0"/>
              <a:t> • пересечения (сегменты линий накладываются друг на друга). </a:t>
            </a:r>
          </a:p>
        </p:txBody>
      </p:sp>
      <p:pic>
        <p:nvPicPr>
          <p:cNvPr id="3" name="Рисунок 2"/>
          <p:cNvPicPr/>
          <p:nvPr/>
        </p:nvPicPr>
        <p:blipFill>
          <a:blip r:embed="rId2">
            <a:extLst>
              <a:ext uri="{28A0092B-C50C-407E-A947-70E740481C1C}">
                <a14:useLocalDpi xmlns:a14="http://schemas.microsoft.com/office/drawing/2010/main" val="0"/>
              </a:ext>
            </a:extLst>
          </a:blip>
          <a:srcRect/>
          <a:stretch>
            <a:fillRect/>
          </a:stretch>
        </p:blipFill>
        <p:spPr bwMode="auto">
          <a:xfrm>
            <a:off x="7972658" y="109608"/>
            <a:ext cx="3095032" cy="2913835"/>
          </a:xfrm>
          <a:prstGeom prst="rect">
            <a:avLst/>
          </a:prstGeom>
          <a:noFill/>
          <a:ln>
            <a:noFill/>
          </a:ln>
        </p:spPr>
      </p:pic>
      <p:sp>
        <p:nvSpPr>
          <p:cNvPr id="4" name="Прямоугольник 3"/>
          <p:cNvSpPr/>
          <p:nvPr/>
        </p:nvSpPr>
        <p:spPr>
          <a:xfrm>
            <a:off x="632604" y="4735751"/>
            <a:ext cx="6096000" cy="923330"/>
          </a:xfrm>
          <a:prstGeom prst="rect">
            <a:avLst/>
          </a:prstGeom>
        </p:spPr>
        <p:txBody>
          <a:bodyPr>
            <a:spAutoFit/>
          </a:bodyPr>
          <a:lstStyle/>
          <a:p>
            <a:r>
              <a:rPr lang="ru-RU" dirty="0"/>
              <a:t>При дискретной оцифровке карты (т.е. по отдельным областям, которые потом соединяются в единую карту) возникают несовпадения или нестыковки</a:t>
            </a:r>
          </a:p>
        </p:txBody>
      </p:sp>
      <p:pic>
        <p:nvPicPr>
          <p:cNvPr id="5" name="Рисунок 4"/>
          <p:cNvPicPr/>
          <p:nvPr/>
        </p:nvPicPr>
        <p:blipFill>
          <a:blip r:embed="rId3">
            <a:extLst>
              <a:ext uri="{28A0092B-C50C-407E-A947-70E740481C1C}">
                <a14:useLocalDpi xmlns:a14="http://schemas.microsoft.com/office/drawing/2010/main" val="0"/>
              </a:ext>
            </a:extLst>
          </a:blip>
          <a:srcRect/>
          <a:stretch>
            <a:fillRect/>
          </a:stretch>
        </p:blipFill>
        <p:spPr bwMode="auto">
          <a:xfrm>
            <a:off x="8039351" y="3646733"/>
            <a:ext cx="3028339" cy="2926595"/>
          </a:xfrm>
          <a:prstGeom prst="rect">
            <a:avLst/>
          </a:prstGeom>
          <a:noFill/>
          <a:ln>
            <a:noFill/>
          </a:ln>
        </p:spPr>
      </p:pic>
    </p:spTree>
    <p:extLst>
      <p:ext uri="{BB962C8B-B14F-4D97-AF65-F5344CB8AC3E}">
        <p14:creationId xmlns:p14="http://schemas.microsoft.com/office/powerpoint/2010/main" val="303651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Прямоугольник 12"/>
          <p:cNvSpPr>
            <a:spLocks noChangeArrowheads="1"/>
          </p:cNvSpPr>
          <p:nvPr/>
        </p:nvSpPr>
        <p:spPr bwMode="auto">
          <a:xfrm>
            <a:off x="435635" y="463138"/>
            <a:ext cx="581890" cy="843149"/>
          </a:xfrm>
          <a:prstGeom prst="rect">
            <a:avLst/>
          </a:prstGeom>
          <a:gradFill rotWithShape="1">
            <a:gsLst>
              <a:gs pos="0">
                <a:srgbClr val="770000"/>
              </a:gs>
              <a:gs pos="50000">
                <a:srgbClr val="AD0000"/>
              </a:gs>
              <a:gs pos="100000">
                <a:srgbClr val="CE0000"/>
              </a:gs>
            </a:gsLst>
            <a:lin ang="0" scaled="1"/>
          </a:gradFill>
          <a:ln w="9525" algn="ctr">
            <a:noFill/>
            <a:round/>
            <a:headEnd/>
            <a:tailEnd/>
          </a:ln>
        </p:spPr>
        <p:txBody>
          <a:bodyPr/>
          <a:lstStyle/>
          <a:p>
            <a:pPr defTabSz="1043001"/>
            <a:endParaRPr lang="ru-RU" sz="2100" dirty="0"/>
          </a:p>
        </p:txBody>
      </p:sp>
      <p:sp>
        <p:nvSpPr>
          <p:cNvPr id="9" name="Номер слайда 8"/>
          <p:cNvSpPr>
            <a:spLocks noGrp="1"/>
          </p:cNvSpPr>
          <p:nvPr>
            <p:ph type="sldNum" sz="quarter" idx="12"/>
          </p:nvPr>
        </p:nvSpPr>
        <p:spPr/>
        <p:txBody>
          <a:bodyPr/>
          <a:lstStyle/>
          <a:p>
            <a:fld id="{027F3A33-6A4A-4395-8324-C6DCD486F135}" type="slidenum">
              <a:rPr lang="ru-RU" smtClean="0">
                <a:solidFill>
                  <a:schemeClr val="bg2">
                    <a:lumMod val="75000"/>
                  </a:schemeClr>
                </a:solidFill>
              </a:rPr>
              <a:pPr/>
              <a:t>13</a:t>
            </a:fld>
            <a:endParaRPr lang="ru-RU" dirty="0">
              <a:solidFill>
                <a:schemeClr val="bg2">
                  <a:lumMod val="75000"/>
                </a:schemeClr>
              </a:solidFill>
            </a:endParaRPr>
          </a:p>
        </p:txBody>
      </p:sp>
      <p:pic>
        <p:nvPicPr>
          <p:cNvPr id="1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0250" y="463138"/>
            <a:ext cx="2827683" cy="880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435636" y="2341171"/>
            <a:ext cx="10545140" cy="1323439"/>
          </a:xfrm>
          <a:prstGeom prst="rect">
            <a:avLst/>
          </a:prstGeom>
          <a:noFill/>
        </p:spPr>
        <p:txBody>
          <a:bodyPr wrap="square" rtlCol="0">
            <a:spAutoFit/>
          </a:bodyPr>
          <a:lstStyle/>
          <a:p>
            <a:pPr lvl="0" algn="ctr"/>
            <a:r>
              <a:rPr lang="ru-RU" sz="4000" b="1" dirty="0">
                <a:solidFill>
                  <a:srgbClr val="FF0000"/>
                </a:solidFill>
              </a:rPr>
              <a:t>РЕШЕНИЕ АНАЛИТИЧЕСКИХ ЗАДАЧ</a:t>
            </a:r>
            <a:endParaRPr lang="ru-RU" sz="4000" dirty="0">
              <a:solidFill>
                <a:srgbClr val="FF0000"/>
              </a:solidFill>
            </a:endParaRPr>
          </a:p>
          <a:p>
            <a:pPr lvl="1" algn="ctr"/>
            <a:r>
              <a:rPr lang="ru-RU" sz="4000" b="1" dirty="0" smtClean="0"/>
              <a:t>Вопрос 6</a:t>
            </a:r>
            <a:endParaRPr lang="ru-RU" sz="4000" dirty="0"/>
          </a:p>
        </p:txBody>
      </p:sp>
    </p:spTree>
    <p:extLst>
      <p:ext uri="{BB962C8B-B14F-4D97-AF65-F5344CB8AC3E}">
        <p14:creationId xmlns:p14="http://schemas.microsoft.com/office/powerpoint/2010/main" val="74636739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10550" y="207403"/>
            <a:ext cx="11447253" cy="3693319"/>
          </a:xfrm>
          <a:prstGeom prst="rect">
            <a:avLst/>
          </a:prstGeom>
        </p:spPr>
        <p:txBody>
          <a:bodyPr wrap="square">
            <a:spAutoFit/>
          </a:bodyPr>
          <a:lstStyle/>
          <a:p>
            <a:r>
              <a:rPr lang="ru-RU" dirty="0"/>
              <a:t>Любая современная ГИС содержит в себе набор средств для анализа пространственно-атрибутивной информации являются. Используя аналитические функции ГИС можно получить ответы на такие вопросы, как:</a:t>
            </a:r>
          </a:p>
          <a:p>
            <a:r>
              <a:rPr lang="ru-RU" dirty="0"/>
              <a:t> • Где расположен объект А? </a:t>
            </a:r>
          </a:p>
          <a:p>
            <a:r>
              <a:rPr lang="ru-RU" dirty="0"/>
              <a:t>• Каково расположение объекта А по отношению к объекту В? </a:t>
            </a:r>
          </a:p>
          <a:p>
            <a:r>
              <a:rPr lang="ru-RU" dirty="0"/>
              <a:t>• Какое количество объектов А располагается в пределах расстояния D от объекта B?</a:t>
            </a:r>
          </a:p>
          <a:p>
            <a:r>
              <a:rPr lang="ru-RU" dirty="0"/>
              <a:t> • Какое значение имеет функция Z в точке X? </a:t>
            </a:r>
          </a:p>
          <a:p>
            <a:r>
              <a:rPr lang="ru-RU" dirty="0"/>
              <a:t>• Каковы размеры объекта B?</a:t>
            </a:r>
          </a:p>
          <a:p>
            <a:r>
              <a:rPr lang="ru-RU" dirty="0"/>
              <a:t> • Что получится в результате пересечения объектов A и B? </a:t>
            </a:r>
          </a:p>
          <a:p>
            <a:r>
              <a:rPr lang="ru-RU" dirty="0"/>
              <a:t>• Какой маршрут от объекта X до объекта Y будет оптимальным? </a:t>
            </a:r>
          </a:p>
          <a:p>
            <a:r>
              <a:rPr lang="ru-RU" dirty="0"/>
              <a:t>• Какие объекты расположены внутри объектов X1, X2, ..., </a:t>
            </a:r>
            <a:r>
              <a:rPr lang="ru-RU" dirty="0" err="1"/>
              <a:t>Xn</a:t>
            </a:r>
            <a:r>
              <a:rPr lang="ru-RU" dirty="0"/>
              <a:t>? </a:t>
            </a:r>
          </a:p>
          <a:p>
            <a:r>
              <a:rPr lang="ru-RU" dirty="0"/>
              <a:t>• Сильно ли изменится пространственное распределение объектов после изменения существующей классификации?</a:t>
            </a:r>
          </a:p>
          <a:p>
            <a:r>
              <a:rPr lang="ru-RU" dirty="0"/>
              <a:t> • Что произойдет с объектом А, если изменить объект В и его местоположение относительно А?</a:t>
            </a:r>
          </a:p>
        </p:txBody>
      </p:sp>
    </p:spTree>
    <p:extLst>
      <p:ext uri="{BB962C8B-B14F-4D97-AF65-F5344CB8AC3E}">
        <p14:creationId xmlns:p14="http://schemas.microsoft.com/office/powerpoint/2010/main" val="25896188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92657" y="230378"/>
            <a:ext cx="6096000" cy="2308324"/>
          </a:xfrm>
          <a:prstGeom prst="rect">
            <a:avLst/>
          </a:prstGeom>
          <a:solidFill>
            <a:schemeClr val="accent2">
              <a:lumMod val="20000"/>
              <a:lumOff val="80000"/>
            </a:schemeClr>
          </a:solidFill>
        </p:spPr>
        <p:txBody>
          <a:bodyPr>
            <a:spAutoFit/>
          </a:bodyPr>
          <a:lstStyle/>
          <a:p>
            <a:r>
              <a:rPr lang="ru-RU" dirty="0"/>
              <a:t> Возможности непространственного (атрибутивного) анализа:</a:t>
            </a:r>
          </a:p>
          <a:p>
            <a:r>
              <a:rPr lang="ru-RU" dirty="0"/>
              <a:t> • запрос по атрибутам и их отображение; </a:t>
            </a:r>
          </a:p>
          <a:p>
            <a:r>
              <a:rPr lang="ru-RU" dirty="0"/>
              <a:t>• поиск цифровых карт и их визуализация; </a:t>
            </a:r>
          </a:p>
          <a:p>
            <a:r>
              <a:rPr lang="ru-RU" dirty="0"/>
              <a:t>• классифицирование непространственных данных;</a:t>
            </a:r>
          </a:p>
          <a:p>
            <a:r>
              <a:rPr lang="ru-RU" dirty="0"/>
              <a:t> • картографические измерения (расстояние, направление, площадь);</a:t>
            </a:r>
          </a:p>
          <a:p>
            <a:r>
              <a:rPr lang="ru-RU" dirty="0"/>
              <a:t> • статистические функции.</a:t>
            </a:r>
          </a:p>
        </p:txBody>
      </p:sp>
      <p:sp>
        <p:nvSpPr>
          <p:cNvPr id="3" name="Прямоугольник 2"/>
          <p:cNvSpPr/>
          <p:nvPr/>
        </p:nvSpPr>
        <p:spPr>
          <a:xfrm>
            <a:off x="5730815" y="2780935"/>
            <a:ext cx="6096000" cy="3970318"/>
          </a:xfrm>
          <a:prstGeom prst="rect">
            <a:avLst/>
          </a:prstGeom>
          <a:solidFill>
            <a:schemeClr val="accent4">
              <a:lumMod val="20000"/>
              <a:lumOff val="80000"/>
            </a:schemeClr>
          </a:solidFill>
        </p:spPr>
        <p:txBody>
          <a:bodyPr>
            <a:spAutoFit/>
          </a:bodyPr>
          <a:lstStyle/>
          <a:p>
            <a:r>
              <a:rPr lang="ru-RU" dirty="0"/>
              <a:t>Возможности пространственного анализа: </a:t>
            </a:r>
          </a:p>
          <a:p>
            <a:r>
              <a:rPr lang="ru-RU" dirty="0"/>
              <a:t>• “оверлейные” операции;</a:t>
            </a:r>
          </a:p>
          <a:p>
            <a:r>
              <a:rPr lang="ru-RU" dirty="0"/>
              <a:t>• анализ близости; </a:t>
            </a:r>
          </a:p>
          <a:p>
            <a:r>
              <a:rPr lang="ru-RU" dirty="0"/>
              <a:t>• сетевой анализ; </a:t>
            </a:r>
          </a:p>
          <a:p>
            <a:r>
              <a:rPr lang="ru-RU" dirty="0"/>
              <a:t>• поиск объектов; </a:t>
            </a:r>
          </a:p>
          <a:p>
            <a:r>
              <a:rPr lang="ru-RU" dirty="0"/>
              <a:t>• анализ видимости-невидимости; </a:t>
            </a:r>
          </a:p>
          <a:p>
            <a:r>
              <a:rPr lang="ru-RU" dirty="0"/>
              <a:t>• прогнозирование; </a:t>
            </a:r>
          </a:p>
          <a:p>
            <a:r>
              <a:rPr lang="ru-RU" dirty="0"/>
              <a:t>• картометрические функции; </a:t>
            </a:r>
          </a:p>
          <a:p>
            <a:r>
              <a:rPr lang="ru-RU" dirty="0"/>
              <a:t>• интерполяция; </a:t>
            </a:r>
          </a:p>
          <a:p>
            <a:r>
              <a:rPr lang="ru-RU" dirty="0"/>
              <a:t>• зонирование; </a:t>
            </a:r>
          </a:p>
          <a:p>
            <a:r>
              <a:rPr lang="ru-RU" dirty="0"/>
              <a:t>• создание контуров; </a:t>
            </a:r>
          </a:p>
          <a:p>
            <a:r>
              <a:rPr lang="ru-RU" dirty="0"/>
              <a:t>• декомпозиция и объединение объектов; </a:t>
            </a:r>
          </a:p>
          <a:p>
            <a:r>
              <a:rPr lang="ru-RU" dirty="0"/>
              <a:t>• буферизация; </a:t>
            </a:r>
          </a:p>
          <a:p>
            <a:r>
              <a:rPr lang="ru-RU" dirty="0"/>
              <a:t>• </a:t>
            </a:r>
            <a:r>
              <a:rPr lang="ru-RU" dirty="0" err="1"/>
              <a:t>переклассификация</a:t>
            </a:r>
            <a:endParaRPr lang="ru-RU" dirty="0"/>
          </a:p>
        </p:txBody>
      </p:sp>
      <p:sp>
        <p:nvSpPr>
          <p:cNvPr id="4" name="Прямоугольник 3"/>
          <p:cNvSpPr/>
          <p:nvPr/>
        </p:nvSpPr>
        <p:spPr>
          <a:xfrm>
            <a:off x="86264" y="3732703"/>
            <a:ext cx="5279366" cy="2585323"/>
          </a:xfrm>
          <a:prstGeom prst="rect">
            <a:avLst/>
          </a:prstGeom>
        </p:spPr>
        <p:txBody>
          <a:bodyPr wrap="square">
            <a:spAutoFit/>
          </a:bodyPr>
          <a:lstStyle/>
          <a:p>
            <a:r>
              <a:rPr lang="ru-RU" dirty="0"/>
              <a:t>Пространственное расположение объектов исследуется при помощи операций анализа размещения, связей и других </a:t>
            </a:r>
            <a:r>
              <a:rPr lang="ru-RU" dirty="0" err="1"/>
              <a:t>геопространственных</a:t>
            </a:r>
            <a:r>
              <a:rPr lang="ru-RU" dirty="0"/>
              <a:t> взаимоотношений объектов и их атрибутов. К таким операциям можно отнести буферизацию, анализ близости, оверлейный и сетевой анализ, районирование и др. Комбинируя перечисленные операции можно решать достаточно сложные пространственные задачи.</a:t>
            </a:r>
          </a:p>
        </p:txBody>
      </p:sp>
    </p:spTree>
    <p:extLst>
      <p:ext uri="{BB962C8B-B14F-4D97-AF65-F5344CB8AC3E}">
        <p14:creationId xmlns:p14="http://schemas.microsoft.com/office/powerpoint/2010/main" val="3182996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4746919" y="130199"/>
            <a:ext cx="2275816" cy="523220"/>
          </a:xfrm>
          <a:prstGeom prst="rect">
            <a:avLst/>
          </a:prstGeom>
        </p:spPr>
        <p:txBody>
          <a:bodyPr wrap="none">
            <a:spAutoFit/>
          </a:bodyPr>
          <a:lstStyle/>
          <a:p>
            <a:r>
              <a:rPr lang="ru-RU" sz="2800" b="1" dirty="0"/>
              <a:t>Буферизация</a:t>
            </a:r>
            <a:endParaRPr lang="ru-RU" sz="2800" dirty="0"/>
          </a:p>
        </p:txBody>
      </p:sp>
      <p:sp>
        <p:nvSpPr>
          <p:cNvPr id="4" name="Прямоугольник 3"/>
          <p:cNvSpPr/>
          <p:nvPr/>
        </p:nvSpPr>
        <p:spPr>
          <a:xfrm>
            <a:off x="313426" y="883124"/>
            <a:ext cx="6096000" cy="3970318"/>
          </a:xfrm>
          <a:prstGeom prst="rect">
            <a:avLst/>
          </a:prstGeom>
        </p:spPr>
        <p:txBody>
          <a:bodyPr>
            <a:spAutoFit/>
          </a:bodyPr>
          <a:lstStyle/>
          <a:p>
            <a:r>
              <a:rPr lang="ru-RU" b="1" i="1" dirty="0"/>
              <a:t>Буферная зона</a:t>
            </a:r>
            <a:r>
              <a:rPr lang="ru-RU" dirty="0"/>
              <a:t> (</a:t>
            </a:r>
            <a:r>
              <a:rPr lang="ru-RU" dirty="0" err="1"/>
              <a:t>buffer</a:t>
            </a:r>
            <a:r>
              <a:rPr lang="ru-RU" dirty="0"/>
              <a:t> </a:t>
            </a:r>
            <a:r>
              <a:rPr lang="ru-RU" dirty="0" err="1"/>
              <a:t>zone</a:t>
            </a:r>
            <a:r>
              <a:rPr lang="ru-RU" dirty="0"/>
              <a:t>, </a:t>
            </a:r>
            <a:r>
              <a:rPr lang="ru-RU" dirty="0" err="1"/>
              <a:t>buffer</a:t>
            </a:r>
            <a:r>
              <a:rPr lang="ru-RU" dirty="0"/>
              <a:t>, </a:t>
            </a:r>
            <a:r>
              <a:rPr lang="ru-RU" dirty="0" err="1"/>
              <a:t>corridor</a:t>
            </a:r>
            <a:r>
              <a:rPr lang="ru-RU" dirty="0"/>
              <a:t>) – представляет из себя полигональный слой, образованный путем расчета и построения эквидистант, или эквидистантных линий (</a:t>
            </a:r>
            <a:r>
              <a:rPr lang="ru-RU" dirty="0" err="1"/>
              <a:t>equidistant</a:t>
            </a:r>
            <a:r>
              <a:rPr lang="ru-RU" dirty="0"/>
              <a:t> </a:t>
            </a:r>
            <a:r>
              <a:rPr lang="ru-RU" dirty="0" err="1"/>
              <a:t>line</a:t>
            </a:r>
            <a:r>
              <a:rPr lang="ru-RU" dirty="0"/>
              <a:t>), равноудаленных относительно множества точечных, линейных или полигональных пространственных объектов. Операция “буферизации” (</a:t>
            </a:r>
            <a:r>
              <a:rPr lang="ru-RU" dirty="0" err="1"/>
              <a:t>buffering</a:t>
            </a:r>
            <a:r>
              <a:rPr lang="ru-RU" dirty="0"/>
              <a:t>) применяется, например, для целей выделения трехкилометровой пограничной зоны, 20-метровой полосы отчуждения железнодорожной линии и т.п. Буферная зона полигонального объекта может строиться как вовне, так и внутри полигона. В случае если расстоянию между объектами и эквидистантами ставятся в соответствие значения одного из его атрибутов, говорят о “буферизации со взвешиванием” (</a:t>
            </a:r>
            <a:r>
              <a:rPr lang="ru-RU" dirty="0" err="1"/>
              <a:t>weighed</a:t>
            </a:r>
            <a:r>
              <a:rPr lang="ru-RU" dirty="0"/>
              <a:t> </a:t>
            </a:r>
            <a:r>
              <a:rPr lang="ru-RU" dirty="0" err="1"/>
              <a:t>buffering</a:t>
            </a:r>
            <a:r>
              <a:rPr lang="ru-RU" dirty="0"/>
              <a:t>).</a:t>
            </a:r>
          </a:p>
        </p:txBody>
      </p:sp>
      <p:pic>
        <p:nvPicPr>
          <p:cNvPr id="5" name="Рисунок 4"/>
          <p:cNvPicPr/>
          <p:nvPr/>
        </p:nvPicPr>
        <p:blipFill>
          <a:blip r:embed="rId2">
            <a:extLst>
              <a:ext uri="{28A0092B-C50C-407E-A947-70E740481C1C}">
                <a14:useLocalDpi xmlns:a14="http://schemas.microsoft.com/office/drawing/2010/main" val="0"/>
              </a:ext>
            </a:extLst>
          </a:blip>
          <a:srcRect/>
          <a:stretch>
            <a:fillRect/>
          </a:stretch>
        </p:blipFill>
        <p:spPr bwMode="auto">
          <a:xfrm>
            <a:off x="6478198" y="1636083"/>
            <a:ext cx="5549900" cy="1860550"/>
          </a:xfrm>
          <a:prstGeom prst="rect">
            <a:avLst/>
          </a:prstGeom>
          <a:noFill/>
          <a:ln>
            <a:noFill/>
          </a:ln>
        </p:spPr>
      </p:pic>
    </p:spTree>
    <p:extLst>
      <p:ext uri="{BB962C8B-B14F-4D97-AF65-F5344CB8AC3E}">
        <p14:creationId xmlns:p14="http://schemas.microsoft.com/office/powerpoint/2010/main" val="7937968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p:nvPr/>
        </p:nvPicPr>
        <p:blipFill>
          <a:blip r:embed="rId2">
            <a:extLst>
              <a:ext uri="{28A0092B-C50C-407E-A947-70E740481C1C}">
                <a14:useLocalDpi xmlns:a14="http://schemas.microsoft.com/office/drawing/2010/main" val="0"/>
              </a:ext>
            </a:extLst>
          </a:blip>
          <a:srcRect/>
          <a:stretch>
            <a:fillRect/>
          </a:stretch>
        </p:blipFill>
        <p:spPr bwMode="auto">
          <a:xfrm>
            <a:off x="313773" y="1253759"/>
            <a:ext cx="4373245" cy="2607945"/>
          </a:xfrm>
          <a:prstGeom prst="rect">
            <a:avLst/>
          </a:prstGeom>
          <a:noFill/>
          <a:ln>
            <a:noFill/>
          </a:ln>
        </p:spPr>
      </p:pic>
      <p:sp>
        <p:nvSpPr>
          <p:cNvPr id="3" name="Прямоугольник 2"/>
          <p:cNvSpPr/>
          <p:nvPr/>
        </p:nvSpPr>
        <p:spPr>
          <a:xfrm>
            <a:off x="4687018" y="228062"/>
            <a:ext cx="7200181" cy="4524315"/>
          </a:xfrm>
          <a:prstGeom prst="rect">
            <a:avLst/>
          </a:prstGeom>
        </p:spPr>
        <p:txBody>
          <a:bodyPr wrap="square">
            <a:spAutoFit/>
          </a:bodyPr>
          <a:lstStyle/>
          <a:p>
            <a:r>
              <a:rPr lang="ru-RU" dirty="0"/>
              <a:t>Радиус буфера определяет его размеры. Скажем, чтобы буфер охватывал все объекты, расположенные в пределах 10 километров по обе стороны шоссе, следует задать радиус буфера 10 километров. Если в качестве радиуса используется выражение или данные из некоторой колонки таблицы, то ГИС будет вычислять радиус. Радиус можно задать как постоянную величину (константу), а также использовать значения из некоторой колонки таблицы в качестве значений радиуса. Например, чтобы создать вокруг городов буферные зоны, которые отражали бы численность их населения, можно выбирать значения радиуса буфера из колонки “Население”. Более того, радиус буфера можно задавать в виде выражения. Допустим, нужно создать буферы вокруг городов, отражающие плотность населения. Но в таблице нет колонки, которая содержала бы значение плотности населения. В таком случае надо задать радиус буфера выражением, в котором будет вычисляться плотность населения на основании данных численности населения и площади городов.</a:t>
            </a:r>
          </a:p>
        </p:txBody>
      </p:sp>
    </p:spTree>
    <p:extLst>
      <p:ext uri="{BB962C8B-B14F-4D97-AF65-F5344CB8AC3E}">
        <p14:creationId xmlns:p14="http://schemas.microsoft.com/office/powerpoint/2010/main" val="29348201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4569420" y="233715"/>
            <a:ext cx="3796104" cy="523220"/>
          </a:xfrm>
          <a:prstGeom prst="rect">
            <a:avLst/>
          </a:prstGeom>
        </p:spPr>
        <p:txBody>
          <a:bodyPr wrap="none">
            <a:spAutoFit/>
          </a:bodyPr>
          <a:lstStyle/>
          <a:p>
            <a:r>
              <a:rPr lang="ru-RU" sz="2800" b="1" dirty="0"/>
              <a:t>Оверлейные операции</a:t>
            </a:r>
            <a:endParaRPr lang="ru-RU" sz="2800" dirty="0"/>
          </a:p>
        </p:txBody>
      </p:sp>
      <p:sp>
        <p:nvSpPr>
          <p:cNvPr id="3" name="Прямоугольник 2"/>
          <p:cNvSpPr/>
          <p:nvPr/>
        </p:nvSpPr>
        <p:spPr>
          <a:xfrm>
            <a:off x="140898" y="862533"/>
            <a:ext cx="6096000" cy="5909310"/>
          </a:xfrm>
          <a:prstGeom prst="rect">
            <a:avLst/>
          </a:prstGeom>
        </p:spPr>
        <p:txBody>
          <a:bodyPr>
            <a:spAutoFit/>
          </a:bodyPr>
          <a:lstStyle/>
          <a:p>
            <a:r>
              <a:rPr lang="ru-RU" b="1" i="1" dirty="0"/>
              <a:t>Оверлейная операция, оверлей</a:t>
            </a:r>
            <a:r>
              <a:rPr lang="ru-RU" dirty="0"/>
              <a:t> (</a:t>
            </a:r>
            <a:r>
              <a:rPr lang="ru-RU" dirty="0" err="1"/>
              <a:t>overlay</a:t>
            </a:r>
            <a:r>
              <a:rPr lang="ru-RU" dirty="0"/>
              <a:t>) – представляет из себя операцию наложения друг на друга двух или более слоев, результатом которой является графическая композиция (графический оверлей) используемых слоев либо единственный результирующий слой, несущий в себе набор пространственных объектов исходных слоев, топологию этого набора и атрибуты, которые являются производными от значений атрибутов исходных объектов в топологическом оверлее векторной модели представлений пространственных объектов.</a:t>
            </a:r>
          </a:p>
          <a:p>
            <a:r>
              <a:rPr lang="ru-RU" dirty="0"/>
              <a:t>К оверлейным относятся операции:</a:t>
            </a:r>
          </a:p>
          <a:p>
            <a:r>
              <a:rPr lang="ru-RU" dirty="0"/>
              <a:t> • определения принадлежности точки полигону; </a:t>
            </a:r>
          </a:p>
          <a:p>
            <a:r>
              <a:rPr lang="ru-RU" dirty="0"/>
              <a:t>• определения принадлежности линии полигону; </a:t>
            </a:r>
          </a:p>
          <a:p>
            <a:r>
              <a:rPr lang="ru-RU" dirty="0"/>
              <a:t>• определения принадлежности полигона полигону; </a:t>
            </a:r>
          </a:p>
          <a:p>
            <a:r>
              <a:rPr lang="ru-RU" dirty="0"/>
              <a:t>• наложения двух полигональных слоев; </a:t>
            </a:r>
          </a:p>
          <a:p>
            <a:r>
              <a:rPr lang="ru-RU" dirty="0"/>
              <a:t>• уничтожения границ одноименных классов полигонального слоя с порождением нового слоя;</a:t>
            </a:r>
          </a:p>
          <a:p>
            <a:r>
              <a:rPr lang="ru-RU" dirty="0"/>
              <a:t> </a:t>
            </a:r>
          </a:p>
          <a:p>
            <a:r>
              <a:rPr lang="ru-RU" dirty="0"/>
              <a:t> • определения линий пересечения объектов;</a:t>
            </a:r>
          </a:p>
          <a:p>
            <a:r>
              <a:rPr lang="ru-RU" dirty="0"/>
              <a:t> • объединения (комбинирования) объектов одного типа; • определения точки касания линейного объекта и т.д. </a:t>
            </a:r>
          </a:p>
        </p:txBody>
      </p:sp>
      <p:pic>
        <p:nvPicPr>
          <p:cNvPr id="4" name="Рисунок 3"/>
          <p:cNvPicPr/>
          <p:nvPr/>
        </p:nvPicPr>
        <p:blipFill>
          <a:blip r:embed="rId2">
            <a:extLst>
              <a:ext uri="{28A0092B-C50C-407E-A947-70E740481C1C}">
                <a14:useLocalDpi xmlns:a14="http://schemas.microsoft.com/office/drawing/2010/main" val="0"/>
              </a:ext>
            </a:extLst>
          </a:blip>
          <a:srcRect/>
          <a:stretch>
            <a:fillRect/>
          </a:stretch>
        </p:blipFill>
        <p:spPr bwMode="auto">
          <a:xfrm>
            <a:off x="6649809" y="981512"/>
            <a:ext cx="5082116" cy="4884450"/>
          </a:xfrm>
          <a:prstGeom prst="rect">
            <a:avLst/>
          </a:prstGeom>
          <a:noFill/>
          <a:ln>
            <a:noFill/>
          </a:ln>
        </p:spPr>
      </p:pic>
    </p:spTree>
    <p:extLst>
      <p:ext uri="{BB962C8B-B14F-4D97-AF65-F5344CB8AC3E}">
        <p14:creationId xmlns:p14="http://schemas.microsoft.com/office/powerpoint/2010/main" val="23602749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04801" y="1233139"/>
            <a:ext cx="6096000" cy="4247317"/>
          </a:xfrm>
          <a:prstGeom prst="rect">
            <a:avLst/>
          </a:prstGeom>
        </p:spPr>
        <p:txBody>
          <a:bodyPr>
            <a:spAutoFit/>
          </a:bodyPr>
          <a:lstStyle/>
          <a:p>
            <a:r>
              <a:rPr lang="ru-RU" b="1" i="1" dirty="0"/>
              <a:t>Операция наложения двух полигональных слоев </a:t>
            </a:r>
            <a:r>
              <a:rPr lang="ru-RU" dirty="0"/>
              <a:t>(</a:t>
            </a:r>
            <a:r>
              <a:rPr lang="ru-RU" dirty="0" err="1"/>
              <a:t>polygon-on-polygon</a:t>
            </a:r>
            <a:r>
              <a:rPr lang="ru-RU" dirty="0"/>
              <a:t>) методом вырезания применяется для вырезания части одного слоя, используя для этого другой слой в качестве формы. Эта операция создает новый слой посредством наложения объектов двух </a:t>
            </a:r>
            <a:r>
              <a:rPr lang="ru-RU" dirty="0" smtClean="0"/>
              <a:t>слоев. </a:t>
            </a:r>
            <a:r>
              <a:rPr lang="ru-RU" dirty="0"/>
              <a:t>Один из этих слоев должен быть полигонального типа и он используется для определения области отсечения. В полученном слое сохраняют только те объекты исходного слоя, которые попадают в область вырезания. Объектами исходного слоя могут быть любые объекты (полигоны, линии или точки). Объекты нового слоя будут одного типа с объектами исходного слоя. В итоге получают объективную атрибутивную таблицу для нового слоя, которая содержит поля, аналогичные имеющимся полям в атрибутивной таблице исходного слоя.</a:t>
            </a:r>
          </a:p>
        </p:txBody>
      </p:sp>
      <p:pic>
        <p:nvPicPr>
          <p:cNvPr id="3" name="Рисунок 2"/>
          <p:cNvPicPr/>
          <p:nvPr/>
        </p:nvPicPr>
        <p:blipFill>
          <a:blip r:embed="rId2">
            <a:extLst>
              <a:ext uri="{28A0092B-C50C-407E-A947-70E740481C1C}">
                <a14:useLocalDpi xmlns:a14="http://schemas.microsoft.com/office/drawing/2010/main" val="0"/>
              </a:ext>
            </a:extLst>
          </a:blip>
          <a:srcRect/>
          <a:stretch>
            <a:fillRect/>
          </a:stretch>
        </p:blipFill>
        <p:spPr bwMode="auto">
          <a:xfrm>
            <a:off x="6725393" y="131642"/>
            <a:ext cx="5222192" cy="6450313"/>
          </a:xfrm>
          <a:prstGeom prst="rect">
            <a:avLst/>
          </a:prstGeom>
          <a:noFill/>
          <a:ln>
            <a:noFill/>
          </a:ln>
        </p:spPr>
      </p:pic>
    </p:spTree>
    <p:extLst>
      <p:ext uri="{BB962C8B-B14F-4D97-AF65-F5344CB8AC3E}">
        <p14:creationId xmlns:p14="http://schemas.microsoft.com/office/powerpoint/2010/main" val="33505425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53040" y="262997"/>
            <a:ext cx="11720423" cy="923330"/>
          </a:xfrm>
          <a:prstGeom prst="rect">
            <a:avLst/>
          </a:prstGeom>
        </p:spPr>
        <p:txBody>
          <a:bodyPr wrap="square">
            <a:spAutoFit/>
          </a:bodyPr>
          <a:lstStyle/>
          <a:p>
            <a:r>
              <a:rPr lang="ru-RU" dirty="0"/>
              <a:t>Помимо операций топологического оверлея существуют операции логического или булевского оверлея. Все операции (всего их четыре) основаны на элементарных логических функциях – логические И, ИЛИ, НЕ и исключающее ИЛИ</a:t>
            </a:r>
          </a:p>
        </p:txBody>
      </p:sp>
      <p:pic>
        <p:nvPicPr>
          <p:cNvPr id="3" name="Рисунок 2"/>
          <p:cNvPicPr/>
          <p:nvPr/>
        </p:nvPicPr>
        <p:blipFill>
          <a:blip r:embed="rId2">
            <a:extLst>
              <a:ext uri="{28A0092B-C50C-407E-A947-70E740481C1C}">
                <a14:useLocalDpi xmlns:a14="http://schemas.microsoft.com/office/drawing/2010/main" val="0"/>
              </a:ext>
            </a:extLst>
          </a:blip>
          <a:srcRect/>
          <a:stretch>
            <a:fillRect/>
          </a:stretch>
        </p:blipFill>
        <p:spPr bwMode="auto">
          <a:xfrm>
            <a:off x="94405" y="1454580"/>
            <a:ext cx="4745014" cy="4566657"/>
          </a:xfrm>
          <a:prstGeom prst="rect">
            <a:avLst/>
          </a:prstGeom>
          <a:noFill/>
          <a:ln>
            <a:noFill/>
          </a:ln>
        </p:spPr>
      </p:pic>
      <p:pic>
        <p:nvPicPr>
          <p:cNvPr id="4" name="Рисунок 3"/>
          <p:cNvPicPr/>
          <p:nvPr/>
        </p:nvPicPr>
        <p:blipFill>
          <a:blip r:embed="rId3">
            <a:extLst>
              <a:ext uri="{28A0092B-C50C-407E-A947-70E740481C1C}">
                <a14:useLocalDpi xmlns:a14="http://schemas.microsoft.com/office/drawing/2010/main" val="0"/>
              </a:ext>
            </a:extLst>
          </a:blip>
          <a:srcRect/>
          <a:stretch>
            <a:fillRect/>
          </a:stretch>
        </p:blipFill>
        <p:spPr bwMode="auto">
          <a:xfrm>
            <a:off x="5906919" y="1605782"/>
            <a:ext cx="6066544" cy="3906498"/>
          </a:xfrm>
          <a:prstGeom prst="rect">
            <a:avLst/>
          </a:prstGeom>
          <a:noFill/>
          <a:ln>
            <a:noFill/>
          </a:ln>
        </p:spPr>
      </p:pic>
    </p:spTree>
    <p:extLst>
      <p:ext uri="{BB962C8B-B14F-4D97-AF65-F5344CB8AC3E}">
        <p14:creationId xmlns:p14="http://schemas.microsoft.com/office/powerpoint/2010/main" val="79451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4580904" y="164704"/>
            <a:ext cx="3467359" cy="523220"/>
          </a:xfrm>
          <a:prstGeom prst="rect">
            <a:avLst/>
          </a:prstGeom>
        </p:spPr>
        <p:txBody>
          <a:bodyPr wrap="none">
            <a:spAutoFit/>
          </a:bodyPr>
          <a:lstStyle/>
          <a:p>
            <a:r>
              <a:rPr lang="ru-RU" sz="2800" b="1" dirty="0" err="1"/>
              <a:t>Переклассификация</a:t>
            </a:r>
            <a:r>
              <a:rPr lang="ru-RU" sz="2800" b="1" dirty="0"/>
              <a:t> </a:t>
            </a:r>
            <a:endParaRPr lang="ru-RU" sz="2800" dirty="0"/>
          </a:p>
        </p:txBody>
      </p:sp>
      <p:sp>
        <p:nvSpPr>
          <p:cNvPr id="3" name="Прямоугольник 2"/>
          <p:cNvSpPr/>
          <p:nvPr/>
        </p:nvSpPr>
        <p:spPr>
          <a:xfrm>
            <a:off x="339306" y="1246865"/>
            <a:ext cx="6096000" cy="3139321"/>
          </a:xfrm>
          <a:prstGeom prst="rect">
            <a:avLst/>
          </a:prstGeom>
        </p:spPr>
        <p:txBody>
          <a:bodyPr>
            <a:spAutoFit/>
          </a:bodyPr>
          <a:lstStyle/>
          <a:p>
            <a:r>
              <a:rPr lang="ru-RU" b="1" i="1" dirty="0" err="1"/>
              <a:t>Переклассификация</a:t>
            </a:r>
            <a:r>
              <a:rPr lang="ru-RU" dirty="0"/>
              <a:t> – это аналитическая операция, направленная на преобразование слоя карты по заданному условию. К примеру, на карте нанесены сельхоз угодья с разными типами </a:t>
            </a:r>
            <a:r>
              <a:rPr lang="ru-RU" dirty="0" smtClean="0"/>
              <a:t>почв. </a:t>
            </a:r>
            <a:r>
              <a:rPr lang="ru-RU" dirty="0"/>
              <a:t>Кроме того, на карте указаны растительные культуры, произрастающие на данном участке земли. В данном случае операция </a:t>
            </a:r>
            <a:r>
              <a:rPr lang="ru-RU" dirty="0" err="1"/>
              <a:t>переклассификации</a:t>
            </a:r>
            <a:r>
              <a:rPr lang="ru-RU" dirty="0"/>
              <a:t> позволяет объединить однородные почвенные зоны в единую область без акцента на растущие на них сельхоз культуры, рис.5.7. В этом случае условием </a:t>
            </a:r>
            <a:r>
              <a:rPr lang="ru-RU" dirty="0" err="1"/>
              <a:t>переклассификации</a:t>
            </a:r>
            <a:r>
              <a:rPr lang="ru-RU" dirty="0"/>
              <a:t> является принадлежность к одному типу почвы.</a:t>
            </a:r>
          </a:p>
        </p:txBody>
      </p:sp>
      <p:pic>
        <p:nvPicPr>
          <p:cNvPr id="4" name="Рисунок 3"/>
          <p:cNvPicPr/>
          <p:nvPr/>
        </p:nvPicPr>
        <p:blipFill>
          <a:blip r:embed="rId2">
            <a:extLst>
              <a:ext uri="{28A0092B-C50C-407E-A947-70E740481C1C}">
                <a14:useLocalDpi xmlns:a14="http://schemas.microsoft.com/office/drawing/2010/main" val="0"/>
              </a:ext>
            </a:extLst>
          </a:blip>
          <a:srcRect/>
          <a:stretch>
            <a:fillRect/>
          </a:stretch>
        </p:blipFill>
        <p:spPr bwMode="auto">
          <a:xfrm>
            <a:off x="6435306" y="861265"/>
            <a:ext cx="5247640" cy="2011680"/>
          </a:xfrm>
          <a:prstGeom prst="rect">
            <a:avLst/>
          </a:prstGeom>
          <a:noFill/>
          <a:ln>
            <a:noFill/>
          </a:ln>
        </p:spPr>
      </p:pic>
      <p:pic>
        <p:nvPicPr>
          <p:cNvPr id="5" name="Рисунок 4"/>
          <p:cNvPicPr/>
          <p:nvPr/>
        </p:nvPicPr>
        <p:blipFill>
          <a:blip r:embed="rId3">
            <a:extLst>
              <a:ext uri="{28A0092B-C50C-407E-A947-70E740481C1C}">
                <a14:useLocalDpi xmlns:a14="http://schemas.microsoft.com/office/drawing/2010/main" val="0"/>
              </a:ext>
            </a:extLst>
          </a:blip>
          <a:srcRect/>
          <a:stretch>
            <a:fillRect/>
          </a:stretch>
        </p:blipFill>
        <p:spPr bwMode="auto">
          <a:xfrm>
            <a:off x="7183959" y="2985088"/>
            <a:ext cx="4086860" cy="1685925"/>
          </a:xfrm>
          <a:prstGeom prst="rect">
            <a:avLst/>
          </a:prstGeom>
          <a:noFill/>
          <a:ln>
            <a:noFill/>
          </a:ln>
        </p:spPr>
      </p:pic>
      <p:pic>
        <p:nvPicPr>
          <p:cNvPr id="6" name="Рисунок 5"/>
          <p:cNvPicPr/>
          <p:nvPr/>
        </p:nvPicPr>
        <p:blipFill>
          <a:blip r:embed="rId4">
            <a:extLst>
              <a:ext uri="{28A0092B-C50C-407E-A947-70E740481C1C}">
                <a14:useLocalDpi xmlns:a14="http://schemas.microsoft.com/office/drawing/2010/main" val="0"/>
              </a:ext>
            </a:extLst>
          </a:blip>
          <a:srcRect/>
          <a:stretch>
            <a:fillRect/>
          </a:stretch>
        </p:blipFill>
        <p:spPr bwMode="auto">
          <a:xfrm>
            <a:off x="339306" y="4807490"/>
            <a:ext cx="4047490" cy="1987550"/>
          </a:xfrm>
          <a:prstGeom prst="rect">
            <a:avLst/>
          </a:prstGeom>
          <a:noFill/>
          <a:ln>
            <a:noFill/>
          </a:ln>
        </p:spPr>
      </p:pic>
      <p:pic>
        <p:nvPicPr>
          <p:cNvPr id="7" name="Рисунок 6"/>
          <p:cNvPicPr/>
          <p:nvPr/>
        </p:nvPicPr>
        <p:blipFill>
          <a:blip r:embed="rId5">
            <a:extLst>
              <a:ext uri="{28A0092B-C50C-407E-A947-70E740481C1C}">
                <a14:useLocalDpi xmlns:a14="http://schemas.microsoft.com/office/drawing/2010/main" val="0"/>
              </a:ext>
            </a:extLst>
          </a:blip>
          <a:srcRect/>
          <a:stretch>
            <a:fillRect/>
          </a:stretch>
        </p:blipFill>
        <p:spPr bwMode="auto">
          <a:xfrm>
            <a:off x="4149893" y="4902740"/>
            <a:ext cx="4047490" cy="1797050"/>
          </a:xfrm>
          <a:prstGeom prst="rect">
            <a:avLst/>
          </a:prstGeom>
          <a:noFill/>
          <a:ln>
            <a:noFill/>
          </a:ln>
        </p:spPr>
      </p:pic>
      <p:pic>
        <p:nvPicPr>
          <p:cNvPr id="8" name="Рисунок 7"/>
          <p:cNvPicPr/>
          <p:nvPr/>
        </p:nvPicPr>
        <p:blipFill>
          <a:blip r:embed="rId6">
            <a:extLst>
              <a:ext uri="{28A0092B-C50C-407E-A947-70E740481C1C}">
                <a14:useLocalDpi xmlns:a14="http://schemas.microsoft.com/office/drawing/2010/main" val="0"/>
              </a:ext>
            </a:extLst>
          </a:blip>
          <a:srcRect/>
          <a:stretch>
            <a:fillRect/>
          </a:stretch>
        </p:blipFill>
        <p:spPr bwMode="auto">
          <a:xfrm>
            <a:off x="8197383" y="4902740"/>
            <a:ext cx="3840480" cy="1590040"/>
          </a:xfrm>
          <a:prstGeom prst="rect">
            <a:avLst/>
          </a:prstGeom>
          <a:noFill/>
          <a:ln>
            <a:noFill/>
          </a:ln>
        </p:spPr>
      </p:pic>
    </p:spTree>
    <p:extLst>
      <p:ext uri="{BB962C8B-B14F-4D97-AF65-F5344CB8AC3E}">
        <p14:creationId xmlns:p14="http://schemas.microsoft.com/office/powerpoint/2010/main" val="12843351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13427" y="239958"/>
            <a:ext cx="11461630" cy="923330"/>
          </a:xfrm>
          <a:prstGeom prst="rect">
            <a:avLst/>
          </a:prstGeom>
        </p:spPr>
        <p:txBody>
          <a:bodyPr wrap="square">
            <a:spAutoFit/>
          </a:bodyPr>
          <a:lstStyle/>
          <a:p>
            <a:r>
              <a:rPr lang="ru-RU" dirty="0"/>
              <a:t>Картометрические функции Картометрические функции – это операции, позволяющие измерять расстояния, площади, периметры, объемы, заключенные между секущими поверхностями и </a:t>
            </a:r>
            <a:r>
              <a:rPr lang="ru-RU" dirty="0" smtClean="0"/>
              <a:t>т.д. </a:t>
            </a:r>
            <a:r>
              <a:rPr lang="ru-RU" dirty="0"/>
              <a:t>Как правило, такие операции являются обязательными внутренними функциями ГИС.</a:t>
            </a:r>
          </a:p>
        </p:txBody>
      </p:sp>
      <p:pic>
        <p:nvPicPr>
          <p:cNvPr id="4" name="Рисунок 3"/>
          <p:cNvPicPr/>
          <p:nvPr/>
        </p:nvPicPr>
        <p:blipFill>
          <a:blip r:embed="rId2">
            <a:extLst>
              <a:ext uri="{28A0092B-C50C-407E-A947-70E740481C1C}">
                <a14:useLocalDpi xmlns:a14="http://schemas.microsoft.com/office/drawing/2010/main" val="0"/>
              </a:ext>
            </a:extLst>
          </a:blip>
          <a:srcRect/>
          <a:stretch>
            <a:fillRect/>
          </a:stretch>
        </p:blipFill>
        <p:spPr bwMode="auto">
          <a:xfrm>
            <a:off x="8048625" y="1881008"/>
            <a:ext cx="4143375" cy="2733675"/>
          </a:xfrm>
          <a:prstGeom prst="rect">
            <a:avLst/>
          </a:prstGeom>
          <a:noFill/>
          <a:ln>
            <a:noFill/>
          </a:ln>
        </p:spPr>
      </p:pic>
      <p:sp>
        <p:nvSpPr>
          <p:cNvPr id="5" name="Прямоугольник 4"/>
          <p:cNvSpPr/>
          <p:nvPr/>
        </p:nvSpPr>
        <p:spPr>
          <a:xfrm>
            <a:off x="60386" y="1163288"/>
            <a:ext cx="7985184" cy="5355312"/>
          </a:xfrm>
          <a:prstGeom prst="rect">
            <a:avLst/>
          </a:prstGeom>
        </p:spPr>
        <p:txBody>
          <a:bodyPr wrap="square">
            <a:spAutoFit/>
          </a:bodyPr>
          <a:lstStyle/>
          <a:p>
            <a:r>
              <a:rPr lang="ru-RU" dirty="0"/>
              <a:t>При проведении картометрических измерений нужно знать, что:</a:t>
            </a:r>
          </a:p>
          <a:p>
            <a:r>
              <a:rPr lang="ru-RU" dirty="0"/>
              <a:t>• процесс вычисления координат объектов различается для разных примитивов: проще всего вычислить координаты точек - (x, y), затем линий – (x1, y1; …; </a:t>
            </a:r>
            <a:r>
              <a:rPr lang="ru-RU" dirty="0" err="1"/>
              <a:t>xn</a:t>
            </a:r>
            <a:r>
              <a:rPr lang="ru-RU" dirty="0"/>
              <a:t>, </a:t>
            </a:r>
            <a:r>
              <a:rPr lang="ru-RU" dirty="0" err="1"/>
              <a:t>yn</a:t>
            </a:r>
            <a:r>
              <a:rPr lang="ru-RU" dirty="0"/>
              <a:t>), и, наконец, полигонов – (x1, y1; … </a:t>
            </a:r>
            <a:r>
              <a:rPr lang="ru-RU" dirty="0" err="1"/>
              <a:t>xn</a:t>
            </a:r>
            <a:r>
              <a:rPr lang="ru-RU" dirty="0"/>
              <a:t>, </a:t>
            </a:r>
            <a:r>
              <a:rPr lang="ru-RU" dirty="0" err="1"/>
              <a:t>yn</a:t>
            </a:r>
            <a:r>
              <a:rPr lang="ru-RU" dirty="0"/>
              <a:t>; x1, y1). Для линий иногда приходится вычислять дополнительные характеристики, такие как длина и угол простирания. Для полигонов чаще всего определяют периметр, площадь, размеры;</a:t>
            </a:r>
          </a:p>
          <a:p>
            <a:r>
              <a:rPr lang="ru-RU" dirty="0"/>
              <a:t> • форму обычно </a:t>
            </a:r>
            <a:r>
              <a:rPr lang="ru-RU" dirty="0" err="1"/>
              <a:t>охарактеризовывают</a:t>
            </a:r>
            <a:r>
              <a:rPr lang="ru-RU" dirty="0"/>
              <a:t> такими параметрами, как факторы формы круга и эллипса. Фактор формы круга показывает насколько полигон близок к кругу, т.е. фигуре, площадь которой ограничена наименьшим периметром. Для круга фактор формы круга равняется 1. С увеличением периметра фигуры при неизменной площади значение фактора формы круга уменьшается до 0. Фактор формы эллипса говорит о близости фигуры к эллипсу (изменение значений этого фактора такое же, как для круга); </a:t>
            </a:r>
          </a:p>
          <a:p>
            <a:r>
              <a:rPr lang="ru-RU" dirty="0"/>
              <a:t>• вычисление </a:t>
            </a:r>
            <a:r>
              <a:rPr lang="ru-RU" dirty="0" err="1"/>
              <a:t>стереологических</a:t>
            </a:r>
            <a:r>
              <a:rPr lang="ru-RU" dirty="0"/>
              <a:t> параметров необходимо для описания объемной (3d) структуры объектов. Фундаментом для расчета параметров служат значения площади и периметра примитива, полученные с карты. В большинстве случаев, этими параметрами описывают структуры, элементы которых связаны между собой в пространстве.</a:t>
            </a:r>
          </a:p>
        </p:txBody>
      </p:sp>
    </p:spTree>
    <p:extLst>
      <p:ext uri="{BB962C8B-B14F-4D97-AF65-F5344CB8AC3E}">
        <p14:creationId xmlns:p14="http://schemas.microsoft.com/office/powerpoint/2010/main" val="9302393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4786114" y="173330"/>
            <a:ext cx="2741456" cy="523220"/>
          </a:xfrm>
          <a:prstGeom prst="rect">
            <a:avLst/>
          </a:prstGeom>
        </p:spPr>
        <p:txBody>
          <a:bodyPr wrap="none">
            <a:spAutoFit/>
          </a:bodyPr>
          <a:lstStyle/>
          <a:p>
            <a:r>
              <a:rPr lang="ru-RU" sz="2800" b="1" dirty="0"/>
              <a:t>Районирование </a:t>
            </a:r>
            <a:endParaRPr lang="ru-RU" sz="2800" dirty="0"/>
          </a:p>
        </p:txBody>
      </p:sp>
      <p:sp>
        <p:nvSpPr>
          <p:cNvPr id="3" name="Прямоугольник 2"/>
          <p:cNvSpPr/>
          <p:nvPr/>
        </p:nvSpPr>
        <p:spPr>
          <a:xfrm>
            <a:off x="347932" y="544310"/>
            <a:ext cx="6096000" cy="5355312"/>
          </a:xfrm>
          <a:prstGeom prst="rect">
            <a:avLst/>
          </a:prstGeom>
        </p:spPr>
        <p:txBody>
          <a:bodyPr>
            <a:spAutoFit/>
          </a:bodyPr>
          <a:lstStyle/>
          <a:p>
            <a:r>
              <a:rPr lang="ru-RU" dirty="0"/>
              <a:t>Процесс районирования (зонирования) состоит в объединении объектов на карте в большие регионы или территории для обобщения данных по этим территориям. Районирование используется в самых различных задачах, таких, как создание и анализ территорий сбыта, избирательных округов, территорий, обслуживаемых подразделениями аварийной службы, маршрутов доставки, анализ распределения ресурсов и т.д. ГИС создает тематическую карту методом индивидуальных значений, в которой тематической переменной является название территории. На этой карте цветами обозначены различные территории – </a:t>
            </a:r>
            <a:r>
              <a:rPr lang="ru-RU" dirty="0" smtClean="0"/>
              <a:t>районы. </a:t>
            </a:r>
            <a:r>
              <a:rPr lang="ru-RU" dirty="0"/>
              <a:t>Специальное окно обычно показывает данные о районах в табличной форме. Кроме того ГИС позволяет динамически отслеживать изменения в данных по районам при переносе объектов из одного района в другой. Районирование чаще всего используется для оптимизации территориального планирования и решения задач иногда называемых “балансировкой (выравниванием) территорий”.</a:t>
            </a:r>
          </a:p>
        </p:txBody>
      </p:sp>
      <p:pic>
        <p:nvPicPr>
          <p:cNvPr id="5" name="Рисунок 4"/>
          <p:cNvPicPr/>
          <p:nvPr/>
        </p:nvPicPr>
        <p:blipFill>
          <a:blip r:embed="rId2">
            <a:extLst>
              <a:ext uri="{28A0092B-C50C-407E-A947-70E740481C1C}">
                <a14:useLocalDpi xmlns:a14="http://schemas.microsoft.com/office/drawing/2010/main" val="0"/>
              </a:ext>
            </a:extLst>
          </a:blip>
          <a:srcRect/>
          <a:stretch>
            <a:fillRect/>
          </a:stretch>
        </p:blipFill>
        <p:spPr bwMode="auto">
          <a:xfrm>
            <a:off x="6943102" y="544310"/>
            <a:ext cx="4913630" cy="5820410"/>
          </a:xfrm>
          <a:prstGeom prst="rect">
            <a:avLst/>
          </a:prstGeom>
          <a:noFill/>
          <a:ln>
            <a:noFill/>
          </a:ln>
        </p:spPr>
      </p:pic>
    </p:spTree>
    <p:extLst>
      <p:ext uri="{BB962C8B-B14F-4D97-AF65-F5344CB8AC3E}">
        <p14:creationId xmlns:p14="http://schemas.microsoft.com/office/powerpoint/2010/main" val="160757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076580" y="190583"/>
            <a:ext cx="2621230" cy="523220"/>
          </a:xfrm>
          <a:prstGeom prst="rect">
            <a:avLst/>
          </a:prstGeom>
        </p:spPr>
        <p:txBody>
          <a:bodyPr wrap="none">
            <a:spAutoFit/>
          </a:bodyPr>
          <a:lstStyle/>
          <a:p>
            <a:r>
              <a:rPr lang="ru-RU" sz="2800" b="1" dirty="0"/>
              <a:t>Сетевой анализ</a:t>
            </a:r>
            <a:endParaRPr lang="ru-RU" sz="2800" dirty="0"/>
          </a:p>
        </p:txBody>
      </p:sp>
      <p:sp>
        <p:nvSpPr>
          <p:cNvPr id="3" name="Прямоугольник 2"/>
          <p:cNvSpPr/>
          <p:nvPr/>
        </p:nvSpPr>
        <p:spPr>
          <a:xfrm>
            <a:off x="218536" y="693538"/>
            <a:ext cx="6096000" cy="2585323"/>
          </a:xfrm>
          <a:prstGeom prst="rect">
            <a:avLst/>
          </a:prstGeom>
        </p:spPr>
        <p:txBody>
          <a:bodyPr>
            <a:spAutoFit/>
          </a:bodyPr>
          <a:lstStyle/>
          <a:p>
            <a:r>
              <a:rPr lang="ru-RU" dirty="0"/>
              <a:t> Сетевой анализ направлен на решение задач по определению ближайшего, наиболее выгодного сетевого (это может быть транспортная сеть, сеть телекоммуникаций и т.д.) </a:t>
            </a:r>
            <a:r>
              <a:rPr lang="ru-RU" dirty="0" smtClean="0"/>
              <a:t>маршрута, </a:t>
            </a:r>
            <a:r>
              <a:rPr lang="ru-RU" dirty="0"/>
              <a:t>установлению уровней нагрузки на сеть, определению зон влияния на объекты сети других объектов. Сетевой анализ часто используют в процессе принятия решений по транспортным задачам, по проектированию и эксплуатации разнообразных сетей инженерных коммуникаций и т.д.</a:t>
            </a:r>
          </a:p>
        </p:txBody>
      </p:sp>
      <p:pic>
        <p:nvPicPr>
          <p:cNvPr id="4" name="Рисунок 3"/>
          <p:cNvPicPr/>
          <p:nvPr/>
        </p:nvPicPr>
        <p:blipFill>
          <a:blip r:embed="rId2">
            <a:extLst>
              <a:ext uri="{28A0092B-C50C-407E-A947-70E740481C1C}">
                <a14:useLocalDpi xmlns:a14="http://schemas.microsoft.com/office/drawing/2010/main" val="0"/>
              </a:ext>
            </a:extLst>
          </a:blip>
          <a:srcRect/>
          <a:stretch>
            <a:fillRect/>
          </a:stretch>
        </p:blipFill>
        <p:spPr bwMode="auto">
          <a:xfrm>
            <a:off x="6456242" y="713803"/>
            <a:ext cx="5344694" cy="4962378"/>
          </a:xfrm>
          <a:prstGeom prst="rect">
            <a:avLst/>
          </a:prstGeom>
          <a:noFill/>
          <a:ln>
            <a:noFill/>
          </a:ln>
        </p:spPr>
      </p:pic>
      <p:sp>
        <p:nvSpPr>
          <p:cNvPr id="5" name="Прямоугольник 4"/>
          <p:cNvSpPr/>
          <p:nvPr/>
        </p:nvSpPr>
        <p:spPr>
          <a:xfrm>
            <a:off x="291195" y="3443241"/>
            <a:ext cx="6096000" cy="2585323"/>
          </a:xfrm>
          <a:prstGeom prst="rect">
            <a:avLst/>
          </a:prstGeom>
        </p:spPr>
        <p:txBody>
          <a:bodyPr>
            <a:spAutoFit/>
          </a:bodyPr>
          <a:lstStyle/>
          <a:p>
            <a:r>
              <a:rPr lang="ru-RU" dirty="0"/>
              <a:t>Сетевой анализ нацелен на обработку данных линейных объектов, которые имеют разветвленную (древовидную) структуру. Он может быть использован, например, при анализе геологических данных по интенсивности спектральных линий.</a:t>
            </a:r>
          </a:p>
          <a:p>
            <a:r>
              <a:rPr lang="ru-RU" dirty="0"/>
              <a:t>Для решения более сложных исследовательских задач используется моделирование распределения пространственных и атрибутивных параметров графических объектов методом регулярной ячейки. </a:t>
            </a:r>
          </a:p>
        </p:txBody>
      </p:sp>
    </p:spTree>
    <p:extLst>
      <p:ext uri="{BB962C8B-B14F-4D97-AF65-F5344CB8AC3E}">
        <p14:creationId xmlns:p14="http://schemas.microsoft.com/office/powerpoint/2010/main" val="25413603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4229213" y="173330"/>
            <a:ext cx="5424434" cy="523220"/>
          </a:xfrm>
          <a:prstGeom prst="rect">
            <a:avLst/>
          </a:prstGeom>
        </p:spPr>
        <p:txBody>
          <a:bodyPr wrap="none">
            <a:spAutoFit/>
          </a:bodyPr>
          <a:lstStyle/>
          <a:p>
            <a:r>
              <a:rPr lang="ru-RU" sz="2800" b="1" dirty="0"/>
              <a:t>Другие аналитические операции </a:t>
            </a:r>
            <a:endParaRPr lang="ru-RU" sz="2800" dirty="0"/>
          </a:p>
        </p:txBody>
      </p:sp>
      <p:sp>
        <p:nvSpPr>
          <p:cNvPr id="3" name="Прямоугольник 2"/>
          <p:cNvSpPr/>
          <p:nvPr/>
        </p:nvSpPr>
        <p:spPr>
          <a:xfrm>
            <a:off x="370935" y="809345"/>
            <a:ext cx="11507637" cy="3416320"/>
          </a:xfrm>
          <a:prstGeom prst="rect">
            <a:avLst/>
          </a:prstGeom>
        </p:spPr>
        <p:txBody>
          <a:bodyPr wrap="square">
            <a:spAutoFit/>
          </a:bodyPr>
          <a:lstStyle/>
          <a:p>
            <a:r>
              <a:rPr lang="ru-RU" b="1" i="1" dirty="0"/>
              <a:t>Анализ видимости-невидимости</a:t>
            </a:r>
            <a:r>
              <a:rPr lang="ru-RU" dirty="0"/>
              <a:t> – это одна из операций по обработке цифровых моделей рельефа, которая обеспечивает оценку поверхности с точки зрения видимости или невидимости отдельных его частей путем выделения зон и построения карт видимости-невидимости с некоторой точки обзора или множества точек, заданных их положением в пространстве (источников или приемников излучений).</a:t>
            </a:r>
          </a:p>
          <a:p>
            <a:r>
              <a:rPr lang="ru-RU" dirty="0"/>
              <a:t>Пространственный анализ видимости-невидимости основан на оценке взаимной видимости двух точек. Анализ видимости-невидимости применяется для оценки влияния рельефа (в особенности горного) или рельефности городской застройки на величину зоны устойчивого радиоприема (радиовидимости) при проектировании радио- и телевещательных станций, радиорелейных сетей и систем мобильной радиосвязи.</a:t>
            </a:r>
          </a:p>
          <a:p>
            <a:r>
              <a:rPr lang="ru-RU" dirty="0"/>
              <a:t>Анализ близости – представляет собой пространственно-аналитическую операцию, основанную на поиске двух ближайших точек среди заданного их множества (поиск кратчайшего расстояния) и используемую в различных алгоритмах пространственного анализа. При обработке геологической  информации это может быть локализация ближайших точек в геохимических аномалиях с заданными параметрами.</a:t>
            </a:r>
          </a:p>
        </p:txBody>
      </p:sp>
    </p:spTree>
    <p:extLst>
      <p:ext uri="{BB962C8B-B14F-4D97-AF65-F5344CB8AC3E}">
        <p14:creationId xmlns:p14="http://schemas.microsoft.com/office/powerpoint/2010/main" val="24285956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Прямоугольник 12"/>
          <p:cNvSpPr>
            <a:spLocks noChangeArrowheads="1"/>
          </p:cNvSpPr>
          <p:nvPr/>
        </p:nvSpPr>
        <p:spPr bwMode="auto">
          <a:xfrm>
            <a:off x="435635" y="463138"/>
            <a:ext cx="581890" cy="843149"/>
          </a:xfrm>
          <a:prstGeom prst="rect">
            <a:avLst/>
          </a:prstGeom>
          <a:gradFill rotWithShape="1">
            <a:gsLst>
              <a:gs pos="0">
                <a:srgbClr val="770000"/>
              </a:gs>
              <a:gs pos="50000">
                <a:srgbClr val="AD0000"/>
              </a:gs>
              <a:gs pos="100000">
                <a:srgbClr val="CE0000"/>
              </a:gs>
            </a:gsLst>
            <a:lin ang="0" scaled="1"/>
          </a:gradFill>
          <a:ln w="9525" algn="ctr">
            <a:noFill/>
            <a:round/>
            <a:headEnd/>
            <a:tailEnd/>
          </a:ln>
        </p:spPr>
        <p:txBody>
          <a:bodyPr/>
          <a:lstStyle/>
          <a:p>
            <a:pPr defTabSz="1043001"/>
            <a:endParaRPr lang="ru-RU" sz="2100" dirty="0"/>
          </a:p>
        </p:txBody>
      </p:sp>
      <p:sp>
        <p:nvSpPr>
          <p:cNvPr id="9" name="Номер слайда 8"/>
          <p:cNvSpPr>
            <a:spLocks noGrp="1"/>
          </p:cNvSpPr>
          <p:nvPr>
            <p:ph type="sldNum" sz="quarter" idx="12"/>
          </p:nvPr>
        </p:nvSpPr>
        <p:spPr/>
        <p:txBody>
          <a:bodyPr/>
          <a:lstStyle/>
          <a:p>
            <a:fld id="{027F3A33-6A4A-4395-8324-C6DCD486F135}" type="slidenum">
              <a:rPr lang="ru-RU" smtClean="0">
                <a:solidFill>
                  <a:schemeClr val="bg2">
                    <a:lumMod val="75000"/>
                  </a:schemeClr>
                </a:solidFill>
              </a:rPr>
              <a:pPr/>
              <a:t>26</a:t>
            </a:fld>
            <a:endParaRPr lang="ru-RU" dirty="0">
              <a:solidFill>
                <a:schemeClr val="bg2">
                  <a:lumMod val="75000"/>
                </a:schemeClr>
              </a:solidFill>
            </a:endParaRPr>
          </a:p>
        </p:txBody>
      </p:sp>
      <p:pic>
        <p:nvPicPr>
          <p:cNvPr id="1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0250" y="463138"/>
            <a:ext cx="2827683" cy="880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435636" y="2341171"/>
            <a:ext cx="10545140" cy="1938992"/>
          </a:xfrm>
          <a:prstGeom prst="rect">
            <a:avLst/>
          </a:prstGeom>
          <a:noFill/>
        </p:spPr>
        <p:txBody>
          <a:bodyPr wrap="square" rtlCol="0">
            <a:spAutoFit/>
          </a:bodyPr>
          <a:lstStyle/>
          <a:p>
            <a:pPr lvl="0" algn="ctr"/>
            <a:r>
              <a:rPr lang="ru-RU" sz="4000" b="1" dirty="0">
                <a:solidFill>
                  <a:srgbClr val="FF0000"/>
                </a:solidFill>
              </a:rPr>
              <a:t>РАЗМЕЩЕНИЕ ВЕКТОРНЫХ ЭЛЕКТРОННЫХ КАРТ В ИНТЕРНЕТ.</a:t>
            </a:r>
            <a:endParaRPr lang="ru-RU" sz="4000" dirty="0">
              <a:solidFill>
                <a:srgbClr val="FF0000"/>
              </a:solidFill>
            </a:endParaRPr>
          </a:p>
          <a:p>
            <a:pPr lvl="1" algn="ctr"/>
            <a:r>
              <a:rPr lang="ru-RU" sz="4000" b="1" dirty="0" smtClean="0"/>
              <a:t>Вопрос 7</a:t>
            </a:r>
            <a:endParaRPr lang="ru-RU" sz="4000" dirty="0"/>
          </a:p>
        </p:txBody>
      </p:sp>
    </p:spTree>
    <p:extLst>
      <p:ext uri="{BB962C8B-B14F-4D97-AF65-F5344CB8AC3E}">
        <p14:creationId xmlns:p14="http://schemas.microsoft.com/office/powerpoint/2010/main" val="362462311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4213625" y="173330"/>
            <a:ext cx="5751896" cy="523220"/>
          </a:xfrm>
          <a:prstGeom prst="rect">
            <a:avLst/>
          </a:prstGeom>
        </p:spPr>
        <p:txBody>
          <a:bodyPr wrap="none">
            <a:spAutoFit/>
          </a:bodyPr>
          <a:lstStyle/>
          <a:p>
            <a:r>
              <a:rPr lang="ru-RU" sz="2800" b="1" dirty="0"/>
              <a:t>Выбор навигационной программы.</a:t>
            </a:r>
            <a:endParaRPr lang="ru-RU" sz="2800" dirty="0"/>
          </a:p>
        </p:txBody>
      </p:sp>
      <p:sp>
        <p:nvSpPr>
          <p:cNvPr id="3" name="Прямоугольник 2"/>
          <p:cNvSpPr/>
          <p:nvPr/>
        </p:nvSpPr>
        <p:spPr>
          <a:xfrm>
            <a:off x="330679" y="685865"/>
            <a:ext cx="11487510" cy="923330"/>
          </a:xfrm>
          <a:prstGeom prst="rect">
            <a:avLst/>
          </a:prstGeom>
          <a:solidFill>
            <a:schemeClr val="accent4">
              <a:lumMod val="20000"/>
              <a:lumOff val="80000"/>
            </a:schemeClr>
          </a:solidFill>
        </p:spPr>
        <p:txBody>
          <a:bodyPr wrap="square">
            <a:spAutoFit/>
          </a:bodyPr>
          <a:lstStyle/>
          <a:p>
            <a:r>
              <a:rPr lang="ru-RU" dirty="0"/>
              <a:t>1. </a:t>
            </a:r>
            <a:r>
              <a:rPr lang="ru-RU" b="1" i="1" dirty="0"/>
              <a:t>Стоимость программы и её соответствие операционной системе</a:t>
            </a:r>
            <a:r>
              <a:rPr lang="ru-RU" u="sng" dirty="0"/>
              <a:t>.</a:t>
            </a:r>
            <a:r>
              <a:rPr lang="ru-RU" dirty="0"/>
              <a:t> Здесь всем понятно, что программа должна соответствовать операционной системе имеющегося КПК. И быть удовлетворительной по цене. Выбор операционных систем не велик и самыми популярными являются </a:t>
            </a:r>
            <a:r>
              <a:rPr lang="ru-RU" dirty="0" err="1"/>
              <a:t>Pocket</a:t>
            </a:r>
            <a:r>
              <a:rPr lang="ru-RU" dirty="0"/>
              <a:t> PC с ОС </a:t>
            </a:r>
            <a:r>
              <a:rPr lang="ru-RU" dirty="0" err="1"/>
              <a:t>Windows</a:t>
            </a:r>
            <a:r>
              <a:rPr lang="ru-RU" dirty="0"/>
              <a:t> CE и </a:t>
            </a:r>
            <a:r>
              <a:rPr lang="ru-RU" dirty="0" err="1"/>
              <a:t>Palm</a:t>
            </a:r>
            <a:r>
              <a:rPr lang="ru-RU" dirty="0"/>
              <a:t> с ОС </a:t>
            </a:r>
            <a:r>
              <a:rPr lang="ru-RU" dirty="0" err="1"/>
              <a:t>Palm</a:t>
            </a:r>
            <a:r>
              <a:rPr lang="ru-RU" dirty="0"/>
              <a:t> CE.</a:t>
            </a:r>
          </a:p>
        </p:txBody>
      </p:sp>
      <p:sp>
        <p:nvSpPr>
          <p:cNvPr id="4" name="Прямоугольник 3"/>
          <p:cNvSpPr/>
          <p:nvPr/>
        </p:nvSpPr>
        <p:spPr>
          <a:xfrm>
            <a:off x="330679" y="1760114"/>
            <a:ext cx="11487510" cy="369332"/>
          </a:xfrm>
          <a:prstGeom prst="rect">
            <a:avLst/>
          </a:prstGeom>
          <a:solidFill>
            <a:schemeClr val="accent6">
              <a:lumMod val="20000"/>
              <a:lumOff val="80000"/>
            </a:schemeClr>
          </a:solidFill>
        </p:spPr>
        <p:txBody>
          <a:bodyPr wrap="square">
            <a:spAutoFit/>
          </a:bodyPr>
          <a:lstStyle/>
          <a:p>
            <a:r>
              <a:rPr lang="ru-RU" dirty="0"/>
              <a:t>2. </a:t>
            </a:r>
            <a:r>
              <a:rPr lang="ru-RU" b="1" i="1" dirty="0"/>
              <a:t>Возможность получать данные от различных приёмников сигналов GPS.</a:t>
            </a:r>
            <a:r>
              <a:rPr lang="ru-RU" dirty="0"/>
              <a:t> </a:t>
            </a:r>
          </a:p>
        </p:txBody>
      </p:sp>
      <p:sp>
        <p:nvSpPr>
          <p:cNvPr id="5" name="Прямоугольник 4"/>
          <p:cNvSpPr/>
          <p:nvPr/>
        </p:nvSpPr>
        <p:spPr>
          <a:xfrm>
            <a:off x="330679" y="2267165"/>
            <a:ext cx="11487510" cy="923330"/>
          </a:xfrm>
          <a:prstGeom prst="rect">
            <a:avLst/>
          </a:prstGeom>
          <a:solidFill>
            <a:schemeClr val="accent5">
              <a:lumMod val="20000"/>
              <a:lumOff val="80000"/>
            </a:schemeClr>
          </a:solidFill>
        </p:spPr>
        <p:txBody>
          <a:bodyPr wrap="square">
            <a:spAutoFit/>
          </a:bodyPr>
          <a:lstStyle/>
          <a:p>
            <a:r>
              <a:rPr lang="ru-RU" dirty="0"/>
              <a:t>3. </a:t>
            </a:r>
            <a:r>
              <a:rPr lang="ru-RU" b="1" i="1" dirty="0"/>
              <a:t>Возможность загружать карты местности.</a:t>
            </a:r>
            <a:r>
              <a:rPr lang="ru-RU" dirty="0"/>
              <a:t> По сути, без карт подобные программы попросту не нужны. Все современные программы поддерживают загрузку электронных карт. Однако не всё так просто. Во первых карты бывают разные. Есть растровые карты местности и есть векторные</a:t>
            </a:r>
          </a:p>
        </p:txBody>
      </p:sp>
      <p:sp>
        <p:nvSpPr>
          <p:cNvPr id="6" name="Прямоугольник 5"/>
          <p:cNvSpPr/>
          <p:nvPr/>
        </p:nvSpPr>
        <p:spPr>
          <a:xfrm>
            <a:off x="342181" y="3320065"/>
            <a:ext cx="11476008" cy="923330"/>
          </a:xfrm>
          <a:prstGeom prst="rect">
            <a:avLst/>
          </a:prstGeom>
          <a:solidFill>
            <a:schemeClr val="accent2">
              <a:lumMod val="20000"/>
              <a:lumOff val="80000"/>
            </a:schemeClr>
          </a:solidFill>
        </p:spPr>
        <p:txBody>
          <a:bodyPr wrap="square">
            <a:spAutoFit/>
          </a:bodyPr>
          <a:lstStyle/>
          <a:p>
            <a:r>
              <a:rPr lang="ru-RU" dirty="0"/>
              <a:t>4. </a:t>
            </a:r>
            <a:r>
              <a:rPr lang="ru-RU" b="1" i="1" dirty="0"/>
              <a:t>Возможность выбора языка интерфейса.</a:t>
            </a:r>
            <a:r>
              <a:rPr lang="ru-RU" dirty="0"/>
              <a:t> Лучше, если программа изначально рассчитана на Российского потребителя. Поддержка русского языка гарантирует, что Вы не столкнётесь с необходимостью транслитерации наименований. </a:t>
            </a:r>
          </a:p>
        </p:txBody>
      </p:sp>
      <p:sp>
        <p:nvSpPr>
          <p:cNvPr id="7" name="Прямоугольник 6"/>
          <p:cNvSpPr/>
          <p:nvPr/>
        </p:nvSpPr>
        <p:spPr>
          <a:xfrm>
            <a:off x="330679" y="4330786"/>
            <a:ext cx="11487510" cy="369332"/>
          </a:xfrm>
          <a:prstGeom prst="rect">
            <a:avLst/>
          </a:prstGeom>
          <a:solidFill>
            <a:schemeClr val="accent1">
              <a:lumMod val="20000"/>
              <a:lumOff val="80000"/>
            </a:schemeClr>
          </a:solidFill>
        </p:spPr>
        <p:txBody>
          <a:bodyPr wrap="square">
            <a:spAutoFit/>
          </a:bodyPr>
          <a:lstStyle/>
          <a:p>
            <a:r>
              <a:rPr lang="ru-RU" dirty="0"/>
              <a:t>5. </a:t>
            </a:r>
            <a:r>
              <a:rPr lang="ru-RU" b="1" i="1" dirty="0"/>
              <a:t>Количество вычисляемых показателей.</a:t>
            </a:r>
            <a:r>
              <a:rPr lang="ru-RU" dirty="0"/>
              <a:t> Здесь всё определяется фантазией разработчика программы. </a:t>
            </a:r>
          </a:p>
        </p:txBody>
      </p:sp>
      <p:sp>
        <p:nvSpPr>
          <p:cNvPr id="8" name="Прямоугольник 7"/>
          <p:cNvSpPr/>
          <p:nvPr/>
        </p:nvSpPr>
        <p:spPr>
          <a:xfrm>
            <a:off x="330679" y="4804761"/>
            <a:ext cx="11487510" cy="646331"/>
          </a:xfrm>
          <a:prstGeom prst="rect">
            <a:avLst/>
          </a:prstGeom>
          <a:solidFill>
            <a:schemeClr val="tx2">
              <a:lumMod val="20000"/>
              <a:lumOff val="80000"/>
            </a:schemeClr>
          </a:solidFill>
        </p:spPr>
        <p:txBody>
          <a:bodyPr wrap="square">
            <a:spAutoFit/>
          </a:bodyPr>
          <a:lstStyle/>
          <a:p>
            <a:r>
              <a:rPr lang="ru-RU" dirty="0"/>
              <a:t>6. </a:t>
            </a:r>
            <a:r>
              <a:rPr lang="ru-RU" b="1" i="1" dirty="0"/>
              <a:t>Удобство сохранения и работы с маршрутными данными.</a:t>
            </a:r>
            <a:r>
              <a:rPr lang="ru-RU" dirty="0"/>
              <a:t> Такими данными могут являться пройденные маршруты и точки, отмеченные пользователем</a:t>
            </a:r>
          </a:p>
        </p:txBody>
      </p:sp>
      <p:sp>
        <p:nvSpPr>
          <p:cNvPr id="9" name="Прямоугольник 8"/>
          <p:cNvSpPr/>
          <p:nvPr/>
        </p:nvSpPr>
        <p:spPr>
          <a:xfrm>
            <a:off x="345055" y="5632898"/>
            <a:ext cx="11473133" cy="646331"/>
          </a:xfrm>
          <a:prstGeom prst="rect">
            <a:avLst/>
          </a:prstGeom>
          <a:solidFill>
            <a:schemeClr val="bg2">
              <a:lumMod val="90000"/>
            </a:schemeClr>
          </a:solidFill>
        </p:spPr>
        <p:txBody>
          <a:bodyPr wrap="square">
            <a:spAutoFit/>
          </a:bodyPr>
          <a:lstStyle/>
          <a:p>
            <a:r>
              <a:rPr lang="ru-RU" dirty="0"/>
              <a:t>7. </a:t>
            </a:r>
            <a:r>
              <a:rPr lang="ru-RU" b="1" i="1" dirty="0"/>
              <a:t>Прокладка маршрутов.</a:t>
            </a:r>
            <a:r>
              <a:rPr lang="ru-RU" dirty="0"/>
              <a:t> Очень важной является возможность программы составлять маршрут и отслеживать его выполнение. </a:t>
            </a:r>
          </a:p>
        </p:txBody>
      </p:sp>
    </p:spTree>
    <p:extLst>
      <p:ext uri="{BB962C8B-B14F-4D97-AF65-F5344CB8AC3E}">
        <p14:creationId xmlns:p14="http://schemas.microsoft.com/office/powerpoint/2010/main" val="41626804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4218102" y="164704"/>
            <a:ext cx="4152612" cy="369332"/>
          </a:xfrm>
          <a:prstGeom prst="rect">
            <a:avLst/>
          </a:prstGeom>
        </p:spPr>
        <p:txBody>
          <a:bodyPr wrap="none">
            <a:spAutoFit/>
          </a:bodyPr>
          <a:lstStyle/>
          <a:p>
            <a:r>
              <a:rPr lang="ru-RU" b="1" dirty="0" err="1"/>
              <a:t>GPSMapEdit</a:t>
            </a:r>
            <a:r>
              <a:rPr lang="ru-RU" b="1" dirty="0"/>
              <a:t> - редактор векторных карт.</a:t>
            </a:r>
            <a:endParaRPr lang="ru-RU" dirty="0"/>
          </a:p>
        </p:txBody>
      </p:sp>
      <p:sp>
        <p:nvSpPr>
          <p:cNvPr id="3" name="Прямоугольник 2"/>
          <p:cNvSpPr/>
          <p:nvPr/>
        </p:nvSpPr>
        <p:spPr>
          <a:xfrm>
            <a:off x="198408" y="705784"/>
            <a:ext cx="6096000" cy="1754326"/>
          </a:xfrm>
          <a:prstGeom prst="rect">
            <a:avLst/>
          </a:prstGeom>
        </p:spPr>
        <p:txBody>
          <a:bodyPr>
            <a:spAutoFit/>
          </a:bodyPr>
          <a:lstStyle/>
          <a:p>
            <a:r>
              <a:rPr lang="ru-RU" dirty="0"/>
              <a:t>Что бы посмотреть результат, надо загрузить эту карту в навигатор и только тогда увидеть правильно ли всё было сделано. Если нет, то процесс повторяется. И всё это ради одного прямоугольника. Представьте ситуацию, когда Вам надо нарисовать карту с 1000 объектов. И это далеко не самое большое количество объектов карты.</a:t>
            </a:r>
          </a:p>
        </p:txBody>
      </p:sp>
      <p:pic>
        <p:nvPicPr>
          <p:cNvPr id="4" name="Рисунок 3" descr="http://yug-gps.narod.ru/docs/003x/images/st031-03.gif"/>
          <p:cNvPicPr/>
          <p:nvPr/>
        </p:nvPicPr>
        <p:blipFill>
          <a:blip r:embed="rId2">
            <a:extLst>
              <a:ext uri="{28A0092B-C50C-407E-A947-70E740481C1C}">
                <a14:useLocalDpi xmlns:a14="http://schemas.microsoft.com/office/drawing/2010/main" val="0"/>
              </a:ext>
            </a:extLst>
          </a:blip>
          <a:srcRect/>
          <a:stretch>
            <a:fillRect/>
          </a:stretch>
        </p:blipFill>
        <p:spPr bwMode="auto">
          <a:xfrm>
            <a:off x="7260566" y="534036"/>
            <a:ext cx="3411220" cy="2465070"/>
          </a:xfrm>
          <a:prstGeom prst="rect">
            <a:avLst/>
          </a:prstGeom>
          <a:noFill/>
          <a:ln>
            <a:noFill/>
          </a:ln>
        </p:spPr>
      </p:pic>
      <p:sp>
        <p:nvSpPr>
          <p:cNvPr id="5" name="Прямоугольник 4"/>
          <p:cNvSpPr/>
          <p:nvPr/>
        </p:nvSpPr>
        <p:spPr>
          <a:xfrm>
            <a:off x="287546" y="3324877"/>
            <a:ext cx="11608279" cy="2031325"/>
          </a:xfrm>
          <a:prstGeom prst="rect">
            <a:avLst/>
          </a:prstGeom>
        </p:spPr>
        <p:txBody>
          <a:bodyPr wrap="square">
            <a:spAutoFit/>
          </a:bodyPr>
          <a:lstStyle/>
          <a:p>
            <a:r>
              <a:rPr lang="ru-RU" dirty="0"/>
              <a:t>Программа </a:t>
            </a:r>
            <a:r>
              <a:rPr lang="ru-RU" dirty="0" err="1"/>
              <a:t>GPSMapEdit</a:t>
            </a:r>
            <a:r>
              <a:rPr lang="ru-RU" dirty="0"/>
              <a:t> содержит все необходимые инструменты и позволяет создавать карты практически любой сложности. В сущности, состав, количество и расположение объектов на карте определяет только тот, кто создаёт карту. Основными объектами карты являются </a:t>
            </a:r>
            <a:r>
              <a:rPr lang="ru-RU" b="1" dirty="0"/>
              <a:t>полигоны</a:t>
            </a:r>
            <a:r>
              <a:rPr lang="ru-RU" dirty="0"/>
              <a:t>, </a:t>
            </a:r>
            <a:r>
              <a:rPr lang="ru-RU" b="1" dirty="0"/>
              <a:t>линии</a:t>
            </a:r>
            <a:r>
              <a:rPr lang="ru-RU" dirty="0"/>
              <a:t> и </a:t>
            </a:r>
            <a:r>
              <a:rPr lang="ru-RU" b="1" dirty="0"/>
              <a:t>точки</a:t>
            </a:r>
            <a:r>
              <a:rPr lang="ru-RU" dirty="0"/>
              <a:t>.</a:t>
            </a:r>
          </a:p>
          <a:p>
            <a:pPr lvl="0"/>
            <a:r>
              <a:rPr lang="ru-RU" b="1" dirty="0"/>
              <a:t>Полигоны</a:t>
            </a:r>
            <a:r>
              <a:rPr lang="ru-RU" dirty="0"/>
              <a:t> - это замкнутые площадные объекты, используемые для отображения таких типов объектов, как моря, озёра, леса, болота и пр.</a:t>
            </a:r>
          </a:p>
          <a:p>
            <a:pPr lvl="0"/>
            <a:r>
              <a:rPr lang="ru-RU" b="1" dirty="0"/>
              <a:t>Линии</a:t>
            </a:r>
            <a:r>
              <a:rPr lang="ru-RU" dirty="0"/>
              <a:t> - это незамкнутые линии произвольной геометрии, ими отображаются дороги, ручьи, тропы, просеки и пр.</a:t>
            </a:r>
          </a:p>
          <a:p>
            <a:pPr lvl="0"/>
            <a:r>
              <a:rPr lang="ru-RU" b="1" dirty="0"/>
              <a:t>Точки</a:t>
            </a:r>
            <a:r>
              <a:rPr lang="ru-RU" dirty="0"/>
              <a:t> - соответственно точечные объекты для отображения маяков, заправок, бродов, глубин и пр.</a:t>
            </a:r>
          </a:p>
        </p:txBody>
      </p:sp>
    </p:spTree>
    <p:extLst>
      <p:ext uri="{BB962C8B-B14F-4D97-AF65-F5344CB8AC3E}">
        <p14:creationId xmlns:p14="http://schemas.microsoft.com/office/powerpoint/2010/main" val="32800285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4795740" y="87066"/>
            <a:ext cx="2600520" cy="369332"/>
          </a:xfrm>
          <a:prstGeom prst="rect">
            <a:avLst/>
          </a:prstGeom>
        </p:spPr>
        <p:txBody>
          <a:bodyPr wrap="none">
            <a:spAutoFit/>
          </a:bodyPr>
          <a:lstStyle/>
          <a:p>
            <a:r>
              <a:rPr lang="ru-RU" b="1" dirty="0"/>
              <a:t>Обзор программы Руса.</a:t>
            </a:r>
            <a:endParaRPr lang="ru-RU" dirty="0"/>
          </a:p>
        </p:txBody>
      </p:sp>
      <p:pic>
        <p:nvPicPr>
          <p:cNvPr id="3" name="Рисунок 2" descr="http://yug-gps.narod.ru/docs/003x/images/st031-05.jpg"/>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26540" cy="1526540"/>
          </a:xfrm>
          <a:prstGeom prst="rect">
            <a:avLst/>
          </a:prstGeom>
          <a:noFill/>
          <a:ln>
            <a:noFill/>
          </a:ln>
        </p:spPr>
      </p:pic>
      <p:sp>
        <p:nvSpPr>
          <p:cNvPr id="4" name="Прямоугольник 3"/>
          <p:cNvSpPr/>
          <p:nvPr/>
        </p:nvSpPr>
        <p:spPr>
          <a:xfrm>
            <a:off x="1607387" y="549555"/>
            <a:ext cx="10305691" cy="1477328"/>
          </a:xfrm>
          <a:prstGeom prst="rect">
            <a:avLst/>
          </a:prstGeom>
        </p:spPr>
        <p:txBody>
          <a:bodyPr wrap="square">
            <a:spAutoFit/>
          </a:bodyPr>
          <a:lstStyle/>
          <a:p>
            <a:r>
              <a:rPr lang="ru-RU" b="1" i="1" dirty="0"/>
              <a:t>1. Стоимость программы и её соответствие операционной системе.</a:t>
            </a:r>
            <a:endParaRPr lang="ru-RU" dirty="0"/>
          </a:p>
          <a:p>
            <a:r>
              <a:rPr lang="ru-RU" dirty="0"/>
              <a:t>Как было видно из ссылок на другие программы, стоимость программы является самой низкой по сравнению с другими конкурентами. Программа рассчитана на КПК на основе </a:t>
            </a:r>
            <a:r>
              <a:rPr lang="ru-RU" b="1" dirty="0" err="1"/>
              <a:t>PocketPC</a:t>
            </a:r>
            <a:r>
              <a:rPr lang="ru-RU" dirty="0"/>
              <a:t> и любую версию </a:t>
            </a:r>
            <a:r>
              <a:rPr lang="ru-RU" b="1" dirty="0"/>
              <a:t>ОС </a:t>
            </a:r>
            <a:r>
              <a:rPr lang="ru-RU" b="1" dirty="0" err="1"/>
              <a:t>Windows</a:t>
            </a:r>
            <a:r>
              <a:rPr lang="ru-RU" b="1" dirty="0"/>
              <a:t> CE</a:t>
            </a:r>
            <a:r>
              <a:rPr lang="ru-RU" dirty="0"/>
              <a:t>.</a:t>
            </a:r>
          </a:p>
          <a:p>
            <a:r>
              <a:rPr lang="ru-RU" b="1" i="1" dirty="0"/>
              <a:t>2. Возможность получать данные от различных приёмников сигналов GPS.</a:t>
            </a:r>
            <a:endParaRPr lang="ru-RU" dirty="0"/>
          </a:p>
        </p:txBody>
      </p:sp>
      <p:pic>
        <p:nvPicPr>
          <p:cNvPr id="5" name="Рисунок 4" descr="http://yug-gps.narod.ru/docs/003x/images/st031-02.gif"/>
          <p:cNvPicPr/>
          <p:nvPr/>
        </p:nvPicPr>
        <p:blipFill>
          <a:blip r:embed="rId3">
            <a:extLst>
              <a:ext uri="{28A0092B-C50C-407E-A947-70E740481C1C}">
                <a14:useLocalDpi xmlns:a14="http://schemas.microsoft.com/office/drawing/2010/main" val="0"/>
              </a:ext>
            </a:extLst>
          </a:blip>
          <a:srcRect/>
          <a:stretch>
            <a:fillRect/>
          </a:stretch>
        </p:blipFill>
        <p:spPr bwMode="auto">
          <a:xfrm>
            <a:off x="9630888" y="1707863"/>
            <a:ext cx="2282190" cy="3045460"/>
          </a:xfrm>
          <a:prstGeom prst="rect">
            <a:avLst/>
          </a:prstGeom>
          <a:noFill/>
          <a:ln>
            <a:noFill/>
          </a:ln>
        </p:spPr>
      </p:pic>
      <p:sp>
        <p:nvSpPr>
          <p:cNvPr id="6" name="Прямоугольник 5"/>
          <p:cNvSpPr/>
          <p:nvPr/>
        </p:nvSpPr>
        <p:spPr>
          <a:xfrm>
            <a:off x="158150" y="2026883"/>
            <a:ext cx="9365411" cy="2308324"/>
          </a:xfrm>
          <a:prstGeom prst="rect">
            <a:avLst/>
          </a:prstGeom>
        </p:spPr>
        <p:txBody>
          <a:bodyPr wrap="square">
            <a:spAutoFit/>
          </a:bodyPr>
          <a:lstStyle/>
          <a:p>
            <a:r>
              <a:rPr lang="ru-RU" b="1" i="1" dirty="0"/>
              <a:t>3. Возможность загружать карты местности.</a:t>
            </a:r>
            <a:endParaRPr lang="ru-RU" dirty="0"/>
          </a:p>
          <a:p>
            <a:r>
              <a:rPr lang="ru-RU" dirty="0"/>
              <a:t>А вот здесь программа даст фору любой другой. Мало того, что она использует самый компактный, по сравнению с другими, формат для хранения векторных карт, так для неё уже сейчас можно скачать готовые карты всей территории России. Причём эти карты можно свободно редактировать и дополнять с помощью всё того же </a:t>
            </a:r>
            <a:r>
              <a:rPr lang="ru-RU" dirty="0" err="1"/>
              <a:t>GPSMapEdit</a:t>
            </a:r>
            <a:r>
              <a:rPr lang="ru-RU" dirty="0"/>
              <a:t>. Готовые карты абсолютно бесплатны и каждый желающий может скачать нужный район посетив эту страничку. Такой возможности в настоящее время нет ни у одного конкурента. Как и программы, позволяющей каждому редактировать эти данные.</a:t>
            </a:r>
          </a:p>
        </p:txBody>
      </p:sp>
      <p:sp>
        <p:nvSpPr>
          <p:cNvPr id="7" name="Прямоугольник 6"/>
          <p:cNvSpPr/>
          <p:nvPr/>
        </p:nvSpPr>
        <p:spPr>
          <a:xfrm>
            <a:off x="195531" y="4335207"/>
            <a:ext cx="9328030" cy="1477328"/>
          </a:xfrm>
          <a:prstGeom prst="rect">
            <a:avLst/>
          </a:prstGeom>
        </p:spPr>
        <p:txBody>
          <a:bodyPr wrap="square">
            <a:spAutoFit/>
          </a:bodyPr>
          <a:lstStyle/>
          <a:p>
            <a:r>
              <a:rPr lang="ru-RU" b="1" i="1" dirty="0"/>
              <a:t>4. Поддержка любого языка интерфейса.</a:t>
            </a:r>
            <a:endParaRPr lang="ru-RU" dirty="0"/>
          </a:p>
          <a:p>
            <a:r>
              <a:rPr lang="ru-RU" dirty="0"/>
              <a:t>Программа, созданная в России, по определению не имеет проблем с русским интерфейсом. Кроме этого можно легко изменять язык интерфейса простой сменой файла языкового модуля. Языковой модуль - это файл с расширением </a:t>
            </a:r>
            <a:r>
              <a:rPr lang="ru-RU" b="1" dirty="0"/>
              <a:t>"*.</a:t>
            </a:r>
            <a:r>
              <a:rPr lang="ru-RU" b="1" dirty="0" err="1"/>
              <a:t>rrl</a:t>
            </a:r>
            <a:r>
              <a:rPr lang="ru-RU" b="1" dirty="0"/>
              <a:t>"</a:t>
            </a:r>
            <a:r>
              <a:rPr lang="ru-RU" dirty="0"/>
              <a:t>. Имеется поддержка </a:t>
            </a:r>
            <a:r>
              <a:rPr lang="ru-RU" b="1" dirty="0" err="1"/>
              <a:t>Unicode</a:t>
            </a:r>
            <a:r>
              <a:rPr lang="ru-RU" dirty="0"/>
              <a:t>.</a:t>
            </a:r>
          </a:p>
        </p:txBody>
      </p:sp>
    </p:spTree>
    <p:extLst>
      <p:ext uri="{BB962C8B-B14F-4D97-AF65-F5344CB8AC3E}">
        <p14:creationId xmlns:p14="http://schemas.microsoft.com/office/powerpoint/2010/main" val="34462156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67377" y="233715"/>
            <a:ext cx="4497321" cy="369332"/>
          </a:xfrm>
          <a:prstGeom prst="rect">
            <a:avLst/>
          </a:prstGeom>
        </p:spPr>
        <p:txBody>
          <a:bodyPr wrap="none">
            <a:spAutoFit/>
          </a:bodyPr>
          <a:lstStyle/>
          <a:p>
            <a:r>
              <a:rPr lang="ru-RU" b="1" i="1" dirty="0"/>
              <a:t>5. Количество вычисляемых показателей</a:t>
            </a:r>
            <a:endParaRPr lang="ru-RU" dirty="0"/>
          </a:p>
        </p:txBody>
      </p:sp>
      <p:pic>
        <p:nvPicPr>
          <p:cNvPr id="3" name="Рисунок 2" descr="http://yug-gps.narod.ru/docs/003x/images/st031-01.gif"/>
          <p:cNvPicPr/>
          <p:nvPr/>
        </p:nvPicPr>
        <p:blipFill>
          <a:blip r:embed="rId2">
            <a:extLst>
              <a:ext uri="{28A0092B-C50C-407E-A947-70E740481C1C}">
                <a14:useLocalDpi xmlns:a14="http://schemas.microsoft.com/office/drawing/2010/main" val="0"/>
              </a:ext>
            </a:extLst>
          </a:blip>
          <a:srcRect/>
          <a:stretch>
            <a:fillRect/>
          </a:stretch>
        </p:blipFill>
        <p:spPr bwMode="auto">
          <a:xfrm>
            <a:off x="267377" y="603047"/>
            <a:ext cx="2282190" cy="3045460"/>
          </a:xfrm>
          <a:prstGeom prst="rect">
            <a:avLst/>
          </a:prstGeom>
          <a:noFill/>
          <a:ln>
            <a:noFill/>
          </a:ln>
        </p:spPr>
      </p:pic>
      <p:sp>
        <p:nvSpPr>
          <p:cNvPr id="4" name="Прямоугольник 3"/>
          <p:cNvSpPr/>
          <p:nvPr/>
        </p:nvSpPr>
        <p:spPr>
          <a:xfrm>
            <a:off x="2771955" y="622577"/>
            <a:ext cx="9089366" cy="2862322"/>
          </a:xfrm>
          <a:prstGeom prst="rect">
            <a:avLst/>
          </a:prstGeom>
        </p:spPr>
        <p:txBody>
          <a:bodyPr wrap="square">
            <a:spAutoFit/>
          </a:bodyPr>
          <a:lstStyle/>
          <a:p>
            <a:r>
              <a:rPr lang="ru-RU" dirty="0"/>
              <a:t>Помимо ставших привычными показателей, у программы Руса на данный момент есть такие интересные параметры как:</a:t>
            </a:r>
          </a:p>
          <a:p>
            <a:pPr lvl="0"/>
            <a:r>
              <a:rPr lang="ru-RU" b="1" dirty="0"/>
              <a:t>Глубина</a:t>
            </a:r>
            <a:r>
              <a:rPr lang="ru-RU" dirty="0"/>
              <a:t> (данные от эхолота, поддерживающего протокол </a:t>
            </a:r>
            <a:r>
              <a:rPr lang="ru-RU" b="1" dirty="0"/>
              <a:t>NMEA-0183</a:t>
            </a:r>
            <a:r>
              <a:rPr lang="ru-RU" dirty="0"/>
              <a:t>)</a:t>
            </a:r>
          </a:p>
          <a:p>
            <a:pPr lvl="0"/>
            <a:r>
              <a:rPr lang="ru-RU" b="1" dirty="0"/>
              <a:t>Температура</a:t>
            </a:r>
            <a:r>
              <a:rPr lang="ru-RU" dirty="0"/>
              <a:t> (данные от эхолота, поддерживающего протокол NMEA-0183)</a:t>
            </a:r>
          </a:p>
          <a:p>
            <a:pPr lvl="0"/>
            <a:r>
              <a:rPr lang="ru-RU" b="1" dirty="0"/>
              <a:t>Площадь</a:t>
            </a:r>
            <a:r>
              <a:rPr lang="ru-RU" dirty="0"/>
              <a:t> (площадь фигуры ограниченной траекторией движения и отрезком от текущей до исходной точки)</a:t>
            </a:r>
          </a:p>
          <a:p>
            <a:pPr lvl="0"/>
            <a:r>
              <a:rPr lang="ru-RU" b="1" dirty="0"/>
              <a:t>Аэродинамическое качество</a:t>
            </a:r>
            <a:r>
              <a:rPr lang="ru-RU" dirty="0"/>
              <a:t> (отношение вертикальной скорости к горизонтальной)</a:t>
            </a:r>
          </a:p>
          <a:p>
            <a:pPr lvl="0"/>
            <a:r>
              <a:rPr lang="ru-RU" b="1" dirty="0"/>
              <a:t>Наклон</a:t>
            </a:r>
            <a:r>
              <a:rPr lang="ru-RU" dirty="0"/>
              <a:t> (наклон траектории)</a:t>
            </a:r>
          </a:p>
          <a:p>
            <a:pPr lvl="0"/>
            <a:r>
              <a:rPr lang="ru-RU" b="1" dirty="0"/>
              <a:t>Минимальная высота</a:t>
            </a:r>
            <a:r>
              <a:rPr lang="ru-RU" dirty="0"/>
              <a:t> (минимальная высота измеренная с момента сброса значения)</a:t>
            </a:r>
          </a:p>
          <a:p>
            <a:pPr lvl="0"/>
            <a:r>
              <a:rPr lang="ru-RU" b="1" dirty="0"/>
              <a:t>Пеленг точки</a:t>
            </a:r>
            <a:r>
              <a:rPr lang="ru-RU" dirty="0"/>
              <a:t> (Азимут следующей путевой точки относительно текущего положения).</a:t>
            </a:r>
          </a:p>
        </p:txBody>
      </p:sp>
      <p:sp>
        <p:nvSpPr>
          <p:cNvPr id="5" name="Прямоугольник 4"/>
          <p:cNvSpPr/>
          <p:nvPr/>
        </p:nvSpPr>
        <p:spPr>
          <a:xfrm>
            <a:off x="267376" y="3699799"/>
            <a:ext cx="11248887" cy="2031325"/>
          </a:xfrm>
          <a:prstGeom prst="rect">
            <a:avLst/>
          </a:prstGeom>
        </p:spPr>
        <p:txBody>
          <a:bodyPr wrap="square">
            <a:spAutoFit/>
          </a:bodyPr>
          <a:lstStyle/>
          <a:p>
            <a:r>
              <a:rPr lang="ru-RU" b="1" i="1" dirty="0"/>
              <a:t>6. Удобство сохранения и работы с маршрутными данными.</a:t>
            </a:r>
            <a:endParaRPr lang="ru-RU" dirty="0"/>
          </a:p>
          <a:p>
            <a:r>
              <a:rPr lang="ru-RU" dirty="0"/>
              <a:t>Присутствуют все операции. Точку можно поставить просто указав стилусом на нужном месте карты и присвоить ей имя. Работа с данными происходит по стандартной схеме. Возможно сохранение навигационных данных в файл.</a:t>
            </a:r>
          </a:p>
          <a:p>
            <a:r>
              <a:rPr lang="ru-RU" b="1" i="1" dirty="0"/>
              <a:t>7. Прокладка маршрута.</a:t>
            </a:r>
            <a:endParaRPr lang="ru-RU" dirty="0"/>
          </a:p>
          <a:p>
            <a:r>
              <a:rPr lang="ru-RU" dirty="0"/>
              <a:t>Как и в большинстве программ, реализована ручная прокладка маршрута. Сейчас ведётся активная работа по реализации </a:t>
            </a:r>
            <a:r>
              <a:rPr lang="ru-RU" dirty="0" err="1"/>
              <a:t>роутинга</a:t>
            </a:r>
            <a:r>
              <a:rPr lang="ru-RU" dirty="0"/>
              <a:t>. </a:t>
            </a:r>
          </a:p>
        </p:txBody>
      </p:sp>
    </p:spTree>
    <p:extLst>
      <p:ext uri="{BB962C8B-B14F-4D97-AF65-F5344CB8AC3E}">
        <p14:creationId xmlns:p14="http://schemas.microsoft.com/office/powerpoint/2010/main" val="23350346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4728449" y="69813"/>
            <a:ext cx="2027735" cy="369332"/>
          </a:xfrm>
          <a:prstGeom prst="rect">
            <a:avLst/>
          </a:prstGeom>
        </p:spPr>
        <p:txBody>
          <a:bodyPr wrap="none">
            <a:spAutoFit/>
          </a:bodyPr>
          <a:lstStyle/>
          <a:p>
            <a:r>
              <a:rPr lang="ru-RU" b="1" dirty="0"/>
              <a:t>Польский формат.</a:t>
            </a:r>
            <a:endParaRPr lang="ru-RU" dirty="0"/>
          </a:p>
        </p:txBody>
      </p:sp>
      <p:sp>
        <p:nvSpPr>
          <p:cNvPr id="3" name="Прямоугольник 2"/>
          <p:cNvSpPr/>
          <p:nvPr/>
        </p:nvSpPr>
        <p:spPr>
          <a:xfrm>
            <a:off x="322053" y="597976"/>
            <a:ext cx="11547894" cy="2308324"/>
          </a:xfrm>
          <a:prstGeom prst="rect">
            <a:avLst/>
          </a:prstGeom>
        </p:spPr>
        <p:txBody>
          <a:bodyPr wrap="square">
            <a:spAutoFit/>
          </a:bodyPr>
          <a:lstStyle/>
          <a:p>
            <a:r>
              <a:rPr lang="ru-RU" b="1" dirty="0"/>
              <a:t>PFM (</a:t>
            </a:r>
            <a:r>
              <a:rPr lang="ru-RU" b="1" dirty="0" err="1"/>
              <a:t>Polski</a:t>
            </a:r>
            <a:r>
              <a:rPr lang="ru-RU" b="1" dirty="0"/>
              <a:t> </a:t>
            </a:r>
            <a:r>
              <a:rPr lang="ru-RU" b="1" dirty="0" err="1"/>
              <a:t>Format</a:t>
            </a:r>
            <a:r>
              <a:rPr lang="ru-RU" b="1" dirty="0"/>
              <a:t> </a:t>
            </a:r>
            <a:r>
              <a:rPr lang="ru-RU" b="1" dirty="0" err="1"/>
              <a:t>Mapy</a:t>
            </a:r>
            <a:r>
              <a:rPr lang="ru-RU" dirty="0"/>
              <a:t> -- </a:t>
            </a:r>
            <a:r>
              <a:rPr lang="ru-RU" b="1" dirty="0"/>
              <a:t>Польский формат</a:t>
            </a:r>
            <a:r>
              <a:rPr lang="ru-RU" dirty="0"/>
              <a:t> описания картографических данных), так же известный как просто "Польский формат", являющийся исходным языком для компилятора </a:t>
            </a:r>
            <a:r>
              <a:rPr lang="ru-RU" dirty="0" err="1"/>
              <a:t>cGPSMapper</a:t>
            </a:r>
            <a:r>
              <a:rPr lang="ru-RU" dirty="0"/>
              <a:t>. Создание карт для загрузки в навигаторы GPS и КПК с установленной программой </a:t>
            </a:r>
            <a:r>
              <a:rPr lang="ru-RU" dirty="0" err="1"/>
              <a:t>ГИСРусса</a:t>
            </a:r>
            <a:r>
              <a:rPr lang="ru-RU" dirty="0"/>
              <a:t> можно сравнить с программированием - Вы пишете программу (то есть карту) на языке программирования (то есть в "Польском формате") и затем компилируете её для получения конечного файла с помощью </a:t>
            </a:r>
            <a:r>
              <a:rPr lang="ru-RU" dirty="0" err="1"/>
              <a:t>cGPSmapper</a:t>
            </a:r>
            <a:r>
              <a:rPr lang="ru-RU" dirty="0"/>
              <a:t> или </a:t>
            </a:r>
            <a:r>
              <a:rPr lang="ru-RU" dirty="0" err="1"/>
              <a:t>GPSMapEdit</a:t>
            </a:r>
            <a:r>
              <a:rPr lang="ru-RU" dirty="0"/>
              <a:t>. Вместо ручного программирования можно использовать специальную программу для полуавтоматического создания исходного кода в "Польском формате" - </a:t>
            </a:r>
            <a:r>
              <a:rPr lang="ru-RU" dirty="0" err="1"/>
              <a:t>GPSMapEdit</a:t>
            </a:r>
            <a:r>
              <a:rPr lang="ru-RU" dirty="0"/>
              <a:t>.</a:t>
            </a:r>
          </a:p>
          <a:p>
            <a:r>
              <a:rPr lang="ru-RU" dirty="0"/>
              <a:t>Исходный файл (файл карты) в "Польском формате" это обычный текстовый файл с расширением </a:t>
            </a:r>
            <a:r>
              <a:rPr lang="ru-RU" b="1" dirty="0"/>
              <a:t>.</a:t>
            </a:r>
            <a:r>
              <a:rPr lang="ru-RU" b="1" dirty="0" err="1"/>
              <a:t>mp</a:t>
            </a:r>
            <a:r>
              <a:rPr lang="ru-RU" dirty="0"/>
              <a:t>.</a:t>
            </a:r>
          </a:p>
        </p:txBody>
      </p:sp>
      <p:sp>
        <p:nvSpPr>
          <p:cNvPr id="5" name="Прямоугольник 4"/>
          <p:cNvSpPr/>
          <p:nvPr/>
        </p:nvSpPr>
        <p:spPr>
          <a:xfrm>
            <a:off x="322053" y="2973101"/>
            <a:ext cx="11547894" cy="2031325"/>
          </a:xfrm>
          <a:prstGeom prst="rect">
            <a:avLst/>
          </a:prstGeom>
        </p:spPr>
        <p:txBody>
          <a:bodyPr wrap="square">
            <a:spAutoFit/>
          </a:bodyPr>
          <a:lstStyle/>
          <a:p>
            <a:r>
              <a:rPr lang="ru-RU" b="1" i="1" dirty="0"/>
              <a:t>Общий синтаксис файла "Польского формата".</a:t>
            </a:r>
            <a:endParaRPr lang="ru-RU" dirty="0"/>
          </a:p>
          <a:p>
            <a:r>
              <a:rPr lang="ru-RU" dirty="0"/>
              <a:t>Существуют следующие разделы:</a:t>
            </a:r>
          </a:p>
          <a:p>
            <a:pPr marL="285750" lvl="0" indent="-285750">
              <a:buFont typeface="Arial" pitchFamily="34" charset="0"/>
              <a:buChar char="•"/>
            </a:pPr>
            <a:r>
              <a:rPr lang="ru-RU" b="1" dirty="0"/>
              <a:t>Раздел [IMG ID]</a:t>
            </a:r>
            <a:r>
              <a:rPr lang="ru-RU" dirty="0"/>
              <a:t>- относится к разделу заголовка карты.</a:t>
            </a:r>
          </a:p>
          <a:p>
            <a:pPr marL="285750" lvl="0" indent="-285750">
              <a:buFont typeface="Arial" pitchFamily="34" charset="0"/>
              <a:buChar char="•"/>
            </a:pPr>
            <a:r>
              <a:rPr lang="ru-RU" b="1" dirty="0"/>
              <a:t>Разделы объектов</a:t>
            </a:r>
            <a:r>
              <a:rPr lang="ru-RU" dirty="0"/>
              <a:t>:</a:t>
            </a:r>
          </a:p>
          <a:p>
            <a:pPr marL="285750" lvl="0" indent="-285750">
              <a:buFont typeface="Arial" pitchFamily="34" charset="0"/>
              <a:buChar char="•"/>
            </a:pPr>
            <a:r>
              <a:rPr lang="ru-RU" b="1" dirty="0"/>
              <a:t>Разделы [POI], [POLYLINE] и [POLYGON]</a:t>
            </a:r>
            <a:r>
              <a:rPr lang="ru-RU" dirty="0"/>
              <a:t> - определяют соответственно такие объекты, как точки POI (точки особого интереса), точки пользователя, линии и полигоны вместе с данными описания объекта, если они присутствуют в теле раздела.</a:t>
            </a:r>
          </a:p>
        </p:txBody>
      </p:sp>
    </p:spTree>
    <p:extLst>
      <p:ext uri="{BB962C8B-B14F-4D97-AF65-F5344CB8AC3E}">
        <p14:creationId xmlns:p14="http://schemas.microsoft.com/office/powerpoint/2010/main" val="730550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75404" y="294144"/>
            <a:ext cx="6096000" cy="5355312"/>
          </a:xfrm>
          <a:prstGeom prst="rect">
            <a:avLst/>
          </a:prstGeom>
          <a:solidFill>
            <a:schemeClr val="accent4">
              <a:lumMod val="20000"/>
              <a:lumOff val="80000"/>
            </a:schemeClr>
          </a:solidFill>
        </p:spPr>
        <p:txBody>
          <a:bodyPr>
            <a:spAutoFit/>
          </a:bodyPr>
          <a:lstStyle/>
          <a:p>
            <a:r>
              <a:rPr lang="ru-RU" b="1" i="1" dirty="0"/>
              <a:t>Раздел заголовка карты.</a:t>
            </a:r>
            <a:endParaRPr lang="ru-RU" dirty="0"/>
          </a:p>
          <a:p>
            <a:r>
              <a:rPr lang="ru-RU" b="1" dirty="0"/>
              <a:t>[IMG ID]</a:t>
            </a:r>
            <a:endParaRPr lang="ru-RU" dirty="0"/>
          </a:p>
          <a:p>
            <a:r>
              <a:rPr lang="ru-RU" b="1" dirty="0"/>
              <a:t>ID=</a:t>
            </a:r>
            <a:r>
              <a:rPr lang="ru-RU" b="1" dirty="0" err="1"/>
              <a:t>nnnnnnnn</a:t>
            </a:r>
            <a:r>
              <a:rPr lang="ru-RU" dirty="0"/>
              <a:t> -- должен содержать 8 цифр (десятичный формат) и быть уникальным для каждой карты.</a:t>
            </a:r>
          </a:p>
          <a:p>
            <a:r>
              <a:rPr lang="ru-RU" b="1" dirty="0" err="1"/>
              <a:t>Name</a:t>
            </a:r>
            <a:r>
              <a:rPr lang="ru-RU" b="1" dirty="0"/>
              <a:t>=</a:t>
            </a:r>
            <a:r>
              <a:rPr lang="ru-RU" b="1" dirty="0" err="1"/>
              <a:t>map_name</a:t>
            </a:r>
            <a:r>
              <a:rPr lang="ru-RU" dirty="0"/>
              <a:t> -- имя карты для просмотра информации о карте.</a:t>
            </a:r>
          </a:p>
          <a:p>
            <a:r>
              <a:rPr lang="ru-RU" b="1" dirty="0" err="1"/>
              <a:t>LBLcoding</a:t>
            </a:r>
            <a:r>
              <a:rPr lang="ru-RU" b="1" dirty="0"/>
              <a:t>=x</a:t>
            </a:r>
            <a:r>
              <a:rPr lang="ru-RU" dirty="0"/>
              <a:t> -- (по умолчанию: </a:t>
            </a:r>
            <a:r>
              <a:rPr lang="ru-RU" dirty="0" err="1"/>
              <a:t>LBLcoding</a:t>
            </a:r>
            <a:r>
              <a:rPr lang="ru-RU" dirty="0"/>
              <a:t>=6)</a:t>
            </a:r>
          </a:p>
          <a:p>
            <a:r>
              <a:rPr lang="en-US" dirty="0"/>
              <a:t>  </a:t>
            </a:r>
            <a:r>
              <a:rPr lang="ru-RU" dirty="0"/>
              <a:t>- </a:t>
            </a:r>
            <a:r>
              <a:rPr lang="en-US" dirty="0"/>
              <a:t> </a:t>
            </a:r>
            <a:r>
              <a:rPr lang="ru-RU" dirty="0" err="1"/>
              <a:t>LBLcoding</a:t>
            </a:r>
            <a:r>
              <a:rPr lang="ru-RU" dirty="0"/>
              <a:t>=6 -- компрессия для имён.</a:t>
            </a:r>
          </a:p>
          <a:p>
            <a:r>
              <a:rPr lang="en-US" dirty="0"/>
              <a:t>  </a:t>
            </a:r>
            <a:r>
              <a:rPr lang="ru-RU" dirty="0"/>
              <a:t>-</a:t>
            </a:r>
            <a:r>
              <a:rPr lang="en-US" dirty="0"/>
              <a:t>  </a:t>
            </a:r>
            <a:r>
              <a:rPr lang="ru-RU" dirty="0" err="1"/>
              <a:t>LBLcoding</a:t>
            </a:r>
            <a:r>
              <a:rPr lang="ru-RU" dirty="0"/>
              <a:t>=9 -- восьмибитовое кодирование.</a:t>
            </a:r>
          </a:p>
          <a:p>
            <a:r>
              <a:rPr lang="en-US" dirty="0"/>
              <a:t>  -  </a:t>
            </a:r>
            <a:r>
              <a:rPr lang="en-US" dirty="0" err="1"/>
              <a:t>LBLcoding</a:t>
            </a:r>
            <a:r>
              <a:rPr lang="en-US" dirty="0"/>
              <a:t>=10 -- Unicode.</a:t>
            </a:r>
            <a:endParaRPr lang="ru-RU" dirty="0"/>
          </a:p>
          <a:p>
            <a:r>
              <a:rPr lang="ru-RU" b="1" dirty="0"/>
              <a:t>С</a:t>
            </a:r>
            <a:r>
              <a:rPr lang="en-US" b="1" dirty="0" err="1"/>
              <a:t>odepage</a:t>
            </a:r>
            <a:r>
              <a:rPr lang="en-US" b="1" dirty="0"/>
              <a:t>=xx</a:t>
            </a:r>
            <a:r>
              <a:rPr lang="en-US" dirty="0"/>
              <a:t> -- (default: </a:t>
            </a:r>
            <a:r>
              <a:rPr lang="en-US" dirty="0" err="1"/>
              <a:t>Codepage</a:t>
            </a:r>
            <a:r>
              <a:rPr lang="en-US" dirty="0"/>
              <a:t>=0)</a:t>
            </a:r>
            <a:endParaRPr lang="ru-RU" dirty="0"/>
          </a:p>
          <a:p>
            <a:r>
              <a:rPr lang="en-US" dirty="0"/>
              <a:t>     </a:t>
            </a:r>
            <a:r>
              <a:rPr lang="ru-RU" dirty="0"/>
              <a:t>Если </a:t>
            </a:r>
            <a:r>
              <a:rPr lang="ru-RU" dirty="0" err="1"/>
              <a:t>xx</a:t>
            </a:r>
            <a:r>
              <a:rPr lang="ru-RU" dirty="0"/>
              <a:t>&lt;&gt;0, восьмибитовое кодирование с определением кодовой страницы.</a:t>
            </a:r>
          </a:p>
          <a:p>
            <a:r>
              <a:rPr lang="ru-RU" b="1" dirty="0" err="1"/>
              <a:t>Datum</a:t>
            </a:r>
            <a:r>
              <a:rPr lang="ru-RU" b="1" dirty="0"/>
              <a:t>=</a:t>
            </a:r>
            <a:r>
              <a:rPr lang="ru-RU" b="1" dirty="0" err="1"/>
              <a:t>xxx</a:t>
            </a:r>
            <a:r>
              <a:rPr lang="ru-RU" dirty="0"/>
              <a:t> -- (по умолчанию: </a:t>
            </a:r>
            <a:r>
              <a:rPr lang="ru-RU" dirty="0" err="1"/>
              <a:t>Datum</a:t>
            </a:r>
            <a:r>
              <a:rPr lang="ru-RU" dirty="0"/>
              <a:t>=W84) определяет </a:t>
            </a:r>
            <a:r>
              <a:rPr lang="ru-RU" dirty="0" err="1"/>
              <a:t>датум</a:t>
            </a:r>
            <a:r>
              <a:rPr lang="ru-RU" dirty="0"/>
              <a:t> данных описания объектов.</a:t>
            </a:r>
          </a:p>
          <a:p>
            <a:r>
              <a:rPr lang="en-US" dirty="0"/>
              <a:t>     Datum=W84 -- </a:t>
            </a:r>
            <a:r>
              <a:rPr lang="ru-RU" dirty="0" err="1"/>
              <a:t>Датум</a:t>
            </a:r>
            <a:r>
              <a:rPr lang="en-US" dirty="0"/>
              <a:t> WGS-84</a:t>
            </a:r>
            <a:endParaRPr lang="ru-RU" dirty="0"/>
          </a:p>
          <a:p>
            <a:r>
              <a:rPr lang="en-US" b="1" dirty="0"/>
              <a:t>Elevation=x</a:t>
            </a:r>
            <a:r>
              <a:rPr lang="en-US" dirty="0"/>
              <a:t> -- (</a:t>
            </a:r>
            <a:r>
              <a:rPr lang="ru-RU" dirty="0"/>
              <a:t>по умолчанию</a:t>
            </a:r>
            <a:r>
              <a:rPr lang="en-US" dirty="0"/>
              <a:t>: Elevation=f)</a:t>
            </a:r>
            <a:endParaRPr lang="ru-RU" dirty="0"/>
          </a:p>
          <a:p>
            <a:r>
              <a:rPr lang="en-US" dirty="0"/>
              <a:t>     </a:t>
            </a:r>
            <a:r>
              <a:rPr lang="ru-RU" dirty="0" err="1"/>
              <a:t>Elevation</a:t>
            </a:r>
            <a:r>
              <a:rPr lang="ru-RU" dirty="0"/>
              <a:t>=m -- высота в метрах</a:t>
            </a:r>
          </a:p>
          <a:p>
            <a:r>
              <a:rPr lang="en-US" dirty="0"/>
              <a:t>     </a:t>
            </a:r>
            <a:r>
              <a:rPr lang="ru-RU" dirty="0" err="1"/>
              <a:t>Elevation</a:t>
            </a:r>
            <a:r>
              <a:rPr lang="ru-RU" dirty="0"/>
              <a:t>=f -- высота в футах</a:t>
            </a:r>
          </a:p>
        </p:txBody>
      </p:sp>
      <p:sp>
        <p:nvSpPr>
          <p:cNvPr id="3" name="Прямоугольник 2"/>
          <p:cNvSpPr/>
          <p:nvPr/>
        </p:nvSpPr>
        <p:spPr>
          <a:xfrm>
            <a:off x="6271404" y="365063"/>
            <a:ext cx="6096000" cy="4247317"/>
          </a:xfrm>
          <a:prstGeom prst="rect">
            <a:avLst/>
          </a:prstGeom>
        </p:spPr>
        <p:txBody>
          <a:bodyPr>
            <a:spAutoFit/>
          </a:bodyPr>
          <a:lstStyle/>
          <a:p>
            <a:r>
              <a:rPr lang="ru-RU" b="1" dirty="0" err="1"/>
              <a:t>TreSize</a:t>
            </a:r>
            <a:r>
              <a:rPr lang="ru-RU" b="1" dirty="0"/>
              <a:t>=n</a:t>
            </a:r>
            <a:r>
              <a:rPr lang="ru-RU" dirty="0"/>
              <a:t> -- максимально допустимый размер региона. Высокое значение может уменьшить скорость отображения карты, низкое значение увеличивает размер файла карты. Предпочтительные значения для n:</a:t>
            </a:r>
          </a:p>
          <a:p>
            <a:r>
              <a:rPr lang="en-US" dirty="0"/>
              <a:t>     </a:t>
            </a:r>
            <a:r>
              <a:rPr lang="ru-RU" dirty="0"/>
              <a:t>Топографические карты: 1000-2000</a:t>
            </a:r>
          </a:p>
          <a:p>
            <a:r>
              <a:rPr lang="en-US" dirty="0"/>
              <a:t>     </a:t>
            </a:r>
            <a:r>
              <a:rPr lang="ru-RU" dirty="0"/>
              <a:t>Город (много улиц): 2000-5000</a:t>
            </a:r>
          </a:p>
          <a:p>
            <a:r>
              <a:rPr lang="en-US" dirty="0"/>
              <a:t>     </a:t>
            </a:r>
            <a:r>
              <a:rPr lang="ru-RU" dirty="0"/>
              <a:t>Государство: 6000-10000</a:t>
            </a:r>
          </a:p>
          <a:p>
            <a:r>
              <a:rPr lang="ru-RU" b="1" dirty="0" err="1"/>
              <a:t>RgnLimit</a:t>
            </a:r>
            <a:r>
              <a:rPr lang="ru-RU" b="1" dirty="0"/>
              <a:t>=n</a:t>
            </a:r>
            <a:r>
              <a:rPr lang="ru-RU" dirty="0"/>
              <a:t> -- максимальное число элементов в одном регионе</a:t>
            </a:r>
          </a:p>
          <a:p>
            <a:r>
              <a:rPr lang="en-US" dirty="0"/>
              <a:t>     </a:t>
            </a:r>
            <a:r>
              <a:rPr lang="ru-RU" dirty="0"/>
              <a:t>предпочтительное значение: 1024</a:t>
            </a:r>
          </a:p>
          <a:p>
            <a:r>
              <a:rPr lang="ru-RU" b="1" dirty="0" err="1"/>
              <a:t>Levels</a:t>
            </a:r>
            <a:r>
              <a:rPr lang="ru-RU" b="1" dirty="0"/>
              <a:t>=n</a:t>
            </a:r>
            <a:r>
              <a:rPr lang="ru-RU" dirty="0"/>
              <a:t> -- количество слоёв в карте (не менее 1, не более 10)</a:t>
            </a:r>
          </a:p>
          <a:p>
            <a:r>
              <a:rPr lang="en-US" dirty="0"/>
              <a:t>     </a:t>
            </a:r>
            <a:r>
              <a:rPr lang="ru-RU" dirty="0"/>
              <a:t>Внимание: Последний слой всегда должен быть пустым.</a:t>
            </a:r>
          </a:p>
          <a:p>
            <a:r>
              <a:rPr lang="ru-RU" b="1" dirty="0" err="1"/>
              <a:t>Level</a:t>
            </a:r>
            <a:r>
              <a:rPr lang="ru-RU" b="1" dirty="0"/>
              <a:t>#=g</a:t>
            </a:r>
            <a:r>
              <a:rPr lang="ru-RU" dirty="0"/>
              <a:t> -- размер сетки для отображения слоёв # (слой 0 должен быть подробнее чем 1)</a:t>
            </a:r>
          </a:p>
        </p:txBody>
      </p:sp>
    </p:spTree>
    <p:extLst>
      <p:ext uri="{BB962C8B-B14F-4D97-AF65-F5344CB8AC3E}">
        <p14:creationId xmlns:p14="http://schemas.microsoft.com/office/powerpoint/2010/main" val="1866130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4506655" y="9429"/>
            <a:ext cx="1953740" cy="369332"/>
          </a:xfrm>
          <a:prstGeom prst="rect">
            <a:avLst/>
          </a:prstGeom>
        </p:spPr>
        <p:txBody>
          <a:bodyPr wrap="none">
            <a:spAutoFit/>
          </a:bodyPr>
          <a:lstStyle/>
          <a:p>
            <a:r>
              <a:rPr lang="ru-RU" b="1" i="1" dirty="0" smtClean="0"/>
              <a:t>Раздел объектов</a:t>
            </a:r>
            <a:endParaRPr lang="ru-RU" dirty="0"/>
          </a:p>
        </p:txBody>
      </p:sp>
      <p:sp>
        <p:nvSpPr>
          <p:cNvPr id="4" name="Прямоугольник 3"/>
          <p:cNvSpPr/>
          <p:nvPr/>
        </p:nvSpPr>
        <p:spPr>
          <a:xfrm>
            <a:off x="172527" y="383618"/>
            <a:ext cx="11637034" cy="6494085"/>
          </a:xfrm>
          <a:prstGeom prst="rect">
            <a:avLst/>
          </a:prstGeom>
        </p:spPr>
        <p:txBody>
          <a:bodyPr wrap="square">
            <a:spAutoFit/>
          </a:bodyPr>
          <a:lstStyle/>
          <a:p>
            <a:r>
              <a:rPr lang="ru-RU" sz="1600" b="1" dirty="0"/>
              <a:t>[POI]</a:t>
            </a:r>
            <a:r>
              <a:rPr lang="ru-RU" sz="1600" dirty="0"/>
              <a:t> - этот раздел определяет объекты типа точки </a:t>
            </a:r>
            <a:r>
              <a:rPr lang="ru-RU" sz="1600" b="1" dirty="0"/>
              <a:t>POI (</a:t>
            </a:r>
            <a:r>
              <a:rPr lang="ru-RU" sz="1600" b="1" dirty="0" err="1"/>
              <a:t>Point</a:t>
            </a:r>
            <a:r>
              <a:rPr lang="ru-RU" sz="1600" b="1" dirty="0"/>
              <a:t> </a:t>
            </a:r>
            <a:r>
              <a:rPr lang="ru-RU" sz="1600" b="1" dirty="0" err="1"/>
              <a:t>Of</a:t>
            </a:r>
            <a:r>
              <a:rPr lang="ru-RU" sz="1600" b="1" dirty="0"/>
              <a:t> </a:t>
            </a:r>
            <a:r>
              <a:rPr lang="ru-RU" sz="1600" b="1" dirty="0" err="1"/>
              <a:t>Interest</a:t>
            </a:r>
            <a:r>
              <a:rPr lang="ru-RU" sz="1600" b="1" dirty="0"/>
              <a:t>)</a:t>
            </a:r>
            <a:endParaRPr lang="ru-RU" sz="1600" dirty="0"/>
          </a:p>
          <a:p>
            <a:r>
              <a:rPr lang="ru-RU" sz="1600" b="1" dirty="0" err="1"/>
              <a:t>Type</a:t>
            </a:r>
            <a:r>
              <a:rPr lang="ru-RU" sz="1600" b="1" dirty="0"/>
              <a:t>=</a:t>
            </a:r>
            <a:r>
              <a:rPr lang="ru-RU" sz="1600" b="1" dirty="0" err="1"/>
              <a:t>тип_объекта</a:t>
            </a:r>
            <a:endParaRPr lang="ru-RU" sz="1600" dirty="0"/>
          </a:p>
          <a:p>
            <a:r>
              <a:rPr lang="en-US" sz="1600" dirty="0"/>
              <a:t>     </a:t>
            </a:r>
            <a:r>
              <a:rPr lang="ru-RU" sz="1600" dirty="0"/>
              <a:t>перечень доступных объектов можно посмотреть в меню свойств при создании объекта.</a:t>
            </a:r>
          </a:p>
          <a:p>
            <a:r>
              <a:rPr lang="ru-RU" sz="1600" b="1" dirty="0" err="1"/>
              <a:t>Label</a:t>
            </a:r>
            <a:r>
              <a:rPr lang="ru-RU" sz="1600" b="1" dirty="0"/>
              <a:t>=</a:t>
            </a:r>
            <a:r>
              <a:rPr lang="ru-RU" sz="1600" b="1" dirty="0" err="1"/>
              <a:t>имя_объекта</a:t>
            </a:r>
            <a:endParaRPr lang="ru-RU" sz="1600" dirty="0"/>
          </a:p>
          <a:p>
            <a:r>
              <a:rPr lang="ru-RU" sz="1600" b="1" dirty="0" err="1"/>
              <a:t>Levels</a:t>
            </a:r>
            <a:r>
              <a:rPr lang="ru-RU" sz="1600" b="1" dirty="0"/>
              <a:t>=n</a:t>
            </a:r>
            <a:r>
              <a:rPr lang="ru-RU" sz="1600" dirty="0"/>
              <a:t> - объект должен присутствовать на всех слоях, начиная с нижнего и заканчивая n включительно.</a:t>
            </a:r>
          </a:p>
          <a:p>
            <a:r>
              <a:rPr lang="ru-RU" sz="1600" b="1" dirty="0" err="1"/>
              <a:t>Data</a:t>
            </a:r>
            <a:r>
              <a:rPr lang="ru-RU" sz="1600" b="1" dirty="0"/>
              <a:t>#=(lat1,lon1)</a:t>
            </a:r>
            <a:r>
              <a:rPr lang="ru-RU" sz="1600" dirty="0"/>
              <a:t> -- данные о координатах объекта для слоя #</a:t>
            </a:r>
          </a:p>
          <a:p>
            <a:r>
              <a:rPr lang="en-US" sz="1600" b="1" dirty="0"/>
              <a:t> </a:t>
            </a:r>
            <a:r>
              <a:rPr lang="ru-RU" sz="1600" b="1" dirty="0"/>
              <a:t>...</a:t>
            </a:r>
            <a:endParaRPr lang="ru-RU" sz="1600" dirty="0"/>
          </a:p>
          <a:p>
            <a:r>
              <a:rPr lang="en-US" sz="1600" dirty="0"/>
              <a:t>     </a:t>
            </a:r>
            <a:r>
              <a:rPr lang="ru-RU" sz="1600" dirty="0"/>
              <a:t>например: Data0=(52.12345,21.98765)</a:t>
            </a:r>
          </a:p>
          <a:p>
            <a:r>
              <a:rPr lang="en-US" sz="1600" dirty="0"/>
              <a:t>     </a:t>
            </a:r>
            <a:r>
              <a:rPr lang="ru-RU" sz="1600" dirty="0"/>
              <a:t>координаты указываются в градусах и в </a:t>
            </a:r>
            <a:r>
              <a:rPr lang="ru-RU" sz="1600" dirty="0" err="1"/>
              <a:t>датуме</a:t>
            </a:r>
            <a:r>
              <a:rPr lang="ru-RU" sz="1600" dirty="0"/>
              <a:t>, указанном в заголовке карты (или по умолчанию)</a:t>
            </a:r>
          </a:p>
          <a:p>
            <a:r>
              <a:rPr lang="ru-RU" sz="1600" b="1" dirty="0" err="1"/>
              <a:t>Origin</a:t>
            </a:r>
            <a:r>
              <a:rPr lang="ru-RU" sz="1600" b="1" dirty="0"/>
              <a:t>#=(lat1,lon1)</a:t>
            </a:r>
            <a:r>
              <a:rPr lang="ru-RU" sz="1600" dirty="0"/>
              <a:t> -- это старая команда, полностью совпадающая с </a:t>
            </a:r>
            <a:r>
              <a:rPr lang="ru-RU" sz="1600" dirty="0" err="1"/>
              <a:t>Data</a:t>
            </a:r>
            <a:r>
              <a:rPr lang="ru-RU" sz="1600" dirty="0"/>
              <a:t>#.</a:t>
            </a:r>
          </a:p>
          <a:p>
            <a:r>
              <a:rPr lang="en-US" sz="1600" b="1" dirty="0"/>
              <a:t> </a:t>
            </a:r>
            <a:r>
              <a:rPr lang="ru-RU" sz="1600" b="1" dirty="0"/>
              <a:t>...</a:t>
            </a:r>
            <a:endParaRPr lang="ru-RU" sz="1600" dirty="0"/>
          </a:p>
          <a:p>
            <a:r>
              <a:rPr lang="ru-RU" sz="1600" b="1" dirty="0"/>
              <a:t>[END]</a:t>
            </a:r>
            <a:endParaRPr lang="ru-RU" sz="1600" dirty="0"/>
          </a:p>
          <a:p>
            <a:r>
              <a:rPr lang="ru-RU" sz="1600" b="1" dirty="0"/>
              <a:t>[POLYLINE]</a:t>
            </a:r>
            <a:r>
              <a:rPr lang="ru-RU" sz="1600" dirty="0"/>
              <a:t> - этот раздел определяет объекты типа линия (линейные объекты, например улица, ручей и т.п.)</a:t>
            </a:r>
          </a:p>
          <a:p>
            <a:r>
              <a:rPr lang="ru-RU" sz="1600" b="1" dirty="0" err="1"/>
              <a:t>Type</a:t>
            </a:r>
            <a:r>
              <a:rPr lang="ru-RU" sz="1600" b="1" dirty="0"/>
              <a:t>=</a:t>
            </a:r>
            <a:r>
              <a:rPr lang="ru-RU" sz="1600" b="1" dirty="0" err="1"/>
              <a:t>тип_объекта</a:t>
            </a:r>
            <a:endParaRPr lang="ru-RU" sz="1600" dirty="0"/>
          </a:p>
          <a:p>
            <a:r>
              <a:rPr lang="ru-RU" sz="1600" b="1" dirty="0" err="1"/>
              <a:t>Label</a:t>
            </a:r>
            <a:r>
              <a:rPr lang="ru-RU" sz="1600" b="1" dirty="0"/>
              <a:t>=</a:t>
            </a:r>
            <a:r>
              <a:rPr lang="ru-RU" sz="1600" b="1" dirty="0" err="1"/>
              <a:t>имя_объекта</a:t>
            </a:r>
            <a:endParaRPr lang="ru-RU" sz="1600" dirty="0"/>
          </a:p>
          <a:p>
            <a:r>
              <a:rPr lang="ru-RU" sz="1600" b="1" dirty="0" err="1"/>
              <a:t>Levels</a:t>
            </a:r>
            <a:r>
              <a:rPr lang="ru-RU" sz="1600" b="1" dirty="0"/>
              <a:t>=n</a:t>
            </a:r>
            <a:endParaRPr lang="ru-RU" sz="1600" dirty="0"/>
          </a:p>
          <a:p>
            <a:r>
              <a:rPr lang="ru-RU" sz="1600" b="1" dirty="0" err="1"/>
              <a:t>Data</a:t>
            </a:r>
            <a:r>
              <a:rPr lang="ru-RU" sz="1600" b="1" dirty="0"/>
              <a:t>#=(lat1,lon1),(lat2,lon2),...</a:t>
            </a:r>
            <a:r>
              <a:rPr lang="ru-RU" sz="1600" dirty="0"/>
              <a:t> -- множество координатных пар составляет узлы из которых составлен объект.</a:t>
            </a:r>
          </a:p>
          <a:p>
            <a:r>
              <a:rPr lang="en-US" sz="1600" b="1" dirty="0"/>
              <a:t> </a:t>
            </a:r>
            <a:r>
              <a:rPr lang="ru-RU" sz="1600" b="1" dirty="0"/>
              <a:t>...</a:t>
            </a:r>
            <a:endParaRPr lang="ru-RU" sz="1600" dirty="0"/>
          </a:p>
          <a:p>
            <a:r>
              <a:rPr lang="ru-RU" sz="1600" b="1" dirty="0"/>
              <a:t>[END</a:t>
            </a:r>
            <a:r>
              <a:rPr lang="ru-RU" sz="1600" b="1" dirty="0" smtClean="0"/>
              <a:t>]</a:t>
            </a:r>
          </a:p>
          <a:p>
            <a:r>
              <a:rPr lang="ru-RU" sz="1600" b="1" dirty="0"/>
              <a:t>[POLYGON]</a:t>
            </a:r>
            <a:r>
              <a:rPr lang="ru-RU" sz="1600" dirty="0"/>
              <a:t> -- этот раздел определяет объекты типа полигон (площадные объекты, например озеро, лес и т.п.)</a:t>
            </a:r>
          </a:p>
          <a:p>
            <a:r>
              <a:rPr lang="ru-RU" sz="1600" b="1" dirty="0" err="1"/>
              <a:t>Type</a:t>
            </a:r>
            <a:r>
              <a:rPr lang="ru-RU" sz="1600" b="1" dirty="0"/>
              <a:t>=</a:t>
            </a:r>
            <a:r>
              <a:rPr lang="ru-RU" sz="1600" b="1" dirty="0" err="1"/>
              <a:t>тип_объекта</a:t>
            </a:r>
            <a:endParaRPr lang="ru-RU" sz="1600" dirty="0"/>
          </a:p>
          <a:p>
            <a:r>
              <a:rPr lang="ru-RU" sz="1600" b="1" dirty="0" err="1"/>
              <a:t>Label</a:t>
            </a:r>
            <a:r>
              <a:rPr lang="ru-RU" sz="1600" b="1" dirty="0"/>
              <a:t>=</a:t>
            </a:r>
            <a:r>
              <a:rPr lang="ru-RU" sz="1600" b="1" dirty="0" err="1"/>
              <a:t>имя_объекта</a:t>
            </a:r>
            <a:endParaRPr lang="ru-RU" sz="1600" dirty="0"/>
          </a:p>
          <a:p>
            <a:r>
              <a:rPr lang="en-US" sz="1600" b="1" dirty="0"/>
              <a:t>Levels=n</a:t>
            </a:r>
            <a:endParaRPr lang="ru-RU" sz="1600" dirty="0"/>
          </a:p>
          <a:p>
            <a:r>
              <a:rPr lang="en-US" sz="1600" b="1" dirty="0"/>
              <a:t>Data#=(lat1,lon1),(lat2,lon2),...</a:t>
            </a:r>
            <a:endParaRPr lang="ru-RU" sz="1600" dirty="0"/>
          </a:p>
          <a:p>
            <a:r>
              <a:rPr lang="ru-RU" sz="1600" b="1" dirty="0"/>
              <a:t>...</a:t>
            </a:r>
            <a:r>
              <a:rPr lang="ru-RU" sz="1600" dirty="0"/>
              <a:t/>
            </a:r>
            <a:br>
              <a:rPr lang="ru-RU" sz="1600" dirty="0"/>
            </a:br>
            <a:r>
              <a:rPr lang="ru-RU" sz="1600" b="1" dirty="0"/>
              <a:t>[END]</a:t>
            </a:r>
            <a:endParaRPr lang="ru-RU" sz="1600" dirty="0"/>
          </a:p>
        </p:txBody>
      </p:sp>
    </p:spTree>
    <p:extLst>
      <p:ext uri="{BB962C8B-B14F-4D97-AF65-F5344CB8AC3E}">
        <p14:creationId xmlns:p14="http://schemas.microsoft.com/office/powerpoint/2010/main" val="30045913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yug-gps.narod.ru/docs/003x/images/st032-01.gif"/>
          <p:cNvPicPr/>
          <p:nvPr/>
        </p:nvPicPr>
        <p:blipFill>
          <a:blip r:embed="rId3">
            <a:extLst>
              <a:ext uri="{28A0092B-C50C-407E-A947-70E740481C1C}">
                <a14:useLocalDpi xmlns:a14="http://schemas.microsoft.com/office/drawing/2010/main" val="0"/>
              </a:ext>
            </a:extLst>
          </a:blip>
          <a:srcRect/>
          <a:stretch>
            <a:fillRect/>
          </a:stretch>
        </p:blipFill>
        <p:spPr bwMode="auto">
          <a:xfrm>
            <a:off x="120770" y="3231818"/>
            <a:ext cx="1958196" cy="3549771"/>
          </a:xfrm>
          <a:prstGeom prst="rect">
            <a:avLst/>
          </a:prstGeom>
          <a:noFill/>
          <a:ln>
            <a:noFill/>
          </a:ln>
        </p:spPr>
      </p:pic>
      <p:sp>
        <p:nvSpPr>
          <p:cNvPr id="3" name="Прямоугольник 2"/>
          <p:cNvSpPr/>
          <p:nvPr/>
        </p:nvSpPr>
        <p:spPr>
          <a:xfrm>
            <a:off x="1434860" y="-60385"/>
            <a:ext cx="6096000" cy="3970318"/>
          </a:xfrm>
          <a:prstGeom prst="rect">
            <a:avLst/>
          </a:prstGeom>
        </p:spPr>
        <p:txBody>
          <a:bodyPr>
            <a:spAutoFit/>
          </a:bodyPr>
          <a:lstStyle/>
          <a:p>
            <a:r>
              <a:rPr lang="ru-RU" sz="1400" dirty="0"/>
              <a:t>Как можно видеть на нашей карте присутствуют три объекта - полигон "Кустарник", линия "Ручей" и точка "Мост". Описание этой информации в Польском формате будет выглядеть следующим образом (комментарии в исходном коде отсутствуют):</a:t>
            </a:r>
          </a:p>
          <a:p>
            <a:r>
              <a:rPr lang="ru-RU" sz="1400" b="1" dirty="0"/>
              <a:t>[IMG ID]</a:t>
            </a:r>
            <a:r>
              <a:rPr lang="ru-RU" sz="1400" dirty="0"/>
              <a:t> - начало описания раздела заголовка карты.</a:t>
            </a:r>
          </a:p>
          <a:p>
            <a:r>
              <a:rPr lang="ru-RU" sz="1400" b="1" dirty="0"/>
              <a:t>ID=10011001</a:t>
            </a:r>
            <a:r>
              <a:rPr lang="ru-RU" sz="1400" dirty="0"/>
              <a:t> - уникальный номер карты (10011001).</a:t>
            </a:r>
          </a:p>
          <a:p>
            <a:r>
              <a:rPr lang="ru-RU" sz="1400" b="1" dirty="0" err="1"/>
              <a:t>Name</a:t>
            </a:r>
            <a:r>
              <a:rPr lang="ru-RU" sz="1400" b="1" dirty="0"/>
              <a:t>=Пример</a:t>
            </a:r>
            <a:r>
              <a:rPr lang="ru-RU" sz="1400" dirty="0"/>
              <a:t> - имя карты (Пример).</a:t>
            </a:r>
          </a:p>
          <a:p>
            <a:r>
              <a:rPr lang="ru-RU" sz="1400" b="1" dirty="0" err="1"/>
              <a:t>TypeSet</a:t>
            </a:r>
            <a:r>
              <a:rPr lang="ru-RU" sz="1400" b="1" dirty="0"/>
              <a:t>=</a:t>
            </a:r>
            <a:r>
              <a:rPr lang="ru-RU" sz="1400" b="1" dirty="0" err="1"/>
              <a:t>Russa</a:t>
            </a:r>
            <a:r>
              <a:rPr lang="ru-RU" sz="1400" dirty="0"/>
              <a:t> - указатель целевого формата карты (RUS).</a:t>
            </a:r>
          </a:p>
          <a:p>
            <a:r>
              <a:rPr lang="ru-RU" sz="1400" b="1" dirty="0" err="1"/>
              <a:t>Preprocess</a:t>
            </a:r>
            <a:r>
              <a:rPr lang="ru-RU" sz="1400" b="1" dirty="0"/>
              <a:t>=F</a:t>
            </a:r>
            <a:r>
              <a:rPr lang="ru-RU" sz="1400" dirty="0"/>
              <a:t> - предварительная обработка (</a:t>
            </a:r>
            <a:r>
              <a:rPr lang="ru-RU" sz="1400" dirty="0" err="1"/>
              <a:t>Full</a:t>
            </a:r>
            <a:r>
              <a:rPr lang="ru-RU" sz="1400" dirty="0"/>
              <a:t> -максимальная).</a:t>
            </a:r>
          </a:p>
          <a:p>
            <a:r>
              <a:rPr lang="ru-RU" sz="1400" b="1" dirty="0" err="1"/>
              <a:t>CodePage</a:t>
            </a:r>
            <a:r>
              <a:rPr lang="ru-RU" sz="1400" b="1" dirty="0"/>
              <a:t>=1251</a:t>
            </a:r>
            <a:r>
              <a:rPr lang="ru-RU" sz="1400" dirty="0"/>
              <a:t> - кодовая станица (кириллица).</a:t>
            </a:r>
          </a:p>
          <a:p>
            <a:r>
              <a:rPr lang="ru-RU" sz="1400" b="1" dirty="0" err="1"/>
              <a:t>LblCoding</a:t>
            </a:r>
            <a:r>
              <a:rPr lang="ru-RU" sz="1400" b="1" dirty="0"/>
              <a:t>=9</a:t>
            </a:r>
            <a:r>
              <a:rPr lang="ru-RU" sz="1400" dirty="0"/>
              <a:t> - кодирование символов (восьмибитовое).</a:t>
            </a:r>
          </a:p>
          <a:p>
            <a:r>
              <a:rPr lang="ru-RU" sz="1400" b="1" dirty="0" err="1"/>
              <a:t>Datum</a:t>
            </a:r>
            <a:r>
              <a:rPr lang="ru-RU" sz="1400" b="1" dirty="0"/>
              <a:t>=W84</a:t>
            </a:r>
            <a:r>
              <a:rPr lang="ru-RU" sz="1400" dirty="0"/>
              <a:t> - </a:t>
            </a:r>
            <a:r>
              <a:rPr lang="ru-RU" sz="1400" dirty="0" err="1"/>
              <a:t>Датум</a:t>
            </a:r>
            <a:r>
              <a:rPr lang="ru-RU" sz="1400" dirty="0"/>
              <a:t> (WGS-84)</a:t>
            </a:r>
          </a:p>
          <a:p>
            <a:r>
              <a:rPr lang="ru-RU" sz="1400" b="1" dirty="0" err="1"/>
              <a:t>Elevation</a:t>
            </a:r>
            <a:r>
              <a:rPr lang="ru-RU" sz="1400" b="1" dirty="0"/>
              <a:t>=m</a:t>
            </a:r>
            <a:r>
              <a:rPr lang="ru-RU" sz="1400" dirty="0"/>
              <a:t> - единицы высоты (метры)</a:t>
            </a:r>
          </a:p>
          <a:p>
            <a:r>
              <a:rPr lang="ru-RU" sz="1400" b="1" dirty="0" err="1"/>
              <a:t>TreSize</a:t>
            </a:r>
            <a:r>
              <a:rPr lang="ru-RU" sz="1400" b="1" dirty="0"/>
              <a:t>=511</a:t>
            </a:r>
            <a:r>
              <a:rPr lang="ru-RU" sz="1400" dirty="0"/>
              <a:t> - размер блока (511).</a:t>
            </a:r>
          </a:p>
          <a:p>
            <a:r>
              <a:rPr lang="ru-RU" sz="1400" b="1" dirty="0" err="1"/>
              <a:t>TreMargin</a:t>
            </a:r>
            <a:r>
              <a:rPr lang="ru-RU" sz="1400" b="1" dirty="0"/>
              <a:t>=0.00000</a:t>
            </a:r>
            <a:r>
              <a:rPr lang="ru-RU" sz="1400" dirty="0"/>
              <a:t> - выход границы за область карты (нет).</a:t>
            </a:r>
          </a:p>
          <a:p>
            <a:r>
              <a:rPr lang="ru-RU" sz="1400" b="1" dirty="0" err="1"/>
              <a:t>RgnLimit</a:t>
            </a:r>
            <a:r>
              <a:rPr lang="ru-RU" sz="1400" b="1" dirty="0"/>
              <a:t>=127</a:t>
            </a:r>
            <a:r>
              <a:rPr lang="ru-RU" sz="1400" dirty="0"/>
              <a:t> - ограничение по количеству элементов в объекте (127).</a:t>
            </a:r>
          </a:p>
          <a:p>
            <a:r>
              <a:rPr lang="ru-RU" sz="1400" b="1" dirty="0" err="1"/>
              <a:t>POIIndex</a:t>
            </a:r>
            <a:r>
              <a:rPr lang="ru-RU" sz="1400" b="1" dirty="0"/>
              <a:t>=N</a:t>
            </a:r>
            <a:r>
              <a:rPr lang="ru-RU" sz="1400" dirty="0"/>
              <a:t> - индексация (выключено). В </a:t>
            </a:r>
            <a:r>
              <a:rPr lang="ru-RU" sz="1400" dirty="0" err="1"/>
              <a:t>GPSMapEdit</a:t>
            </a:r>
            <a:r>
              <a:rPr lang="ru-RU" sz="1400" dirty="0"/>
              <a:t> не доступно.</a:t>
            </a:r>
          </a:p>
          <a:p>
            <a:r>
              <a:rPr lang="ru-RU" sz="1400" b="1" dirty="0" err="1"/>
              <a:t>Levels</a:t>
            </a:r>
            <a:r>
              <a:rPr lang="ru-RU" sz="1400" b="1" dirty="0"/>
              <a:t>=2</a:t>
            </a:r>
            <a:r>
              <a:rPr lang="ru-RU" sz="1400" dirty="0"/>
              <a:t> - число слоёв (2).</a:t>
            </a:r>
          </a:p>
        </p:txBody>
      </p:sp>
      <p:sp>
        <p:nvSpPr>
          <p:cNvPr id="4" name="Прямоугольник 3"/>
          <p:cNvSpPr/>
          <p:nvPr/>
        </p:nvSpPr>
        <p:spPr>
          <a:xfrm>
            <a:off x="6987397" y="3129267"/>
            <a:ext cx="5279366" cy="3754874"/>
          </a:xfrm>
          <a:prstGeom prst="rect">
            <a:avLst/>
          </a:prstGeom>
        </p:spPr>
        <p:txBody>
          <a:bodyPr wrap="square">
            <a:spAutoFit/>
          </a:bodyPr>
          <a:lstStyle/>
          <a:p>
            <a:r>
              <a:rPr lang="ru-RU" sz="1400" b="1" dirty="0"/>
              <a:t>Level0=21</a:t>
            </a:r>
            <a:r>
              <a:rPr lang="ru-RU" sz="1400" dirty="0"/>
              <a:t> - масштаб первого слоя (800м - 1.2км).</a:t>
            </a:r>
          </a:p>
          <a:p>
            <a:r>
              <a:rPr lang="ru-RU" sz="1400" b="1" dirty="0"/>
              <a:t>Level1=20</a:t>
            </a:r>
            <a:r>
              <a:rPr lang="ru-RU" sz="1400" dirty="0"/>
              <a:t> - масштаб второго слоя (2км). Пустой.</a:t>
            </a:r>
          </a:p>
          <a:p>
            <a:r>
              <a:rPr lang="ru-RU" sz="1400" b="1" dirty="0"/>
              <a:t>Zoom0=0</a:t>
            </a:r>
            <a:r>
              <a:rPr lang="ru-RU" sz="1400" dirty="0"/>
              <a:t> - Масштаб первого слоя для </a:t>
            </a:r>
            <a:r>
              <a:rPr lang="ru-RU" sz="1400" dirty="0" err="1"/>
              <a:t>MapSource</a:t>
            </a:r>
            <a:r>
              <a:rPr lang="ru-RU" sz="1400" dirty="0"/>
              <a:t>.</a:t>
            </a:r>
          </a:p>
          <a:p>
            <a:r>
              <a:rPr lang="ru-RU" sz="1400" b="1" dirty="0"/>
              <a:t>Zoom1=1</a:t>
            </a:r>
            <a:r>
              <a:rPr lang="ru-RU" sz="1400" dirty="0"/>
              <a:t> - Масштаб второго слоя для </a:t>
            </a:r>
            <a:r>
              <a:rPr lang="ru-RU" sz="1400" dirty="0" err="1"/>
              <a:t>MapSource</a:t>
            </a:r>
            <a:r>
              <a:rPr lang="ru-RU" sz="1400" dirty="0"/>
              <a:t>.</a:t>
            </a:r>
          </a:p>
          <a:p>
            <a:r>
              <a:rPr lang="ru-RU" sz="1400" b="1" dirty="0"/>
              <a:t>[END-IMG ID]</a:t>
            </a:r>
            <a:r>
              <a:rPr lang="ru-RU" sz="1400" dirty="0"/>
              <a:t> - конец раздела заголовка карты.</a:t>
            </a:r>
          </a:p>
          <a:p>
            <a:r>
              <a:rPr lang="ru-RU" sz="1400" dirty="0"/>
              <a:t> </a:t>
            </a:r>
          </a:p>
          <a:p>
            <a:r>
              <a:rPr lang="ru-RU" sz="1400" b="1" dirty="0"/>
              <a:t>[POI]</a:t>
            </a:r>
            <a:r>
              <a:rPr lang="ru-RU" sz="1400" dirty="0"/>
              <a:t> - начало раздела описания объекта типа "Точка".</a:t>
            </a:r>
          </a:p>
          <a:p>
            <a:r>
              <a:rPr lang="ru-RU" sz="1400" b="1" dirty="0" err="1"/>
              <a:t>Type</a:t>
            </a:r>
            <a:r>
              <a:rPr lang="ru-RU" sz="1400" b="1" dirty="0"/>
              <a:t>=0x6401</a:t>
            </a:r>
            <a:r>
              <a:rPr lang="ru-RU" sz="1400" dirty="0"/>
              <a:t> - определение типа точки.</a:t>
            </a:r>
          </a:p>
          <a:p>
            <a:r>
              <a:rPr lang="ru-RU" sz="1400" b="1" dirty="0" err="1"/>
              <a:t>Label</a:t>
            </a:r>
            <a:r>
              <a:rPr lang="ru-RU" sz="1400" b="1" dirty="0"/>
              <a:t>=Мост</a:t>
            </a:r>
            <a:r>
              <a:rPr lang="ru-RU" sz="1400" dirty="0"/>
              <a:t> - имя точки.</a:t>
            </a:r>
          </a:p>
          <a:p>
            <a:r>
              <a:rPr lang="ru-RU" sz="1400" b="1" dirty="0"/>
              <a:t>Data0=(64.31912,39.73051)</a:t>
            </a:r>
            <a:r>
              <a:rPr lang="ru-RU" sz="1400" dirty="0"/>
              <a:t> - координаты точки.</a:t>
            </a:r>
          </a:p>
          <a:p>
            <a:r>
              <a:rPr lang="ru-RU" sz="1400" b="1" dirty="0"/>
              <a:t>[END]</a:t>
            </a:r>
            <a:r>
              <a:rPr lang="ru-RU" sz="1400" dirty="0"/>
              <a:t> - конец раздела точки.</a:t>
            </a:r>
          </a:p>
          <a:p>
            <a:r>
              <a:rPr lang="ru-RU" sz="1400" dirty="0"/>
              <a:t> </a:t>
            </a:r>
          </a:p>
          <a:p>
            <a:r>
              <a:rPr lang="ru-RU" sz="1400" b="1" dirty="0"/>
              <a:t>[POLYLINE]</a:t>
            </a:r>
            <a:r>
              <a:rPr lang="ru-RU" sz="1400" dirty="0"/>
              <a:t> - начало раздела описания объекта типа "Линия".</a:t>
            </a:r>
          </a:p>
          <a:p>
            <a:r>
              <a:rPr lang="ru-RU" sz="1400" b="1" dirty="0" err="1"/>
              <a:t>Type</a:t>
            </a:r>
            <a:r>
              <a:rPr lang="ru-RU" sz="1400" b="1" dirty="0"/>
              <a:t>=0x18</a:t>
            </a:r>
            <a:r>
              <a:rPr lang="ru-RU" sz="1400" dirty="0"/>
              <a:t> - определение типа линии.</a:t>
            </a:r>
          </a:p>
          <a:p>
            <a:r>
              <a:rPr lang="ru-RU" sz="1400" b="1" dirty="0" err="1"/>
              <a:t>Label</a:t>
            </a:r>
            <a:r>
              <a:rPr lang="ru-RU" sz="1400" b="1" dirty="0"/>
              <a:t>=Ручей</a:t>
            </a:r>
            <a:r>
              <a:rPr lang="ru-RU" sz="1400" dirty="0"/>
              <a:t> - имя линии.</a:t>
            </a:r>
          </a:p>
          <a:p>
            <a:r>
              <a:rPr lang="ru-RU" sz="1400" b="1" dirty="0"/>
              <a:t>Data0=(64.33148,39.73154),(64.32667,39.72845),(64.31912,39.73051),(64.31671,39.72793)</a:t>
            </a:r>
            <a:r>
              <a:rPr lang="ru-RU" sz="1400" dirty="0"/>
              <a:t> - координаты линии.</a:t>
            </a:r>
          </a:p>
        </p:txBody>
      </p:sp>
    </p:spTree>
    <p:extLst>
      <p:ext uri="{BB962C8B-B14F-4D97-AF65-F5344CB8AC3E}">
        <p14:creationId xmlns:p14="http://schemas.microsoft.com/office/powerpoint/2010/main" val="10735711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4408775" y="147451"/>
            <a:ext cx="3374450" cy="369332"/>
          </a:xfrm>
          <a:prstGeom prst="rect">
            <a:avLst/>
          </a:prstGeom>
        </p:spPr>
        <p:txBody>
          <a:bodyPr wrap="none">
            <a:spAutoFit/>
          </a:bodyPr>
          <a:lstStyle/>
          <a:p>
            <a:r>
              <a:rPr lang="ru-RU" b="1" dirty="0"/>
              <a:t>Установка и запуск </a:t>
            </a:r>
            <a:r>
              <a:rPr lang="ru-RU" b="1" dirty="0" err="1"/>
              <a:t>GPSMapEdit</a:t>
            </a:r>
            <a:r>
              <a:rPr lang="ru-RU" b="1" dirty="0"/>
              <a:t>.</a:t>
            </a:r>
            <a:endParaRPr lang="ru-RU" dirty="0"/>
          </a:p>
        </p:txBody>
      </p:sp>
      <p:sp>
        <p:nvSpPr>
          <p:cNvPr id="3" name="Прямоугольник 2"/>
          <p:cNvSpPr/>
          <p:nvPr/>
        </p:nvSpPr>
        <p:spPr>
          <a:xfrm>
            <a:off x="244414" y="516783"/>
            <a:ext cx="11642785" cy="3139321"/>
          </a:xfrm>
          <a:prstGeom prst="rect">
            <a:avLst/>
          </a:prstGeom>
        </p:spPr>
        <p:txBody>
          <a:bodyPr wrap="square">
            <a:spAutoFit/>
          </a:bodyPr>
          <a:lstStyle/>
          <a:p>
            <a:r>
              <a:rPr lang="ru-RU" dirty="0"/>
              <a:t>Прежде чем заняться установкой программы, её последнюю версию необходимо скачать с сайта </a:t>
            </a:r>
            <a:r>
              <a:rPr lang="ru-RU" b="1" u="sng" dirty="0">
                <a:hlinkClick r:id="rId2"/>
              </a:rPr>
              <a:t>www.geopainting.com</a:t>
            </a:r>
            <a:r>
              <a:rPr lang="ru-RU" dirty="0"/>
              <a:t>. Размер архива с программой не превышает 500кб. Так же рекомендую ознакомиться с </a:t>
            </a:r>
            <a:r>
              <a:rPr lang="ru-RU" b="1" u="sng" dirty="0">
                <a:hlinkClick r:id="rId3"/>
              </a:rPr>
              <a:t>правилами её использования</a:t>
            </a:r>
            <a:r>
              <a:rPr lang="ru-RU" dirty="0"/>
              <a:t> и </a:t>
            </a:r>
            <a:r>
              <a:rPr lang="ru-RU" b="1" u="sng" dirty="0">
                <a:hlinkClick r:id="rId4"/>
              </a:rPr>
              <a:t>ограничениями</a:t>
            </a:r>
            <a:r>
              <a:rPr lang="ru-RU" dirty="0"/>
              <a:t>. Для полноценной работы с растровыми картами с привязкой в формате </a:t>
            </a:r>
            <a:r>
              <a:rPr lang="ru-RU" dirty="0" err="1"/>
              <a:t>OziExplorer</a:t>
            </a:r>
            <a:r>
              <a:rPr lang="ru-RU" dirty="0"/>
              <a:t>, которых достаточно много в Интернете, можно скачать и дополнительные </a:t>
            </a:r>
            <a:r>
              <a:rPr lang="ru-RU" b="1" u="sng" dirty="0">
                <a:hlinkClick r:id="rId5"/>
              </a:rPr>
              <a:t>библиотеки</a:t>
            </a:r>
            <a:r>
              <a:rPr lang="ru-RU" dirty="0"/>
              <a:t> (около 900кб). После этого можно будет загружать растровые карты в форматах PNG и TIFF.</a:t>
            </a:r>
          </a:p>
          <a:p>
            <a:pPr algn="just"/>
            <a:r>
              <a:rPr lang="ru-RU" dirty="0"/>
              <a:t>Весь процесс установки заключается в разархивировании программы в произвольную папку на Вашем диске. Никакой дополнительной инсталляции не требуется. Туда же необходимо разархивировать и файл с дополнительной библиотекой - </a:t>
            </a:r>
            <a:r>
              <a:rPr lang="ru-RU" b="1" dirty="0"/>
              <a:t>gdiplus.dll</a:t>
            </a:r>
            <a:r>
              <a:rPr lang="ru-RU" dirty="0"/>
              <a:t>. Для тех, кому непривычен английский интерфейс, могу порекомендовать посетить страничку </a:t>
            </a:r>
            <a:r>
              <a:rPr lang="ru-RU" b="1" u="sng" dirty="0">
                <a:hlinkClick r:id="rId6"/>
              </a:rPr>
              <a:t>v-dorogu.narod.ru/load.htm</a:t>
            </a:r>
            <a:r>
              <a:rPr lang="ru-RU" dirty="0"/>
              <a:t> и скачать там русификатор. Однако далее все материалы будут ориентированы на оригинальный интерфейс. Запуск программы происходит после двойного клика по файлу </a:t>
            </a:r>
            <a:r>
              <a:rPr lang="ru-RU" b="1" dirty="0"/>
              <a:t>mapedit.exe</a:t>
            </a:r>
            <a:r>
              <a:rPr lang="ru-RU" dirty="0"/>
              <a:t>.</a:t>
            </a:r>
          </a:p>
        </p:txBody>
      </p:sp>
    </p:spTree>
    <p:extLst>
      <p:ext uri="{BB962C8B-B14F-4D97-AF65-F5344CB8AC3E}">
        <p14:creationId xmlns:p14="http://schemas.microsoft.com/office/powerpoint/2010/main" val="4889124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879075" y="112946"/>
            <a:ext cx="4658135" cy="369332"/>
          </a:xfrm>
          <a:prstGeom prst="rect">
            <a:avLst/>
          </a:prstGeom>
        </p:spPr>
        <p:txBody>
          <a:bodyPr wrap="none">
            <a:spAutoFit/>
          </a:bodyPr>
          <a:lstStyle/>
          <a:p>
            <a:r>
              <a:rPr lang="ru-RU" b="1" dirty="0"/>
              <a:t>Первичный обзор и основные инструменты.</a:t>
            </a:r>
            <a:endParaRPr lang="ru-RU" dirty="0"/>
          </a:p>
        </p:txBody>
      </p:sp>
      <p:sp>
        <p:nvSpPr>
          <p:cNvPr id="3" name="Прямоугольник 2"/>
          <p:cNvSpPr/>
          <p:nvPr/>
        </p:nvSpPr>
        <p:spPr>
          <a:xfrm>
            <a:off x="244415" y="549079"/>
            <a:ext cx="6096000" cy="2585323"/>
          </a:xfrm>
          <a:prstGeom prst="rect">
            <a:avLst/>
          </a:prstGeom>
        </p:spPr>
        <p:txBody>
          <a:bodyPr>
            <a:spAutoFit/>
          </a:bodyPr>
          <a:lstStyle/>
          <a:p>
            <a:r>
              <a:rPr lang="ru-RU" dirty="0"/>
              <a:t>Перед тем, как начать знакомство с программой </a:t>
            </a:r>
            <a:r>
              <a:rPr lang="ru-RU" dirty="0" err="1"/>
              <a:t>GPSMapEdit</a:t>
            </a:r>
            <a:r>
              <a:rPr lang="ru-RU" dirty="0"/>
              <a:t>, рекомендую загрузить с сайта </a:t>
            </a:r>
            <a:r>
              <a:rPr lang="ru-RU" b="1" dirty="0"/>
              <a:t>проекта "Нарисуй карту"</a:t>
            </a:r>
            <a:r>
              <a:rPr lang="ru-RU" dirty="0"/>
              <a:t> любую, интересующую Вас, готовую карту и распаковать её в любое место на диске. После запуска программы Вы должны увидеть основное окно программы </a:t>
            </a:r>
            <a:r>
              <a:rPr lang="ru-RU" dirty="0" err="1"/>
              <a:t>GPSMapEdit</a:t>
            </a:r>
            <a:r>
              <a:rPr lang="ru-RU" dirty="0"/>
              <a:t>. Большинство инструментов в данный момент не активны. Это потому, что у нас в настоящее время не загружено ни одной карты. Давайте загрузим имеющуюся карту </a:t>
            </a:r>
            <a:r>
              <a:rPr lang="ru-RU" b="1" dirty="0"/>
              <a:t>"</a:t>
            </a:r>
            <a:r>
              <a:rPr lang="ru-RU" b="1" dirty="0" err="1"/>
              <a:t>File</a:t>
            </a:r>
            <a:r>
              <a:rPr lang="ru-RU" b="1" dirty="0"/>
              <a:t> - </a:t>
            </a:r>
            <a:r>
              <a:rPr lang="ru-RU" b="1" dirty="0" err="1"/>
              <a:t>Open</a:t>
            </a:r>
            <a:r>
              <a:rPr lang="ru-RU" b="1" dirty="0"/>
              <a:t>... - указать путь и файл карты"</a:t>
            </a:r>
            <a:r>
              <a:rPr lang="ru-RU" dirty="0"/>
              <a:t>. </a:t>
            </a:r>
          </a:p>
        </p:txBody>
      </p:sp>
      <p:pic>
        <p:nvPicPr>
          <p:cNvPr id="4" name="Рисунок 3" descr="http://yug-gps.narod.ru/docs/003x/images/st032-02.gif"/>
          <p:cNvPicPr/>
          <p:nvPr/>
        </p:nvPicPr>
        <p:blipFill>
          <a:blip r:embed="rId2">
            <a:extLst>
              <a:ext uri="{28A0092B-C50C-407E-A947-70E740481C1C}">
                <a14:useLocalDpi xmlns:a14="http://schemas.microsoft.com/office/drawing/2010/main" val="0"/>
              </a:ext>
            </a:extLst>
          </a:blip>
          <a:srcRect/>
          <a:stretch>
            <a:fillRect/>
          </a:stretch>
        </p:blipFill>
        <p:spPr bwMode="auto">
          <a:xfrm>
            <a:off x="6864985" y="619538"/>
            <a:ext cx="5327015" cy="2703195"/>
          </a:xfrm>
          <a:prstGeom prst="rect">
            <a:avLst/>
          </a:prstGeom>
          <a:noFill/>
          <a:ln>
            <a:noFill/>
          </a:ln>
        </p:spPr>
      </p:pic>
      <p:sp>
        <p:nvSpPr>
          <p:cNvPr id="5" name="Прямоугольник 4"/>
          <p:cNvSpPr/>
          <p:nvPr/>
        </p:nvSpPr>
        <p:spPr>
          <a:xfrm>
            <a:off x="244415" y="4270401"/>
            <a:ext cx="6096000" cy="646331"/>
          </a:xfrm>
          <a:prstGeom prst="rect">
            <a:avLst/>
          </a:prstGeom>
        </p:spPr>
        <p:txBody>
          <a:bodyPr>
            <a:spAutoFit/>
          </a:bodyPr>
          <a:lstStyle/>
          <a:p>
            <a:r>
              <a:rPr lang="ru-RU" dirty="0"/>
              <a:t>Первым идёт стандартный для многих программ пункт </a:t>
            </a:r>
            <a:r>
              <a:rPr lang="ru-RU" b="1" dirty="0"/>
              <a:t>"</a:t>
            </a:r>
            <a:r>
              <a:rPr lang="ru-RU" b="1" dirty="0" err="1"/>
              <a:t>File</a:t>
            </a:r>
            <a:r>
              <a:rPr lang="ru-RU" b="1" dirty="0"/>
              <a:t>"</a:t>
            </a:r>
            <a:r>
              <a:rPr lang="ru-RU" dirty="0"/>
              <a:t>. В нём содержатся следующие инструменты:</a:t>
            </a:r>
          </a:p>
        </p:txBody>
      </p:sp>
      <p:pic>
        <p:nvPicPr>
          <p:cNvPr id="6" name="Рисунок 5" descr="http://yug-gps.narod.ru/docs/003x/images/st032-03.gif"/>
          <p:cNvPicPr/>
          <p:nvPr/>
        </p:nvPicPr>
        <p:blipFill>
          <a:blip r:embed="rId3">
            <a:extLst>
              <a:ext uri="{28A0092B-C50C-407E-A947-70E740481C1C}">
                <a14:useLocalDpi xmlns:a14="http://schemas.microsoft.com/office/drawing/2010/main" val="0"/>
              </a:ext>
            </a:extLst>
          </a:blip>
          <a:srcRect/>
          <a:stretch>
            <a:fillRect/>
          </a:stretch>
        </p:blipFill>
        <p:spPr bwMode="auto">
          <a:xfrm>
            <a:off x="5931745" y="3417623"/>
            <a:ext cx="2122805" cy="2854325"/>
          </a:xfrm>
          <a:prstGeom prst="rect">
            <a:avLst/>
          </a:prstGeom>
          <a:noFill/>
          <a:ln>
            <a:noFill/>
          </a:ln>
        </p:spPr>
      </p:pic>
    </p:spTree>
    <p:extLst>
      <p:ext uri="{BB962C8B-B14F-4D97-AF65-F5344CB8AC3E}">
        <p14:creationId xmlns:p14="http://schemas.microsoft.com/office/powerpoint/2010/main" val="14432627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24287" y="114463"/>
            <a:ext cx="11507638" cy="5632311"/>
          </a:xfrm>
          <a:prstGeom prst="rect">
            <a:avLst/>
          </a:prstGeom>
        </p:spPr>
        <p:txBody>
          <a:bodyPr wrap="square">
            <a:spAutoFit/>
          </a:bodyPr>
          <a:lstStyle/>
          <a:p>
            <a:r>
              <a:rPr lang="ru-RU" b="1" dirty="0" err="1"/>
              <a:t>Open</a:t>
            </a:r>
            <a:r>
              <a:rPr lang="ru-RU" b="1" dirty="0"/>
              <a:t>... (</a:t>
            </a:r>
            <a:r>
              <a:rPr lang="ru-RU" b="1" dirty="0" err="1"/>
              <a:t>Ctrl+O</a:t>
            </a:r>
            <a:r>
              <a:rPr lang="ru-RU" b="1" dirty="0"/>
              <a:t>)</a:t>
            </a:r>
            <a:r>
              <a:rPr lang="ru-RU" dirty="0"/>
              <a:t> - позволяет выбрать и открыть файлы всех доступных данных. Этими файлами могут быть данные в Польском формате, в формате </a:t>
            </a:r>
            <a:r>
              <a:rPr lang="ru-RU" dirty="0" err="1"/>
              <a:t>ГИСРусса</a:t>
            </a:r>
            <a:r>
              <a:rPr lang="ru-RU" dirty="0"/>
              <a:t>, PCX5, файлы данных программ </a:t>
            </a:r>
            <a:r>
              <a:rPr lang="ru-RU" dirty="0" err="1"/>
              <a:t>OziExplorer</a:t>
            </a:r>
            <a:r>
              <a:rPr lang="ru-RU" dirty="0"/>
              <a:t> и </a:t>
            </a:r>
            <a:r>
              <a:rPr lang="ru-RU" dirty="0" err="1"/>
              <a:t>MapSource</a:t>
            </a:r>
            <a:r>
              <a:rPr lang="ru-RU" dirty="0"/>
              <a:t> и данные полученные из навигаторов, </a:t>
            </a:r>
            <a:r>
              <a:rPr lang="ru-RU" b="1" dirty="0"/>
              <a:t>ALAN </a:t>
            </a:r>
            <a:r>
              <a:rPr lang="ru-RU" b="1" dirty="0" err="1"/>
              <a:t>Map</a:t>
            </a:r>
            <a:r>
              <a:rPr lang="ru-RU" b="1" dirty="0"/>
              <a:t> 500</a:t>
            </a:r>
            <a:r>
              <a:rPr lang="ru-RU" dirty="0"/>
              <a:t>, </a:t>
            </a:r>
            <a:r>
              <a:rPr lang="ru-RU" b="1" dirty="0"/>
              <a:t>HOLUX</a:t>
            </a:r>
            <a:r>
              <a:rPr lang="ru-RU" dirty="0"/>
              <a:t> </a:t>
            </a:r>
            <a:r>
              <a:rPr lang="ru-RU" b="1" dirty="0" err="1"/>
              <a:t>MapShow</a:t>
            </a:r>
            <a:r>
              <a:rPr lang="ru-RU" dirty="0"/>
              <a:t> и </a:t>
            </a:r>
            <a:r>
              <a:rPr lang="ru-RU" b="1" dirty="0" err="1"/>
              <a:t>Magellan</a:t>
            </a:r>
            <a:r>
              <a:rPr lang="ru-RU" dirty="0"/>
              <a:t>. Чтобы ознакомиться со всем перечнем, посмотрите раскрывающийся список "Типы файлов" в окне загрузки. В настоящее время доступно 26 типов данных.</a:t>
            </a:r>
          </a:p>
          <a:p>
            <a:r>
              <a:rPr lang="ru-RU" b="1" dirty="0" err="1"/>
              <a:t>Add</a:t>
            </a:r>
            <a:r>
              <a:rPr lang="ru-RU" b="1" dirty="0"/>
              <a:t>...</a:t>
            </a:r>
            <a:r>
              <a:rPr lang="ru-RU" dirty="0"/>
              <a:t> - если предыдущий пункт открывает данные, как единственные на текущей карте, то с помощью этого пункта можно к существующим данным добавить другие. Это даёт нам возможность одновременно видеть на карте несколько данных из совершенно разных источников. Количество загружаемых таким образом файлов не ограничено.</a:t>
            </a:r>
          </a:p>
          <a:p>
            <a:r>
              <a:rPr lang="ru-RU" b="1" dirty="0" err="1"/>
              <a:t>Close</a:t>
            </a:r>
            <a:r>
              <a:rPr lang="ru-RU" b="1" dirty="0"/>
              <a:t> (</a:t>
            </a:r>
            <a:r>
              <a:rPr lang="ru-RU" b="1" dirty="0" err="1"/>
              <a:t>Ctrl+N</a:t>
            </a:r>
            <a:r>
              <a:rPr lang="ru-RU" b="1" dirty="0"/>
              <a:t>)</a:t>
            </a:r>
            <a:r>
              <a:rPr lang="ru-RU" dirty="0"/>
              <a:t> - закрываются без сохранения все открытые данные. Происходит полная очистка памяти. После этой операции программа готова к новыми данными.</a:t>
            </a:r>
          </a:p>
          <a:p>
            <a:r>
              <a:rPr lang="ru-RU" b="1" dirty="0" err="1"/>
              <a:t>Save</a:t>
            </a:r>
            <a:r>
              <a:rPr lang="ru-RU" b="1" dirty="0"/>
              <a:t> (</a:t>
            </a:r>
            <a:r>
              <a:rPr lang="ru-RU" b="1" dirty="0" err="1"/>
              <a:t>Ctrl+S</a:t>
            </a:r>
            <a:r>
              <a:rPr lang="ru-RU" b="1" dirty="0"/>
              <a:t>)</a:t>
            </a:r>
            <a:r>
              <a:rPr lang="ru-RU" dirty="0"/>
              <a:t> - сохранение всех, открытых в настоящий момент, данных. Такое сохранение возможно только если первым был открыт существующий проект в формате MP или RUS. Сохранение так же возможно только в форматы </a:t>
            </a:r>
            <a:r>
              <a:rPr lang="ru-RU" dirty="0" err="1"/>
              <a:t>ГИСРусса</a:t>
            </a:r>
            <a:r>
              <a:rPr lang="ru-RU" dirty="0"/>
              <a:t> (RUS) и Польский формат (MP).</a:t>
            </a:r>
          </a:p>
          <a:p>
            <a:r>
              <a:rPr lang="ru-RU" b="1" dirty="0" err="1"/>
              <a:t>Save</a:t>
            </a:r>
            <a:r>
              <a:rPr lang="ru-RU" b="1" dirty="0"/>
              <a:t> </a:t>
            </a:r>
            <a:r>
              <a:rPr lang="ru-RU" b="1" dirty="0" err="1"/>
              <a:t>As</a:t>
            </a:r>
            <a:r>
              <a:rPr lang="ru-RU" dirty="0"/>
              <a:t> - позволяет сохранить все данные, открытые в данный момент, под другим именем. Доступные для сохранения форматы такие же, как и в предыдущем случае.</a:t>
            </a:r>
          </a:p>
          <a:p>
            <a:r>
              <a:rPr lang="ru-RU" b="1" dirty="0" err="1"/>
              <a:t>Import</a:t>
            </a:r>
            <a:r>
              <a:rPr lang="ru-RU" dirty="0"/>
              <a:t> - импортирование объектов из файлов данных, созданных другими программами. После выбора этого пункта раскрывается дополнительное меню. Возможен импорт данных сохранённых в форматах ESRI </a:t>
            </a:r>
            <a:r>
              <a:rPr lang="ru-RU" dirty="0" err="1"/>
              <a:t>shape</a:t>
            </a:r>
            <a:r>
              <a:rPr lang="ru-RU" dirty="0"/>
              <a:t> с расширением *.SHP или в формате программы </a:t>
            </a:r>
            <a:r>
              <a:rPr lang="ru-RU" dirty="0" err="1"/>
              <a:t>MapInfo</a:t>
            </a:r>
            <a:r>
              <a:rPr lang="ru-RU" dirty="0"/>
              <a:t> с расширением *.MIF. Причём импорт формата MIF возможен только в зарегистрированной версии программы.</a:t>
            </a:r>
          </a:p>
        </p:txBody>
      </p:sp>
    </p:spTree>
    <p:extLst>
      <p:ext uri="{BB962C8B-B14F-4D97-AF65-F5344CB8AC3E}">
        <p14:creationId xmlns:p14="http://schemas.microsoft.com/office/powerpoint/2010/main" val="16547698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414067" y="134101"/>
            <a:ext cx="11404121" cy="4524315"/>
          </a:xfrm>
          <a:prstGeom prst="rect">
            <a:avLst/>
          </a:prstGeom>
        </p:spPr>
        <p:txBody>
          <a:bodyPr wrap="square">
            <a:spAutoFit/>
          </a:bodyPr>
          <a:lstStyle/>
          <a:p>
            <a:r>
              <a:rPr lang="ru-RU" b="1" dirty="0" err="1"/>
              <a:t>Export</a:t>
            </a:r>
            <a:r>
              <a:rPr lang="ru-RU" dirty="0"/>
              <a:t> - экспорт загруженных данных в различные форматы. Возможен экспорт данных в форматы </a:t>
            </a:r>
            <a:r>
              <a:rPr lang="ru-RU" dirty="0" err="1"/>
              <a:t>Garmin</a:t>
            </a:r>
            <a:r>
              <a:rPr lang="ru-RU" dirty="0"/>
              <a:t> (IMG), </a:t>
            </a:r>
            <a:r>
              <a:rPr lang="ru-RU" dirty="0" err="1"/>
              <a:t>MapInfo</a:t>
            </a:r>
            <a:r>
              <a:rPr lang="ru-RU" dirty="0"/>
              <a:t> (MIF или MID), </a:t>
            </a:r>
            <a:r>
              <a:rPr lang="ru-RU" dirty="0" err="1"/>
              <a:t>OziExplorer</a:t>
            </a:r>
            <a:r>
              <a:rPr lang="ru-RU" dirty="0"/>
              <a:t> (MAP). Для экспорта в формат </a:t>
            </a:r>
            <a:r>
              <a:rPr lang="ru-RU" dirty="0" err="1"/>
              <a:t>Garmin</a:t>
            </a:r>
            <a:r>
              <a:rPr lang="ru-RU" dirty="0"/>
              <a:t> надо указать путь к компилятору </a:t>
            </a:r>
            <a:r>
              <a:rPr lang="ru-RU" dirty="0" err="1"/>
              <a:t>cGPSMapper</a:t>
            </a:r>
            <a:r>
              <a:rPr lang="ru-RU" dirty="0"/>
              <a:t>. При создании карты для </a:t>
            </a:r>
            <a:r>
              <a:rPr lang="ru-RU" dirty="0" err="1"/>
              <a:t>OziExplorer</a:t>
            </a:r>
            <a:r>
              <a:rPr lang="ru-RU" dirty="0"/>
              <a:t> надо точно указать путь к папке, в которую будет помещена растровая карта. Кроме этого, если в проекте присутствуют данные о точках и треках, полученных из навигаторов, то можно осуществить из преобразование в форматы программы </a:t>
            </a:r>
            <a:r>
              <a:rPr lang="ru-RU" dirty="0" err="1"/>
              <a:t>OziExplorer</a:t>
            </a:r>
            <a:r>
              <a:rPr lang="ru-RU" dirty="0"/>
              <a:t> (WPT, PLT), навигаторов ALAN MAP 500 (TRL, TLG, WPR, WRT), </a:t>
            </a:r>
            <a:r>
              <a:rPr lang="ru-RU" dirty="0" err="1"/>
              <a:t>Holux</a:t>
            </a:r>
            <a:r>
              <a:rPr lang="ru-RU" dirty="0"/>
              <a:t> </a:t>
            </a:r>
            <a:r>
              <a:rPr lang="ru-RU" dirty="0" err="1"/>
              <a:t>MapShow</a:t>
            </a:r>
            <a:r>
              <a:rPr lang="ru-RU" dirty="0"/>
              <a:t> (TKL, TRK, WPO, WPT), базу данных </a:t>
            </a:r>
            <a:r>
              <a:rPr lang="ru-RU" dirty="0" err="1"/>
              <a:t>Garmin</a:t>
            </a:r>
            <a:r>
              <a:rPr lang="ru-RU" dirty="0"/>
              <a:t> GPS (GDB) и файл программы </a:t>
            </a:r>
            <a:r>
              <a:rPr lang="ru-RU" dirty="0" err="1"/>
              <a:t>MapSource</a:t>
            </a:r>
            <a:r>
              <a:rPr lang="ru-RU" dirty="0"/>
              <a:t> (MPS).</a:t>
            </a:r>
          </a:p>
          <a:p>
            <a:r>
              <a:rPr lang="ru-RU" b="1" dirty="0" err="1"/>
              <a:t>Page</a:t>
            </a:r>
            <a:r>
              <a:rPr lang="ru-RU" b="1" dirty="0"/>
              <a:t> </a:t>
            </a:r>
            <a:r>
              <a:rPr lang="ru-RU" b="1" dirty="0" err="1"/>
              <a:t>Setup</a:t>
            </a:r>
            <a:r>
              <a:rPr lang="ru-RU" b="1" dirty="0"/>
              <a:t>...</a:t>
            </a:r>
            <a:r>
              <a:rPr lang="ru-RU" dirty="0"/>
              <a:t> - функция настройки страницы для печати в настоящее время не реализована.</a:t>
            </a:r>
          </a:p>
          <a:p>
            <a:r>
              <a:rPr lang="ru-RU" b="1" dirty="0" err="1"/>
              <a:t>Print</a:t>
            </a:r>
            <a:r>
              <a:rPr lang="ru-RU" b="1" dirty="0"/>
              <a:t>... (</a:t>
            </a:r>
            <a:r>
              <a:rPr lang="ru-RU" b="1" dirty="0" err="1"/>
              <a:t>Ctrl+P</a:t>
            </a:r>
            <a:r>
              <a:rPr lang="ru-RU" b="1" dirty="0"/>
              <a:t>)</a:t>
            </a:r>
            <a:r>
              <a:rPr lang="ru-RU" dirty="0"/>
              <a:t> - функция печати в настоящее время не реализована.</a:t>
            </a:r>
          </a:p>
          <a:p>
            <a:r>
              <a:rPr lang="ru-RU" b="1" dirty="0" err="1"/>
              <a:t>Map</a:t>
            </a:r>
            <a:r>
              <a:rPr lang="ru-RU" b="1" dirty="0"/>
              <a:t> </a:t>
            </a:r>
            <a:r>
              <a:rPr lang="ru-RU" b="1" dirty="0" err="1"/>
              <a:t>Properties</a:t>
            </a:r>
            <a:r>
              <a:rPr lang="ru-RU" b="1" dirty="0"/>
              <a:t> (</a:t>
            </a:r>
            <a:r>
              <a:rPr lang="ru-RU" b="1" dirty="0" err="1"/>
              <a:t>Alt+Enter</a:t>
            </a:r>
            <a:r>
              <a:rPr lang="ru-RU" b="1" dirty="0"/>
              <a:t>)</a:t>
            </a:r>
            <a:r>
              <a:rPr lang="ru-RU" dirty="0"/>
              <a:t> - настройка параметров карты. Является важнейшим пунктом. Содержит множество очень важных настроек карты. Будет подробно рассмотрен ниже.</a:t>
            </a:r>
          </a:p>
          <a:p>
            <a:r>
              <a:rPr lang="ru-RU" b="1" dirty="0" err="1"/>
              <a:t>Error</a:t>
            </a:r>
            <a:r>
              <a:rPr lang="ru-RU" b="1" dirty="0"/>
              <a:t> </a:t>
            </a:r>
            <a:r>
              <a:rPr lang="ru-RU" b="1" dirty="0" err="1"/>
              <a:t>Log</a:t>
            </a:r>
            <a:r>
              <a:rPr lang="ru-RU" dirty="0"/>
              <a:t> - журнал ошибок содержит лог загрузки данных. Если происходит ошибка при их загрузке, то в журнале появляется соответствующая запись. Определить наличие ошибок можно по надписи в нижнем левом информационном поле программы. Если ошибок не было, то будет видна надпись </a:t>
            </a:r>
            <a:r>
              <a:rPr lang="ru-RU" dirty="0" err="1"/>
              <a:t>Ready</a:t>
            </a:r>
            <a:r>
              <a:rPr lang="ru-RU" dirty="0"/>
              <a:t>, если ошибки были, то надпись изменится - </a:t>
            </a:r>
            <a:r>
              <a:rPr lang="ru-RU" dirty="0" err="1"/>
              <a:t>Ready</a:t>
            </a:r>
            <a:r>
              <a:rPr lang="ru-RU" dirty="0"/>
              <a:t>*. Журнал ошибок облегчает процесс анализа и устранения ошибок.</a:t>
            </a:r>
          </a:p>
          <a:p>
            <a:r>
              <a:rPr lang="ru-RU" b="1" dirty="0" err="1"/>
              <a:t>Exit</a:t>
            </a:r>
            <a:r>
              <a:rPr lang="ru-RU" b="1" dirty="0"/>
              <a:t> (Alt+F4)</a:t>
            </a:r>
            <a:r>
              <a:rPr lang="ru-RU" dirty="0"/>
              <a:t> - завершение работы с программой.</a:t>
            </a:r>
          </a:p>
        </p:txBody>
      </p:sp>
    </p:spTree>
    <p:extLst>
      <p:ext uri="{BB962C8B-B14F-4D97-AF65-F5344CB8AC3E}">
        <p14:creationId xmlns:p14="http://schemas.microsoft.com/office/powerpoint/2010/main" val="16315772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04800" y="146497"/>
            <a:ext cx="11634158" cy="646331"/>
          </a:xfrm>
          <a:prstGeom prst="rect">
            <a:avLst/>
          </a:prstGeom>
        </p:spPr>
        <p:txBody>
          <a:bodyPr wrap="square">
            <a:spAutoFit/>
          </a:bodyPr>
          <a:lstStyle/>
          <a:p>
            <a:r>
              <a:rPr lang="ru-RU" dirty="0"/>
              <a:t>Вторым пунктом верхнего меню является пункт </a:t>
            </a:r>
            <a:r>
              <a:rPr lang="ru-RU" b="1" dirty="0"/>
              <a:t>"</a:t>
            </a:r>
            <a:r>
              <a:rPr lang="ru-RU" b="1" dirty="0" err="1"/>
              <a:t>Edit</a:t>
            </a:r>
            <a:r>
              <a:rPr lang="ru-RU" b="1" dirty="0"/>
              <a:t>"</a:t>
            </a:r>
            <a:r>
              <a:rPr lang="ru-RU" dirty="0"/>
              <a:t>. Он отвечает за стандартные операции над объектами. В нём присутствую достаточно знакомые каждому команды.</a:t>
            </a:r>
          </a:p>
        </p:txBody>
      </p:sp>
      <p:pic>
        <p:nvPicPr>
          <p:cNvPr id="3" name="Рисунок 2" descr="http://yug-gps.narod.ru/docs/003x/images/st032-04.gif"/>
          <p:cNvPicPr/>
          <p:nvPr/>
        </p:nvPicPr>
        <p:blipFill>
          <a:blip r:embed="rId2">
            <a:extLst>
              <a:ext uri="{28A0092B-C50C-407E-A947-70E740481C1C}">
                <a14:useLocalDpi xmlns:a14="http://schemas.microsoft.com/office/drawing/2010/main" val="0"/>
              </a:ext>
            </a:extLst>
          </a:blip>
          <a:srcRect/>
          <a:stretch>
            <a:fillRect/>
          </a:stretch>
        </p:blipFill>
        <p:spPr bwMode="auto">
          <a:xfrm>
            <a:off x="373811" y="1656269"/>
            <a:ext cx="1677670" cy="1534795"/>
          </a:xfrm>
          <a:prstGeom prst="rect">
            <a:avLst/>
          </a:prstGeom>
          <a:noFill/>
          <a:ln>
            <a:noFill/>
          </a:ln>
        </p:spPr>
      </p:pic>
      <p:sp>
        <p:nvSpPr>
          <p:cNvPr id="4" name="Прямоугольник 3"/>
          <p:cNvSpPr/>
          <p:nvPr/>
        </p:nvSpPr>
        <p:spPr>
          <a:xfrm>
            <a:off x="2124974" y="927692"/>
            <a:ext cx="9813984" cy="2585323"/>
          </a:xfrm>
          <a:prstGeom prst="rect">
            <a:avLst/>
          </a:prstGeom>
          <a:solidFill>
            <a:schemeClr val="accent4">
              <a:lumMod val="20000"/>
              <a:lumOff val="80000"/>
            </a:schemeClr>
          </a:solidFill>
        </p:spPr>
        <p:txBody>
          <a:bodyPr wrap="square">
            <a:spAutoFit/>
          </a:bodyPr>
          <a:lstStyle/>
          <a:p>
            <a:r>
              <a:rPr lang="ru-RU" b="1" dirty="0" err="1"/>
              <a:t>Undo</a:t>
            </a:r>
            <a:r>
              <a:rPr lang="ru-RU" b="1" dirty="0"/>
              <a:t> (</a:t>
            </a:r>
            <a:r>
              <a:rPr lang="ru-RU" b="1" dirty="0" err="1"/>
              <a:t>Ctrl+Z</a:t>
            </a:r>
            <a:r>
              <a:rPr lang="ru-RU" b="1" dirty="0"/>
              <a:t>)</a:t>
            </a:r>
            <a:r>
              <a:rPr lang="ru-RU" dirty="0"/>
              <a:t> - последовательно отменяет сделанные изменения.</a:t>
            </a:r>
          </a:p>
          <a:p>
            <a:r>
              <a:rPr lang="ru-RU" b="1" dirty="0" err="1"/>
              <a:t>Redo</a:t>
            </a:r>
            <a:r>
              <a:rPr lang="ru-RU" b="1" dirty="0"/>
              <a:t> (</a:t>
            </a:r>
            <a:r>
              <a:rPr lang="ru-RU" b="1" dirty="0" err="1"/>
              <a:t>Ctrl+Y</a:t>
            </a:r>
            <a:r>
              <a:rPr lang="ru-RU" b="1" dirty="0"/>
              <a:t>)</a:t>
            </a:r>
            <a:r>
              <a:rPr lang="ru-RU" dirty="0"/>
              <a:t> - последовательно возвращает отменённые предыдущей командой изменения.</a:t>
            </a:r>
          </a:p>
          <a:p>
            <a:r>
              <a:rPr lang="ru-RU" b="1" dirty="0" err="1"/>
              <a:t>Cut</a:t>
            </a:r>
            <a:r>
              <a:rPr lang="ru-RU" b="1" dirty="0"/>
              <a:t> (</a:t>
            </a:r>
            <a:r>
              <a:rPr lang="ru-RU" b="1" dirty="0" err="1"/>
              <a:t>Ctrl+X</a:t>
            </a:r>
            <a:r>
              <a:rPr lang="ru-RU" b="1" dirty="0"/>
              <a:t>)</a:t>
            </a:r>
            <a:r>
              <a:rPr lang="ru-RU" dirty="0"/>
              <a:t> - вырезает выделенный объект и помещает его в буфер обмена.</a:t>
            </a:r>
          </a:p>
          <a:p>
            <a:r>
              <a:rPr lang="ru-RU" b="1" dirty="0" err="1"/>
              <a:t>Copy</a:t>
            </a:r>
            <a:r>
              <a:rPr lang="ru-RU" b="1" dirty="0"/>
              <a:t> (</a:t>
            </a:r>
            <a:r>
              <a:rPr lang="ru-RU" b="1" dirty="0" err="1"/>
              <a:t>Ctrl+C</a:t>
            </a:r>
            <a:r>
              <a:rPr lang="ru-RU" b="1" dirty="0"/>
              <a:t>)</a:t>
            </a:r>
            <a:r>
              <a:rPr lang="ru-RU" dirty="0"/>
              <a:t> - копирует выделенный объект в буфер обмена.</a:t>
            </a:r>
          </a:p>
          <a:p>
            <a:r>
              <a:rPr lang="ru-RU" b="1" dirty="0" err="1"/>
              <a:t>Paste</a:t>
            </a:r>
            <a:r>
              <a:rPr lang="ru-RU" b="1" dirty="0"/>
              <a:t> (</a:t>
            </a:r>
            <a:r>
              <a:rPr lang="ru-RU" b="1" dirty="0" err="1"/>
              <a:t>Ctrl+V</a:t>
            </a:r>
            <a:r>
              <a:rPr lang="ru-RU" b="1" dirty="0"/>
              <a:t>)</a:t>
            </a:r>
            <a:r>
              <a:rPr lang="ru-RU" dirty="0"/>
              <a:t> - вставляет объект из буфера обмена.</a:t>
            </a:r>
          </a:p>
          <a:p>
            <a:r>
              <a:rPr lang="ru-RU" b="1" dirty="0" err="1"/>
              <a:t>Delete</a:t>
            </a:r>
            <a:r>
              <a:rPr lang="ru-RU" b="1" dirty="0"/>
              <a:t> (</a:t>
            </a:r>
            <a:r>
              <a:rPr lang="ru-RU" b="1" dirty="0" err="1"/>
              <a:t>Del</a:t>
            </a:r>
            <a:r>
              <a:rPr lang="ru-RU" b="1" dirty="0"/>
              <a:t>)</a:t>
            </a:r>
            <a:r>
              <a:rPr lang="ru-RU" dirty="0"/>
              <a:t> - удаление выделенного объекта.</a:t>
            </a:r>
          </a:p>
          <a:p>
            <a:r>
              <a:rPr lang="ru-RU" b="1" dirty="0" err="1"/>
              <a:t>Select</a:t>
            </a:r>
            <a:r>
              <a:rPr lang="ru-RU" b="1" dirty="0"/>
              <a:t> </a:t>
            </a:r>
            <a:r>
              <a:rPr lang="ru-RU" b="1" dirty="0" err="1"/>
              <a:t>by</a:t>
            </a:r>
            <a:r>
              <a:rPr lang="ru-RU" b="1" dirty="0"/>
              <a:t> </a:t>
            </a:r>
            <a:r>
              <a:rPr lang="ru-RU" b="1" dirty="0" err="1"/>
              <a:t>type</a:t>
            </a:r>
            <a:r>
              <a:rPr lang="ru-RU" dirty="0"/>
              <a:t> - выделяет объекты на карте, исходя из их типа. Тип выделяемых объектов указывается в соответствующем меню.</a:t>
            </a:r>
          </a:p>
          <a:p>
            <a:r>
              <a:rPr lang="ru-RU" b="1" dirty="0" err="1"/>
              <a:t>Unselect</a:t>
            </a:r>
            <a:r>
              <a:rPr lang="ru-RU" b="1" dirty="0"/>
              <a:t> (</a:t>
            </a:r>
            <a:r>
              <a:rPr lang="ru-RU" b="1" dirty="0" err="1"/>
              <a:t>Esc</a:t>
            </a:r>
            <a:r>
              <a:rPr lang="ru-RU" b="1" dirty="0"/>
              <a:t>)</a:t>
            </a:r>
            <a:r>
              <a:rPr lang="ru-RU" dirty="0"/>
              <a:t> - снимает выделение для всех объектов</a:t>
            </a:r>
          </a:p>
        </p:txBody>
      </p:sp>
      <p:sp>
        <p:nvSpPr>
          <p:cNvPr id="5" name="Прямоугольник 4"/>
          <p:cNvSpPr/>
          <p:nvPr/>
        </p:nvSpPr>
        <p:spPr>
          <a:xfrm>
            <a:off x="506083" y="4129994"/>
            <a:ext cx="6660288" cy="2031325"/>
          </a:xfrm>
          <a:prstGeom prst="rect">
            <a:avLst/>
          </a:prstGeom>
          <a:solidFill>
            <a:schemeClr val="accent2">
              <a:lumMod val="20000"/>
              <a:lumOff val="80000"/>
            </a:schemeClr>
          </a:solidFill>
        </p:spPr>
        <p:txBody>
          <a:bodyPr wrap="square">
            <a:spAutoFit/>
          </a:bodyPr>
          <a:lstStyle/>
          <a:p>
            <a:r>
              <a:rPr lang="ru-RU" dirty="0"/>
              <a:t>Дальше идёт пункт со специальными инструментами для работы с отображением карты и объектов - </a:t>
            </a:r>
            <a:r>
              <a:rPr lang="ru-RU" b="1" dirty="0"/>
              <a:t>"</a:t>
            </a:r>
            <a:r>
              <a:rPr lang="ru-RU" b="1" dirty="0" err="1"/>
              <a:t>View</a:t>
            </a:r>
            <a:r>
              <a:rPr lang="ru-RU" b="1" dirty="0"/>
              <a:t>"</a:t>
            </a:r>
            <a:r>
              <a:rPr lang="ru-RU" dirty="0"/>
              <a:t>. Обратите внимание, что выбор инструментов в этом меню происходит нажатием всего одной кнопки клавиатуры, а не комбинации, как ранее. Это сделано для ускорения работы. Используя кнопки быстрого вызова инструментов можно значительно сэкономить на времени</a:t>
            </a:r>
          </a:p>
        </p:txBody>
      </p:sp>
      <p:pic>
        <p:nvPicPr>
          <p:cNvPr id="6" name="Рисунок 5" descr="http://yug-gps.narod.ru/docs/003x/images/st032-05.gif"/>
          <p:cNvPicPr/>
          <p:nvPr/>
        </p:nvPicPr>
        <p:blipFill>
          <a:blip r:embed="rId3">
            <a:extLst>
              <a:ext uri="{28A0092B-C50C-407E-A947-70E740481C1C}">
                <a14:useLocalDpi xmlns:a14="http://schemas.microsoft.com/office/drawing/2010/main" val="0"/>
              </a:ext>
            </a:extLst>
          </a:blip>
          <a:srcRect/>
          <a:stretch>
            <a:fillRect/>
          </a:stretch>
        </p:blipFill>
        <p:spPr bwMode="auto">
          <a:xfrm>
            <a:off x="7606317" y="3612409"/>
            <a:ext cx="2391698" cy="3245591"/>
          </a:xfrm>
          <a:prstGeom prst="rect">
            <a:avLst/>
          </a:prstGeom>
          <a:noFill/>
          <a:ln>
            <a:noFill/>
          </a:ln>
        </p:spPr>
      </p:pic>
    </p:spTree>
    <p:extLst>
      <p:ext uri="{BB962C8B-B14F-4D97-AF65-F5344CB8AC3E}">
        <p14:creationId xmlns:p14="http://schemas.microsoft.com/office/powerpoint/2010/main" val="33585159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63902" y="43630"/>
            <a:ext cx="9558068" cy="5909310"/>
          </a:xfrm>
          <a:prstGeom prst="rect">
            <a:avLst/>
          </a:prstGeom>
        </p:spPr>
        <p:txBody>
          <a:bodyPr wrap="square">
            <a:spAutoFit/>
          </a:bodyPr>
          <a:lstStyle/>
          <a:p>
            <a:r>
              <a:rPr lang="ru-RU" b="1" dirty="0" err="1"/>
              <a:t>Zoom</a:t>
            </a:r>
            <a:r>
              <a:rPr lang="ru-RU" b="1" dirty="0"/>
              <a:t> </a:t>
            </a:r>
            <a:r>
              <a:rPr lang="ru-RU" b="1" dirty="0" err="1"/>
              <a:t>In</a:t>
            </a:r>
            <a:r>
              <a:rPr lang="ru-RU" b="1" dirty="0"/>
              <a:t> (+)</a:t>
            </a:r>
            <a:r>
              <a:rPr lang="ru-RU" dirty="0"/>
              <a:t> - увеличение масштаба карты.</a:t>
            </a:r>
          </a:p>
          <a:p>
            <a:r>
              <a:rPr lang="ru-RU" b="1" dirty="0" err="1"/>
              <a:t>Zoom</a:t>
            </a:r>
            <a:r>
              <a:rPr lang="ru-RU" b="1" dirty="0"/>
              <a:t> </a:t>
            </a:r>
            <a:r>
              <a:rPr lang="ru-RU" b="1" dirty="0" err="1"/>
              <a:t>Out</a:t>
            </a:r>
            <a:r>
              <a:rPr lang="ru-RU" b="1" dirty="0"/>
              <a:t> (-)</a:t>
            </a:r>
            <a:r>
              <a:rPr lang="ru-RU" dirty="0"/>
              <a:t> - уменьшение масштаба карты.</a:t>
            </a:r>
          </a:p>
          <a:p>
            <a:r>
              <a:rPr lang="ru-RU" b="1" dirty="0" err="1"/>
              <a:t>Scale</a:t>
            </a:r>
            <a:r>
              <a:rPr lang="ru-RU" dirty="0"/>
              <a:t> - выбор одного из предлагаемых масштабов. Выбор производится из ряда масштабов начиная с 10м и заканчивая 3000км.</a:t>
            </a:r>
          </a:p>
          <a:p>
            <a:r>
              <a:rPr lang="ru-RU" b="1" dirty="0" err="1"/>
              <a:t>Full</a:t>
            </a:r>
            <a:r>
              <a:rPr lang="ru-RU" b="1" dirty="0"/>
              <a:t> </a:t>
            </a:r>
            <a:r>
              <a:rPr lang="ru-RU" b="1" dirty="0" err="1"/>
              <a:t>map</a:t>
            </a:r>
            <a:r>
              <a:rPr lang="ru-RU" b="1" dirty="0"/>
              <a:t> (</a:t>
            </a:r>
            <a:r>
              <a:rPr lang="ru-RU" b="1" dirty="0" err="1"/>
              <a:t>Ctrl</a:t>
            </a:r>
            <a:r>
              <a:rPr lang="ru-RU" b="1" dirty="0"/>
              <a:t> -)</a:t>
            </a:r>
            <a:r>
              <a:rPr lang="ru-RU" dirty="0"/>
              <a:t> - выбор этой команды позволяет вписать в окно программы все объекты присутствующие на карте.</a:t>
            </a:r>
          </a:p>
          <a:p>
            <a:r>
              <a:rPr lang="ru-RU" b="1" dirty="0" err="1"/>
              <a:t>Levels</a:t>
            </a:r>
            <a:r>
              <a:rPr lang="ru-RU" dirty="0"/>
              <a:t> - выбор отображаемого слоя. Может устанавливаться в автоматическом режиме, исходя из текущего масштаба и свойств слоёв, или на конкретный слой. Понятие слоёв будет рассмотрено ниже.</a:t>
            </a:r>
          </a:p>
          <a:p>
            <a:r>
              <a:rPr lang="ru-RU" b="1" dirty="0" err="1"/>
              <a:t>Show</a:t>
            </a:r>
            <a:r>
              <a:rPr lang="ru-RU" b="1" dirty="0"/>
              <a:t> </a:t>
            </a:r>
            <a:r>
              <a:rPr lang="ru-RU" b="1" dirty="0" err="1"/>
              <a:t>mini</a:t>
            </a:r>
            <a:r>
              <a:rPr lang="ru-RU" b="1" dirty="0"/>
              <a:t> </a:t>
            </a:r>
            <a:r>
              <a:rPr lang="ru-RU" b="1" dirty="0" err="1"/>
              <a:t>map</a:t>
            </a:r>
            <a:r>
              <a:rPr lang="ru-RU" b="1" dirty="0"/>
              <a:t> (I)</a:t>
            </a:r>
            <a:r>
              <a:rPr lang="ru-RU" dirty="0"/>
              <a:t> - включение/выключение отображения </a:t>
            </a:r>
            <a:r>
              <a:rPr lang="ru-RU" dirty="0" err="1"/>
              <a:t>миникарты</a:t>
            </a:r>
            <a:r>
              <a:rPr lang="ru-RU" dirty="0"/>
              <a:t>, на которой показывается вся площадь карты, занимаемая объектами. Применяется для быстрого перехода в нужное место на карте.</a:t>
            </a:r>
          </a:p>
          <a:p>
            <a:r>
              <a:rPr lang="ru-RU" b="1" dirty="0" err="1"/>
              <a:t>Show</a:t>
            </a:r>
            <a:r>
              <a:rPr lang="ru-RU" b="1" dirty="0"/>
              <a:t> </a:t>
            </a:r>
            <a:r>
              <a:rPr lang="ru-RU" b="1" dirty="0" err="1"/>
              <a:t>ruler</a:t>
            </a:r>
            <a:r>
              <a:rPr lang="ru-RU" b="1" dirty="0"/>
              <a:t> (R)</a:t>
            </a:r>
            <a:r>
              <a:rPr lang="ru-RU" dirty="0"/>
              <a:t> - включение/выключение отображения линейки с указанием текущего масштаба. Масштабная линейка является вспомогательным инструментом и позволяет увидеть текущий масштаб карты и приблизительно оценить расстояния на карте.</a:t>
            </a:r>
          </a:p>
          <a:p>
            <a:r>
              <a:rPr lang="ru-RU" b="1" dirty="0" err="1"/>
              <a:t>Show</a:t>
            </a:r>
            <a:r>
              <a:rPr lang="ru-RU" b="1" dirty="0"/>
              <a:t> </a:t>
            </a:r>
            <a:r>
              <a:rPr lang="ru-RU" b="1" dirty="0" err="1"/>
              <a:t>grid</a:t>
            </a:r>
            <a:r>
              <a:rPr lang="ru-RU" b="1" dirty="0"/>
              <a:t> (G)</a:t>
            </a:r>
            <a:r>
              <a:rPr lang="ru-RU" dirty="0"/>
              <a:t> - включение/выключение отображения градусной сетки "Широта/Долгота". Служит для приблизительной оценки текущих координат карты. Более точные данные для конкретного положения могут быть получены в информационном окне свойств карты.</a:t>
            </a:r>
          </a:p>
          <a:p>
            <a:r>
              <a:rPr lang="ru-RU" b="1" dirty="0" err="1"/>
              <a:t>Show</a:t>
            </a:r>
            <a:r>
              <a:rPr lang="ru-RU" b="1" dirty="0"/>
              <a:t> </a:t>
            </a:r>
            <a:r>
              <a:rPr lang="ru-RU" b="1" dirty="0" err="1"/>
              <a:t>label</a:t>
            </a:r>
            <a:r>
              <a:rPr lang="ru-RU" b="1" dirty="0"/>
              <a:t> (L)</a:t>
            </a:r>
            <a:r>
              <a:rPr lang="ru-RU" dirty="0"/>
              <a:t> - включение/выключение отображения имён объектов на карте. Применяется в тех случаях, когда наименования объектов мешают просмотру каких либо участков карты или в других случаях, когда их отображение не требуется.</a:t>
            </a:r>
          </a:p>
        </p:txBody>
      </p:sp>
      <p:pic>
        <p:nvPicPr>
          <p:cNvPr id="3" name="Рисунок 2" descr="http://yug-gps.narod.ru/docs/003x/images/st032-05.gif"/>
          <p:cNvPicPr/>
          <p:nvPr/>
        </p:nvPicPr>
        <p:blipFill>
          <a:blip r:embed="rId2">
            <a:extLst>
              <a:ext uri="{28A0092B-C50C-407E-A947-70E740481C1C}">
                <a14:useLocalDpi xmlns:a14="http://schemas.microsoft.com/office/drawing/2010/main" val="0"/>
              </a:ext>
            </a:extLst>
          </a:blip>
          <a:srcRect/>
          <a:stretch>
            <a:fillRect/>
          </a:stretch>
        </p:blipFill>
        <p:spPr bwMode="auto">
          <a:xfrm>
            <a:off x="9704370" y="1285521"/>
            <a:ext cx="2387336" cy="3683294"/>
          </a:xfrm>
          <a:prstGeom prst="rect">
            <a:avLst/>
          </a:prstGeom>
          <a:noFill/>
          <a:ln>
            <a:noFill/>
          </a:ln>
        </p:spPr>
      </p:pic>
    </p:spTree>
    <p:extLst>
      <p:ext uri="{BB962C8B-B14F-4D97-AF65-F5344CB8AC3E}">
        <p14:creationId xmlns:p14="http://schemas.microsoft.com/office/powerpoint/2010/main" val="39039799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yug-gps.narod.ru/docs/003x/images/st032-05.gif"/>
          <p:cNvPicPr/>
          <p:nvPr/>
        </p:nvPicPr>
        <p:blipFill>
          <a:blip r:embed="rId2">
            <a:extLst>
              <a:ext uri="{28A0092B-C50C-407E-A947-70E740481C1C}">
                <a14:useLocalDpi xmlns:a14="http://schemas.microsoft.com/office/drawing/2010/main" val="0"/>
              </a:ext>
            </a:extLst>
          </a:blip>
          <a:srcRect/>
          <a:stretch>
            <a:fillRect/>
          </a:stretch>
        </p:blipFill>
        <p:spPr bwMode="auto">
          <a:xfrm>
            <a:off x="9304330" y="233099"/>
            <a:ext cx="2203307" cy="3467633"/>
          </a:xfrm>
          <a:prstGeom prst="rect">
            <a:avLst/>
          </a:prstGeom>
          <a:noFill/>
          <a:ln>
            <a:noFill/>
          </a:ln>
        </p:spPr>
      </p:pic>
      <p:sp>
        <p:nvSpPr>
          <p:cNvPr id="3" name="Прямоугольник 2"/>
          <p:cNvSpPr/>
          <p:nvPr/>
        </p:nvSpPr>
        <p:spPr>
          <a:xfrm>
            <a:off x="327804" y="119371"/>
            <a:ext cx="8911087" cy="3693319"/>
          </a:xfrm>
          <a:prstGeom prst="rect">
            <a:avLst/>
          </a:prstGeom>
        </p:spPr>
        <p:txBody>
          <a:bodyPr wrap="square">
            <a:spAutoFit/>
          </a:bodyPr>
          <a:lstStyle/>
          <a:p>
            <a:r>
              <a:rPr lang="ru-RU" b="1" dirty="0" err="1"/>
              <a:t>Transparent</a:t>
            </a:r>
            <a:r>
              <a:rPr lang="ru-RU" b="1" dirty="0"/>
              <a:t> </a:t>
            </a:r>
            <a:r>
              <a:rPr lang="ru-RU" b="1" dirty="0" err="1"/>
              <a:t>poligons</a:t>
            </a:r>
            <a:r>
              <a:rPr lang="ru-RU" b="1" dirty="0"/>
              <a:t> (T)</a:t>
            </a:r>
            <a:r>
              <a:rPr lang="ru-RU" dirty="0"/>
              <a:t> - включение/выключение прозрачности полигонов. Данная команда применяется если какой либо полигон закрывает какую-то часть карты, которая необходима для дальнейшей работы по её созданию.</a:t>
            </a:r>
          </a:p>
          <a:p>
            <a:r>
              <a:rPr lang="ru-RU" b="1" dirty="0" err="1"/>
              <a:t>Show</a:t>
            </a:r>
            <a:r>
              <a:rPr lang="ru-RU" b="1" dirty="0"/>
              <a:t> </a:t>
            </a:r>
            <a:r>
              <a:rPr lang="ru-RU" b="1" dirty="0" err="1"/>
              <a:t>attachments</a:t>
            </a:r>
            <a:r>
              <a:rPr lang="ru-RU" b="1" dirty="0"/>
              <a:t> (E)</a:t>
            </a:r>
            <a:r>
              <a:rPr lang="ru-RU" dirty="0"/>
              <a:t> - включение/выключение отображения прикреплённых объектов. Такими объектами являются все типы данных, указанные в команде </a:t>
            </a:r>
            <a:r>
              <a:rPr lang="ru-RU" dirty="0" err="1"/>
              <a:t>Export</a:t>
            </a:r>
            <a:r>
              <a:rPr lang="ru-RU" dirty="0"/>
              <a:t> - растровые карты, точки и треки.</a:t>
            </a:r>
          </a:p>
          <a:p>
            <a:r>
              <a:rPr lang="ru-RU" b="1" dirty="0"/>
              <a:t>GPS </a:t>
            </a:r>
            <a:r>
              <a:rPr lang="ru-RU" b="1" dirty="0" err="1"/>
              <a:t>tracking</a:t>
            </a:r>
            <a:r>
              <a:rPr lang="ru-RU" dirty="0"/>
              <a:t> - вызов окна маршрутизатора. Маршрутизатор является попыткой реализовать примитивную навигационную программу. Данная функция в настоящее время не развивается.</a:t>
            </a:r>
          </a:p>
          <a:p>
            <a:r>
              <a:rPr lang="ru-RU" b="1" dirty="0" err="1"/>
              <a:t>Refresh</a:t>
            </a:r>
            <a:r>
              <a:rPr lang="ru-RU" b="1" dirty="0"/>
              <a:t> (F5)</a:t>
            </a:r>
            <a:r>
              <a:rPr lang="ru-RU" dirty="0"/>
              <a:t> - обновить окно карты. Обычно программа сама следит за всеми изменениями на карте, поэтому данная команда практически не используется.</a:t>
            </a:r>
          </a:p>
          <a:p>
            <a:r>
              <a:rPr lang="en-US" b="1" dirty="0"/>
              <a:t>Go to position</a:t>
            </a:r>
            <a:r>
              <a:rPr lang="en-US" dirty="0"/>
              <a:t> - </a:t>
            </a:r>
            <a:r>
              <a:rPr lang="ru-RU" dirty="0"/>
              <a:t>перейти к позиции</a:t>
            </a:r>
            <a:r>
              <a:rPr lang="en-US" dirty="0"/>
              <a:t>. </a:t>
            </a:r>
            <a:r>
              <a:rPr lang="ru-RU" dirty="0"/>
              <a:t>Команда позволяет перемещаться по карте, указывая конкретное значение широты и долготы целевой позиции.</a:t>
            </a:r>
          </a:p>
        </p:txBody>
      </p:sp>
    </p:spTree>
    <p:extLst>
      <p:ext uri="{BB962C8B-B14F-4D97-AF65-F5344CB8AC3E}">
        <p14:creationId xmlns:p14="http://schemas.microsoft.com/office/powerpoint/2010/main" val="10165950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111832" y="-10533"/>
            <a:ext cx="3123034" cy="369332"/>
          </a:xfrm>
          <a:prstGeom prst="rect">
            <a:avLst/>
          </a:prstGeom>
        </p:spPr>
        <p:txBody>
          <a:bodyPr wrap="none">
            <a:spAutoFit/>
          </a:bodyPr>
          <a:lstStyle/>
          <a:p>
            <a:r>
              <a:rPr lang="ru-RU" b="1" dirty="0" smtClean="0"/>
              <a:t>Меню </a:t>
            </a:r>
            <a:r>
              <a:rPr lang="ru-RU" b="1" dirty="0"/>
              <a:t>инструментов - "</a:t>
            </a:r>
            <a:r>
              <a:rPr lang="ru-RU" b="1" dirty="0" err="1"/>
              <a:t>Tools</a:t>
            </a:r>
            <a:r>
              <a:rPr lang="ru-RU" b="1" dirty="0"/>
              <a:t>"</a:t>
            </a:r>
          </a:p>
        </p:txBody>
      </p:sp>
      <p:pic>
        <p:nvPicPr>
          <p:cNvPr id="3" name="Рисунок 2" descr="http://yug-gps.narod.ru/docs/003x/images/st032-06.gif"/>
          <p:cNvPicPr/>
          <p:nvPr/>
        </p:nvPicPr>
        <p:blipFill>
          <a:blip r:embed="rId2">
            <a:extLst>
              <a:ext uri="{28A0092B-C50C-407E-A947-70E740481C1C}">
                <a14:useLocalDpi xmlns:a14="http://schemas.microsoft.com/office/drawing/2010/main" val="0"/>
              </a:ext>
            </a:extLst>
          </a:blip>
          <a:srcRect/>
          <a:stretch>
            <a:fillRect/>
          </a:stretch>
        </p:blipFill>
        <p:spPr bwMode="auto">
          <a:xfrm>
            <a:off x="0" y="358799"/>
            <a:ext cx="2199736" cy="3704243"/>
          </a:xfrm>
          <a:prstGeom prst="rect">
            <a:avLst/>
          </a:prstGeom>
          <a:noFill/>
          <a:ln>
            <a:noFill/>
          </a:ln>
        </p:spPr>
      </p:pic>
      <p:sp>
        <p:nvSpPr>
          <p:cNvPr id="4" name="Прямоугольник 3"/>
          <p:cNvSpPr/>
          <p:nvPr/>
        </p:nvSpPr>
        <p:spPr>
          <a:xfrm>
            <a:off x="2199736" y="349370"/>
            <a:ext cx="9992263" cy="6463308"/>
          </a:xfrm>
          <a:prstGeom prst="rect">
            <a:avLst/>
          </a:prstGeom>
        </p:spPr>
        <p:txBody>
          <a:bodyPr wrap="square">
            <a:spAutoFit/>
          </a:bodyPr>
          <a:lstStyle/>
          <a:p>
            <a:r>
              <a:rPr lang="ru-RU" b="1" dirty="0" err="1"/>
              <a:t>Drag</a:t>
            </a:r>
            <a:r>
              <a:rPr lang="ru-RU" b="1" dirty="0"/>
              <a:t> </a:t>
            </a:r>
            <a:r>
              <a:rPr lang="ru-RU" b="1" dirty="0" err="1"/>
              <a:t>map</a:t>
            </a:r>
            <a:r>
              <a:rPr lang="ru-RU" b="1" dirty="0"/>
              <a:t> (D)</a:t>
            </a:r>
            <a:r>
              <a:rPr lang="ru-RU" dirty="0"/>
              <a:t> - перемещение карты по экрану. Если текущий масштаб карты не позволяет увидеть всю её целиком, то для перемещения её видимой части можно использовать этот инструмент. Это гораздо быстрее, чем пользоваться прокруткой. Для этого достаточно после выбора этого инструмента просто с нажатой левой кнопкой мыши перетаскивать карту по экрану в нужном направлении.</a:t>
            </a:r>
          </a:p>
          <a:p>
            <a:r>
              <a:rPr lang="ru-RU" b="1" dirty="0" err="1"/>
              <a:t>Zoom</a:t>
            </a:r>
            <a:r>
              <a:rPr lang="ru-RU" b="1" dirty="0"/>
              <a:t> (Z)</a:t>
            </a:r>
            <a:r>
              <a:rPr lang="ru-RU" dirty="0"/>
              <a:t> - масштабирование карты. Выбор этого инструмента позволяет с помощью кнопок мыши изменять масштаб карты. Щелчок левой кнопкой мыши приближает карту, правой - отдаляет.</a:t>
            </a:r>
          </a:p>
          <a:p>
            <a:r>
              <a:rPr lang="ru-RU" b="1" dirty="0" err="1"/>
              <a:t>Select</a:t>
            </a:r>
            <a:r>
              <a:rPr lang="ru-RU" b="1" dirty="0"/>
              <a:t> </a:t>
            </a:r>
            <a:r>
              <a:rPr lang="ru-RU" b="1" dirty="0" err="1"/>
              <a:t>objects</a:t>
            </a:r>
            <a:r>
              <a:rPr lang="ru-RU" b="1" dirty="0"/>
              <a:t> (S)</a:t>
            </a:r>
            <a:r>
              <a:rPr lang="ru-RU" dirty="0"/>
              <a:t> - выделение объектов карты. Выделять объекты требуется для определения их свойств, преобразования узлов, перемещения и во многих других случаях. Есть возможность выделения сразу нескольких объектов. Для этого надо удерживать клавишу </a:t>
            </a:r>
            <a:r>
              <a:rPr lang="ru-RU" dirty="0" err="1"/>
              <a:t>Shift</a:t>
            </a:r>
            <a:r>
              <a:rPr lang="ru-RU" dirty="0"/>
              <a:t> и последовательно выбирать требуемые объекты , кликая на них мышкой.</a:t>
            </a:r>
          </a:p>
          <a:p>
            <a:r>
              <a:rPr lang="ru-RU" b="1" dirty="0" err="1"/>
              <a:t>Move</a:t>
            </a:r>
            <a:r>
              <a:rPr lang="ru-RU" b="1" dirty="0"/>
              <a:t> </a:t>
            </a:r>
            <a:r>
              <a:rPr lang="ru-RU" b="1" dirty="0" err="1"/>
              <a:t>points</a:t>
            </a:r>
            <a:r>
              <a:rPr lang="ru-RU" b="1" dirty="0"/>
              <a:t> (M)</a:t>
            </a:r>
            <a:r>
              <a:rPr lang="ru-RU" dirty="0"/>
              <a:t> - работа с узлами из которых состоят объекты. Так как все объекты состоят из узлов, то этот инструмент позволяет корректировать положение, удалять и добавлять узлы в существующих объектах всех типов. Учитывая, что объект "точка" состоит всего из одного узла, использование этого инструмента равносильно работе с инструментом "</a:t>
            </a:r>
            <a:r>
              <a:rPr lang="ru-RU" dirty="0" err="1"/>
              <a:t>Select</a:t>
            </a:r>
            <a:r>
              <a:rPr lang="ru-RU" dirty="0"/>
              <a:t> </a:t>
            </a:r>
            <a:r>
              <a:rPr lang="ru-RU" dirty="0" err="1"/>
              <a:t>objects</a:t>
            </a:r>
            <a:r>
              <a:rPr lang="ru-RU" dirty="0"/>
              <a:t>". Используется для более точного расположения участков объектов.</a:t>
            </a:r>
          </a:p>
          <a:p>
            <a:r>
              <a:rPr lang="ru-RU" b="1" dirty="0" err="1"/>
              <a:t>Create</a:t>
            </a:r>
            <a:r>
              <a:rPr lang="ru-RU" b="1" dirty="0"/>
              <a:t> </a:t>
            </a:r>
            <a:r>
              <a:rPr lang="ru-RU" b="1" dirty="0" err="1"/>
              <a:t>objects</a:t>
            </a:r>
            <a:r>
              <a:rPr lang="ru-RU" b="1" dirty="0"/>
              <a:t> (С)</a:t>
            </a:r>
            <a:r>
              <a:rPr lang="ru-RU" dirty="0"/>
              <a:t> - первый инструмент с возможностью выбора типов действий. Данный инструмент позволяет создавать по выбору все возможные виды объектов - точки, линии и полигоны. Описание работы с этим инструментом будет рассмотрено в следующей лекции.</a:t>
            </a:r>
          </a:p>
          <a:p>
            <a:r>
              <a:rPr lang="ru-RU" b="1" dirty="0" err="1"/>
              <a:t>Trim</a:t>
            </a:r>
            <a:r>
              <a:rPr lang="ru-RU" b="1" dirty="0"/>
              <a:t> (T)</a:t>
            </a:r>
            <a:r>
              <a:rPr lang="ru-RU" dirty="0"/>
              <a:t> - обрезка карты по прямоугольному сегменту. Требуется на заключительном этапе создания карты, когда требуется обрезать все лишние и выступающие за требуемую нам область участки объектов. Хотя обрезка, как правило, выполняется по внешней части карты, есть возможность сделать это и по внутренней.</a:t>
            </a:r>
          </a:p>
        </p:txBody>
      </p:sp>
    </p:spTree>
    <p:extLst>
      <p:ext uri="{BB962C8B-B14F-4D97-AF65-F5344CB8AC3E}">
        <p14:creationId xmlns:p14="http://schemas.microsoft.com/office/powerpoint/2010/main" val="22921129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98407" y="241954"/>
            <a:ext cx="10187798" cy="6740307"/>
          </a:xfrm>
          <a:prstGeom prst="rect">
            <a:avLst/>
          </a:prstGeom>
        </p:spPr>
        <p:txBody>
          <a:bodyPr wrap="square">
            <a:spAutoFit/>
          </a:bodyPr>
          <a:lstStyle/>
          <a:p>
            <a:r>
              <a:rPr lang="ru-RU" b="1" dirty="0" err="1"/>
              <a:t>Transform</a:t>
            </a:r>
            <a:r>
              <a:rPr lang="ru-RU" b="1" dirty="0"/>
              <a:t> (F)</a:t>
            </a:r>
            <a:r>
              <a:rPr lang="ru-RU" dirty="0"/>
              <a:t> - трансформации векторных данных карты. Можно выбрать применить три типа трансформации - сдвига, </a:t>
            </a:r>
            <a:r>
              <a:rPr lang="ru-RU" dirty="0" err="1"/>
              <a:t>афинную</a:t>
            </a:r>
            <a:r>
              <a:rPr lang="ru-RU" dirty="0"/>
              <a:t> и квадратичную. Ниже приведены самые общие данные по каждому из них.</a:t>
            </a:r>
          </a:p>
          <a:p>
            <a:r>
              <a:rPr lang="ru-RU" b="1" dirty="0" err="1"/>
              <a:t>Shift</a:t>
            </a:r>
            <a:r>
              <a:rPr lang="ru-RU" dirty="0"/>
              <a:t> или коррекция сдвига . Данная операция подразумевает общее перемещение карты во всей плоскости в определённую сторону и расстояние. Поэтому дан выбор только одной пары точек для перемещения. Первая точка отмечает текущее положение выбранного фрагмента карты, а вторая - целевую позицию.</a:t>
            </a:r>
          </a:p>
          <a:p>
            <a:r>
              <a:rPr lang="ru-RU" b="1" dirty="0" err="1"/>
              <a:t>Affine</a:t>
            </a:r>
            <a:r>
              <a:rPr lang="ru-RU" dirty="0"/>
              <a:t> или </a:t>
            </a:r>
            <a:r>
              <a:rPr lang="ru-RU" dirty="0" err="1"/>
              <a:t>афинное</a:t>
            </a:r>
            <a:r>
              <a:rPr lang="ru-RU" dirty="0"/>
              <a:t> преобразование . Это понятие из линейной алгебры, обозначающее произвольные линейные преобразования координат. Частными случаями являются сдвиг, смещение, поворот, сжатие или растяжение в различных направлениях. Применение аффинного преобразования к картам позволяет в ряде случаев значительно улучшить их точность. В данном случае мы можем воспользоваться уже тремя парами точек, чего вполне достаточно для всех возможных модификациях.</a:t>
            </a:r>
          </a:p>
          <a:p>
            <a:r>
              <a:rPr lang="ru-RU" b="1" dirty="0" err="1"/>
              <a:t>Quadratic</a:t>
            </a:r>
            <a:r>
              <a:rPr lang="ru-RU" dirty="0"/>
              <a:t> или квадратичное преобразование. Квадратичное преобразование теоретически допускает любую трансформацию карты. Однако применение этой трансформации может приводить к непредвиденным результатам. Для её применения необходимо расставлять точки по всей площади карты. В противном случае карта может принять совершенно неожиданный вид. Здесь мы имеем уже шесть пар точек.</a:t>
            </a:r>
          </a:p>
          <a:p>
            <a:r>
              <a:rPr lang="ru-RU" b="1" dirty="0" err="1"/>
              <a:t>Generalize</a:t>
            </a:r>
            <a:r>
              <a:rPr lang="ru-RU" b="1" dirty="0"/>
              <a:t> </a:t>
            </a:r>
            <a:r>
              <a:rPr lang="ru-RU" b="1" dirty="0" err="1"/>
              <a:t>points</a:t>
            </a:r>
            <a:r>
              <a:rPr lang="ru-RU" b="1" dirty="0"/>
              <a:t> </a:t>
            </a:r>
            <a:r>
              <a:rPr lang="ru-RU" b="1" dirty="0" err="1"/>
              <a:t>of</a:t>
            </a:r>
            <a:r>
              <a:rPr lang="ru-RU" b="1" dirty="0"/>
              <a:t> </a:t>
            </a:r>
            <a:r>
              <a:rPr lang="ru-RU" b="1" dirty="0" err="1"/>
              <a:t>all</a:t>
            </a:r>
            <a:r>
              <a:rPr lang="ru-RU" b="1" dirty="0"/>
              <a:t> </a:t>
            </a:r>
            <a:r>
              <a:rPr lang="ru-RU" b="1" dirty="0" err="1"/>
              <a:t>polylines</a:t>
            </a:r>
            <a:r>
              <a:rPr lang="ru-RU" b="1" dirty="0"/>
              <a:t> &amp; </a:t>
            </a:r>
            <a:r>
              <a:rPr lang="ru-RU" b="1" dirty="0" err="1"/>
              <a:t>polygons</a:t>
            </a:r>
            <a:r>
              <a:rPr lang="ru-RU" dirty="0"/>
              <a:t> - термин "генерализация" мы рассматривали в предыдущих лекциях. Для её реализации программой вычисляется минимальная сетка для данного масштаба и на её основе анализируется необходимость присутствия тех или иных узлов в полигонах и линиях. Кроме этого происходит подгонка точек и узлов под эту сетку. Генерализация проводится сразу со всеми объектами на всех слоях. Цель её - сократить количество информации для более быстрого отображения информации на карте и, соответственно, уменьшить объём файла карты.</a:t>
            </a:r>
          </a:p>
        </p:txBody>
      </p:sp>
      <p:pic>
        <p:nvPicPr>
          <p:cNvPr id="3" name="Рисунок 2" descr="http://yug-gps.narod.ru/docs/003x/images/st032-06.gif"/>
          <p:cNvPicPr/>
          <p:nvPr/>
        </p:nvPicPr>
        <p:blipFill>
          <a:blip r:embed="rId2">
            <a:extLst>
              <a:ext uri="{28A0092B-C50C-407E-A947-70E740481C1C}">
                <a14:useLocalDpi xmlns:a14="http://schemas.microsoft.com/office/drawing/2010/main" val="0"/>
              </a:ext>
            </a:extLst>
          </a:blip>
          <a:srcRect/>
          <a:stretch>
            <a:fillRect/>
          </a:stretch>
        </p:blipFill>
        <p:spPr bwMode="auto">
          <a:xfrm>
            <a:off x="10230762" y="1829604"/>
            <a:ext cx="1894328" cy="3132062"/>
          </a:xfrm>
          <a:prstGeom prst="rect">
            <a:avLst/>
          </a:prstGeom>
          <a:noFill/>
          <a:ln>
            <a:noFill/>
          </a:ln>
        </p:spPr>
      </p:pic>
    </p:spTree>
    <p:extLst>
      <p:ext uri="{BB962C8B-B14F-4D97-AF65-F5344CB8AC3E}">
        <p14:creationId xmlns:p14="http://schemas.microsoft.com/office/powerpoint/2010/main" val="28681568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46649" y="618134"/>
            <a:ext cx="8850702" cy="5632311"/>
          </a:xfrm>
          <a:prstGeom prst="rect">
            <a:avLst/>
          </a:prstGeom>
        </p:spPr>
        <p:txBody>
          <a:bodyPr wrap="square">
            <a:spAutoFit/>
          </a:bodyPr>
          <a:lstStyle/>
          <a:p>
            <a:r>
              <a:rPr lang="ru-RU" dirty="0" err="1"/>
              <a:t>J</a:t>
            </a:r>
            <a:r>
              <a:rPr lang="ru-RU" b="1" dirty="0" err="1"/>
              <a:t>oin</a:t>
            </a:r>
            <a:r>
              <a:rPr lang="ru-RU" b="1" dirty="0"/>
              <a:t> </a:t>
            </a:r>
            <a:r>
              <a:rPr lang="ru-RU" b="1" dirty="0" err="1"/>
              <a:t>per</a:t>
            </a:r>
            <a:r>
              <a:rPr lang="ru-RU" b="1" dirty="0"/>
              <a:t> </a:t>
            </a:r>
            <a:r>
              <a:rPr lang="ru-RU" b="1" dirty="0" err="1"/>
              <a:t>level</a:t>
            </a:r>
            <a:r>
              <a:rPr lang="ru-RU" b="1" dirty="0"/>
              <a:t> </a:t>
            </a:r>
            <a:r>
              <a:rPr lang="ru-RU" b="1" dirty="0" err="1"/>
              <a:t>elements</a:t>
            </a:r>
            <a:r>
              <a:rPr lang="ru-RU" dirty="0"/>
              <a:t> - объединить однородные объекты во всех слоях. В Польском формате имеется возможность определять объекты, состоящие из нескольких элементов, в том числе, распределенных по разным слоям детализации, а не задавать по отдельному объекту на каждый слой. Это позволяет обрабатывать объект как единое целое: пользователь может перемещать, переименовывать, изменять тип, удалять и т.д. этот объект на всех уровнях сразу. Поэтому указанная функция предназначена для объединения похожих друг на друга объектов, распределенных по разным слоям детализации, в единые объекты из нескольких элементов.</a:t>
            </a:r>
          </a:p>
          <a:p>
            <a:r>
              <a:rPr lang="ru-RU" b="1" dirty="0" err="1"/>
              <a:t>Split</a:t>
            </a:r>
            <a:r>
              <a:rPr lang="ru-RU" b="1" dirty="0"/>
              <a:t> </a:t>
            </a:r>
            <a:r>
              <a:rPr lang="ru-RU" b="1" dirty="0" err="1"/>
              <a:t>objects</a:t>
            </a:r>
            <a:r>
              <a:rPr lang="ru-RU" b="1" dirty="0"/>
              <a:t> </a:t>
            </a:r>
            <a:r>
              <a:rPr lang="ru-RU" b="1" dirty="0" err="1"/>
              <a:t>by</a:t>
            </a:r>
            <a:r>
              <a:rPr lang="ru-RU" b="1" dirty="0"/>
              <a:t> </a:t>
            </a:r>
            <a:r>
              <a:rPr lang="ru-RU" b="1" dirty="0" err="1"/>
              <a:t>levels</a:t>
            </a:r>
            <a:r>
              <a:rPr lang="ru-RU" dirty="0"/>
              <a:t> - разъединить однородные объекты в разных слоях. Эта операция прямо противоположна предыдущей.</a:t>
            </a:r>
          </a:p>
          <a:p>
            <a:r>
              <a:rPr lang="ru-RU" b="1" dirty="0" err="1"/>
              <a:t>Remove</a:t>
            </a:r>
            <a:r>
              <a:rPr lang="ru-RU" b="1" dirty="0"/>
              <a:t> </a:t>
            </a:r>
            <a:r>
              <a:rPr lang="ru-RU" b="1" dirty="0" err="1"/>
              <a:t>object</a:t>
            </a:r>
            <a:r>
              <a:rPr lang="ru-RU" b="1" dirty="0"/>
              <a:t> </a:t>
            </a:r>
            <a:r>
              <a:rPr lang="ru-RU" b="1" dirty="0" err="1"/>
              <a:t>dublicates</a:t>
            </a:r>
            <a:r>
              <a:rPr lang="ru-RU" dirty="0"/>
              <a:t> - удалить дубликаты объектов. Они могут появиться при случайном копировании и вставке объектов при создании и корректировке карты. Визуально они не видны, так как полностью повторяют исходный объект.</a:t>
            </a:r>
          </a:p>
          <a:p>
            <a:r>
              <a:rPr lang="ru-RU" b="1" dirty="0" err="1"/>
              <a:t>Convert</a:t>
            </a:r>
            <a:r>
              <a:rPr lang="ru-RU" b="1" dirty="0"/>
              <a:t> </a:t>
            </a:r>
            <a:r>
              <a:rPr lang="ru-RU" b="1" dirty="0" err="1"/>
              <a:t>labels</a:t>
            </a:r>
            <a:r>
              <a:rPr lang="ru-RU" b="1" dirty="0"/>
              <a:t>...</a:t>
            </a:r>
            <a:r>
              <a:rPr lang="ru-RU" dirty="0"/>
              <a:t> - преобразовать наименования объектов. Возможно применить пять стилей отображения имён:</a:t>
            </a:r>
          </a:p>
          <a:p>
            <a:r>
              <a:rPr lang="ru-RU" dirty="0"/>
              <a:t>- ВСЕ СИМВОЛЫ В ВЕРХНЕМ РЕГИСТРЕ (UPPER CASE);</a:t>
            </a:r>
          </a:p>
          <a:p>
            <a:r>
              <a:rPr lang="ru-RU" dirty="0"/>
              <a:t>- все символы в нижнем регистре (</a:t>
            </a:r>
            <a:r>
              <a:rPr lang="ru-RU" dirty="0" err="1"/>
              <a:t>lower</a:t>
            </a:r>
            <a:r>
              <a:rPr lang="ru-RU" dirty="0"/>
              <a:t> </a:t>
            </a:r>
            <a:r>
              <a:rPr lang="ru-RU" dirty="0" err="1"/>
              <a:t>case</a:t>
            </a:r>
            <a:r>
              <a:rPr lang="ru-RU" dirty="0"/>
              <a:t>);</a:t>
            </a:r>
          </a:p>
          <a:p>
            <a:r>
              <a:rPr lang="ru-RU" dirty="0"/>
              <a:t>- Заглавная в первом слове (</a:t>
            </a:r>
            <a:r>
              <a:rPr lang="ru-RU" dirty="0" err="1"/>
              <a:t>Capitalize</a:t>
            </a:r>
            <a:r>
              <a:rPr lang="ru-RU" dirty="0"/>
              <a:t> </a:t>
            </a:r>
            <a:r>
              <a:rPr lang="ru-RU" dirty="0" err="1"/>
              <a:t>first</a:t>
            </a:r>
            <a:r>
              <a:rPr lang="ru-RU" dirty="0"/>
              <a:t> </a:t>
            </a:r>
            <a:r>
              <a:rPr lang="ru-RU" dirty="0" err="1"/>
              <a:t>word</a:t>
            </a:r>
            <a:r>
              <a:rPr lang="ru-RU" dirty="0"/>
              <a:t>);</a:t>
            </a:r>
          </a:p>
          <a:p>
            <a:r>
              <a:rPr lang="ru-RU" dirty="0"/>
              <a:t>- Заглавная В Каждом Слове (</a:t>
            </a:r>
            <a:r>
              <a:rPr lang="ru-RU" dirty="0" err="1"/>
              <a:t>Capitalize</a:t>
            </a:r>
            <a:r>
              <a:rPr lang="ru-RU" dirty="0"/>
              <a:t> </a:t>
            </a:r>
            <a:r>
              <a:rPr lang="ru-RU" dirty="0" err="1"/>
              <a:t>All</a:t>
            </a:r>
            <a:r>
              <a:rPr lang="ru-RU" dirty="0"/>
              <a:t> </a:t>
            </a:r>
            <a:r>
              <a:rPr lang="ru-RU" dirty="0" err="1"/>
              <a:t>Words</a:t>
            </a:r>
            <a:r>
              <a:rPr lang="ru-RU" dirty="0"/>
              <a:t>);</a:t>
            </a:r>
          </a:p>
          <a:p>
            <a:r>
              <a:rPr lang="ru-RU" dirty="0"/>
              <a:t>- </a:t>
            </a:r>
            <a:r>
              <a:rPr lang="ru-RU" dirty="0" err="1"/>
              <a:t>Transliteracia</a:t>
            </a:r>
            <a:r>
              <a:rPr lang="ru-RU" dirty="0"/>
              <a:t> </a:t>
            </a:r>
            <a:r>
              <a:rPr lang="ru-RU" dirty="0" err="1"/>
              <a:t>slov</a:t>
            </a:r>
            <a:r>
              <a:rPr lang="ru-RU" dirty="0"/>
              <a:t> (</a:t>
            </a:r>
            <a:r>
              <a:rPr lang="ru-RU" dirty="0" err="1"/>
              <a:t>Translit</a:t>
            </a:r>
            <a:r>
              <a:rPr lang="ru-RU" dirty="0"/>
              <a:t>).</a:t>
            </a:r>
          </a:p>
        </p:txBody>
      </p:sp>
      <p:pic>
        <p:nvPicPr>
          <p:cNvPr id="3" name="Рисунок 2" descr="http://yug-gps.narod.ru/docs/003x/images/st032-06.gif"/>
          <p:cNvPicPr/>
          <p:nvPr/>
        </p:nvPicPr>
        <p:blipFill>
          <a:blip r:embed="rId2">
            <a:extLst>
              <a:ext uri="{28A0092B-C50C-407E-A947-70E740481C1C}">
                <a14:useLocalDpi xmlns:a14="http://schemas.microsoft.com/office/drawing/2010/main" val="0"/>
              </a:ext>
            </a:extLst>
          </a:blip>
          <a:srcRect/>
          <a:stretch>
            <a:fillRect/>
          </a:stretch>
        </p:blipFill>
        <p:spPr bwMode="auto">
          <a:xfrm>
            <a:off x="8997351" y="1052423"/>
            <a:ext cx="3127739" cy="3909243"/>
          </a:xfrm>
          <a:prstGeom prst="rect">
            <a:avLst/>
          </a:prstGeom>
          <a:noFill/>
          <a:ln>
            <a:noFill/>
          </a:ln>
        </p:spPr>
      </p:pic>
    </p:spTree>
    <p:extLst>
      <p:ext uri="{BB962C8B-B14F-4D97-AF65-F5344CB8AC3E}">
        <p14:creationId xmlns:p14="http://schemas.microsoft.com/office/powerpoint/2010/main" val="17672970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99689" y="501655"/>
            <a:ext cx="7139797" cy="4801314"/>
          </a:xfrm>
          <a:prstGeom prst="rect">
            <a:avLst/>
          </a:prstGeom>
        </p:spPr>
        <p:txBody>
          <a:bodyPr wrap="square">
            <a:spAutoFit/>
          </a:bodyPr>
          <a:lstStyle/>
          <a:p>
            <a:r>
              <a:rPr lang="ru-RU" b="1" dirty="0" err="1"/>
              <a:t>Merge</a:t>
            </a:r>
            <a:r>
              <a:rPr lang="ru-RU" b="1" dirty="0"/>
              <a:t> </a:t>
            </a:r>
            <a:r>
              <a:rPr lang="ru-RU" b="1" dirty="0" err="1"/>
              <a:t>inner</a:t>
            </a:r>
            <a:r>
              <a:rPr lang="ru-RU" b="1" dirty="0"/>
              <a:t> </a:t>
            </a:r>
            <a:r>
              <a:rPr lang="ru-RU" b="1" dirty="0" err="1"/>
              <a:t>polygons</a:t>
            </a:r>
            <a:r>
              <a:rPr lang="ru-RU" dirty="0"/>
              <a:t> - произвести слияние внутренних областей полигона. Часто получается что в теле одного полигона образуется область, не принадлежащая ему или т.н. "дырка". Для формата RUS это недопустимо. Поэтому эта команда как бы разрезает полигон, соединяет его ближайший к "дырке" узел с узлом "дырки" и возвращается к узлу разреза. Таким образом происходит объединение в непрерывную линию узлов полигона и "дырки".</a:t>
            </a:r>
          </a:p>
          <a:p>
            <a:r>
              <a:rPr lang="ru-RU" b="1" dirty="0" err="1"/>
              <a:t>Slice</a:t>
            </a:r>
            <a:r>
              <a:rPr lang="ru-RU" b="1" dirty="0"/>
              <a:t> </a:t>
            </a:r>
            <a:r>
              <a:rPr lang="ru-RU" b="1" dirty="0" err="1"/>
              <a:t>all</a:t>
            </a:r>
            <a:r>
              <a:rPr lang="ru-RU" b="1" dirty="0"/>
              <a:t> </a:t>
            </a:r>
            <a:r>
              <a:rPr lang="ru-RU" b="1" dirty="0" err="1"/>
              <a:t>objects</a:t>
            </a:r>
            <a:r>
              <a:rPr lang="ru-RU" b="1" dirty="0"/>
              <a:t>...</a:t>
            </a:r>
            <a:r>
              <a:rPr lang="ru-RU" dirty="0"/>
              <a:t> - разрезать объекты на карте на части. "Шинкует" все объекты на прямоугольные части заданной величины. Очень редкая операция.</a:t>
            </a:r>
          </a:p>
          <a:p>
            <a:r>
              <a:rPr lang="ru-RU" b="1" dirty="0" err="1"/>
              <a:t>Split</a:t>
            </a:r>
            <a:r>
              <a:rPr lang="ru-RU" b="1" dirty="0"/>
              <a:t> </a:t>
            </a:r>
            <a:r>
              <a:rPr lang="ru-RU" b="1" dirty="0" err="1"/>
              <a:t>map</a:t>
            </a:r>
            <a:r>
              <a:rPr lang="ru-RU" b="1" dirty="0"/>
              <a:t> </a:t>
            </a:r>
            <a:r>
              <a:rPr lang="ru-RU" b="1" dirty="0" err="1"/>
              <a:t>to</a:t>
            </a:r>
            <a:r>
              <a:rPr lang="ru-RU" b="1" dirty="0"/>
              <a:t> </a:t>
            </a:r>
            <a:r>
              <a:rPr lang="ru-RU" b="1" dirty="0" err="1"/>
              <a:t>files</a:t>
            </a:r>
            <a:r>
              <a:rPr lang="ru-RU" b="1" dirty="0"/>
              <a:t>...</a:t>
            </a:r>
            <a:r>
              <a:rPr lang="ru-RU" dirty="0"/>
              <a:t> - разделить ткущую карту и сохранить полученные части в разных файлах. Требуется когда из одной большой карты требуется получить несколько меньших с суммарной площадью, равной исходной. Эта функция доступна только в зарегистрированной программе.</a:t>
            </a:r>
          </a:p>
          <a:p>
            <a:r>
              <a:rPr lang="ru-RU" b="1" dirty="0" err="1"/>
              <a:t>Edit</a:t>
            </a:r>
            <a:r>
              <a:rPr lang="ru-RU" b="1" dirty="0"/>
              <a:t> </a:t>
            </a:r>
            <a:r>
              <a:rPr lang="ru-RU" b="1" dirty="0" err="1"/>
              <a:t>data</a:t>
            </a:r>
            <a:r>
              <a:rPr lang="ru-RU" b="1" dirty="0"/>
              <a:t> </a:t>
            </a:r>
            <a:r>
              <a:rPr lang="ru-RU" b="1" dirty="0" err="1"/>
              <a:t>for</a:t>
            </a:r>
            <a:r>
              <a:rPr lang="ru-RU" b="1" dirty="0"/>
              <a:t> </a:t>
            </a:r>
            <a:r>
              <a:rPr lang="ru-RU" b="1" dirty="0" err="1"/>
              <a:t>find</a:t>
            </a:r>
            <a:r>
              <a:rPr lang="ru-RU" b="1" dirty="0"/>
              <a:t>...</a:t>
            </a:r>
            <a:endParaRPr lang="ru-RU" dirty="0"/>
          </a:p>
          <a:p>
            <a:r>
              <a:rPr lang="ru-RU" b="1" dirty="0" err="1"/>
              <a:t>Options</a:t>
            </a:r>
            <a:r>
              <a:rPr lang="ru-RU" b="1" dirty="0"/>
              <a:t>...</a:t>
            </a:r>
            <a:r>
              <a:rPr lang="ru-RU" dirty="0"/>
              <a:t> - настройка программы</a:t>
            </a:r>
          </a:p>
        </p:txBody>
      </p:sp>
      <p:pic>
        <p:nvPicPr>
          <p:cNvPr id="3" name="Рисунок 2" descr="http://yug-gps.narod.ru/docs/003x/images/st032-06.gif"/>
          <p:cNvPicPr/>
          <p:nvPr/>
        </p:nvPicPr>
        <p:blipFill>
          <a:blip r:embed="rId2">
            <a:extLst>
              <a:ext uri="{28A0092B-C50C-407E-A947-70E740481C1C}">
                <a14:useLocalDpi xmlns:a14="http://schemas.microsoft.com/office/drawing/2010/main" val="0"/>
              </a:ext>
            </a:extLst>
          </a:blip>
          <a:srcRect/>
          <a:stretch>
            <a:fillRect/>
          </a:stretch>
        </p:blipFill>
        <p:spPr bwMode="auto">
          <a:xfrm>
            <a:off x="7729268" y="871268"/>
            <a:ext cx="3127739" cy="3909243"/>
          </a:xfrm>
          <a:prstGeom prst="rect">
            <a:avLst/>
          </a:prstGeom>
          <a:noFill/>
          <a:ln>
            <a:noFill/>
          </a:ln>
        </p:spPr>
      </p:pic>
    </p:spTree>
    <p:extLst>
      <p:ext uri="{BB962C8B-B14F-4D97-AF65-F5344CB8AC3E}">
        <p14:creationId xmlns:p14="http://schemas.microsoft.com/office/powerpoint/2010/main" val="30384457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817061" y="78440"/>
            <a:ext cx="5437771" cy="369332"/>
          </a:xfrm>
          <a:prstGeom prst="rect">
            <a:avLst/>
          </a:prstGeom>
        </p:spPr>
        <p:txBody>
          <a:bodyPr wrap="none">
            <a:spAutoFit/>
          </a:bodyPr>
          <a:lstStyle/>
          <a:p>
            <a:r>
              <a:rPr lang="ru-RU" b="1" dirty="0"/>
              <a:t>Настройки программы </a:t>
            </a:r>
            <a:r>
              <a:rPr lang="ru-RU" b="1" dirty="0" err="1"/>
              <a:t>GPSMapEdit</a:t>
            </a:r>
            <a:r>
              <a:rPr lang="ru-RU" b="1" dirty="0"/>
              <a:t> и свойств карты.</a:t>
            </a:r>
            <a:endParaRPr lang="ru-RU" dirty="0"/>
          </a:p>
        </p:txBody>
      </p:sp>
      <p:sp>
        <p:nvSpPr>
          <p:cNvPr id="3" name="Прямоугольник 2"/>
          <p:cNvSpPr/>
          <p:nvPr/>
        </p:nvSpPr>
        <p:spPr>
          <a:xfrm>
            <a:off x="175404" y="533256"/>
            <a:ext cx="12016596" cy="923330"/>
          </a:xfrm>
          <a:prstGeom prst="rect">
            <a:avLst/>
          </a:prstGeom>
        </p:spPr>
        <p:txBody>
          <a:bodyPr wrap="square">
            <a:spAutoFit/>
          </a:bodyPr>
          <a:lstStyle/>
          <a:p>
            <a:r>
              <a:rPr lang="ru-RU" dirty="0"/>
              <a:t>Настройки программы </a:t>
            </a:r>
            <a:r>
              <a:rPr lang="ru-RU" dirty="0" err="1"/>
              <a:t>GPSMapEdit</a:t>
            </a:r>
            <a:r>
              <a:rPr lang="ru-RU" dirty="0"/>
              <a:t> позволяют оптимизировать работу в программе с учётом предпочтений пользователя. Их не много и все они достаточно очевидны. Давайте посмотрим что именно можно настроить в программе и как это сделать лучше - </a:t>
            </a:r>
            <a:r>
              <a:rPr lang="ru-RU" b="1" dirty="0"/>
              <a:t>"</a:t>
            </a:r>
            <a:r>
              <a:rPr lang="ru-RU" b="1" dirty="0" err="1"/>
              <a:t>Tools</a:t>
            </a:r>
            <a:r>
              <a:rPr lang="ru-RU" b="1" dirty="0"/>
              <a:t> - </a:t>
            </a:r>
            <a:r>
              <a:rPr lang="ru-RU" b="1" dirty="0" err="1"/>
              <a:t>Options</a:t>
            </a:r>
            <a:r>
              <a:rPr lang="ru-RU" b="1" dirty="0"/>
              <a:t>..."</a:t>
            </a:r>
            <a:r>
              <a:rPr lang="ru-RU" dirty="0"/>
              <a:t>. </a:t>
            </a:r>
          </a:p>
        </p:txBody>
      </p:sp>
      <p:pic>
        <p:nvPicPr>
          <p:cNvPr id="4" name="Рисунок 3" descr="Настройка параметров редактирования"/>
          <p:cNvPicPr/>
          <p:nvPr/>
        </p:nvPicPr>
        <p:blipFill>
          <a:blip r:embed="rId2">
            <a:extLst>
              <a:ext uri="{28A0092B-C50C-407E-A947-70E740481C1C}">
                <a14:useLocalDpi xmlns:a14="http://schemas.microsoft.com/office/drawing/2010/main" val="0"/>
              </a:ext>
            </a:extLst>
          </a:blip>
          <a:srcRect/>
          <a:stretch>
            <a:fillRect/>
          </a:stretch>
        </p:blipFill>
        <p:spPr bwMode="auto">
          <a:xfrm>
            <a:off x="6032324" y="1079671"/>
            <a:ext cx="3840480" cy="2663825"/>
          </a:xfrm>
          <a:prstGeom prst="rect">
            <a:avLst/>
          </a:prstGeom>
          <a:noFill/>
          <a:ln>
            <a:noFill/>
          </a:ln>
        </p:spPr>
      </p:pic>
      <p:sp>
        <p:nvSpPr>
          <p:cNvPr id="6" name="Прямоугольник 5"/>
          <p:cNvSpPr/>
          <p:nvPr/>
        </p:nvSpPr>
        <p:spPr>
          <a:xfrm>
            <a:off x="175403" y="3743496"/>
            <a:ext cx="12197751" cy="3139321"/>
          </a:xfrm>
          <a:prstGeom prst="rect">
            <a:avLst/>
          </a:prstGeom>
        </p:spPr>
        <p:txBody>
          <a:bodyPr wrap="square">
            <a:spAutoFit/>
          </a:bodyPr>
          <a:lstStyle/>
          <a:p>
            <a:r>
              <a:rPr lang="ru-RU" b="1" dirty="0" err="1"/>
              <a:t>Edit</a:t>
            </a:r>
            <a:r>
              <a:rPr lang="ru-RU" dirty="0"/>
              <a:t> - опции, касающиеся параметров создания объектов карты.</a:t>
            </a:r>
          </a:p>
          <a:p>
            <a:r>
              <a:rPr lang="ru-RU" b="1" dirty="0" err="1"/>
              <a:t>Snap</a:t>
            </a:r>
            <a:r>
              <a:rPr lang="ru-RU" b="1" dirty="0"/>
              <a:t> </a:t>
            </a:r>
            <a:r>
              <a:rPr lang="ru-RU" b="1" dirty="0" err="1"/>
              <a:t>to</a:t>
            </a:r>
            <a:r>
              <a:rPr lang="ru-RU" b="1" dirty="0"/>
              <a:t> </a:t>
            </a:r>
            <a:r>
              <a:rPr lang="ru-RU" b="1" dirty="0" err="1"/>
              <a:t>grid</a:t>
            </a:r>
            <a:r>
              <a:rPr lang="ru-RU" dirty="0"/>
              <a:t> - перемещать курсор по сетке. Дело в том, что в любом слое или, иначе говоря, масштабе есть своё, минимально возможное расстояние между узлами объектов. И меньше этого, жёстко заданного, шага оно быть не может. Этот шаг и задаёт сетку для передвижения курсора. Если поставить узел в произвольном месте карты, то при генерализации или компиляции узлы всё равно будут сдвинуты к ближайшей точке сетки. Эта опция полезна потому, что всегда можно быть уверенным, что точка или узел будет стоять точно там, где они находятся после создания. В напоминании написано, что включение этой функции может привести к замедлению загрузки карт. Однако в реальной работе заметных задержек замечено не было.</a:t>
            </a:r>
          </a:p>
          <a:p>
            <a:r>
              <a:rPr lang="ru-RU" b="1" dirty="0" err="1"/>
              <a:t>Stick</a:t>
            </a:r>
            <a:r>
              <a:rPr lang="ru-RU" b="1" dirty="0"/>
              <a:t> </a:t>
            </a:r>
            <a:r>
              <a:rPr lang="ru-RU" b="1" dirty="0" err="1"/>
              <a:t>to</a:t>
            </a:r>
            <a:r>
              <a:rPr lang="ru-RU" b="1" dirty="0"/>
              <a:t> </a:t>
            </a:r>
            <a:r>
              <a:rPr lang="ru-RU" b="1" dirty="0" err="1"/>
              <a:t>neighbours</a:t>
            </a:r>
            <a:r>
              <a:rPr lang="ru-RU" dirty="0"/>
              <a:t> - "прилипать" к ближайшим узлам. Кроме следования сетке есть возможность включения режима слежения за ближайшими узлами. Когда узел уже созданного объекта и курсор оказываются в радиусе действия этой функции, то курсор притягивается к этому узлу. Это бывает нужно когда необходимо точно обвести объект по контуру.</a:t>
            </a:r>
          </a:p>
        </p:txBody>
      </p:sp>
    </p:spTree>
    <p:extLst>
      <p:ext uri="{BB962C8B-B14F-4D97-AF65-F5344CB8AC3E}">
        <p14:creationId xmlns:p14="http://schemas.microsoft.com/office/powerpoint/2010/main" val="22381543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49525" y="245723"/>
            <a:ext cx="6096000" cy="3416320"/>
          </a:xfrm>
          <a:prstGeom prst="rect">
            <a:avLst/>
          </a:prstGeom>
        </p:spPr>
        <p:txBody>
          <a:bodyPr>
            <a:spAutoFit/>
          </a:bodyPr>
          <a:lstStyle/>
          <a:p>
            <a:r>
              <a:rPr lang="ru-RU" b="1" dirty="0" err="1"/>
              <a:t>Color</a:t>
            </a:r>
            <a:r>
              <a:rPr lang="ru-RU" b="1" dirty="0"/>
              <a:t> </a:t>
            </a:r>
            <a:r>
              <a:rPr lang="ru-RU" b="1" dirty="0" err="1"/>
              <a:t>of</a:t>
            </a:r>
            <a:r>
              <a:rPr lang="ru-RU" b="1" dirty="0"/>
              <a:t> </a:t>
            </a:r>
            <a:r>
              <a:rPr lang="ru-RU" b="1" dirty="0" err="1"/>
              <a:t>new</a:t>
            </a:r>
            <a:r>
              <a:rPr lang="ru-RU" b="1" dirty="0"/>
              <a:t> </a:t>
            </a:r>
            <a:r>
              <a:rPr lang="ru-RU" b="1" dirty="0" err="1"/>
              <a:t>object</a:t>
            </a:r>
            <a:r>
              <a:rPr lang="ru-RU" dirty="0"/>
              <a:t> - цвет контура для вновь создаваемого объекта. При создании объектов, для увеличения контрастности с преобладающим цветом карты, бывает нужно изменить цвет контура. Эта функция позволяет это сделать. Достаточно просто выбрать в стандартной палитре нужный цвет.</a:t>
            </a:r>
          </a:p>
          <a:p>
            <a:r>
              <a:rPr lang="ru-RU" b="1" dirty="0" err="1"/>
              <a:t>Width</a:t>
            </a:r>
            <a:r>
              <a:rPr lang="ru-RU" dirty="0"/>
              <a:t> - ширина контура. Помимо цвета контура можно изменить и его ширину. Ширина задаётся в пикселах.</a:t>
            </a:r>
          </a:p>
          <a:p>
            <a:r>
              <a:rPr lang="ru-RU" b="1" dirty="0" err="1"/>
              <a:t>Default</a:t>
            </a:r>
            <a:r>
              <a:rPr lang="ru-RU" b="1" dirty="0"/>
              <a:t> </a:t>
            </a:r>
            <a:r>
              <a:rPr lang="ru-RU" b="1" dirty="0" err="1"/>
              <a:t>type</a:t>
            </a:r>
            <a:r>
              <a:rPr lang="ru-RU" b="1" dirty="0"/>
              <a:t> </a:t>
            </a:r>
            <a:r>
              <a:rPr lang="ru-RU" b="1" dirty="0" err="1"/>
              <a:t>set</a:t>
            </a:r>
            <a:r>
              <a:rPr lang="ru-RU" dirty="0"/>
              <a:t> - используемый набор объектов. Существует три стандартных набора объектов - ГИС Русса, </a:t>
            </a:r>
            <a:r>
              <a:rPr lang="ru-RU" dirty="0" err="1"/>
              <a:t>Garmin</a:t>
            </a:r>
            <a:r>
              <a:rPr lang="ru-RU" dirty="0"/>
              <a:t>, </a:t>
            </a:r>
            <a:r>
              <a:rPr lang="ru-RU" dirty="0" err="1"/>
              <a:t>Alan</a:t>
            </a:r>
            <a:r>
              <a:rPr lang="ru-RU" dirty="0"/>
              <a:t> </a:t>
            </a:r>
            <a:r>
              <a:rPr lang="ru-RU" dirty="0" err="1"/>
              <a:t>map</a:t>
            </a:r>
            <a:r>
              <a:rPr lang="ru-RU" dirty="0"/>
              <a:t> 500/</a:t>
            </a:r>
            <a:r>
              <a:rPr lang="ru-RU" dirty="0" err="1"/>
              <a:t>Holux</a:t>
            </a:r>
            <a:r>
              <a:rPr lang="ru-RU" dirty="0"/>
              <a:t>. Выбор набора должен определяться целевым форматом карты.</a:t>
            </a:r>
          </a:p>
        </p:txBody>
      </p:sp>
      <p:pic>
        <p:nvPicPr>
          <p:cNvPr id="3" name="Рисунок 2" descr="Настройка параметров отображения"/>
          <p:cNvPicPr/>
          <p:nvPr/>
        </p:nvPicPr>
        <p:blipFill>
          <a:blip r:embed="rId2">
            <a:extLst>
              <a:ext uri="{28A0092B-C50C-407E-A947-70E740481C1C}">
                <a14:useLocalDpi xmlns:a14="http://schemas.microsoft.com/office/drawing/2010/main" val="0"/>
              </a:ext>
            </a:extLst>
          </a:blip>
          <a:srcRect/>
          <a:stretch>
            <a:fillRect/>
          </a:stretch>
        </p:blipFill>
        <p:spPr bwMode="auto">
          <a:xfrm>
            <a:off x="6785065" y="406309"/>
            <a:ext cx="4860595" cy="3475578"/>
          </a:xfrm>
          <a:prstGeom prst="rect">
            <a:avLst/>
          </a:prstGeom>
          <a:noFill/>
          <a:ln>
            <a:noFill/>
          </a:ln>
        </p:spPr>
      </p:pic>
    </p:spTree>
    <p:extLst>
      <p:ext uri="{BB962C8B-B14F-4D97-AF65-F5344CB8AC3E}">
        <p14:creationId xmlns:p14="http://schemas.microsoft.com/office/powerpoint/2010/main" val="25428420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15018" y="443177"/>
            <a:ext cx="7036279" cy="3970318"/>
          </a:xfrm>
          <a:prstGeom prst="rect">
            <a:avLst/>
          </a:prstGeom>
        </p:spPr>
        <p:txBody>
          <a:bodyPr wrap="square">
            <a:spAutoFit/>
          </a:bodyPr>
          <a:lstStyle/>
          <a:p>
            <a:r>
              <a:rPr lang="ru-RU" b="1" dirty="0" err="1"/>
              <a:t>View</a:t>
            </a:r>
            <a:r>
              <a:rPr lang="ru-RU" dirty="0"/>
              <a:t> - опции, определяющие отображение карты и объектов на карте.</a:t>
            </a:r>
          </a:p>
          <a:p>
            <a:r>
              <a:rPr lang="en-US" b="1" dirty="0"/>
              <a:t>Map background color</a:t>
            </a:r>
            <a:r>
              <a:rPr lang="en-US" dirty="0"/>
              <a:t> - </a:t>
            </a:r>
            <a:r>
              <a:rPr lang="ru-RU" dirty="0"/>
              <a:t>цвет фона карты</a:t>
            </a:r>
            <a:r>
              <a:rPr lang="en-US" dirty="0"/>
              <a:t>. </a:t>
            </a:r>
            <a:r>
              <a:rPr lang="ru-RU" dirty="0"/>
              <a:t>Изначально белый фон карты можно менять по своему желанию. Этот фон не влияет на отображение карты в навигационной программе.</a:t>
            </a:r>
          </a:p>
          <a:p>
            <a:r>
              <a:rPr lang="ru-RU" b="1" dirty="0" err="1"/>
              <a:t>Transparent</a:t>
            </a:r>
            <a:r>
              <a:rPr lang="ru-RU" b="1" dirty="0"/>
              <a:t> </a:t>
            </a:r>
            <a:r>
              <a:rPr lang="ru-RU" b="1" dirty="0" err="1"/>
              <a:t>polygons</a:t>
            </a:r>
            <a:r>
              <a:rPr lang="ru-RU" b="1" dirty="0"/>
              <a:t> </a:t>
            </a:r>
            <a:r>
              <a:rPr lang="ru-RU" b="1" dirty="0" err="1"/>
              <a:t>view</a:t>
            </a:r>
            <a:r>
              <a:rPr lang="ru-RU" dirty="0"/>
              <a:t> - варианты отображения полигонов. Иногда созданный полигон закрывает собой другой. Или участок растровой карты. В этом случае бывает нужно включить прозрачность для полигонов. Этот режим может быть реализован в двух вариантах. Первый - с контуром и штриховкой, второй - только с контуром.</a:t>
            </a:r>
          </a:p>
          <a:p>
            <a:r>
              <a:rPr lang="en-US" b="1" dirty="0"/>
              <a:t>Tracks - Default color / Default width</a:t>
            </a:r>
            <a:r>
              <a:rPr lang="en-US" dirty="0"/>
              <a:t> - </a:t>
            </a:r>
            <a:r>
              <a:rPr lang="ru-RU" dirty="0"/>
              <a:t>Цвет по умолчанию</a:t>
            </a:r>
            <a:r>
              <a:rPr lang="en-US" dirty="0"/>
              <a:t>/ </a:t>
            </a:r>
            <a:r>
              <a:rPr lang="ru-RU" dirty="0"/>
              <a:t>Ширина трека . Настройка, так до конца и не реализованного, инструмента GPS </a:t>
            </a:r>
            <a:r>
              <a:rPr lang="ru-RU" dirty="0" err="1"/>
              <a:t>Tracking</a:t>
            </a:r>
            <a:endParaRPr lang="ru-RU" dirty="0"/>
          </a:p>
        </p:txBody>
      </p:sp>
      <p:pic>
        <p:nvPicPr>
          <p:cNvPr id="3" name="Рисунок 2" descr="Настройка используемых единиц измерения"/>
          <p:cNvPicPr/>
          <p:nvPr/>
        </p:nvPicPr>
        <p:blipFill>
          <a:blip r:embed="rId2">
            <a:extLst>
              <a:ext uri="{28A0092B-C50C-407E-A947-70E740481C1C}">
                <a14:useLocalDpi xmlns:a14="http://schemas.microsoft.com/office/drawing/2010/main" val="0"/>
              </a:ext>
            </a:extLst>
          </a:blip>
          <a:srcRect/>
          <a:stretch>
            <a:fillRect/>
          </a:stretch>
        </p:blipFill>
        <p:spPr bwMode="auto">
          <a:xfrm>
            <a:off x="7324401" y="798626"/>
            <a:ext cx="4580051" cy="3428318"/>
          </a:xfrm>
          <a:prstGeom prst="rect">
            <a:avLst/>
          </a:prstGeom>
          <a:noFill/>
          <a:ln>
            <a:noFill/>
          </a:ln>
        </p:spPr>
      </p:pic>
    </p:spTree>
    <p:extLst>
      <p:ext uri="{BB962C8B-B14F-4D97-AF65-F5344CB8AC3E}">
        <p14:creationId xmlns:p14="http://schemas.microsoft.com/office/powerpoint/2010/main" val="40325347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106392" y="177189"/>
            <a:ext cx="6096000" cy="3139321"/>
          </a:xfrm>
          <a:prstGeom prst="rect">
            <a:avLst/>
          </a:prstGeom>
        </p:spPr>
        <p:txBody>
          <a:bodyPr>
            <a:spAutoFit/>
          </a:bodyPr>
          <a:lstStyle/>
          <a:p>
            <a:r>
              <a:rPr lang="ru-RU" b="1" dirty="0" err="1"/>
              <a:t>Units</a:t>
            </a:r>
            <a:r>
              <a:rPr lang="ru-RU" dirty="0"/>
              <a:t> - настройка единиц измерения для карты.</a:t>
            </a:r>
          </a:p>
          <a:p>
            <a:r>
              <a:rPr lang="ru-RU" b="1" dirty="0" err="1"/>
              <a:t>Elevation</a:t>
            </a:r>
            <a:r>
              <a:rPr lang="ru-RU" b="1" dirty="0"/>
              <a:t> - </a:t>
            </a:r>
            <a:r>
              <a:rPr lang="ru-RU" b="1" dirty="0" err="1"/>
              <a:t>Meters</a:t>
            </a:r>
            <a:r>
              <a:rPr lang="ru-RU" b="1" dirty="0"/>
              <a:t> / </a:t>
            </a:r>
            <a:r>
              <a:rPr lang="ru-RU" b="1" dirty="0" err="1"/>
              <a:t>Feet</a:t>
            </a:r>
            <a:r>
              <a:rPr lang="ru-RU" dirty="0"/>
              <a:t> - Единицы высот - Метры / Футы. При создании объектов, содержащих данные о высоте, необходимо учитывать в каких единицах эти данные будут отображаться на карте.</a:t>
            </a:r>
          </a:p>
          <a:p>
            <a:r>
              <a:rPr lang="ru-RU" b="1" dirty="0" err="1"/>
              <a:t>Position</a:t>
            </a:r>
            <a:r>
              <a:rPr lang="ru-RU" b="1" dirty="0"/>
              <a:t> - </a:t>
            </a:r>
            <a:r>
              <a:rPr lang="ru-RU" b="1" dirty="0" err="1"/>
              <a:t>Format</a:t>
            </a:r>
            <a:r>
              <a:rPr lang="ru-RU" b="1" dirty="0"/>
              <a:t> / </a:t>
            </a:r>
            <a:r>
              <a:rPr lang="ru-RU" b="1" dirty="0" err="1"/>
              <a:t>Datum</a:t>
            </a:r>
            <a:r>
              <a:rPr lang="ru-RU" dirty="0"/>
              <a:t> - Формат отображения координат текущей позиции курсора и </a:t>
            </a:r>
            <a:r>
              <a:rPr lang="ru-RU" dirty="0" err="1"/>
              <a:t>датум</a:t>
            </a:r>
            <a:r>
              <a:rPr lang="ru-RU" dirty="0"/>
              <a:t>. На рисунке выше показаны все четыре варианта отображения координат. Вы можете выбрать наиболее подходящий. Выбор </a:t>
            </a:r>
            <a:r>
              <a:rPr lang="ru-RU" dirty="0" err="1"/>
              <a:t>датума</a:t>
            </a:r>
            <a:r>
              <a:rPr lang="ru-RU" dirty="0"/>
              <a:t> отсутствует потому что программа </a:t>
            </a:r>
            <a:r>
              <a:rPr lang="ru-RU" dirty="0" err="1"/>
              <a:t>GPSMapEdit</a:t>
            </a:r>
            <a:r>
              <a:rPr lang="ru-RU" dirty="0"/>
              <a:t> работает только с </a:t>
            </a:r>
            <a:r>
              <a:rPr lang="ru-RU" dirty="0" err="1"/>
              <a:t>датумом</a:t>
            </a:r>
            <a:r>
              <a:rPr lang="ru-RU" dirty="0"/>
              <a:t> WGS84.</a:t>
            </a:r>
          </a:p>
        </p:txBody>
      </p:sp>
      <p:pic>
        <p:nvPicPr>
          <p:cNvPr id="4" name="Рисунок 3" descr="Выбор языка интерфейса"/>
          <p:cNvPicPr/>
          <p:nvPr/>
        </p:nvPicPr>
        <p:blipFill>
          <a:blip r:embed="rId2">
            <a:extLst>
              <a:ext uri="{28A0092B-C50C-407E-A947-70E740481C1C}">
                <a14:useLocalDpi xmlns:a14="http://schemas.microsoft.com/office/drawing/2010/main" val="0"/>
              </a:ext>
            </a:extLst>
          </a:blip>
          <a:srcRect/>
          <a:stretch>
            <a:fillRect/>
          </a:stretch>
        </p:blipFill>
        <p:spPr bwMode="auto">
          <a:xfrm>
            <a:off x="6202391" y="177189"/>
            <a:ext cx="4917057" cy="3212992"/>
          </a:xfrm>
          <a:prstGeom prst="rect">
            <a:avLst/>
          </a:prstGeom>
          <a:noFill/>
          <a:ln>
            <a:noFill/>
          </a:ln>
        </p:spPr>
      </p:pic>
      <p:sp>
        <p:nvSpPr>
          <p:cNvPr id="5" name="Прямоугольник 4"/>
          <p:cNvSpPr/>
          <p:nvPr/>
        </p:nvSpPr>
        <p:spPr>
          <a:xfrm>
            <a:off x="278920" y="4167664"/>
            <a:ext cx="11487509" cy="923330"/>
          </a:xfrm>
          <a:prstGeom prst="rect">
            <a:avLst/>
          </a:prstGeom>
        </p:spPr>
        <p:txBody>
          <a:bodyPr wrap="square">
            <a:spAutoFit/>
          </a:bodyPr>
          <a:lstStyle/>
          <a:p>
            <a:r>
              <a:rPr lang="ru-RU" b="1" dirty="0" err="1"/>
              <a:t>Common</a:t>
            </a:r>
            <a:r>
              <a:rPr lang="ru-RU" dirty="0"/>
              <a:t> - Общие параметры.</a:t>
            </a:r>
          </a:p>
          <a:p>
            <a:r>
              <a:rPr lang="ru-RU" b="1" dirty="0" err="1"/>
              <a:t>Interface</a:t>
            </a:r>
            <a:r>
              <a:rPr lang="ru-RU" b="1" dirty="0"/>
              <a:t> </a:t>
            </a:r>
            <a:r>
              <a:rPr lang="ru-RU" b="1" dirty="0" err="1"/>
              <a:t>language</a:t>
            </a:r>
            <a:r>
              <a:rPr lang="ru-RU" dirty="0"/>
              <a:t> - Язык интерфейса. В настоящее время доступен только английский язык. Но привыкшим к русскоязычному интерфейсу всегда можно скачать русификатор для последней версии здесь.</a:t>
            </a:r>
          </a:p>
        </p:txBody>
      </p:sp>
    </p:spTree>
    <p:extLst>
      <p:ext uri="{BB962C8B-B14F-4D97-AF65-F5344CB8AC3E}">
        <p14:creationId xmlns:p14="http://schemas.microsoft.com/office/powerpoint/2010/main" val="19876451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Прямоугольник 12"/>
          <p:cNvSpPr>
            <a:spLocks noChangeArrowheads="1"/>
          </p:cNvSpPr>
          <p:nvPr/>
        </p:nvSpPr>
        <p:spPr bwMode="auto">
          <a:xfrm>
            <a:off x="435635" y="463138"/>
            <a:ext cx="581890" cy="843149"/>
          </a:xfrm>
          <a:prstGeom prst="rect">
            <a:avLst/>
          </a:prstGeom>
          <a:gradFill rotWithShape="1">
            <a:gsLst>
              <a:gs pos="0">
                <a:srgbClr val="770000"/>
              </a:gs>
              <a:gs pos="50000">
                <a:srgbClr val="AD0000"/>
              </a:gs>
              <a:gs pos="100000">
                <a:srgbClr val="CE0000"/>
              </a:gs>
            </a:gsLst>
            <a:lin ang="0" scaled="1"/>
          </a:gradFill>
          <a:ln w="9525" algn="ctr">
            <a:noFill/>
            <a:round/>
            <a:headEnd/>
            <a:tailEnd/>
          </a:ln>
        </p:spPr>
        <p:txBody>
          <a:bodyPr/>
          <a:lstStyle/>
          <a:p>
            <a:pPr defTabSz="1043001"/>
            <a:endParaRPr lang="ru-RU" sz="2100" dirty="0"/>
          </a:p>
        </p:txBody>
      </p:sp>
      <p:sp>
        <p:nvSpPr>
          <p:cNvPr id="9" name="Номер слайда 8"/>
          <p:cNvSpPr>
            <a:spLocks noGrp="1"/>
          </p:cNvSpPr>
          <p:nvPr>
            <p:ph type="sldNum" sz="quarter" idx="12"/>
          </p:nvPr>
        </p:nvSpPr>
        <p:spPr/>
        <p:txBody>
          <a:bodyPr/>
          <a:lstStyle/>
          <a:p>
            <a:fld id="{027F3A33-6A4A-4395-8324-C6DCD486F135}" type="slidenum">
              <a:rPr lang="ru-RU" smtClean="0">
                <a:solidFill>
                  <a:schemeClr val="bg2">
                    <a:lumMod val="75000"/>
                  </a:schemeClr>
                </a:solidFill>
              </a:rPr>
              <a:pPr/>
              <a:t>50</a:t>
            </a:fld>
            <a:endParaRPr lang="ru-RU" dirty="0">
              <a:solidFill>
                <a:schemeClr val="bg2">
                  <a:lumMod val="75000"/>
                </a:schemeClr>
              </a:solidFill>
            </a:endParaRPr>
          </a:p>
        </p:txBody>
      </p:sp>
      <p:pic>
        <p:nvPicPr>
          <p:cNvPr id="1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0250" y="463138"/>
            <a:ext cx="2827683" cy="880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435636" y="2341171"/>
            <a:ext cx="10545140" cy="1938992"/>
          </a:xfrm>
          <a:prstGeom prst="rect">
            <a:avLst/>
          </a:prstGeom>
          <a:noFill/>
        </p:spPr>
        <p:txBody>
          <a:bodyPr wrap="square" rtlCol="0">
            <a:spAutoFit/>
          </a:bodyPr>
          <a:lstStyle/>
          <a:p>
            <a:pPr lvl="0" algn="ctr"/>
            <a:r>
              <a:rPr lang="ru-RU" sz="4000" b="1" dirty="0">
                <a:solidFill>
                  <a:srgbClr val="FF0000"/>
                </a:solidFill>
              </a:rPr>
              <a:t>СИСТЕМЫ АВТОМАТИЗИРОВАННОГО КАРТОГРАФИРОВАНИЯ НА БАЗЕ ГИС.</a:t>
            </a:r>
            <a:endParaRPr lang="ru-RU" sz="4000" dirty="0">
              <a:solidFill>
                <a:srgbClr val="FF0000"/>
              </a:solidFill>
            </a:endParaRPr>
          </a:p>
          <a:p>
            <a:pPr lvl="1" algn="ctr"/>
            <a:r>
              <a:rPr lang="ru-RU" sz="4000" b="1" dirty="0" smtClean="0"/>
              <a:t>Вопрос 8</a:t>
            </a:r>
            <a:endParaRPr lang="ru-RU" sz="4000" dirty="0"/>
          </a:p>
        </p:txBody>
      </p:sp>
    </p:spTree>
    <p:extLst>
      <p:ext uri="{BB962C8B-B14F-4D97-AF65-F5344CB8AC3E}">
        <p14:creationId xmlns:p14="http://schemas.microsoft.com/office/powerpoint/2010/main" val="326977096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93297" y="370828"/>
            <a:ext cx="11490385" cy="4524315"/>
          </a:xfrm>
          <a:prstGeom prst="rect">
            <a:avLst/>
          </a:prstGeom>
        </p:spPr>
        <p:txBody>
          <a:bodyPr wrap="square">
            <a:spAutoFit/>
          </a:bodyPr>
          <a:lstStyle/>
          <a:p>
            <a:r>
              <a:rPr lang="ru-RU" b="1" dirty="0"/>
              <a:t>GIS – что это такое</a:t>
            </a:r>
            <a:endParaRPr lang="ru-RU" dirty="0"/>
          </a:p>
          <a:p>
            <a:r>
              <a:rPr lang="ru-RU" dirty="0"/>
              <a:t>Аббревиатура расшифровывается как «географические информационные системы». Целью этих проектов является ряд действий с пространственными данными:</a:t>
            </a:r>
          </a:p>
          <a:p>
            <a:pPr lvl="0"/>
            <a:r>
              <a:rPr lang="ru-RU" dirty="0"/>
              <a:t>их сбор путем фотографий с разных источников;</a:t>
            </a:r>
          </a:p>
          <a:p>
            <a:pPr lvl="0"/>
            <a:r>
              <a:rPr lang="ru-RU" dirty="0"/>
              <a:t>хранение на разных носителях, аккумуляция и последующая передача;</a:t>
            </a:r>
          </a:p>
          <a:p>
            <a:pPr lvl="0"/>
            <a:r>
              <a:rPr lang="ru-RU" dirty="0"/>
              <a:t>анализ, уточнение, корректировка изменений;</a:t>
            </a:r>
          </a:p>
          <a:p>
            <a:pPr lvl="0"/>
            <a:r>
              <a:rPr lang="ru-RU" dirty="0"/>
              <a:t>двухмерная и трехмерная визуализация.</a:t>
            </a:r>
          </a:p>
          <a:p>
            <a:r>
              <a:rPr lang="ru-RU" dirty="0"/>
              <a:t>Обеспечивает развитие технологий наука </a:t>
            </a:r>
            <a:r>
              <a:rPr lang="ru-RU" dirty="0" err="1"/>
              <a:t>геоинформатика</a:t>
            </a:r>
            <a:r>
              <a:rPr lang="ru-RU" dirty="0"/>
              <a:t> – симбиоз географии и информатики.</a:t>
            </a:r>
          </a:p>
          <a:p>
            <a:r>
              <a:rPr lang="ru-RU" dirty="0"/>
              <a:t>Основные черты ГИС:</a:t>
            </a:r>
          </a:p>
          <a:p>
            <a:pPr lvl="0"/>
            <a:r>
              <a:rPr lang="ru-RU" dirty="0"/>
              <a:t>работа с базой данных, постоянно пополняемой и обновляемой;</a:t>
            </a:r>
          </a:p>
          <a:p>
            <a:pPr lvl="0"/>
            <a:r>
              <a:rPr lang="ru-RU" dirty="0"/>
              <a:t>пространственная 3D-карта, ее обзор.</a:t>
            </a:r>
          </a:p>
          <a:p>
            <a:r>
              <a:rPr lang="ru-RU" dirty="0"/>
              <a:t>Также к этому присоединяются дополнительные возможности, например:</a:t>
            </a:r>
          </a:p>
          <a:p>
            <a:pPr lvl="0"/>
            <a:r>
              <a:rPr lang="ru-RU" dirty="0"/>
              <a:t>навигация (с определением местоположения);</a:t>
            </a:r>
          </a:p>
          <a:p>
            <a:pPr lvl="0"/>
            <a:r>
              <a:rPr lang="ru-RU" dirty="0" err="1"/>
              <a:t>проложение</a:t>
            </a:r>
            <a:r>
              <a:rPr lang="ru-RU" dirty="0"/>
              <a:t> пути;</a:t>
            </a:r>
          </a:p>
          <a:p>
            <a:pPr lvl="0"/>
            <a:r>
              <a:rPr lang="ru-RU" dirty="0"/>
              <a:t>анализ земельных участков;</a:t>
            </a:r>
          </a:p>
          <a:p>
            <a:r>
              <a:rPr lang="ru-RU" dirty="0"/>
              <a:t>БД для кадастровых инженеров и геодезистов</a:t>
            </a:r>
          </a:p>
        </p:txBody>
      </p:sp>
    </p:spTree>
    <p:extLst>
      <p:ext uri="{BB962C8B-B14F-4D97-AF65-F5344CB8AC3E}">
        <p14:creationId xmlns:p14="http://schemas.microsoft.com/office/powerpoint/2010/main" val="22760017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70294" y="224179"/>
            <a:ext cx="7881667" cy="4801314"/>
          </a:xfrm>
          <a:prstGeom prst="rect">
            <a:avLst/>
          </a:prstGeom>
        </p:spPr>
        <p:txBody>
          <a:bodyPr wrap="square">
            <a:spAutoFit/>
          </a:bodyPr>
          <a:lstStyle/>
          <a:p>
            <a:r>
              <a:rPr lang="ru-RU" dirty="0"/>
              <a:t>Вот плюсы использования GIS:</a:t>
            </a:r>
          </a:p>
          <a:p>
            <a:pPr marL="285750" lvl="0" indent="-285750">
              <a:buFont typeface="Arial" pitchFamily="34" charset="0"/>
              <a:buChar char="•"/>
            </a:pPr>
            <a:r>
              <a:rPr lang="ru-RU" dirty="0"/>
              <a:t>большой аналитический ресурс;</a:t>
            </a:r>
          </a:p>
          <a:p>
            <a:pPr marL="285750" lvl="0" indent="-285750">
              <a:buFont typeface="Arial" pitchFamily="34" charset="0"/>
              <a:buChar char="•"/>
            </a:pPr>
            <a:r>
              <a:rPr lang="ru-RU" dirty="0"/>
              <a:t>множество инструментов для обработки и использований сведений;</a:t>
            </a:r>
          </a:p>
          <a:p>
            <a:pPr marL="285750" lvl="0" indent="-285750">
              <a:buFont typeface="Arial" pitchFamily="34" charset="0"/>
              <a:buChar char="•"/>
            </a:pPr>
            <a:r>
              <a:rPr lang="ru-RU" dirty="0"/>
              <a:t>легкое восприятие данных пользователей (наглядность изображения);</a:t>
            </a:r>
          </a:p>
          <a:p>
            <a:pPr marL="285750" lvl="0" indent="-285750">
              <a:buFont typeface="Arial" pitchFamily="34" charset="0"/>
              <a:buChar char="•"/>
            </a:pPr>
            <a:r>
              <a:rPr lang="ru-RU" dirty="0"/>
              <a:t>автоматизированные сводки и отчеты по выбранным параметрам;</a:t>
            </a:r>
          </a:p>
          <a:p>
            <a:pPr marL="285750" lvl="0" indent="-285750">
              <a:buFont typeface="Arial" pitchFamily="34" charset="0"/>
              <a:buChar char="•"/>
            </a:pPr>
            <a:r>
              <a:rPr lang="ru-RU" dirty="0"/>
              <a:t>расшифровка информации, полученной из </a:t>
            </a:r>
            <a:r>
              <a:rPr lang="ru-RU" dirty="0" err="1"/>
              <a:t>аэро</a:t>
            </a:r>
            <a:r>
              <a:rPr lang="ru-RU" dirty="0"/>
              <a:t>- и спутниковой съёмки;</a:t>
            </a:r>
          </a:p>
          <a:p>
            <a:pPr marL="285750" lvl="0" indent="-285750">
              <a:buFont typeface="Arial" pitchFamily="34" charset="0"/>
              <a:buChar char="•"/>
            </a:pPr>
            <a:r>
              <a:rPr lang="ru-RU" dirty="0"/>
              <a:t>значительная экономия временных, денежных затрат и </a:t>
            </a:r>
            <a:r>
              <a:rPr lang="ru-RU" dirty="0" err="1"/>
              <a:t>трудоресурсов</a:t>
            </a:r>
            <a:r>
              <a:rPr lang="ru-RU" dirty="0"/>
              <a:t> из-за свободного доступа;</a:t>
            </a:r>
          </a:p>
          <a:p>
            <a:pPr marL="285750" lvl="0" indent="-285750">
              <a:buFont typeface="Arial" pitchFamily="34" charset="0"/>
              <a:buChar char="•"/>
            </a:pPr>
            <a:r>
              <a:rPr lang="ru-RU" dirty="0"/>
              <a:t>возможность удаленного и оперативного создания 3D-модели любого объекта;</a:t>
            </a:r>
          </a:p>
          <a:p>
            <a:pPr marL="285750" lvl="0" indent="-285750">
              <a:buFont typeface="Arial" pitchFamily="34" charset="0"/>
              <a:buChar char="•"/>
            </a:pPr>
            <a:r>
              <a:rPr lang="ru-RU" dirty="0"/>
              <a:t>автоматический ввод данных;</a:t>
            </a:r>
          </a:p>
          <a:p>
            <a:pPr marL="285750" lvl="0" indent="-285750">
              <a:buFont typeface="Arial" pitchFamily="34" charset="0"/>
              <a:buChar char="•"/>
            </a:pPr>
            <a:r>
              <a:rPr lang="ru-RU" dirty="0"/>
              <a:t>сборка отчетов в виде таблиц или диаграмм;</a:t>
            </a:r>
          </a:p>
          <a:p>
            <a:pPr marL="285750" lvl="0" indent="-285750">
              <a:buFont typeface="Arial" pitchFamily="34" charset="0"/>
              <a:buChar char="•"/>
            </a:pPr>
            <a:r>
              <a:rPr lang="ru-RU" dirty="0"/>
              <a:t>определение присутствия или отсутствия в рамках заданных координат построек;</a:t>
            </a:r>
          </a:p>
          <a:p>
            <a:pPr marL="285750" lvl="0" indent="-285750">
              <a:buFont typeface="Arial" pitchFamily="34" charset="0"/>
              <a:buChar char="•"/>
            </a:pPr>
            <a:r>
              <a:rPr lang="ru-RU" dirty="0"/>
              <a:t>изучение </a:t>
            </a:r>
            <a:r>
              <a:rPr lang="ru-RU" dirty="0" err="1"/>
              <a:t>геопространственных</a:t>
            </a:r>
            <a:r>
              <a:rPr lang="ru-RU" dirty="0"/>
              <a:t> сведений – плотность населения, количества производственных зданий на процент жилых помещений и проч.</a:t>
            </a:r>
          </a:p>
        </p:txBody>
      </p:sp>
      <p:pic>
        <p:nvPicPr>
          <p:cNvPr id="3" name="Рисунок 2" descr="программное обеспечение геоинформационных систем"/>
          <p:cNvPicPr/>
          <p:nvPr/>
        </p:nvPicPr>
        <p:blipFill>
          <a:blip r:embed="rId2">
            <a:extLst>
              <a:ext uri="{28A0092B-C50C-407E-A947-70E740481C1C}">
                <a14:useLocalDpi xmlns:a14="http://schemas.microsoft.com/office/drawing/2010/main" val="0"/>
              </a:ext>
            </a:extLst>
          </a:blip>
          <a:srcRect/>
          <a:stretch>
            <a:fillRect/>
          </a:stretch>
        </p:blipFill>
        <p:spPr bwMode="auto">
          <a:xfrm>
            <a:off x="7457812" y="1717160"/>
            <a:ext cx="4608830" cy="2750820"/>
          </a:xfrm>
          <a:prstGeom prst="rect">
            <a:avLst/>
          </a:prstGeom>
          <a:noFill/>
          <a:ln>
            <a:noFill/>
          </a:ln>
        </p:spPr>
      </p:pic>
    </p:spTree>
    <p:extLst>
      <p:ext uri="{BB962C8B-B14F-4D97-AF65-F5344CB8AC3E}">
        <p14:creationId xmlns:p14="http://schemas.microsoft.com/office/powerpoint/2010/main" val="15457912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50165" y="256300"/>
            <a:ext cx="11499011" cy="5324535"/>
          </a:xfrm>
          <a:prstGeom prst="rect">
            <a:avLst/>
          </a:prstGeom>
        </p:spPr>
        <p:txBody>
          <a:bodyPr wrap="square">
            <a:spAutoFit/>
          </a:bodyPr>
          <a:lstStyle/>
          <a:p>
            <a:r>
              <a:rPr lang="ru-RU" sz="2000" dirty="0"/>
              <a:t>Пользователи:</a:t>
            </a:r>
          </a:p>
          <a:p>
            <a:pPr marL="342900" lvl="0" indent="-342900">
              <a:buFont typeface="Arial" pitchFamily="34" charset="0"/>
              <a:buChar char="•"/>
            </a:pPr>
            <a:r>
              <a:rPr lang="ru-RU" sz="2000" dirty="0"/>
              <a:t>Кадастровые инженеры. Их сфера деятельности – обзор земельных участков, их анализ, кадастр, межевание земель, расположение границ, пересечений, решение спорных вопросов, составление актов, внесение в </a:t>
            </a:r>
            <a:r>
              <a:rPr lang="ru-RU" sz="2000" dirty="0" err="1"/>
              <a:t>Росреестр</a:t>
            </a:r>
            <a:r>
              <a:rPr lang="ru-RU" sz="2000" dirty="0"/>
              <a:t>.</a:t>
            </a:r>
          </a:p>
          <a:p>
            <a:pPr marL="342900" lvl="0" indent="-342900">
              <a:buFont typeface="Arial" pitchFamily="34" charset="0"/>
              <a:buChar char="•"/>
            </a:pPr>
            <a:r>
              <a:rPr lang="ru-RU" sz="2000" dirty="0"/>
              <a:t>Предприниматели, владеющие сетями объектов – магазинов, автомобильных заправок, заводов или любых других точек со связью между ними. Это упрощает планирование, управление, а также планы на расширение или уменьшение системы.</a:t>
            </a:r>
          </a:p>
          <a:p>
            <a:pPr marL="342900" lvl="0" indent="-342900">
              <a:buFont typeface="Arial" pitchFamily="34" charset="0"/>
              <a:buChar char="•"/>
            </a:pPr>
            <a:r>
              <a:rPr lang="ru-RU" sz="2000" dirty="0"/>
              <a:t>Инженерные изыскания: геологические, географические, экологические и другие. Специалисты получают возможность через программы ГИС создавать список участков и их особенностей в рельефе, ландшафте.</a:t>
            </a:r>
          </a:p>
          <a:p>
            <a:pPr marL="342900" lvl="0" indent="-342900">
              <a:buFont typeface="Arial" pitchFamily="34" charset="0"/>
              <a:buChar char="•"/>
            </a:pPr>
            <a:r>
              <a:rPr lang="ru-RU" sz="2000" dirty="0"/>
              <a:t>Разработчики и проектировщики строений с начала или реконструкций зданий.</a:t>
            </a:r>
          </a:p>
          <a:p>
            <a:pPr marL="342900" lvl="0" indent="-342900">
              <a:buFont typeface="Arial" pitchFamily="34" charset="0"/>
              <a:buChar char="•"/>
            </a:pPr>
            <a:r>
              <a:rPr lang="ru-RU" sz="2000" dirty="0"/>
              <a:t>Архитекторы.</a:t>
            </a:r>
          </a:p>
          <a:p>
            <a:pPr marL="342900" lvl="0" indent="-342900">
              <a:buFont typeface="Arial" pitchFamily="34" charset="0"/>
              <a:buChar char="•"/>
            </a:pPr>
            <a:r>
              <a:rPr lang="ru-RU" sz="2000" dirty="0"/>
              <a:t>Картографы. GIS помогают создавать карты любых форматов на любые участки местности с большей или меньшей детализацией на различную тематику – маршрутизаторы, ландшафтные и проч.</a:t>
            </a:r>
          </a:p>
          <a:p>
            <a:pPr marL="342900" lvl="0" indent="-342900">
              <a:buFont typeface="Arial" pitchFamily="34" charset="0"/>
              <a:buChar char="•"/>
            </a:pPr>
            <a:r>
              <a:rPr lang="ru-RU" sz="2000" dirty="0"/>
              <a:t>Штурманы и водители любого транспорта – наземного, воздушного, водного.</a:t>
            </a:r>
          </a:p>
          <a:p>
            <a:pPr marL="342900" lvl="0" indent="-342900">
              <a:buFont typeface="Arial" pitchFamily="34" charset="0"/>
              <a:buChar char="•"/>
            </a:pPr>
            <a:r>
              <a:rPr lang="ru-RU" sz="2000" dirty="0"/>
              <a:t>Частные пользователи – все чаще обычные горожане пользуются электронными ресурсами для поиска пути.</a:t>
            </a:r>
          </a:p>
        </p:txBody>
      </p:sp>
    </p:spTree>
    <p:extLst>
      <p:ext uri="{BB962C8B-B14F-4D97-AF65-F5344CB8AC3E}">
        <p14:creationId xmlns:p14="http://schemas.microsoft.com/office/powerpoint/2010/main" val="14764354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66777" y="169039"/>
            <a:ext cx="6096000" cy="2862322"/>
          </a:xfrm>
          <a:prstGeom prst="rect">
            <a:avLst/>
          </a:prstGeom>
          <a:solidFill>
            <a:schemeClr val="accent6">
              <a:lumMod val="20000"/>
              <a:lumOff val="80000"/>
            </a:schemeClr>
          </a:solidFill>
        </p:spPr>
        <p:txBody>
          <a:bodyPr>
            <a:spAutoFit/>
          </a:bodyPr>
          <a:lstStyle/>
          <a:p>
            <a:r>
              <a:rPr lang="ru-RU" dirty="0"/>
              <a:t>Дополнительные сферы:</a:t>
            </a:r>
          </a:p>
          <a:p>
            <a:pPr marL="285750" lvl="0" indent="-285750">
              <a:buFont typeface="Wingdings" pitchFamily="2" charset="2"/>
              <a:buChar char="v"/>
            </a:pPr>
            <a:r>
              <a:rPr lang="ru-RU" dirty="0"/>
              <a:t>Природоохранительные мероприятия – мониторинг экологии, управление ресурсами, всеми участками природы.</a:t>
            </a:r>
          </a:p>
          <a:p>
            <a:pPr marL="285750" lvl="0" indent="-285750">
              <a:buFont typeface="Wingdings" pitchFamily="2" charset="2"/>
              <a:buChar char="v"/>
            </a:pPr>
            <a:r>
              <a:rPr lang="ru-RU" dirty="0"/>
              <a:t>Геология и добыча горной руды – разработка месторождений.</a:t>
            </a:r>
          </a:p>
          <a:p>
            <a:pPr marL="285750" lvl="0" indent="-285750">
              <a:buFont typeface="Wingdings" pitchFamily="2" charset="2"/>
              <a:buChar char="v"/>
            </a:pPr>
            <a:r>
              <a:rPr lang="ru-RU" dirty="0"/>
              <a:t>Аналитика возможных чрезвычайных ситуаций.</a:t>
            </a:r>
          </a:p>
          <a:p>
            <a:pPr marL="285750" lvl="0" indent="-285750">
              <a:buFont typeface="Wingdings" pitchFamily="2" charset="2"/>
              <a:buChar char="v"/>
            </a:pPr>
            <a:r>
              <a:rPr lang="ru-RU" dirty="0"/>
              <a:t>Войны и охранительные учреждения – разработка стратегии с электронными ресурсами становится легче.</a:t>
            </a:r>
          </a:p>
          <a:p>
            <a:pPr marL="285750" lvl="0" indent="-285750">
              <a:buFont typeface="Wingdings" pitchFamily="2" charset="2"/>
              <a:buChar char="v"/>
            </a:pPr>
            <a:r>
              <a:rPr lang="ru-RU" dirty="0"/>
              <a:t>Сельское хозяйство.</a:t>
            </a:r>
          </a:p>
        </p:txBody>
      </p:sp>
      <p:sp>
        <p:nvSpPr>
          <p:cNvPr id="3" name="Прямоугольник 2"/>
          <p:cNvSpPr/>
          <p:nvPr/>
        </p:nvSpPr>
        <p:spPr>
          <a:xfrm>
            <a:off x="6374921" y="169039"/>
            <a:ext cx="5817079" cy="3416320"/>
          </a:xfrm>
          <a:prstGeom prst="rect">
            <a:avLst/>
          </a:prstGeom>
          <a:solidFill>
            <a:schemeClr val="accent2">
              <a:lumMod val="20000"/>
              <a:lumOff val="80000"/>
            </a:schemeClr>
          </a:solidFill>
        </p:spPr>
        <p:txBody>
          <a:bodyPr wrap="square">
            <a:spAutoFit/>
          </a:bodyPr>
          <a:lstStyle/>
          <a:p>
            <a:r>
              <a:rPr lang="ru-RU" b="1" dirty="0"/>
              <a:t>ПО для ГИС: состав программного обеспечения</a:t>
            </a:r>
            <a:endParaRPr lang="ru-RU" dirty="0"/>
          </a:p>
          <a:p>
            <a:r>
              <a:rPr lang="ru-RU" dirty="0"/>
              <a:t>Весь проект строится на следующих частях:</a:t>
            </a:r>
          </a:p>
          <a:p>
            <a:r>
              <a:rPr lang="ru-RU" dirty="0"/>
              <a:t>компьютерная платформа для создания программы;</a:t>
            </a:r>
          </a:p>
          <a:p>
            <a:pPr lvl="0"/>
            <a:r>
              <a:rPr lang="ru-RU" dirty="0"/>
              <a:t>софт для хранения и анализа получаемых данных;</a:t>
            </a:r>
          </a:p>
          <a:p>
            <a:pPr lvl="0"/>
            <a:r>
              <a:rPr lang="ru-RU" dirty="0"/>
              <a:t>несколько каналов связи и поставки сведений;</a:t>
            </a:r>
          </a:p>
          <a:p>
            <a:pPr lvl="0"/>
            <a:r>
              <a:rPr lang="ru-RU" dirty="0"/>
              <a:t>система управления базой данных;</a:t>
            </a:r>
          </a:p>
          <a:p>
            <a:pPr lvl="0"/>
            <a:r>
              <a:rPr lang="ru-RU" dirty="0"/>
              <a:t>сама информация в графическом и мультимедийном размере;</a:t>
            </a:r>
          </a:p>
          <a:p>
            <a:pPr lvl="0"/>
            <a:r>
              <a:rPr lang="ru-RU" dirty="0"/>
              <a:t>технические средства – компьютеры стационарные или ноутбуки, а также планшеты, смартфоны для пользования и крупные станции для администрирования.</a:t>
            </a:r>
          </a:p>
        </p:txBody>
      </p:sp>
      <p:sp>
        <p:nvSpPr>
          <p:cNvPr id="4" name="Прямоугольник 3"/>
          <p:cNvSpPr/>
          <p:nvPr/>
        </p:nvSpPr>
        <p:spPr>
          <a:xfrm>
            <a:off x="166777" y="3429000"/>
            <a:ext cx="6096000" cy="3139321"/>
          </a:xfrm>
          <a:prstGeom prst="rect">
            <a:avLst/>
          </a:prstGeom>
          <a:solidFill>
            <a:schemeClr val="accent4">
              <a:lumMod val="20000"/>
              <a:lumOff val="80000"/>
            </a:schemeClr>
          </a:solidFill>
        </p:spPr>
        <p:txBody>
          <a:bodyPr>
            <a:spAutoFit/>
          </a:bodyPr>
          <a:lstStyle/>
          <a:p>
            <a:r>
              <a:rPr lang="ru-RU" b="1" dirty="0"/>
              <a:t>ПО для ГИС: состав программного обеспечения</a:t>
            </a:r>
            <a:endParaRPr lang="ru-RU" dirty="0"/>
          </a:p>
          <a:p>
            <a:r>
              <a:rPr lang="ru-RU" dirty="0"/>
              <a:t>Весь проект строится на следующих частях:</a:t>
            </a:r>
          </a:p>
          <a:p>
            <a:r>
              <a:rPr lang="ru-RU" dirty="0"/>
              <a:t>компьютерная платформа для создания программы;</a:t>
            </a:r>
          </a:p>
          <a:p>
            <a:pPr lvl="0"/>
            <a:r>
              <a:rPr lang="ru-RU" dirty="0"/>
              <a:t>софт для хранения и анализа получаемых данных;</a:t>
            </a:r>
          </a:p>
          <a:p>
            <a:pPr lvl="0"/>
            <a:r>
              <a:rPr lang="ru-RU" dirty="0"/>
              <a:t>несколько каналов связи и поставки сведений;</a:t>
            </a:r>
          </a:p>
          <a:p>
            <a:pPr lvl="0"/>
            <a:r>
              <a:rPr lang="ru-RU" dirty="0"/>
              <a:t>система управления базой данных;</a:t>
            </a:r>
          </a:p>
          <a:p>
            <a:pPr lvl="0"/>
            <a:r>
              <a:rPr lang="ru-RU" dirty="0"/>
              <a:t>сама информация в графическом и мультимедийном размере;</a:t>
            </a:r>
          </a:p>
          <a:p>
            <a:pPr lvl="0"/>
            <a:r>
              <a:rPr lang="ru-RU" dirty="0"/>
              <a:t>технические средства – компьютеры стационарные или ноутбуки, а также планшеты, смартфоны для пользования и крупные станции для администрирования.</a:t>
            </a:r>
          </a:p>
        </p:txBody>
      </p:sp>
      <p:pic>
        <p:nvPicPr>
          <p:cNvPr id="5" name="Рисунок 4" descr="программы для гис бесплатно"/>
          <p:cNvPicPr/>
          <p:nvPr/>
        </p:nvPicPr>
        <p:blipFill>
          <a:blip r:embed="rId2">
            <a:extLst>
              <a:ext uri="{28A0092B-C50C-407E-A947-70E740481C1C}">
                <a14:useLocalDpi xmlns:a14="http://schemas.microsoft.com/office/drawing/2010/main" val="0"/>
              </a:ext>
            </a:extLst>
          </a:blip>
          <a:srcRect/>
          <a:stretch>
            <a:fillRect/>
          </a:stretch>
        </p:blipFill>
        <p:spPr bwMode="auto">
          <a:xfrm>
            <a:off x="6916611" y="3749902"/>
            <a:ext cx="4414520" cy="2926080"/>
          </a:xfrm>
          <a:prstGeom prst="rect">
            <a:avLst/>
          </a:prstGeom>
          <a:noFill/>
          <a:ln>
            <a:noFill/>
          </a:ln>
        </p:spPr>
      </p:pic>
    </p:spTree>
    <p:extLst>
      <p:ext uri="{BB962C8B-B14F-4D97-AF65-F5344CB8AC3E}">
        <p14:creationId xmlns:p14="http://schemas.microsoft.com/office/powerpoint/2010/main" val="317232784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75404" y="183431"/>
            <a:ext cx="4698521" cy="4524315"/>
          </a:xfrm>
          <a:prstGeom prst="rect">
            <a:avLst/>
          </a:prstGeom>
        </p:spPr>
        <p:txBody>
          <a:bodyPr wrap="square">
            <a:spAutoFit/>
          </a:bodyPr>
          <a:lstStyle/>
          <a:p>
            <a:r>
              <a:rPr lang="ru-RU" dirty="0"/>
              <a:t>Можно представить следующие разработки:</a:t>
            </a:r>
          </a:p>
          <a:p>
            <a:pPr marL="285750" lvl="0" indent="-285750">
              <a:buFont typeface="Arial" pitchFamily="34" charset="0"/>
              <a:buChar char="•"/>
            </a:pPr>
            <a:r>
              <a:rPr lang="ru-RU" dirty="0"/>
              <a:t>Линейка </a:t>
            </a:r>
            <a:r>
              <a:rPr lang="ru-RU" dirty="0" err="1"/>
              <a:t>MosMap</a:t>
            </a:r>
            <a:r>
              <a:rPr lang="ru-RU" dirty="0"/>
              <a:t>-GIS.</a:t>
            </a:r>
          </a:p>
          <a:p>
            <a:pPr marL="285750" lvl="0" indent="-285750">
              <a:buFont typeface="Arial" pitchFamily="34" charset="0"/>
              <a:buChar char="•"/>
            </a:pPr>
            <a:r>
              <a:rPr lang="ru-RU" dirty="0" err="1"/>
              <a:t>Spatial</a:t>
            </a:r>
            <a:r>
              <a:rPr lang="ru-RU" dirty="0"/>
              <a:t> </a:t>
            </a:r>
            <a:r>
              <a:rPr lang="ru-RU" dirty="0" err="1"/>
              <a:t>Manager</a:t>
            </a:r>
            <a:r>
              <a:rPr lang="ru-RU" dirty="0"/>
              <a:t>.</a:t>
            </a:r>
          </a:p>
          <a:p>
            <a:pPr marL="285750" lvl="0" indent="-285750">
              <a:buFont typeface="Arial" pitchFamily="34" charset="0"/>
              <a:buChar char="•"/>
            </a:pPr>
            <a:r>
              <a:rPr lang="ru-RU" dirty="0" err="1"/>
              <a:t>ActiveMap</a:t>
            </a:r>
            <a:r>
              <a:rPr lang="ru-RU" dirty="0"/>
              <a:t> GS.</a:t>
            </a:r>
          </a:p>
          <a:p>
            <a:pPr marL="285750" lvl="0" indent="-285750">
              <a:buFont typeface="Arial" pitchFamily="34" charset="0"/>
              <a:buChar char="•"/>
            </a:pPr>
            <a:r>
              <a:rPr lang="ru-RU" dirty="0"/>
              <a:t>GIS 6 </a:t>
            </a:r>
            <a:r>
              <a:rPr lang="ru-RU" dirty="0" err="1"/>
              <a:t>Web</a:t>
            </a:r>
            <a:r>
              <a:rPr lang="ru-RU" dirty="0"/>
              <a:t> </a:t>
            </a:r>
            <a:r>
              <a:rPr lang="ru-RU" dirty="0" err="1"/>
              <a:t>Edition</a:t>
            </a:r>
            <a:r>
              <a:rPr lang="ru-RU" dirty="0"/>
              <a:t>.</a:t>
            </a:r>
          </a:p>
          <a:p>
            <a:pPr marL="285750" lvl="0" indent="-285750">
              <a:buFont typeface="Arial" pitchFamily="34" charset="0"/>
              <a:buChar char="•"/>
            </a:pPr>
            <a:r>
              <a:rPr lang="ru-RU" dirty="0" err="1"/>
              <a:t>GisMapServer</a:t>
            </a:r>
            <a:r>
              <a:rPr lang="ru-RU" dirty="0"/>
              <a:t>.</a:t>
            </a:r>
          </a:p>
          <a:p>
            <a:pPr marL="285750" lvl="0" indent="-285750">
              <a:buFont typeface="Arial" pitchFamily="34" charset="0"/>
              <a:buChar char="•"/>
            </a:pPr>
            <a:r>
              <a:rPr lang="ru-RU" dirty="0"/>
              <a:t>GM </a:t>
            </a:r>
            <a:r>
              <a:rPr lang="ru-RU" dirty="0" err="1"/>
              <a:t>Tool</a:t>
            </a:r>
            <a:r>
              <a:rPr lang="ru-RU" dirty="0"/>
              <a:t> </a:t>
            </a:r>
            <a:r>
              <a:rPr lang="ru-RU" dirty="0" err="1"/>
              <a:t>Kit</a:t>
            </a:r>
            <a:r>
              <a:rPr lang="ru-RU" dirty="0"/>
              <a:t>.</a:t>
            </a:r>
          </a:p>
          <a:p>
            <a:pPr marL="285750" lvl="0" indent="-285750">
              <a:buFont typeface="Arial" pitchFamily="34" charset="0"/>
              <a:buChar char="•"/>
            </a:pPr>
            <a:r>
              <a:rPr lang="ru-RU" dirty="0" err="1"/>
              <a:t>IndorCAD</a:t>
            </a:r>
            <a:r>
              <a:rPr lang="ru-RU" dirty="0"/>
              <a:t>/</a:t>
            </a:r>
            <a:r>
              <a:rPr lang="ru-RU" dirty="0" err="1"/>
              <a:t>River</a:t>
            </a:r>
            <a:r>
              <a:rPr lang="ru-RU" dirty="0"/>
              <a:t>.</a:t>
            </a:r>
          </a:p>
          <a:p>
            <a:pPr marL="285750" lvl="0" indent="-285750">
              <a:buFont typeface="Arial" pitchFamily="34" charset="0"/>
              <a:buChar char="•"/>
            </a:pPr>
            <a:r>
              <a:rPr lang="ru-RU" dirty="0" err="1"/>
              <a:t>MapInfo</a:t>
            </a:r>
            <a:r>
              <a:rPr lang="ru-RU" dirty="0"/>
              <a:t> </a:t>
            </a:r>
            <a:r>
              <a:rPr lang="ru-RU" dirty="0" err="1"/>
              <a:t>MapX</a:t>
            </a:r>
            <a:r>
              <a:rPr lang="ru-RU" dirty="0"/>
              <a:t>.</a:t>
            </a:r>
          </a:p>
          <a:p>
            <a:pPr marL="285750" lvl="0" indent="-285750">
              <a:buFont typeface="Arial" pitchFamily="34" charset="0"/>
              <a:buChar char="•"/>
            </a:pPr>
            <a:r>
              <a:rPr lang="ru-RU" dirty="0" err="1"/>
              <a:t>IndorCAD</a:t>
            </a:r>
            <a:r>
              <a:rPr lang="ru-RU" dirty="0"/>
              <a:t>/</a:t>
            </a:r>
            <a:r>
              <a:rPr lang="ru-RU" dirty="0" err="1"/>
              <a:t>Topo</a:t>
            </a:r>
            <a:r>
              <a:rPr lang="ru-RU" dirty="0"/>
              <a:t>.</a:t>
            </a:r>
          </a:p>
          <a:p>
            <a:pPr marL="285750" lvl="0" indent="-285750">
              <a:buFont typeface="Arial" pitchFamily="34" charset="0"/>
              <a:buChar char="•"/>
            </a:pPr>
            <a:r>
              <a:rPr lang="ru-RU" dirty="0" err="1"/>
              <a:t>MapInfo</a:t>
            </a:r>
            <a:r>
              <a:rPr lang="ru-RU" dirty="0"/>
              <a:t> </a:t>
            </a:r>
            <a:r>
              <a:rPr lang="ru-RU" dirty="0" err="1"/>
              <a:t>MapXtreme</a:t>
            </a:r>
            <a:r>
              <a:rPr lang="ru-RU" dirty="0"/>
              <a:t>.</a:t>
            </a:r>
          </a:p>
          <a:p>
            <a:pPr marL="285750" lvl="0" indent="-285750">
              <a:buFont typeface="Arial" pitchFamily="34" charset="0"/>
              <a:buChar char="•"/>
            </a:pPr>
            <a:r>
              <a:rPr lang="ru-RU" dirty="0" err="1"/>
              <a:t>ПроГео</a:t>
            </a:r>
            <a:r>
              <a:rPr lang="ru-RU" dirty="0"/>
              <a:t>.</a:t>
            </a:r>
          </a:p>
          <a:p>
            <a:pPr marL="285750" lvl="0" indent="-285750">
              <a:buFont typeface="Arial" pitchFamily="34" charset="0"/>
              <a:buChar char="•"/>
            </a:pPr>
            <a:r>
              <a:rPr lang="ru-RU" dirty="0"/>
              <a:t>АРГО.</a:t>
            </a:r>
          </a:p>
          <a:p>
            <a:pPr marL="285750" lvl="0" indent="-285750">
              <a:buFont typeface="Arial" pitchFamily="34" charset="0"/>
              <a:buChar char="•"/>
            </a:pPr>
            <a:r>
              <a:rPr lang="ru-RU" dirty="0"/>
              <a:t>Геодезическая Информационная Система.</a:t>
            </a:r>
          </a:p>
          <a:p>
            <a:pPr marL="285750" lvl="0" indent="-285750">
              <a:buFont typeface="Arial" pitchFamily="34" charset="0"/>
              <a:buChar char="•"/>
            </a:pPr>
            <a:r>
              <a:rPr lang="ru-RU" dirty="0"/>
              <a:t>ГИС «</a:t>
            </a:r>
            <a:r>
              <a:rPr lang="ru-RU" dirty="0" err="1"/>
              <a:t>Erne</a:t>
            </a:r>
            <a:r>
              <a:rPr lang="ru-RU" dirty="0"/>
              <a:t>».</a:t>
            </a:r>
          </a:p>
          <a:p>
            <a:pPr marL="285750" indent="-285750">
              <a:buFont typeface="Arial" pitchFamily="34" charset="0"/>
              <a:buChar char="•"/>
            </a:pPr>
            <a:r>
              <a:rPr lang="ru-RU" dirty="0"/>
              <a:t>Панорама</a:t>
            </a:r>
          </a:p>
        </p:txBody>
      </p:sp>
      <p:sp>
        <p:nvSpPr>
          <p:cNvPr id="4" name="Прямоугольник 3"/>
          <p:cNvSpPr/>
          <p:nvPr/>
        </p:nvSpPr>
        <p:spPr>
          <a:xfrm>
            <a:off x="7243193" y="259594"/>
            <a:ext cx="4812536" cy="369332"/>
          </a:xfrm>
          <a:prstGeom prst="rect">
            <a:avLst/>
          </a:prstGeom>
        </p:spPr>
        <p:txBody>
          <a:bodyPr wrap="none">
            <a:spAutoFit/>
          </a:bodyPr>
          <a:lstStyle/>
          <a:p>
            <a:r>
              <a:rPr lang="ru-RU" b="1" dirty="0"/>
              <a:t>Обзор программного продукта ГИС Панорама</a:t>
            </a:r>
          </a:p>
        </p:txBody>
      </p:sp>
      <p:pic>
        <p:nvPicPr>
          <p:cNvPr id="5" name="Рисунок 4" descr="геоинформационные программы примеры"/>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13864" y="4234998"/>
            <a:ext cx="4599305" cy="2472690"/>
          </a:xfrm>
          <a:prstGeom prst="rect">
            <a:avLst/>
          </a:prstGeom>
          <a:noFill/>
          <a:ln>
            <a:noFill/>
          </a:ln>
        </p:spPr>
      </p:pic>
      <p:sp>
        <p:nvSpPr>
          <p:cNvPr id="6" name="Прямоугольник 5"/>
          <p:cNvSpPr/>
          <p:nvPr/>
        </p:nvSpPr>
        <p:spPr>
          <a:xfrm>
            <a:off x="5969479" y="759125"/>
            <a:ext cx="6222521" cy="5016758"/>
          </a:xfrm>
          <a:prstGeom prst="rect">
            <a:avLst/>
          </a:prstGeom>
        </p:spPr>
        <p:txBody>
          <a:bodyPr wrap="square">
            <a:spAutoFit/>
          </a:bodyPr>
          <a:lstStyle/>
          <a:p>
            <a:r>
              <a:rPr lang="ru-RU" sz="1600" dirty="0"/>
              <a:t>Это ПО считается пригодным для профессионалов. Его особенности:</a:t>
            </a:r>
          </a:p>
          <a:p>
            <a:pPr marL="285750" lvl="0" indent="-285750">
              <a:buFont typeface="Wingdings" pitchFamily="2" charset="2"/>
              <a:buChar char="v"/>
            </a:pPr>
            <a:r>
              <a:rPr lang="ru-RU" sz="1600" dirty="0"/>
              <a:t>Возможность установки на разные операционные системы.</a:t>
            </a:r>
          </a:p>
          <a:p>
            <a:pPr marL="285750" lvl="0" indent="-285750">
              <a:buFont typeface="Wingdings" pitchFamily="2" charset="2"/>
              <a:buChar char="v"/>
            </a:pPr>
            <a:r>
              <a:rPr lang="ru-RU" sz="1600" dirty="0"/>
              <a:t>Совместимость с различными способами безопасности и шифрования данных.</a:t>
            </a:r>
          </a:p>
          <a:p>
            <a:pPr marL="285750" lvl="0" indent="-285750">
              <a:buFont typeface="Wingdings" pitchFamily="2" charset="2"/>
              <a:buChar char="v"/>
            </a:pPr>
            <a:r>
              <a:rPr lang="ru-RU" sz="1600" dirty="0"/>
              <a:t>Есть русскоязычный пакет, также софт переведен на английский, французский и другие языки.</a:t>
            </a:r>
          </a:p>
          <a:p>
            <a:pPr marL="285750" lvl="0" indent="-285750">
              <a:buFont typeface="Wingdings" pitchFamily="2" charset="2"/>
              <a:buChar char="v"/>
            </a:pPr>
            <a:r>
              <a:rPr lang="ru-RU" sz="1600" dirty="0"/>
              <a:t>Присутствует трехмерный взгляд на карту.</a:t>
            </a:r>
          </a:p>
          <a:p>
            <a:pPr marL="285750" lvl="0" indent="-285750">
              <a:buFont typeface="Wingdings" pitchFamily="2" charset="2"/>
              <a:buChar char="v"/>
            </a:pPr>
            <a:r>
              <a:rPr lang="ru-RU" sz="1600" dirty="0"/>
              <a:t>Подготовительный вид к печати.</a:t>
            </a:r>
          </a:p>
          <a:p>
            <a:pPr marL="285750" lvl="0" indent="-285750">
              <a:buFont typeface="Wingdings" pitchFamily="2" charset="2"/>
              <a:buChar char="v"/>
            </a:pPr>
            <a:r>
              <a:rPr lang="ru-RU" sz="1600" dirty="0"/>
              <a:t>Поддержка стандартов OGС, ISO 19100, IHO, ICAO и национальных систем.</a:t>
            </a:r>
          </a:p>
          <a:p>
            <a:pPr marL="285750" lvl="0" indent="-285750">
              <a:buFont typeface="Wingdings" pitchFamily="2" charset="2"/>
              <a:buChar char="v"/>
            </a:pPr>
            <a:r>
              <a:rPr lang="ru-RU" sz="1600" dirty="0"/>
              <a:t>Есть отдельные надстройки для различных специализаций: для инженеров по кадастру, экологической и социальной обстановке.</a:t>
            </a:r>
          </a:p>
          <a:p>
            <a:pPr marL="285750" lvl="0" indent="-285750">
              <a:buFont typeface="Wingdings" pitchFamily="2" charset="2"/>
              <a:buChar char="v"/>
            </a:pPr>
            <a:r>
              <a:rPr lang="ru-RU" sz="1600" dirty="0"/>
              <a:t>Автоматическая редактура для специальных карт для авиации, мореплавания и других отраслей.</a:t>
            </a:r>
          </a:p>
          <a:p>
            <a:pPr marL="285750" lvl="0" indent="-285750">
              <a:buFont typeface="Wingdings" pitchFamily="2" charset="2"/>
              <a:buChar char="v"/>
            </a:pPr>
            <a:r>
              <a:rPr lang="ru-RU" sz="1600" dirty="0"/>
              <a:t>Работа с данными в облачном хранилище.</a:t>
            </a:r>
          </a:p>
          <a:p>
            <a:pPr marL="285750" lvl="0" indent="-285750">
              <a:buFont typeface="Wingdings" pitchFamily="2" charset="2"/>
              <a:buChar char="v"/>
            </a:pPr>
            <a:r>
              <a:rPr lang="ru-RU" sz="1600" dirty="0"/>
              <a:t>Составление графических сводных таблиц, диаграмм.</a:t>
            </a:r>
          </a:p>
          <a:p>
            <a:pPr marL="285750" lvl="0" indent="-285750">
              <a:buFont typeface="Wingdings" pitchFamily="2" charset="2"/>
              <a:buChar char="v"/>
            </a:pPr>
            <a:r>
              <a:rPr lang="ru-RU" sz="1600" dirty="0"/>
              <a:t>Масштабирование.</a:t>
            </a:r>
          </a:p>
          <a:p>
            <a:pPr marL="285750" lvl="0" indent="-285750">
              <a:buFont typeface="Wingdings" pitchFamily="2" charset="2"/>
              <a:buChar char="v"/>
            </a:pPr>
            <a:r>
              <a:rPr lang="ru-RU" sz="1600" dirty="0"/>
              <a:t>Сбор информации и управление БД.</a:t>
            </a:r>
          </a:p>
          <a:p>
            <a:pPr marL="285750" lvl="0" indent="-285750">
              <a:buFont typeface="Wingdings" pitchFamily="2" charset="2"/>
              <a:buChar char="v"/>
            </a:pPr>
            <a:r>
              <a:rPr lang="ru-RU" sz="1600" dirty="0"/>
              <a:t>Поддержка форматов: SXF, TXF, OGC GML (XML), KML, RSW, BMP, JPEG, </a:t>
            </a:r>
            <a:r>
              <a:rPr lang="ru-RU" sz="1600" dirty="0" err="1"/>
              <a:t>GeoTIFF</a:t>
            </a:r>
            <a:r>
              <a:rPr lang="ru-RU" sz="1600" dirty="0"/>
              <a:t>, TIFF, IMG и пр.</a:t>
            </a:r>
          </a:p>
        </p:txBody>
      </p:sp>
    </p:spTree>
    <p:extLst>
      <p:ext uri="{BB962C8B-B14F-4D97-AF65-F5344CB8AC3E}">
        <p14:creationId xmlns:p14="http://schemas.microsoft.com/office/powerpoint/2010/main" val="29491993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4842439" y="147451"/>
            <a:ext cx="1962653" cy="369332"/>
          </a:xfrm>
          <a:prstGeom prst="rect">
            <a:avLst/>
          </a:prstGeom>
        </p:spPr>
        <p:txBody>
          <a:bodyPr wrap="none">
            <a:spAutoFit/>
          </a:bodyPr>
          <a:lstStyle/>
          <a:p>
            <a:r>
              <a:rPr lang="ru-RU" b="1" dirty="0" smtClean="0"/>
              <a:t>Линейка </a:t>
            </a:r>
            <a:r>
              <a:rPr lang="ru-RU" b="1" dirty="0" err="1" smtClean="0"/>
              <a:t>MosMap</a:t>
            </a:r>
            <a:endParaRPr lang="ru-RU" b="1" dirty="0"/>
          </a:p>
        </p:txBody>
      </p:sp>
      <p:sp>
        <p:nvSpPr>
          <p:cNvPr id="3" name="Прямоугольник 2"/>
          <p:cNvSpPr/>
          <p:nvPr/>
        </p:nvSpPr>
        <p:spPr>
          <a:xfrm>
            <a:off x="304800" y="516783"/>
            <a:ext cx="11504762" cy="2862322"/>
          </a:xfrm>
          <a:prstGeom prst="rect">
            <a:avLst/>
          </a:prstGeom>
        </p:spPr>
        <p:txBody>
          <a:bodyPr wrap="square">
            <a:spAutoFit/>
          </a:bodyPr>
          <a:lstStyle/>
          <a:p>
            <a:r>
              <a:rPr lang="ru-RU" dirty="0"/>
              <a:t>Разработчик предлагает три комплекса:</a:t>
            </a:r>
          </a:p>
          <a:p>
            <a:pPr marL="285750" lvl="0" indent="-285750">
              <a:buFont typeface="Arial" pitchFamily="34" charset="0"/>
              <a:buChar char="•"/>
            </a:pPr>
            <a:r>
              <a:rPr lang="ru-RU" dirty="0" err="1"/>
              <a:t>Marker</a:t>
            </a:r>
            <a:r>
              <a:rPr lang="ru-RU" dirty="0"/>
              <a:t> – базовый софт с автоматизированным </a:t>
            </a:r>
            <a:r>
              <a:rPr lang="ru-RU" dirty="0" err="1"/>
              <a:t>подгружением</a:t>
            </a:r>
            <a:r>
              <a:rPr lang="ru-RU" dirty="0"/>
              <a:t> данных в электронную карту. Функции: заполнение сведениями, их анализ, хранение и использование различных файлов.</a:t>
            </a:r>
          </a:p>
          <a:p>
            <a:pPr marL="285750" lvl="0" indent="-285750">
              <a:buFont typeface="Arial" pitchFamily="34" charset="0"/>
              <a:buChar char="•"/>
            </a:pPr>
            <a:r>
              <a:rPr lang="ru-RU" dirty="0" err="1"/>
              <a:t>Integrator</a:t>
            </a:r>
            <a:r>
              <a:rPr lang="ru-RU" dirty="0"/>
              <a:t> – связь с базами данных и гаджетами через облачное хранилище по технологии OLE. При этом через ПО, смартфон или другой источник можно наносить метки, закладки, вносить комментарии.</a:t>
            </a:r>
          </a:p>
          <a:p>
            <a:pPr marL="285750" lvl="0" indent="-285750">
              <a:buFont typeface="Arial" pitchFamily="34" charset="0"/>
              <a:buChar char="•"/>
            </a:pPr>
            <a:r>
              <a:rPr lang="ru-RU" dirty="0" err="1"/>
              <a:t>Editor</a:t>
            </a:r>
            <a:r>
              <a:rPr lang="ru-RU" dirty="0"/>
              <a:t> – создание и последующее внесение корректировок в картографические данные. Можно самостоятельно сделать карту города или конкретного участка. Все слои могут отображать разную информацию – о местах, о постройках, о характеристиках, контактных данных и проч. Можно менять масштабирование, настройки интерфейса, вывод на печать. Основное преимущество – удобная эксплуатация на уровне любительского пользователя.</a:t>
            </a:r>
          </a:p>
        </p:txBody>
      </p:sp>
    </p:spTree>
    <p:extLst>
      <p:ext uri="{BB962C8B-B14F-4D97-AF65-F5344CB8AC3E}">
        <p14:creationId xmlns:p14="http://schemas.microsoft.com/office/powerpoint/2010/main" val="9146085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678221" y="346660"/>
            <a:ext cx="4938853" cy="369332"/>
          </a:xfrm>
          <a:prstGeom prst="rect">
            <a:avLst/>
          </a:prstGeom>
        </p:spPr>
        <p:txBody>
          <a:bodyPr wrap="none">
            <a:spAutoFit/>
          </a:bodyPr>
          <a:lstStyle/>
          <a:p>
            <a:r>
              <a:rPr lang="ru-RU" b="1" dirty="0"/>
              <a:t>QGIS – программа для создания ГИС бесплатно</a:t>
            </a:r>
          </a:p>
        </p:txBody>
      </p:sp>
      <p:sp>
        <p:nvSpPr>
          <p:cNvPr id="3" name="Прямоугольник 2"/>
          <p:cNvSpPr/>
          <p:nvPr/>
        </p:nvSpPr>
        <p:spPr>
          <a:xfrm>
            <a:off x="184030" y="969865"/>
            <a:ext cx="6096000" cy="3970318"/>
          </a:xfrm>
          <a:prstGeom prst="rect">
            <a:avLst/>
          </a:prstGeom>
        </p:spPr>
        <p:txBody>
          <a:bodyPr>
            <a:spAutoFit/>
          </a:bodyPr>
          <a:lstStyle/>
          <a:p>
            <a:r>
              <a:rPr lang="ru-RU" dirty="0"/>
              <a:t>Это свободный программный продукт с единым кодом, поэтому у него нет классической защиты данных. Молодой проект начал свое функционирование в 2002 году, не переведен полностью на русский язык и подходит для любительских целей. Возможности:</a:t>
            </a:r>
          </a:p>
          <a:p>
            <a:pPr marL="285750" lvl="0" indent="-285750">
              <a:buFont typeface="Arial" pitchFamily="34" charset="0"/>
              <a:buChar char="•"/>
            </a:pPr>
            <a:r>
              <a:rPr lang="ru-RU" dirty="0"/>
              <a:t>поддержание растровых и векторных графических данных;</a:t>
            </a:r>
          </a:p>
          <a:p>
            <a:pPr marL="285750" lvl="0" indent="-285750">
              <a:buFont typeface="Arial" pitchFamily="34" charset="0"/>
              <a:buChar char="•"/>
            </a:pPr>
            <a:r>
              <a:rPr lang="ru-RU" dirty="0"/>
              <a:t>работа с таблицами и слоями текстовых комментариев;</a:t>
            </a:r>
          </a:p>
          <a:p>
            <a:pPr marL="285750" lvl="0" indent="-285750">
              <a:buFont typeface="Arial" pitchFamily="34" charset="0"/>
              <a:buChar char="•"/>
            </a:pPr>
            <a:r>
              <a:rPr lang="ru-RU" dirty="0"/>
              <a:t>удобное составление и редактура чертежей – от масштабирования до подписи объектов;</a:t>
            </a:r>
          </a:p>
          <a:p>
            <a:pPr marL="285750" lvl="0" indent="-285750">
              <a:buFont typeface="Arial" pitchFamily="34" charset="0"/>
              <a:buChar char="•"/>
            </a:pPr>
            <a:r>
              <a:rPr lang="ru-RU" dirty="0"/>
              <a:t>визуализация;</a:t>
            </a:r>
          </a:p>
          <a:p>
            <a:pPr marL="285750" lvl="0" indent="-285750">
              <a:buFont typeface="Arial" pitchFamily="34" charset="0"/>
              <a:buChar char="•"/>
            </a:pPr>
            <a:r>
              <a:rPr lang="ru-RU" dirty="0"/>
              <a:t>экспорт в другие ПО с изменением разрешения;</a:t>
            </a:r>
          </a:p>
          <a:p>
            <a:pPr marL="285750" lvl="0" indent="-285750">
              <a:buFont typeface="Arial" pitchFamily="34" charset="0"/>
              <a:buChar char="•"/>
            </a:pPr>
            <a:r>
              <a:rPr lang="ru-RU" dirty="0"/>
              <a:t>оцифровка распечатанных карт;</a:t>
            </a:r>
          </a:p>
          <a:p>
            <a:pPr marL="285750" indent="-285750">
              <a:buFont typeface="Arial" pitchFamily="34" charset="0"/>
              <a:buChar char="•"/>
            </a:pPr>
            <a:r>
              <a:rPr lang="ru-RU" dirty="0"/>
              <a:t>подготовка к печати.</a:t>
            </a:r>
          </a:p>
        </p:txBody>
      </p:sp>
      <p:pic>
        <p:nvPicPr>
          <p:cNvPr id="4" name="Рисунок 3" descr="программы для обработки гис"/>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80030" y="2196434"/>
            <a:ext cx="5848978" cy="3402109"/>
          </a:xfrm>
          <a:prstGeom prst="rect">
            <a:avLst/>
          </a:prstGeom>
          <a:noFill/>
          <a:ln>
            <a:noFill/>
          </a:ln>
        </p:spPr>
      </p:pic>
    </p:spTree>
    <p:extLst>
      <p:ext uri="{BB962C8B-B14F-4D97-AF65-F5344CB8AC3E}">
        <p14:creationId xmlns:p14="http://schemas.microsoft.com/office/powerpoint/2010/main" val="312444323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4765032" y="199210"/>
            <a:ext cx="3009157" cy="369332"/>
          </a:xfrm>
          <a:prstGeom prst="rect">
            <a:avLst/>
          </a:prstGeom>
        </p:spPr>
        <p:txBody>
          <a:bodyPr wrap="none">
            <a:spAutoFit/>
          </a:bodyPr>
          <a:lstStyle/>
          <a:p>
            <a:r>
              <a:rPr lang="ru-RU" b="1" dirty="0">
                <a:hlinkClick r:id="rId2"/>
              </a:rPr>
              <a:t>ГИС </a:t>
            </a:r>
            <a:r>
              <a:rPr lang="ru-RU" b="1" dirty="0" err="1">
                <a:hlinkClick r:id="rId2"/>
              </a:rPr>
              <a:t>Spatial</a:t>
            </a:r>
            <a:r>
              <a:rPr lang="ru-RU" b="1" dirty="0">
                <a:hlinkClick r:id="rId2"/>
              </a:rPr>
              <a:t> </a:t>
            </a:r>
            <a:r>
              <a:rPr lang="ru-RU" b="1" dirty="0" err="1">
                <a:hlinkClick r:id="rId2"/>
              </a:rPr>
              <a:t>Manager</a:t>
            </a:r>
            <a:r>
              <a:rPr lang="ru-RU" b="1" dirty="0">
                <a:hlinkClick r:id="rId2"/>
              </a:rPr>
              <a:t> </a:t>
            </a:r>
            <a:r>
              <a:rPr lang="ru-RU" b="1" dirty="0" err="1">
                <a:hlinkClick r:id="rId2"/>
              </a:rPr>
              <a:t>Desktop</a:t>
            </a:r>
            <a:endParaRPr lang="ru-RU" b="1" dirty="0"/>
          </a:p>
        </p:txBody>
      </p:sp>
      <p:sp>
        <p:nvSpPr>
          <p:cNvPr id="3" name="Прямоугольник 2"/>
          <p:cNvSpPr/>
          <p:nvPr/>
        </p:nvSpPr>
        <p:spPr>
          <a:xfrm>
            <a:off x="373811" y="612845"/>
            <a:ext cx="6096000" cy="6186309"/>
          </a:xfrm>
          <a:prstGeom prst="rect">
            <a:avLst/>
          </a:prstGeom>
        </p:spPr>
        <p:txBody>
          <a:bodyPr>
            <a:spAutoFit/>
          </a:bodyPr>
          <a:lstStyle/>
          <a:p>
            <a:r>
              <a:rPr lang="ru-RU" dirty="0"/>
              <a:t>Приложение для </a:t>
            </a:r>
            <a:r>
              <a:rPr lang="ru-RU" dirty="0" err="1"/>
              <a:t>Windows</a:t>
            </a:r>
            <a:r>
              <a:rPr lang="ru-RU" dirty="0"/>
              <a:t> позволяет импортировать, экспортировать и управлять данными. Достоинства:</a:t>
            </a:r>
          </a:p>
          <a:p>
            <a:pPr lvl="0"/>
            <a:r>
              <a:rPr lang="ru-RU" dirty="0"/>
              <a:t>удобное изменение шрифтов, цветов, изображений, стилей по своему усмотрению;</a:t>
            </a:r>
          </a:p>
          <a:p>
            <a:pPr marL="285750" lvl="0" indent="-285750">
              <a:buFont typeface="Arial" pitchFamily="34" charset="0"/>
              <a:buChar char="•"/>
            </a:pPr>
            <a:r>
              <a:rPr lang="ru-RU" dirty="0"/>
              <a:t>более 1700 систем координат;</a:t>
            </a:r>
          </a:p>
          <a:p>
            <a:pPr marL="285750" lvl="0" indent="-285750">
              <a:buFont typeface="Arial" pitchFamily="34" charset="0"/>
              <a:buChar char="•"/>
            </a:pPr>
            <a:r>
              <a:rPr lang="ru-RU" dirty="0"/>
              <a:t>возможность одновременно работать с разными слоями, делать детальные прорисовки отдельных элементов;</a:t>
            </a:r>
          </a:p>
          <a:p>
            <a:pPr marL="285750" lvl="0" indent="-285750">
              <a:buFont typeface="Arial" pitchFamily="34" charset="0"/>
              <a:buChar char="•"/>
            </a:pPr>
            <a:r>
              <a:rPr lang="ru-RU" dirty="0"/>
              <a:t>печать целой карты или выделенного элемента;</a:t>
            </a:r>
          </a:p>
          <a:p>
            <a:pPr marL="285750" lvl="0" indent="-285750">
              <a:buFont typeface="Arial" pitchFamily="34" charset="0"/>
              <a:buChar char="•"/>
            </a:pPr>
            <a:r>
              <a:rPr lang="ru-RU" dirty="0"/>
              <a:t>переключение разных карт – дорожных, спутниковых, гибридных;</a:t>
            </a:r>
          </a:p>
          <a:p>
            <a:pPr marL="285750" lvl="0" indent="-285750">
              <a:buFont typeface="Arial" pitchFamily="34" charset="0"/>
              <a:buChar char="•"/>
            </a:pPr>
            <a:r>
              <a:rPr lang="ru-RU" dirty="0"/>
              <a:t>выгрузка любых данных на графическую страницу простым перетаскиванием;</a:t>
            </a:r>
          </a:p>
          <a:p>
            <a:pPr marL="285750" lvl="0" indent="-285750">
              <a:buFont typeface="Arial" pitchFamily="34" charset="0"/>
              <a:buChar char="•"/>
            </a:pPr>
            <a:r>
              <a:rPr lang="ru-RU" dirty="0"/>
              <a:t>работа с данными в облачном хранилище;</a:t>
            </a:r>
          </a:p>
          <a:p>
            <a:pPr marL="285750" lvl="0" indent="-285750">
              <a:buFont typeface="Arial" pitchFamily="34" charset="0"/>
              <a:buChar char="•"/>
            </a:pPr>
            <a:r>
              <a:rPr lang="ru-RU" dirty="0"/>
              <a:t>преобразование координат;</a:t>
            </a:r>
          </a:p>
          <a:p>
            <a:pPr marL="285750" lvl="0" indent="-285750">
              <a:buFont typeface="Arial" pitchFamily="34" charset="0"/>
              <a:buChar char="•"/>
            </a:pPr>
            <a:r>
              <a:rPr lang="ru-RU" dirty="0"/>
              <a:t>наглядное представление табличных данных;</a:t>
            </a:r>
          </a:p>
          <a:p>
            <a:pPr marL="285750" lvl="0" indent="-285750">
              <a:buFont typeface="Arial" pitchFamily="34" charset="0"/>
              <a:buChar char="•"/>
            </a:pPr>
            <a:r>
              <a:rPr lang="ru-RU" dirty="0"/>
              <a:t>система поиска по всем таблицам;</a:t>
            </a:r>
          </a:p>
          <a:p>
            <a:pPr marL="285750" lvl="0" indent="-285750">
              <a:buFont typeface="Arial" pitchFamily="34" charset="0"/>
              <a:buChar char="•"/>
            </a:pPr>
            <a:r>
              <a:rPr lang="ru-RU" dirty="0"/>
              <a:t>фильтрация;</a:t>
            </a:r>
          </a:p>
          <a:p>
            <a:pPr marL="285750" lvl="0" indent="-285750">
              <a:buFont typeface="Arial" pitchFamily="34" charset="0"/>
              <a:buChar char="•"/>
            </a:pPr>
            <a:r>
              <a:rPr lang="ru-RU" dirty="0"/>
              <a:t>экспортирование любой информации в разные программы;</a:t>
            </a:r>
          </a:p>
          <a:p>
            <a:pPr marL="285750" lvl="0" indent="-285750">
              <a:buFont typeface="Arial" pitchFamily="34" charset="0"/>
              <a:buChar char="•"/>
            </a:pPr>
            <a:r>
              <a:rPr lang="ru-RU" dirty="0"/>
              <a:t>персональные запросы </a:t>
            </a:r>
            <a:r>
              <a:rPr lang="ru-RU" dirty="0" err="1"/>
              <a:t>sql</a:t>
            </a:r>
            <a:r>
              <a:rPr lang="ru-RU" dirty="0"/>
              <a:t>;</a:t>
            </a:r>
          </a:p>
          <a:p>
            <a:pPr marL="285750" lvl="0" indent="-285750">
              <a:buFont typeface="Arial" pitchFamily="34" charset="0"/>
              <a:buChar char="•"/>
            </a:pPr>
            <a:r>
              <a:rPr lang="ru-RU" dirty="0"/>
              <a:t>печать созданных карт.</a:t>
            </a:r>
          </a:p>
        </p:txBody>
      </p:sp>
      <p:pic>
        <p:nvPicPr>
          <p:cNvPr id="4" name="Рисунок 3" descr="по для гис"/>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95793" y="1519794"/>
            <a:ext cx="5317286" cy="3681934"/>
          </a:xfrm>
          <a:prstGeom prst="rect">
            <a:avLst/>
          </a:prstGeom>
          <a:noFill/>
          <a:ln>
            <a:noFill/>
          </a:ln>
        </p:spPr>
      </p:pic>
    </p:spTree>
    <p:extLst>
      <p:ext uri="{BB962C8B-B14F-4D97-AF65-F5344CB8AC3E}">
        <p14:creationId xmlns:p14="http://schemas.microsoft.com/office/powerpoint/2010/main" val="11275233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850417" y="199210"/>
            <a:ext cx="4589974" cy="369332"/>
          </a:xfrm>
          <a:prstGeom prst="rect">
            <a:avLst/>
          </a:prstGeom>
        </p:spPr>
        <p:txBody>
          <a:bodyPr wrap="none">
            <a:spAutoFit/>
          </a:bodyPr>
          <a:lstStyle/>
          <a:p>
            <a:r>
              <a:rPr lang="ru-RU" b="1" dirty="0">
                <a:hlinkClick r:id="rId2"/>
              </a:rPr>
              <a:t>ГИС</a:t>
            </a:r>
            <a:r>
              <a:rPr lang="en-US" b="1" dirty="0">
                <a:hlinkClick r:id="rId2"/>
              </a:rPr>
              <a:t> Spatial Manager Professional </a:t>
            </a:r>
            <a:r>
              <a:rPr lang="ru-RU" b="1" dirty="0">
                <a:hlinkClick r:id="rId2"/>
              </a:rPr>
              <a:t>для</a:t>
            </a:r>
            <a:r>
              <a:rPr lang="en-US" b="1" dirty="0">
                <a:hlinkClick r:id="rId2"/>
              </a:rPr>
              <a:t> ZWCAD</a:t>
            </a:r>
            <a:endParaRPr lang="ru-RU" b="1" dirty="0"/>
          </a:p>
        </p:txBody>
      </p:sp>
      <p:sp>
        <p:nvSpPr>
          <p:cNvPr id="3" name="Прямоугольник 2"/>
          <p:cNvSpPr/>
          <p:nvPr/>
        </p:nvSpPr>
        <p:spPr>
          <a:xfrm>
            <a:off x="439030" y="1551693"/>
            <a:ext cx="11412747" cy="4524315"/>
          </a:xfrm>
          <a:prstGeom prst="rect">
            <a:avLst/>
          </a:prstGeom>
        </p:spPr>
        <p:txBody>
          <a:bodyPr wrap="square">
            <a:spAutoFit/>
          </a:bodyPr>
          <a:lstStyle/>
          <a:p>
            <a:r>
              <a:rPr lang="ru-RU" dirty="0"/>
              <a:t>Модуль является надстройкой для базового САПРа. Аналогичный проект есть для установки на </a:t>
            </a:r>
            <a:r>
              <a:rPr lang="ru-RU" dirty="0" err="1"/>
              <a:t>AutoCAD</a:t>
            </a:r>
            <a:r>
              <a:rPr lang="ru-RU" dirty="0"/>
              <a:t>. Преимущества:</a:t>
            </a:r>
          </a:p>
          <a:p>
            <a:pPr marL="285750" lvl="0" indent="-285750">
              <a:buFont typeface="Arial" pitchFamily="34" charset="0"/>
              <a:buChar char="•"/>
            </a:pPr>
            <a:r>
              <a:rPr lang="ru-RU" dirty="0"/>
              <a:t>Невысокая стоимость.</a:t>
            </a:r>
          </a:p>
          <a:p>
            <a:pPr marL="285750" lvl="0" indent="-285750">
              <a:buFont typeface="Arial" pitchFamily="34" charset="0"/>
              <a:buChar char="•"/>
            </a:pPr>
            <a:r>
              <a:rPr lang="ru-RU" dirty="0"/>
              <a:t>Удобный интерфейс.</a:t>
            </a:r>
          </a:p>
          <a:p>
            <a:pPr marL="285750" lvl="0" indent="-285750">
              <a:buFont typeface="Arial" pitchFamily="34" charset="0"/>
              <a:buChar char="•"/>
            </a:pPr>
            <a:r>
              <a:rPr lang="ru-RU" dirty="0"/>
              <a:t>Полная интеграция с системой автоматизированного проектирования ZWCAD.</a:t>
            </a:r>
          </a:p>
          <a:p>
            <a:pPr marL="285750" lvl="0" indent="-285750">
              <a:buFont typeface="Arial" pitchFamily="34" charset="0"/>
              <a:buChar char="•"/>
            </a:pPr>
            <a:r>
              <a:rPr lang="ru-RU" dirty="0"/>
              <a:t>Настройка свойств объектов в графическом редакторе: ширина линий, их цвет, заливка и проч.</a:t>
            </a:r>
          </a:p>
          <a:p>
            <a:pPr marL="285750" lvl="0" indent="-285750">
              <a:buFont typeface="Arial" pitchFamily="34" charset="0"/>
              <a:buChar char="•"/>
            </a:pPr>
            <a:r>
              <a:rPr lang="ru-RU" dirty="0"/>
              <a:t>Обработка большого объема данных без ущерба производительности.</a:t>
            </a:r>
          </a:p>
          <a:p>
            <a:pPr marL="285750" lvl="0" indent="-285750">
              <a:buFont typeface="Arial" pitchFamily="34" charset="0"/>
              <a:buChar char="•"/>
            </a:pPr>
            <a:r>
              <a:rPr lang="ru-RU" dirty="0"/>
              <a:t>Выгрузка данных из форматов </a:t>
            </a:r>
            <a:r>
              <a:rPr lang="ru-RU" dirty="0" err="1"/>
              <a:t>Google</a:t>
            </a:r>
            <a:r>
              <a:rPr lang="ru-RU" dirty="0"/>
              <a:t> </a:t>
            </a:r>
            <a:r>
              <a:rPr lang="ru-RU" dirty="0" err="1"/>
              <a:t>Earth</a:t>
            </a:r>
            <a:r>
              <a:rPr lang="ru-RU" dirty="0"/>
              <a:t>, </a:t>
            </a:r>
            <a:r>
              <a:rPr lang="ru-RU" dirty="0" err="1"/>
              <a:t>OpenStreetMap</a:t>
            </a:r>
            <a:r>
              <a:rPr lang="ru-RU" dirty="0"/>
              <a:t>, </a:t>
            </a:r>
            <a:r>
              <a:rPr lang="ru-RU" dirty="0" err="1"/>
              <a:t>Autodesk</a:t>
            </a:r>
            <a:r>
              <a:rPr lang="ru-RU" dirty="0"/>
              <a:t> </a:t>
            </a:r>
            <a:r>
              <a:rPr lang="ru-RU" dirty="0" err="1"/>
              <a:t>Map</a:t>
            </a:r>
            <a:r>
              <a:rPr lang="ru-RU" dirty="0"/>
              <a:t>, </a:t>
            </a:r>
            <a:r>
              <a:rPr lang="ru-RU" dirty="0" err="1"/>
              <a:t>Esri</a:t>
            </a:r>
            <a:r>
              <a:rPr lang="ru-RU" dirty="0"/>
              <a:t> </a:t>
            </a:r>
            <a:r>
              <a:rPr lang="ru-RU" dirty="0" err="1"/>
              <a:t>Arcgis</a:t>
            </a:r>
            <a:r>
              <a:rPr lang="ru-RU" dirty="0"/>
              <a:t>, </a:t>
            </a:r>
            <a:r>
              <a:rPr lang="ru-RU" dirty="0" err="1"/>
              <a:t>MapInfo</a:t>
            </a:r>
            <a:r>
              <a:rPr lang="ru-RU" dirty="0"/>
              <a:t>, </a:t>
            </a:r>
            <a:r>
              <a:rPr lang="ru-RU" dirty="0" err="1"/>
              <a:t>Microstation</a:t>
            </a:r>
            <a:r>
              <a:rPr lang="ru-RU" dirty="0"/>
              <a:t>, </a:t>
            </a:r>
            <a:r>
              <a:rPr lang="ru-RU" dirty="0" err="1"/>
              <a:t>Microsoft</a:t>
            </a:r>
            <a:r>
              <a:rPr lang="ru-RU" dirty="0"/>
              <a:t> SQL </a:t>
            </a:r>
            <a:r>
              <a:rPr lang="ru-RU" dirty="0" err="1"/>
              <a:t>Server</a:t>
            </a:r>
            <a:r>
              <a:rPr lang="ru-RU" dirty="0"/>
              <a:t>, </a:t>
            </a:r>
            <a:r>
              <a:rPr lang="ru-RU" dirty="0" err="1"/>
              <a:t>PostGIS</a:t>
            </a:r>
            <a:r>
              <a:rPr lang="ru-RU" dirty="0"/>
              <a:t> и пр.</a:t>
            </a:r>
          </a:p>
          <a:p>
            <a:pPr marL="285750" lvl="0" indent="-285750">
              <a:buFont typeface="Arial" pitchFamily="34" charset="0"/>
              <a:buChar char="•"/>
            </a:pPr>
            <a:r>
              <a:rPr lang="ru-RU" dirty="0"/>
              <a:t>Связь с данными в облаке.</a:t>
            </a:r>
          </a:p>
          <a:p>
            <a:pPr marL="285750" lvl="0" indent="-285750">
              <a:buFont typeface="Arial" pitchFamily="34" charset="0"/>
              <a:buChar char="•"/>
            </a:pPr>
            <a:r>
              <a:rPr lang="ru-RU" dirty="0"/>
              <a:t>Фоновые карты, в </a:t>
            </a:r>
            <a:r>
              <a:rPr lang="ru-RU" dirty="0" err="1"/>
              <a:t>т.ч</a:t>
            </a:r>
            <a:r>
              <a:rPr lang="ru-RU" dirty="0"/>
              <a:t>. Гугл, Яндекс, </a:t>
            </a:r>
            <a:r>
              <a:rPr lang="ru-RU" dirty="0" err="1"/>
              <a:t>Космоснимки</a:t>
            </a:r>
            <a:r>
              <a:rPr lang="ru-RU" dirty="0"/>
              <a:t>.</a:t>
            </a:r>
          </a:p>
          <a:p>
            <a:pPr marL="285750" lvl="0" indent="-285750">
              <a:buFont typeface="Arial" pitchFamily="34" charset="0"/>
              <a:buChar char="•"/>
            </a:pPr>
            <a:r>
              <a:rPr lang="ru-RU" dirty="0"/>
              <a:t>Вставка и совмещение </a:t>
            </a:r>
            <a:r>
              <a:rPr lang="ru-RU" dirty="0" err="1"/>
              <a:t>геореференцированных</a:t>
            </a:r>
            <a:r>
              <a:rPr lang="ru-RU" dirty="0"/>
              <a:t> изображений </a:t>
            </a:r>
            <a:r>
              <a:rPr lang="ru-RU" dirty="0" err="1"/>
              <a:t>Jpeg</a:t>
            </a:r>
            <a:r>
              <a:rPr lang="ru-RU" dirty="0"/>
              <a:t>, </a:t>
            </a:r>
            <a:r>
              <a:rPr lang="ru-RU" dirty="0" err="1"/>
              <a:t>Tiff</a:t>
            </a:r>
            <a:r>
              <a:rPr lang="ru-RU" dirty="0"/>
              <a:t>, </a:t>
            </a:r>
            <a:r>
              <a:rPr lang="ru-RU" dirty="0" err="1"/>
              <a:t>Png</a:t>
            </a:r>
            <a:r>
              <a:rPr lang="ru-RU" dirty="0"/>
              <a:t> и др.</a:t>
            </a:r>
          </a:p>
          <a:p>
            <a:pPr marL="285750" lvl="0" indent="-285750">
              <a:buFont typeface="Arial" pitchFamily="34" charset="0"/>
              <a:buChar char="•"/>
            </a:pPr>
            <a:r>
              <a:rPr lang="ru-RU" dirty="0"/>
              <a:t>Сравнение с подложкой из других сторонних программ.</a:t>
            </a:r>
          </a:p>
          <a:p>
            <a:pPr marL="285750" lvl="0" indent="-285750">
              <a:buFont typeface="Arial" pitchFamily="34" charset="0"/>
              <a:buChar char="•"/>
            </a:pPr>
            <a:r>
              <a:rPr lang="ru-RU" dirty="0"/>
              <a:t>Трансформация в сотни систем координат.</a:t>
            </a:r>
          </a:p>
          <a:p>
            <a:pPr marL="285750" lvl="0" indent="-285750">
              <a:buFont typeface="Arial" pitchFamily="34" charset="0"/>
              <a:buChar char="•"/>
            </a:pPr>
            <a:r>
              <a:rPr lang="ru-RU" dirty="0"/>
              <a:t>Импорт и экспорт без потери данных пространственных таблиц.</a:t>
            </a:r>
          </a:p>
          <a:p>
            <a:pPr marL="285750" lvl="0" indent="-285750">
              <a:buFont typeface="Arial" pitchFamily="34" charset="0"/>
              <a:buChar char="•"/>
            </a:pPr>
            <a:r>
              <a:rPr lang="ru-RU" dirty="0"/>
              <a:t>Передача в форматы KML и KMZ, </a:t>
            </a:r>
            <a:r>
              <a:rPr lang="ru-RU" dirty="0" err="1"/>
              <a:t>MiD</a:t>
            </a:r>
            <a:r>
              <a:rPr lang="ru-RU" dirty="0"/>
              <a:t> и </a:t>
            </a:r>
            <a:r>
              <a:rPr lang="ru-RU" dirty="0" err="1"/>
              <a:t>MiF</a:t>
            </a:r>
            <a:r>
              <a:rPr lang="ru-RU" dirty="0"/>
              <a:t>, </a:t>
            </a:r>
            <a:r>
              <a:rPr lang="ru-RU" dirty="0" err="1"/>
              <a:t>Tab</a:t>
            </a:r>
            <a:r>
              <a:rPr lang="ru-RU" dirty="0"/>
              <a:t> и SHP.</a:t>
            </a:r>
          </a:p>
        </p:txBody>
      </p:sp>
    </p:spTree>
    <p:extLst>
      <p:ext uri="{BB962C8B-B14F-4D97-AF65-F5344CB8AC3E}">
        <p14:creationId xmlns:p14="http://schemas.microsoft.com/office/powerpoint/2010/main" val="16683898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164398" y="216463"/>
            <a:ext cx="931602" cy="369332"/>
          </a:xfrm>
          <a:prstGeom prst="rect">
            <a:avLst/>
          </a:prstGeom>
        </p:spPr>
        <p:txBody>
          <a:bodyPr wrap="none">
            <a:spAutoFit/>
          </a:bodyPr>
          <a:lstStyle/>
          <a:p>
            <a:r>
              <a:rPr lang="ru-RU" b="1" dirty="0" err="1">
                <a:hlinkClick r:id="rId2"/>
              </a:rPr>
              <a:t>ПроГЕО</a:t>
            </a:r>
            <a:endParaRPr lang="ru-RU" b="1" dirty="0"/>
          </a:p>
        </p:txBody>
      </p:sp>
      <p:sp>
        <p:nvSpPr>
          <p:cNvPr id="3" name="Прямоугольник 2"/>
          <p:cNvSpPr/>
          <p:nvPr/>
        </p:nvSpPr>
        <p:spPr>
          <a:xfrm>
            <a:off x="744746" y="709165"/>
            <a:ext cx="6328913" cy="4801314"/>
          </a:xfrm>
          <a:prstGeom prst="rect">
            <a:avLst/>
          </a:prstGeom>
        </p:spPr>
        <p:txBody>
          <a:bodyPr wrap="square">
            <a:spAutoFit/>
          </a:bodyPr>
          <a:lstStyle/>
          <a:p>
            <a:r>
              <a:rPr lang="ru-RU" dirty="0"/>
              <a:t>Многофункциональное приложение, которое имеет двустороннее взаимодействие с платформой ZWCAD. Идеально подходит для нужд кадастровых инженеров, так как оно интегрировано с публичной кадастровой картой земельных участков </a:t>
            </a:r>
            <a:r>
              <a:rPr lang="ru-RU" dirty="0" err="1"/>
              <a:t>Росреестра</a:t>
            </a:r>
            <a:r>
              <a:rPr lang="ru-RU" dirty="0"/>
              <a:t>. Возможности:</a:t>
            </a:r>
          </a:p>
          <a:p>
            <a:pPr marL="285750" lvl="0" indent="-285750">
              <a:buFont typeface="Arial" pitchFamily="34" charset="0"/>
              <a:buChar char="•"/>
            </a:pPr>
            <a:r>
              <a:rPr lang="ru-RU" dirty="0"/>
              <a:t>создание всех требуемых госорганами документов в одной среде;</a:t>
            </a:r>
          </a:p>
          <a:p>
            <a:pPr marL="285750" lvl="0" indent="-285750">
              <a:buFont typeface="Arial" pitchFamily="34" charset="0"/>
              <a:buChar char="•"/>
            </a:pPr>
            <a:r>
              <a:rPr lang="ru-RU" dirty="0"/>
              <a:t>актуальные схемы </a:t>
            </a:r>
            <a:r>
              <a:rPr lang="ru-RU" dirty="0" err="1"/>
              <a:t>xml</a:t>
            </a:r>
            <a:r>
              <a:rPr lang="ru-RU" dirty="0"/>
              <a:t> </a:t>
            </a:r>
            <a:r>
              <a:rPr lang="ru-RU" dirty="0" err="1"/>
              <a:t>Росреестра</a:t>
            </a:r>
            <a:r>
              <a:rPr lang="ru-RU" dirty="0"/>
              <a:t>;</a:t>
            </a:r>
          </a:p>
          <a:p>
            <a:pPr marL="285750" lvl="0" indent="-285750">
              <a:buFont typeface="Arial" pitchFamily="34" charset="0"/>
              <a:buChar char="•"/>
            </a:pPr>
            <a:r>
              <a:rPr lang="ru-RU" dirty="0"/>
              <a:t>заявление от имени собственника;</a:t>
            </a:r>
          </a:p>
          <a:p>
            <a:pPr marL="285750" lvl="0" indent="-285750">
              <a:buFont typeface="Arial" pitchFamily="34" charset="0"/>
              <a:buChar char="•"/>
            </a:pPr>
            <a:r>
              <a:rPr lang="ru-RU" dirty="0"/>
              <a:t>автоматизированное заполнение документации по кадастру;</a:t>
            </a:r>
          </a:p>
          <a:p>
            <a:pPr marL="285750" lvl="0" indent="-285750">
              <a:buFont typeface="Arial" pitchFamily="34" charset="0"/>
              <a:buChar char="•"/>
            </a:pPr>
            <a:r>
              <a:rPr lang="ru-RU" dirty="0"/>
              <a:t>наполнение исходными данными из разных источников (в </a:t>
            </a:r>
            <a:r>
              <a:rPr lang="ru-RU" dirty="0" err="1"/>
              <a:t>т.ч</a:t>
            </a:r>
            <a:r>
              <a:rPr lang="ru-RU" dirty="0"/>
              <a:t>. </a:t>
            </a:r>
            <a:r>
              <a:rPr lang="ru-RU" dirty="0" err="1"/>
              <a:t>AutoCAD</a:t>
            </a:r>
            <a:r>
              <a:rPr lang="ru-RU" dirty="0"/>
              <a:t>, Панорама, </a:t>
            </a:r>
            <a:r>
              <a:rPr lang="ru-RU" dirty="0" err="1"/>
              <a:t>Credo</a:t>
            </a:r>
            <a:r>
              <a:rPr lang="ru-RU" dirty="0"/>
              <a:t> и </a:t>
            </a:r>
            <a:r>
              <a:rPr lang="ru-RU" dirty="0" err="1"/>
              <a:t>др</a:t>
            </a:r>
            <a:r>
              <a:rPr lang="ru-RU" dirty="0"/>
              <a:t>);</a:t>
            </a:r>
          </a:p>
          <a:p>
            <a:pPr marL="285750" lvl="0" indent="-285750">
              <a:buFont typeface="Arial" pitchFamily="34" charset="0"/>
              <a:buChar char="•"/>
            </a:pPr>
            <a:r>
              <a:rPr lang="ru-RU" dirty="0"/>
              <a:t>работа с файлами </a:t>
            </a:r>
            <a:r>
              <a:rPr lang="ru-RU" dirty="0" err="1"/>
              <a:t>MapInfo</a:t>
            </a:r>
            <a:r>
              <a:rPr lang="ru-RU" dirty="0"/>
              <a:t>;</a:t>
            </a:r>
          </a:p>
          <a:p>
            <a:pPr marL="285750" lvl="0" indent="-285750">
              <a:buFont typeface="Arial" pitchFamily="34" charset="0"/>
              <a:buChar char="•"/>
            </a:pPr>
            <a:r>
              <a:rPr lang="ru-RU" dirty="0"/>
              <a:t>полная совместимость с САПРами;</a:t>
            </a:r>
          </a:p>
          <a:p>
            <a:pPr marL="285750" lvl="0" indent="-285750">
              <a:buFont typeface="Arial" pitchFamily="34" charset="0"/>
              <a:buChar char="•"/>
            </a:pPr>
            <a:r>
              <a:rPr lang="ru-RU" dirty="0"/>
              <a:t>подписание электронной цифровой подписью;</a:t>
            </a:r>
          </a:p>
          <a:p>
            <a:pPr marL="285750" lvl="0" indent="-285750">
              <a:buFont typeface="Arial" pitchFamily="34" charset="0"/>
              <a:buChar char="•"/>
            </a:pPr>
            <a:r>
              <a:rPr lang="ru-RU" dirty="0"/>
              <a:t>сдача документов онлайн.</a:t>
            </a:r>
          </a:p>
        </p:txBody>
      </p:sp>
      <p:pic>
        <p:nvPicPr>
          <p:cNvPr id="4" name="Рисунок 3" descr="программные продукты гис"/>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73659" y="1765803"/>
            <a:ext cx="4968816" cy="3125374"/>
          </a:xfrm>
          <a:prstGeom prst="rect">
            <a:avLst/>
          </a:prstGeom>
          <a:noFill/>
          <a:ln>
            <a:noFill/>
          </a:ln>
        </p:spPr>
      </p:pic>
    </p:spTree>
    <p:extLst>
      <p:ext uri="{BB962C8B-B14F-4D97-AF65-F5344CB8AC3E}">
        <p14:creationId xmlns:p14="http://schemas.microsoft.com/office/powerpoint/2010/main" val="10060075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ChangeArrowheads="1"/>
          </p:cNvSpPr>
          <p:nvPr>
            <p:ph type="body" idx="1"/>
          </p:nvPr>
        </p:nvSpPr>
        <p:spPr>
          <a:xfrm>
            <a:off x="2208214" y="1700213"/>
            <a:ext cx="1811337" cy="533400"/>
          </a:xfrm>
        </p:spPr>
        <p:txBody>
          <a:bodyPr/>
          <a:lstStyle/>
          <a:p>
            <a:pPr>
              <a:buFontTx/>
              <a:buNone/>
            </a:pPr>
            <a:r>
              <a:rPr lang="ru-RU">
                <a:solidFill>
                  <a:srgbClr val="C0C0C0"/>
                </a:solidFill>
              </a:rPr>
              <a:t>Спасибо</a:t>
            </a:r>
          </a:p>
        </p:txBody>
      </p:sp>
      <p:sp>
        <p:nvSpPr>
          <p:cNvPr id="36866" name="Rectangle 3"/>
          <p:cNvSpPr>
            <a:spLocks noChangeArrowheads="1"/>
          </p:cNvSpPr>
          <p:nvPr/>
        </p:nvSpPr>
        <p:spPr bwMode="auto">
          <a:xfrm rot="-1966961">
            <a:off x="4249739" y="1474788"/>
            <a:ext cx="237648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thank you</a:t>
            </a:r>
          </a:p>
        </p:txBody>
      </p:sp>
      <p:sp>
        <p:nvSpPr>
          <p:cNvPr id="36867" name="Rectangle 4"/>
          <p:cNvSpPr>
            <a:spLocks noChangeArrowheads="1"/>
          </p:cNvSpPr>
          <p:nvPr/>
        </p:nvSpPr>
        <p:spPr bwMode="auto">
          <a:xfrm rot="1339931">
            <a:off x="3287714" y="3429000"/>
            <a:ext cx="1811337"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68" name="Rectangle 5"/>
          <p:cNvSpPr>
            <a:spLocks noChangeArrowheads="1"/>
          </p:cNvSpPr>
          <p:nvPr/>
        </p:nvSpPr>
        <p:spPr bwMode="auto">
          <a:xfrm rot="932178">
            <a:off x="5016500" y="2347913"/>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69" name="Rectangle 6"/>
          <p:cNvSpPr>
            <a:spLocks noChangeArrowheads="1"/>
          </p:cNvSpPr>
          <p:nvPr/>
        </p:nvSpPr>
        <p:spPr bwMode="auto">
          <a:xfrm>
            <a:off x="6024564" y="3068638"/>
            <a:ext cx="1811337"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70" name="Rectangle 7"/>
          <p:cNvSpPr>
            <a:spLocks noChangeArrowheads="1"/>
          </p:cNvSpPr>
          <p:nvPr/>
        </p:nvSpPr>
        <p:spPr bwMode="auto">
          <a:xfrm rot="-634205">
            <a:off x="2063751" y="2060575"/>
            <a:ext cx="2879725"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thank you</a:t>
            </a:r>
          </a:p>
        </p:txBody>
      </p:sp>
      <p:sp>
        <p:nvSpPr>
          <p:cNvPr id="36871" name="Rectangle 8"/>
          <p:cNvSpPr>
            <a:spLocks noChangeArrowheads="1"/>
          </p:cNvSpPr>
          <p:nvPr/>
        </p:nvSpPr>
        <p:spPr bwMode="auto">
          <a:xfrm>
            <a:off x="6743700" y="1484313"/>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gracias</a:t>
            </a:r>
          </a:p>
        </p:txBody>
      </p:sp>
      <p:sp>
        <p:nvSpPr>
          <p:cNvPr id="36872" name="Rectangle 9"/>
          <p:cNvSpPr>
            <a:spLocks noChangeArrowheads="1"/>
          </p:cNvSpPr>
          <p:nvPr/>
        </p:nvSpPr>
        <p:spPr bwMode="auto">
          <a:xfrm rot="-2708425">
            <a:off x="1353344" y="1331119"/>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73" name="Rectangle 10"/>
          <p:cNvSpPr>
            <a:spLocks noChangeArrowheads="1"/>
          </p:cNvSpPr>
          <p:nvPr/>
        </p:nvSpPr>
        <p:spPr bwMode="auto">
          <a:xfrm rot="-1124404">
            <a:off x="7175500" y="4437063"/>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74" name="Rectangle 11"/>
          <p:cNvSpPr>
            <a:spLocks noChangeArrowheads="1"/>
          </p:cNvSpPr>
          <p:nvPr/>
        </p:nvSpPr>
        <p:spPr bwMode="auto">
          <a:xfrm>
            <a:off x="2486025" y="3465513"/>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merci</a:t>
            </a:r>
          </a:p>
        </p:txBody>
      </p:sp>
      <p:sp>
        <p:nvSpPr>
          <p:cNvPr id="36875" name="Rectangle 12"/>
          <p:cNvSpPr>
            <a:spLocks noChangeArrowheads="1"/>
          </p:cNvSpPr>
          <p:nvPr/>
        </p:nvSpPr>
        <p:spPr bwMode="auto">
          <a:xfrm rot="-1966961">
            <a:off x="3000375" y="620713"/>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danke</a:t>
            </a:r>
          </a:p>
        </p:txBody>
      </p:sp>
      <p:sp>
        <p:nvSpPr>
          <p:cNvPr id="36876" name="Rectangle 13"/>
          <p:cNvSpPr>
            <a:spLocks noChangeArrowheads="1"/>
          </p:cNvSpPr>
          <p:nvPr/>
        </p:nvSpPr>
        <p:spPr bwMode="auto">
          <a:xfrm rot="1339931">
            <a:off x="3071814" y="5078413"/>
            <a:ext cx="1811337"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77" name="Rectangle 14"/>
          <p:cNvSpPr>
            <a:spLocks noChangeArrowheads="1"/>
          </p:cNvSpPr>
          <p:nvPr/>
        </p:nvSpPr>
        <p:spPr bwMode="auto">
          <a:xfrm rot="932178">
            <a:off x="5521325" y="4357688"/>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gracias</a:t>
            </a:r>
          </a:p>
        </p:txBody>
      </p:sp>
      <p:sp>
        <p:nvSpPr>
          <p:cNvPr id="36878" name="Rectangle 15"/>
          <p:cNvSpPr>
            <a:spLocks noChangeArrowheads="1"/>
          </p:cNvSpPr>
          <p:nvPr/>
        </p:nvSpPr>
        <p:spPr bwMode="auto">
          <a:xfrm>
            <a:off x="6529389" y="5078413"/>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danke</a:t>
            </a:r>
          </a:p>
        </p:txBody>
      </p:sp>
      <p:sp>
        <p:nvSpPr>
          <p:cNvPr id="36879" name="Rectangle 16"/>
          <p:cNvSpPr>
            <a:spLocks noChangeArrowheads="1"/>
          </p:cNvSpPr>
          <p:nvPr/>
        </p:nvSpPr>
        <p:spPr bwMode="auto">
          <a:xfrm rot="-634205">
            <a:off x="3144839" y="4141788"/>
            <a:ext cx="1811337"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80" name="Rectangle 17"/>
          <p:cNvSpPr>
            <a:spLocks noChangeArrowheads="1"/>
          </p:cNvSpPr>
          <p:nvPr/>
        </p:nvSpPr>
        <p:spPr bwMode="auto">
          <a:xfrm rot="932178">
            <a:off x="7608889" y="3571875"/>
            <a:ext cx="1811337"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81" name="Rectangle 18"/>
          <p:cNvSpPr>
            <a:spLocks noChangeArrowheads="1"/>
          </p:cNvSpPr>
          <p:nvPr/>
        </p:nvSpPr>
        <p:spPr bwMode="auto">
          <a:xfrm rot="-2708425">
            <a:off x="4945857" y="4933157"/>
            <a:ext cx="1811337"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82" name="Rectangle 19"/>
          <p:cNvSpPr>
            <a:spLocks noChangeArrowheads="1"/>
          </p:cNvSpPr>
          <p:nvPr/>
        </p:nvSpPr>
        <p:spPr bwMode="auto">
          <a:xfrm rot="-2055057">
            <a:off x="8616950" y="5589588"/>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83" name="Rectangle 20"/>
          <p:cNvSpPr>
            <a:spLocks noChangeArrowheads="1"/>
          </p:cNvSpPr>
          <p:nvPr/>
        </p:nvSpPr>
        <p:spPr bwMode="auto">
          <a:xfrm rot="-1966961">
            <a:off x="8856664" y="2132013"/>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gracias</a:t>
            </a:r>
          </a:p>
        </p:txBody>
      </p:sp>
      <p:sp>
        <p:nvSpPr>
          <p:cNvPr id="36884" name="Rectangle 21"/>
          <p:cNvSpPr>
            <a:spLocks noChangeArrowheads="1"/>
          </p:cNvSpPr>
          <p:nvPr/>
        </p:nvSpPr>
        <p:spPr bwMode="auto">
          <a:xfrm rot="932178">
            <a:off x="7535864" y="2276475"/>
            <a:ext cx="1811337"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85" name="Rectangle 22"/>
          <p:cNvSpPr>
            <a:spLocks noChangeArrowheads="1"/>
          </p:cNvSpPr>
          <p:nvPr/>
        </p:nvSpPr>
        <p:spPr bwMode="auto">
          <a:xfrm>
            <a:off x="8543925" y="2997200"/>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86" name="Rectangle 23"/>
          <p:cNvSpPr>
            <a:spLocks noChangeArrowheads="1"/>
          </p:cNvSpPr>
          <p:nvPr/>
        </p:nvSpPr>
        <p:spPr bwMode="auto">
          <a:xfrm rot="550398">
            <a:off x="5664200" y="1916113"/>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thanks</a:t>
            </a:r>
          </a:p>
        </p:txBody>
      </p:sp>
      <p:sp>
        <p:nvSpPr>
          <p:cNvPr id="36887" name="Rectangle 24"/>
          <p:cNvSpPr>
            <a:spLocks noChangeArrowheads="1"/>
          </p:cNvSpPr>
          <p:nvPr/>
        </p:nvSpPr>
        <p:spPr bwMode="auto">
          <a:xfrm>
            <a:off x="5005389" y="3394075"/>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danke</a:t>
            </a:r>
          </a:p>
        </p:txBody>
      </p:sp>
      <p:sp>
        <p:nvSpPr>
          <p:cNvPr id="36888" name="Rectangle 25"/>
          <p:cNvSpPr>
            <a:spLocks noChangeArrowheads="1"/>
          </p:cNvSpPr>
          <p:nvPr/>
        </p:nvSpPr>
        <p:spPr bwMode="auto">
          <a:xfrm rot="1339931">
            <a:off x="4151314" y="4724400"/>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grazie</a:t>
            </a:r>
          </a:p>
        </p:txBody>
      </p:sp>
      <p:sp>
        <p:nvSpPr>
          <p:cNvPr id="36889" name="Rectangle 26"/>
          <p:cNvSpPr>
            <a:spLocks noChangeArrowheads="1"/>
          </p:cNvSpPr>
          <p:nvPr/>
        </p:nvSpPr>
        <p:spPr bwMode="auto">
          <a:xfrm rot="-1966961">
            <a:off x="3333750" y="2349500"/>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merci</a:t>
            </a:r>
          </a:p>
        </p:txBody>
      </p:sp>
      <p:sp>
        <p:nvSpPr>
          <p:cNvPr id="36890" name="Rectangle 27"/>
          <p:cNvSpPr>
            <a:spLocks noChangeArrowheads="1"/>
          </p:cNvSpPr>
          <p:nvPr/>
        </p:nvSpPr>
        <p:spPr bwMode="auto">
          <a:xfrm rot="932178">
            <a:off x="6240464" y="3716338"/>
            <a:ext cx="1811337"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91" name="Rectangle 28"/>
          <p:cNvSpPr>
            <a:spLocks noChangeArrowheads="1"/>
          </p:cNvSpPr>
          <p:nvPr/>
        </p:nvSpPr>
        <p:spPr bwMode="auto">
          <a:xfrm>
            <a:off x="6888164" y="2563813"/>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grazie</a:t>
            </a:r>
          </a:p>
        </p:txBody>
      </p:sp>
      <p:sp>
        <p:nvSpPr>
          <p:cNvPr id="36892" name="Rectangle 29"/>
          <p:cNvSpPr>
            <a:spLocks noChangeArrowheads="1"/>
          </p:cNvSpPr>
          <p:nvPr/>
        </p:nvSpPr>
        <p:spPr bwMode="auto">
          <a:xfrm rot="-634205">
            <a:off x="1524000" y="2708275"/>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grazie</a:t>
            </a:r>
          </a:p>
        </p:txBody>
      </p:sp>
      <p:sp>
        <p:nvSpPr>
          <p:cNvPr id="36893" name="Rectangle 30"/>
          <p:cNvSpPr>
            <a:spLocks noChangeArrowheads="1"/>
          </p:cNvSpPr>
          <p:nvPr/>
        </p:nvSpPr>
        <p:spPr bwMode="auto">
          <a:xfrm>
            <a:off x="1524000" y="4076700"/>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thank you</a:t>
            </a:r>
          </a:p>
        </p:txBody>
      </p:sp>
      <p:sp>
        <p:nvSpPr>
          <p:cNvPr id="36894" name="Rectangle 31"/>
          <p:cNvSpPr>
            <a:spLocks noChangeArrowheads="1"/>
          </p:cNvSpPr>
          <p:nvPr/>
        </p:nvSpPr>
        <p:spPr bwMode="auto">
          <a:xfrm rot="1339931">
            <a:off x="1524000" y="5948363"/>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95" name="Rectangle 32"/>
          <p:cNvSpPr>
            <a:spLocks noChangeArrowheads="1"/>
          </p:cNvSpPr>
          <p:nvPr/>
        </p:nvSpPr>
        <p:spPr bwMode="auto">
          <a:xfrm>
            <a:off x="2351089" y="5516563"/>
            <a:ext cx="1811337" cy="533400"/>
          </a:xfrm>
          <a:prstGeom prst="rect">
            <a:avLst/>
          </a:prstGeom>
          <a:noFill/>
          <a:ln w="9525">
            <a:noFill/>
            <a:miter lim="800000"/>
            <a:headEnd/>
            <a:tailEnd/>
          </a:ln>
        </p:spPr>
        <p:txBody>
          <a:bodyPr/>
          <a:lstStyle/>
          <a:p>
            <a:pPr marL="342900" indent="-342900" eaLnBrk="0" hangingPunct="0">
              <a:spcBef>
                <a:spcPct val="20000"/>
              </a:spcBef>
            </a:pPr>
            <a:r>
              <a:rPr lang="en-US" sz="3200">
                <a:solidFill>
                  <a:srgbClr val="C0C0C0"/>
                </a:solidFill>
              </a:rPr>
              <a:t>thanks</a:t>
            </a:r>
            <a:endParaRPr lang="ru-RU" sz="3200">
              <a:solidFill>
                <a:srgbClr val="C0C0C0"/>
              </a:solidFill>
            </a:endParaRPr>
          </a:p>
        </p:txBody>
      </p:sp>
      <p:sp>
        <p:nvSpPr>
          <p:cNvPr id="36896" name="Rectangle 33"/>
          <p:cNvSpPr>
            <a:spLocks noChangeArrowheads="1"/>
          </p:cNvSpPr>
          <p:nvPr/>
        </p:nvSpPr>
        <p:spPr bwMode="auto">
          <a:xfrm>
            <a:off x="6743700" y="6021388"/>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97" name="Rectangle 34"/>
          <p:cNvSpPr>
            <a:spLocks noChangeArrowheads="1"/>
          </p:cNvSpPr>
          <p:nvPr/>
        </p:nvSpPr>
        <p:spPr bwMode="auto">
          <a:xfrm rot="932178">
            <a:off x="7896225" y="5156200"/>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merci</a:t>
            </a:r>
          </a:p>
        </p:txBody>
      </p:sp>
      <p:sp>
        <p:nvSpPr>
          <p:cNvPr id="36898" name="Rectangle 35"/>
          <p:cNvSpPr>
            <a:spLocks noChangeArrowheads="1"/>
          </p:cNvSpPr>
          <p:nvPr/>
        </p:nvSpPr>
        <p:spPr bwMode="auto">
          <a:xfrm rot="-634205">
            <a:off x="4943476" y="5589588"/>
            <a:ext cx="2447925"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thank you</a:t>
            </a:r>
          </a:p>
        </p:txBody>
      </p:sp>
      <p:sp>
        <p:nvSpPr>
          <p:cNvPr id="36899" name="Rectangle 36"/>
          <p:cNvSpPr>
            <a:spLocks noChangeArrowheads="1"/>
          </p:cNvSpPr>
          <p:nvPr/>
        </p:nvSpPr>
        <p:spPr bwMode="auto">
          <a:xfrm rot="-1966961">
            <a:off x="3478214" y="5805488"/>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merci</a:t>
            </a:r>
          </a:p>
        </p:txBody>
      </p:sp>
      <p:sp>
        <p:nvSpPr>
          <p:cNvPr id="36900" name="Rectangle 37"/>
          <p:cNvSpPr>
            <a:spLocks noGrp="1" noChangeArrowheads="1"/>
          </p:cNvSpPr>
          <p:nvPr>
            <p:ph type="title"/>
          </p:nvPr>
        </p:nvSpPr>
        <p:spPr>
          <a:xfrm>
            <a:off x="2063750" y="2492376"/>
            <a:ext cx="8229600" cy="1439863"/>
          </a:xfrm>
        </p:spPr>
        <p:txBody>
          <a:bodyPr/>
          <a:lstStyle/>
          <a:p>
            <a:r>
              <a:rPr lang="ru-RU" sz="4800" b="1">
                <a:solidFill>
                  <a:srgbClr val="000099"/>
                </a:solidFill>
              </a:rPr>
              <a:t>Спасибо за внимание!</a:t>
            </a:r>
          </a:p>
        </p:txBody>
      </p:sp>
      <p:sp>
        <p:nvSpPr>
          <p:cNvPr id="36901" name="Rectangle 38"/>
          <p:cNvSpPr>
            <a:spLocks noChangeArrowheads="1"/>
          </p:cNvSpPr>
          <p:nvPr/>
        </p:nvSpPr>
        <p:spPr bwMode="auto">
          <a:xfrm>
            <a:off x="1847850" y="260350"/>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902" name="Rectangle 39"/>
          <p:cNvSpPr>
            <a:spLocks noChangeArrowheads="1"/>
          </p:cNvSpPr>
          <p:nvPr/>
        </p:nvSpPr>
        <p:spPr bwMode="auto">
          <a:xfrm rot="-1966961">
            <a:off x="6743700" y="260350"/>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merci</a:t>
            </a:r>
          </a:p>
        </p:txBody>
      </p:sp>
      <p:sp>
        <p:nvSpPr>
          <p:cNvPr id="36903" name="Rectangle 40"/>
          <p:cNvSpPr>
            <a:spLocks noChangeArrowheads="1"/>
          </p:cNvSpPr>
          <p:nvPr/>
        </p:nvSpPr>
        <p:spPr bwMode="auto">
          <a:xfrm rot="932178">
            <a:off x="8543925" y="260350"/>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904" name="Rectangle 41"/>
          <p:cNvSpPr>
            <a:spLocks noChangeArrowheads="1"/>
          </p:cNvSpPr>
          <p:nvPr/>
        </p:nvSpPr>
        <p:spPr bwMode="auto">
          <a:xfrm rot="-634205">
            <a:off x="5303839" y="836613"/>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grazie</a:t>
            </a:r>
          </a:p>
        </p:txBody>
      </p:sp>
      <p:sp>
        <p:nvSpPr>
          <p:cNvPr id="36905" name="Rectangle 42"/>
          <p:cNvSpPr>
            <a:spLocks noChangeArrowheads="1"/>
          </p:cNvSpPr>
          <p:nvPr/>
        </p:nvSpPr>
        <p:spPr bwMode="auto">
          <a:xfrm rot="-1966961">
            <a:off x="3719514" y="1123950"/>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gracias</a:t>
            </a:r>
          </a:p>
        </p:txBody>
      </p:sp>
      <p:sp>
        <p:nvSpPr>
          <p:cNvPr id="36906" name="Rectangle 43"/>
          <p:cNvSpPr>
            <a:spLocks noChangeArrowheads="1"/>
          </p:cNvSpPr>
          <p:nvPr/>
        </p:nvSpPr>
        <p:spPr bwMode="auto">
          <a:xfrm rot="1073047">
            <a:off x="7535864" y="1052513"/>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grazie</a:t>
            </a:r>
          </a:p>
        </p:txBody>
      </p:sp>
      <p:sp>
        <p:nvSpPr>
          <p:cNvPr id="36907" name="Rectangle 44"/>
          <p:cNvSpPr>
            <a:spLocks noChangeArrowheads="1"/>
          </p:cNvSpPr>
          <p:nvPr/>
        </p:nvSpPr>
        <p:spPr bwMode="auto">
          <a:xfrm rot="-1124404">
            <a:off x="8856664" y="4292600"/>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danke</a:t>
            </a:r>
          </a:p>
        </p:txBody>
      </p:sp>
      <p:sp>
        <p:nvSpPr>
          <p:cNvPr id="36908" name="Rectangle 45"/>
          <p:cNvSpPr>
            <a:spLocks noChangeArrowheads="1"/>
          </p:cNvSpPr>
          <p:nvPr/>
        </p:nvSpPr>
        <p:spPr bwMode="auto">
          <a:xfrm rot="-1966961">
            <a:off x="8129589" y="1374775"/>
            <a:ext cx="24844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thank you</a:t>
            </a:r>
          </a:p>
        </p:txBody>
      </p:sp>
      <p:sp>
        <p:nvSpPr>
          <p:cNvPr id="36909" name="Rectangle 46"/>
          <p:cNvSpPr>
            <a:spLocks noChangeArrowheads="1"/>
          </p:cNvSpPr>
          <p:nvPr/>
        </p:nvSpPr>
        <p:spPr bwMode="auto">
          <a:xfrm rot="-634205">
            <a:off x="4800600" y="188913"/>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910" name="Rectangle 47"/>
          <p:cNvSpPr>
            <a:spLocks noChangeArrowheads="1"/>
          </p:cNvSpPr>
          <p:nvPr/>
        </p:nvSpPr>
        <p:spPr bwMode="auto">
          <a:xfrm rot="932178">
            <a:off x="8975725" y="3571875"/>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merci</a:t>
            </a:r>
          </a:p>
        </p:txBody>
      </p:sp>
    </p:spTree>
    <p:extLst>
      <p:ext uri="{BB962C8B-B14F-4D97-AF65-F5344CB8AC3E}">
        <p14:creationId xmlns:p14="http://schemas.microsoft.com/office/powerpoint/2010/main" val="3378127626"/>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969</TotalTime>
  <Words>4798</Words>
  <Application>Microsoft Office PowerPoint</Application>
  <PresentationFormat>Широкоэкранный</PresentationFormat>
  <Paragraphs>527</Paragraphs>
  <Slides>61</Slides>
  <Notes>2</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61</vt:i4>
      </vt:variant>
    </vt:vector>
  </HeadingPairs>
  <TitlesOfParts>
    <vt:vector size="67" baseType="lpstr">
      <vt:lpstr>Arial</vt:lpstr>
      <vt:lpstr>Calibri</vt:lpstr>
      <vt:lpstr>Calibri Light</vt:lpstr>
      <vt:lpstr>Tahoma</vt:lpstr>
      <vt:lpstr>Wingdings</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Спасибо за внимание!</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26. Информационно-вычислительные и ситуационные центры в государственном и региональном управлении.</dc:title>
  <dc:creator>Андрей Руфеев</dc:creator>
  <cp:lastModifiedBy>Андрей</cp:lastModifiedBy>
  <cp:revision>91</cp:revision>
  <dcterms:created xsi:type="dcterms:W3CDTF">2021-10-24T19:59:40Z</dcterms:created>
  <dcterms:modified xsi:type="dcterms:W3CDTF">2026-03-24T19:02:03Z</dcterms:modified>
</cp:coreProperties>
</file>