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319" r:id="rId2"/>
    <p:sldId id="257" r:id="rId3"/>
    <p:sldId id="435" r:id="rId4"/>
    <p:sldId id="436" r:id="rId5"/>
    <p:sldId id="521" r:id="rId6"/>
    <p:sldId id="522" r:id="rId7"/>
    <p:sldId id="523" r:id="rId8"/>
    <p:sldId id="437" r:id="rId9"/>
    <p:sldId id="524" r:id="rId10"/>
    <p:sldId id="525" r:id="rId11"/>
    <p:sldId id="290" r:id="rId12"/>
    <p:sldId id="438" r:id="rId13"/>
    <p:sldId id="526" r:id="rId14"/>
    <p:sldId id="527" r:id="rId15"/>
    <p:sldId id="529" r:id="rId16"/>
    <p:sldId id="528" r:id="rId17"/>
    <p:sldId id="530" r:id="rId18"/>
    <p:sldId id="531" r:id="rId19"/>
    <p:sldId id="532" r:id="rId20"/>
    <p:sldId id="533" r:id="rId21"/>
    <p:sldId id="321" r:id="rId22"/>
    <p:sldId id="534" r:id="rId23"/>
    <p:sldId id="535" r:id="rId24"/>
    <p:sldId id="461" r:id="rId25"/>
    <p:sldId id="536" r:id="rId26"/>
    <p:sldId id="537" r:id="rId27"/>
    <p:sldId id="538" r:id="rId28"/>
    <p:sldId id="462" r:id="rId29"/>
    <p:sldId id="539" r:id="rId30"/>
    <p:sldId id="540" r:id="rId31"/>
    <p:sldId id="329" r:id="rId32"/>
    <p:sldId id="541" r:id="rId33"/>
    <p:sldId id="542" r:id="rId34"/>
    <p:sldId id="543" r:id="rId35"/>
    <p:sldId id="544" r:id="rId36"/>
    <p:sldId id="545" r:id="rId37"/>
    <p:sldId id="546" r:id="rId38"/>
    <p:sldId id="547" r:id="rId39"/>
    <p:sldId id="330" r:id="rId40"/>
    <p:sldId id="548" r:id="rId41"/>
    <p:sldId id="549" r:id="rId42"/>
    <p:sldId id="550" r:id="rId43"/>
    <p:sldId id="551" r:id="rId44"/>
    <p:sldId id="552" r:id="rId45"/>
    <p:sldId id="553" r:id="rId46"/>
    <p:sldId id="337" r:id="rId47"/>
    <p:sldId id="554" r:id="rId48"/>
    <p:sldId id="555" r:id="rId49"/>
    <p:sldId id="556" r:id="rId50"/>
    <p:sldId id="557" r:id="rId51"/>
    <p:sldId id="558" r:id="rId52"/>
    <p:sldId id="559" r:id="rId53"/>
    <p:sldId id="338" r:id="rId5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662" autoAdjust="0"/>
  </p:normalViewPr>
  <p:slideViewPr>
    <p:cSldViewPr snapToGrid="0">
      <p:cViewPr varScale="1">
        <p:scale>
          <a:sx n="56" d="100"/>
          <a:sy n="56" d="100"/>
        </p:scale>
        <p:origin x="102" y="780"/>
      </p:cViewPr>
      <p:guideLst>
        <p:guide orient="horz" pos="2160"/>
        <p:guide pos="3840"/>
      </p:guideLst>
    </p:cSldViewPr>
  </p:slideViewPr>
  <p:outlineViewPr>
    <p:cViewPr>
      <p:scale>
        <a:sx n="33" d="100"/>
        <a:sy n="33" d="100"/>
      </p:scale>
      <p:origin x="18" y="223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7ACDEB-E9B8-4FD5-B3E0-7F4464DEB210}" type="doc">
      <dgm:prSet loTypeId="urn:microsoft.com/office/officeart/2005/8/layout/hList3" loCatId="list" qsTypeId="urn:microsoft.com/office/officeart/2005/8/quickstyle/3d2" qsCatId="3D" csTypeId="urn:microsoft.com/office/officeart/2005/8/colors/accent1_2" csCatId="accent1" phldr="1"/>
      <dgm:spPr/>
      <dgm:t>
        <a:bodyPr/>
        <a:lstStyle/>
        <a:p>
          <a:endParaRPr lang="ru-RU"/>
        </a:p>
      </dgm:t>
    </dgm:pt>
    <dgm:pt modelId="{59AFABFC-61F0-40BB-96FD-DCD5B32E2178}">
      <dgm:prSet phldrT="[Текст]"/>
      <dgm:spPr>
        <a:solidFill>
          <a:schemeClr val="accent1">
            <a:lumMod val="50000"/>
          </a:schemeClr>
        </a:solidFill>
      </dgm:spPr>
      <dgm:t>
        <a:bodyPr/>
        <a:lstStyle/>
        <a:p>
          <a:r>
            <a:rPr lang="ru-RU" b="1" dirty="0" smtClean="0"/>
            <a:t>Федеральные государственные информационные системы, входящие в систему электронного правительства Российской Федерации</a:t>
          </a:r>
          <a:endParaRPr lang="ru-RU" dirty="0"/>
        </a:p>
      </dgm:t>
    </dgm:pt>
    <dgm:pt modelId="{994C5B69-6F0C-4FA9-8FA5-B4949088B176}" type="parTrans" cxnId="{0BEDA018-830E-4240-B834-BC4CE6E6659A}">
      <dgm:prSet/>
      <dgm:spPr/>
      <dgm:t>
        <a:bodyPr/>
        <a:lstStyle/>
        <a:p>
          <a:endParaRPr lang="ru-RU"/>
        </a:p>
      </dgm:t>
    </dgm:pt>
    <dgm:pt modelId="{C8768E7C-5790-4817-BE5D-314F5BEE5795}" type="sibTrans" cxnId="{0BEDA018-830E-4240-B834-BC4CE6E6659A}">
      <dgm:prSet/>
      <dgm:spPr/>
      <dgm:t>
        <a:bodyPr/>
        <a:lstStyle/>
        <a:p>
          <a:endParaRPr lang="ru-RU"/>
        </a:p>
      </dgm:t>
    </dgm:pt>
    <dgm:pt modelId="{8C15FC82-4B48-436C-A282-41531D0CF210}">
      <dgm:prSet phldrT="[Текст]"/>
      <dgm:spPr>
        <a:solidFill>
          <a:schemeClr val="accent6">
            <a:lumMod val="50000"/>
          </a:schemeClr>
        </a:solidFill>
      </dgm:spPr>
      <dgm:t>
        <a:bodyPr/>
        <a:lstStyle/>
        <a:p>
          <a:pPr algn="just"/>
          <a:r>
            <a:rPr lang="ru-RU" dirty="0" smtClean="0"/>
            <a:t>Не обеспечена интеграция единого портала </a:t>
          </a:r>
          <a:r>
            <a:rPr lang="ru-RU" dirty="0" err="1" smtClean="0"/>
            <a:t>госуслуг</a:t>
          </a:r>
          <a:r>
            <a:rPr lang="ru-RU" dirty="0" smtClean="0"/>
            <a:t> (ЕПГУ) с информационными системами ОМСУ в части организации предоставления муниципальных услуг.</a:t>
          </a:r>
          <a:endParaRPr lang="ru-RU" dirty="0"/>
        </a:p>
      </dgm:t>
    </dgm:pt>
    <dgm:pt modelId="{10A7B023-E646-4A28-9FD7-CB0DDE661773}" type="parTrans" cxnId="{1732F898-FF51-4285-8E99-9154CB47F0E7}">
      <dgm:prSet/>
      <dgm:spPr/>
      <dgm:t>
        <a:bodyPr/>
        <a:lstStyle/>
        <a:p>
          <a:endParaRPr lang="ru-RU"/>
        </a:p>
      </dgm:t>
    </dgm:pt>
    <dgm:pt modelId="{5D4BB09F-2BC4-4651-BD05-D075183E3738}" type="sibTrans" cxnId="{1732F898-FF51-4285-8E99-9154CB47F0E7}">
      <dgm:prSet/>
      <dgm:spPr/>
      <dgm:t>
        <a:bodyPr/>
        <a:lstStyle/>
        <a:p>
          <a:endParaRPr lang="ru-RU"/>
        </a:p>
      </dgm:t>
    </dgm:pt>
    <dgm:pt modelId="{6E56115D-BAF1-47CB-81ED-D29FA05F96CE}">
      <dgm:prSet phldrT="[Текст]"/>
      <dgm:spPr>
        <a:solidFill>
          <a:schemeClr val="accent2">
            <a:lumMod val="50000"/>
          </a:schemeClr>
        </a:solidFill>
      </dgm:spPr>
      <dgm:t>
        <a:bodyPr/>
        <a:lstStyle/>
        <a:p>
          <a:pPr algn="just"/>
          <a:r>
            <a:rPr lang="ru-RU" dirty="0" smtClean="0"/>
            <a:t>Не все федеральные региональные органы исполнительной власти (ФОИВ и РОИВ) перешли на предоставление сведений, документов, хранящихся в их ведомствах, через СМЭВ. </a:t>
          </a:r>
          <a:endParaRPr lang="ru-RU" dirty="0"/>
        </a:p>
      </dgm:t>
    </dgm:pt>
    <dgm:pt modelId="{CE0F0540-57AD-4EC5-80B5-D6D7059BC9FC}" type="parTrans" cxnId="{4DF5B416-4A4F-4C6D-A14D-7BB5D5F8B366}">
      <dgm:prSet/>
      <dgm:spPr/>
      <dgm:t>
        <a:bodyPr/>
        <a:lstStyle/>
        <a:p>
          <a:endParaRPr lang="ru-RU"/>
        </a:p>
      </dgm:t>
    </dgm:pt>
    <dgm:pt modelId="{7791D473-97A4-4F8E-BE50-1A0614B9917B}" type="sibTrans" cxnId="{4DF5B416-4A4F-4C6D-A14D-7BB5D5F8B366}">
      <dgm:prSet/>
      <dgm:spPr/>
      <dgm:t>
        <a:bodyPr/>
        <a:lstStyle/>
        <a:p>
          <a:endParaRPr lang="ru-RU"/>
        </a:p>
      </dgm:t>
    </dgm:pt>
    <dgm:pt modelId="{05B61781-A9E2-46BD-93DA-6BA7121FD4F9}">
      <dgm:prSet phldrT="[Текст]"/>
      <dgm:spPr>
        <a:solidFill>
          <a:schemeClr val="accent4">
            <a:lumMod val="50000"/>
          </a:schemeClr>
        </a:solidFill>
      </dgm:spPr>
      <dgm:t>
        <a:bodyPr/>
        <a:lstStyle/>
        <a:p>
          <a:pPr algn="just"/>
          <a:r>
            <a:rPr lang="ru-RU" dirty="0" smtClean="0"/>
            <a:t>Региональный сегмент СМЭВ имеет ряд технических недоработок, не позволяющих автоматически и своевременно получать уведомления о новых межведомственных запросах, а также о поступивших заявлениях на получение муниципальной услуги. </a:t>
          </a:r>
          <a:endParaRPr lang="ru-RU" dirty="0"/>
        </a:p>
      </dgm:t>
    </dgm:pt>
    <dgm:pt modelId="{DBE100AB-72A5-452D-95E3-73A33BFBA674}" type="parTrans" cxnId="{3EE58BA6-3DE2-4065-8C5E-DFDDA5F87487}">
      <dgm:prSet/>
      <dgm:spPr/>
      <dgm:t>
        <a:bodyPr/>
        <a:lstStyle/>
        <a:p>
          <a:endParaRPr lang="ru-RU"/>
        </a:p>
      </dgm:t>
    </dgm:pt>
    <dgm:pt modelId="{CE4E6AA8-661F-4BE2-9460-E602FE124DA8}" type="sibTrans" cxnId="{3EE58BA6-3DE2-4065-8C5E-DFDDA5F87487}">
      <dgm:prSet/>
      <dgm:spPr/>
      <dgm:t>
        <a:bodyPr/>
        <a:lstStyle/>
        <a:p>
          <a:endParaRPr lang="ru-RU"/>
        </a:p>
      </dgm:t>
    </dgm:pt>
    <dgm:pt modelId="{50B4CA6F-1B7B-4D04-B569-3E4555BEEEF1}" type="pres">
      <dgm:prSet presAssocID="{8B7ACDEB-E9B8-4FD5-B3E0-7F4464DEB210}" presName="composite" presStyleCnt="0">
        <dgm:presLayoutVars>
          <dgm:chMax val="1"/>
          <dgm:dir/>
          <dgm:resizeHandles val="exact"/>
        </dgm:presLayoutVars>
      </dgm:prSet>
      <dgm:spPr/>
      <dgm:t>
        <a:bodyPr/>
        <a:lstStyle/>
        <a:p>
          <a:endParaRPr lang="ru-RU"/>
        </a:p>
      </dgm:t>
    </dgm:pt>
    <dgm:pt modelId="{9F1B06FF-9DFB-4AF9-9057-B9D497AD9B2B}" type="pres">
      <dgm:prSet presAssocID="{59AFABFC-61F0-40BB-96FD-DCD5B32E2178}" presName="roof" presStyleLbl="dkBgShp" presStyleIdx="0" presStyleCnt="2" custScaleY="102575"/>
      <dgm:spPr/>
      <dgm:t>
        <a:bodyPr/>
        <a:lstStyle/>
        <a:p>
          <a:endParaRPr lang="ru-RU"/>
        </a:p>
      </dgm:t>
    </dgm:pt>
    <dgm:pt modelId="{3A950389-7A37-4817-AB21-DB858DDF0406}" type="pres">
      <dgm:prSet presAssocID="{59AFABFC-61F0-40BB-96FD-DCD5B32E2178}" presName="pillars" presStyleCnt="0"/>
      <dgm:spPr/>
    </dgm:pt>
    <dgm:pt modelId="{AE5CD61A-3BEB-4F04-8879-983318C9AB94}" type="pres">
      <dgm:prSet presAssocID="{59AFABFC-61F0-40BB-96FD-DCD5B32E2178}" presName="pillar1" presStyleLbl="node1" presStyleIdx="0" presStyleCnt="3">
        <dgm:presLayoutVars>
          <dgm:bulletEnabled val="1"/>
        </dgm:presLayoutVars>
      </dgm:prSet>
      <dgm:spPr/>
      <dgm:t>
        <a:bodyPr/>
        <a:lstStyle/>
        <a:p>
          <a:endParaRPr lang="ru-RU"/>
        </a:p>
      </dgm:t>
    </dgm:pt>
    <dgm:pt modelId="{21C4DE66-C23C-4F84-9AEE-D33E7F493AD6}" type="pres">
      <dgm:prSet presAssocID="{6E56115D-BAF1-47CB-81ED-D29FA05F96CE}" presName="pillarX" presStyleLbl="node1" presStyleIdx="1" presStyleCnt="3">
        <dgm:presLayoutVars>
          <dgm:bulletEnabled val="1"/>
        </dgm:presLayoutVars>
      </dgm:prSet>
      <dgm:spPr/>
      <dgm:t>
        <a:bodyPr/>
        <a:lstStyle/>
        <a:p>
          <a:endParaRPr lang="ru-RU"/>
        </a:p>
      </dgm:t>
    </dgm:pt>
    <dgm:pt modelId="{E0CC006F-2A3C-4EB1-95F9-F45F7EDEBBB2}" type="pres">
      <dgm:prSet presAssocID="{05B61781-A9E2-46BD-93DA-6BA7121FD4F9}" presName="pillarX" presStyleLbl="node1" presStyleIdx="2" presStyleCnt="3">
        <dgm:presLayoutVars>
          <dgm:bulletEnabled val="1"/>
        </dgm:presLayoutVars>
      </dgm:prSet>
      <dgm:spPr/>
      <dgm:t>
        <a:bodyPr/>
        <a:lstStyle/>
        <a:p>
          <a:endParaRPr lang="ru-RU"/>
        </a:p>
      </dgm:t>
    </dgm:pt>
    <dgm:pt modelId="{C4CCBCF5-AB17-4F30-B6FD-BD42A2A1DF4C}" type="pres">
      <dgm:prSet presAssocID="{59AFABFC-61F0-40BB-96FD-DCD5B32E2178}" presName="base" presStyleLbl="dkBgShp" presStyleIdx="1" presStyleCnt="2"/>
      <dgm:spPr>
        <a:solidFill>
          <a:schemeClr val="accent1">
            <a:lumMod val="50000"/>
          </a:schemeClr>
        </a:solidFill>
      </dgm:spPr>
    </dgm:pt>
  </dgm:ptLst>
  <dgm:cxnLst>
    <dgm:cxn modelId="{4DF5B416-4A4F-4C6D-A14D-7BB5D5F8B366}" srcId="{59AFABFC-61F0-40BB-96FD-DCD5B32E2178}" destId="{6E56115D-BAF1-47CB-81ED-D29FA05F96CE}" srcOrd="1" destOrd="0" parTransId="{CE0F0540-57AD-4EC5-80B5-D6D7059BC9FC}" sibTransId="{7791D473-97A4-4F8E-BE50-1A0614B9917B}"/>
    <dgm:cxn modelId="{0BEDA018-830E-4240-B834-BC4CE6E6659A}" srcId="{8B7ACDEB-E9B8-4FD5-B3E0-7F4464DEB210}" destId="{59AFABFC-61F0-40BB-96FD-DCD5B32E2178}" srcOrd="0" destOrd="0" parTransId="{994C5B69-6F0C-4FA9-8FA5-B4949088B176}" sibTransId="{C8768E7C-5790-4817-BE5D-314F5BEE5795}"/>
    <dgm:cxn modelId="{DFD4835E-85AA-498F-B5C3-922BAD57066F}" type="presOf" srcId="{8B7ACDEB-E9B8-4FD5-B3E0-7F4464DEB210}" destId="{50B4CA6F-1B7B-4D04-B569-3E4555BEEEF1}" srcOrd="0" destOrd="0" presId="urn:microsoft.com/office/officeart/2005/8/layout/hList3"/>
    <dgm:cxn modelId="{3D10B925-A3E1-4B0C-8C47-8691AA513F0C}" type="presOf" srcId="{6E56115D-BAF1-47CB-81ED-D29FA05F96CE}" destId="{21C4DE66-C23C-4F84-9AEE-D33E7F493AD6}" srcOrd="0" destOrd="0" presId="urn:microsoft.com/office/officeart/2005/8/layout/hList3"/>
    <dgm:cxn modelId="{A15025E2-5223-438B-BA0E-3F7274E5F0D1}" type="presOf" srcId="{05B61781-A9E2-46BD-93DA-6BA7121FD4F9}" destId="{E0CC006F-2A3C-4EB1-95F9-F45F7EDEBBB2}" srcOrd="0" destOrd="0" presId="urn:microsoft.com/office/officeart/2005/8/layout/hList3"/>
    <dgm:cxn modelId="{1732F898-FF51-4285-8E99-9154CB47F0E7}" srcId="{59AFABFC-61F0-40BB-96FD-DCD5B32E2178}" destId="{8C15FC82-4B48-436C-A282-41531D0CF210}" srcOrd="0" destOrd="0" parTransId="{10A7B023-E646-4A28-9FD7-CB0DDE661773}" sibTransId="{5D4BB09F-2BC4-4651-BD05-D075183E3738}"/>
    <dgm:cxn modelId="{177A7E44-BAE7-4D8D-97F8-F424B7F55F12}" type="presOf" srcId="{59AFABFC-61F0-40BB-96FD-DCD5B32E2178}" destId="{9F1B06FF-9DFB-4AF9-9057-B9D497AD9B2B}" srcOrd="0" destOrd="0" presId="urn:microsoft.com/office/officeart/2005/8/layout/hList3"/>
    <dgm:cxn modelId="{1F0CC607-215E-4100-9E13-8499BE3C136A}" type="presOf" srcId="{8C15FC82-4B48-436C-A282-41531D0CF210}" destId="{AE5CD61A-3BEB-4F04-8879-983318C9AB94}" srcOrd="0" destOrd="0" presId="urn:microsoft.com/office/officeart/2005/8/layout/hList3"/>
    <dgm:cxn modelId="{3EE58BA6-3DE2-4065-8C5E-DFDDA5F87487}" srcId="{59AFABFC-61F0-40BB-96FD-DCD5B32E2178}" destId="{05B61781-A9E2-46BD-93DA-6BA7121FD4F9}" srcOrd="2" destOrd="0" parTransId="{DBE100AB-72A5-452D-95E3-73A33BFBA674}" sibTransId="{CE4E6AA8-661F-4BE2-9460-E602FE124DA8}"/>
    <dgm:cxn modelId="{961346FD-FC77-423A-BBDB-92D343CD6451}" type="presParOf" srcId="{50B4CA6F-1B7B-4D04-B569-3E4555BEEEF1}" destId="{9F1B06FF-9DFB-4AF9-9057-B9D497AD9B2B}" srcOrd="0" destOrd="0" presId="urn:microsoft.com/office/officeart/2005/8/layout/hList3"/>
    <dgm:cxn modelId="{B8965F3C-9B70-41F4-89DF-F2623E2AFE32}" type="presParOf" srcId="{50B4CA6F-1B7B-4D04-B569-3E4555BEEEF1}" destId="{3A950389-7A37-4817-AB21-DB858DDF0406}" srcOrd="1" destOrd="0" presId="urn:microsoft.com/office/officeart/2005/8/layout/hList3"/>
    <dgm:cxn modelId="{31302D4E-F954-488A-B2A6-48D38722F462}" type="presParOf" srcId="{3A950389-7A37-4817-AB21-DB858DDF0406}" destId="{AE5CD61A-3BEB-4F04-8879-983318C9AB94}" srcOrd="0" destOrd="0" presId="urn:microsoft.com/office/officeart/2005/8/layout/hList3"/>
    <dgm:cxn modelId="{BBB646E2-5E7B-472E-9297-4C83233D8146}" type="presParOf" srcId="{3A950389-7A37-4817-AB21-DB858DDF0406}" destId="{21C4DE66-C23C-4F84-9AEE-D33E7F493AD6}" srcOrd="1" destOrd="0" presId="urn:microsoft.com/office/officeart/2005/8/layout/hList3"/>
    <dgm:cxn modelId="{E12D55CD-84DC-47B1-B4DA-FEDB28A9BD03}" type="presParOf" srcId="{3A950389-7A37-4817-AB21-DB858DDF0406}" destId="{E0CC006F-2A3C-4EB1-95F9-F45F7EDEBBB2}" srcOrd="2" destOrd="0" presId="urn:microsoft.com/office/officeart/2005/8/layout/hList3"/>
    <dgm:cxn modelId="{DC1C12A2-617A-4525-864E-169B4FC1C172}" type="presParOf" srcId="{50B4CA6F-1B7B-4D04-B569-3E4555BEEEF1}" destId="{C4CCBCF5-AB17-4F30-B6FD-BD42A2A1DF4C}" srcOrd="2" destOrd="0" presId="urn:microsoft.com/office/officeart/2005/8/layout/h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8D26B22-0642-45E8-94A5-3192F11B24E3}" type="doc">
      <dgm:prSet loTypeId="urn:microsoft.com/office/officeart/2005/8/layout/default" loCatId="list" qsTypeId="urn:microsoft.com/office/officeart/2005/8/quickstyle/simple5" qsCatId="simple" csTypeId="urn:microsoft.com/office/officeart/2005/8/colors/accent1_2" csCatId="accent1" phldr="1"/>
      <dgm:spPr/>
      <dgm:t>
        <a:bodyPr/>
        <a:lstStyle/>
        <a:p>
          <a:endParaRPr lang="ru-RU"/>
        </a:p>
      </dgm:t>
    </dgm:pt>
    <dgm:pt modelId="{EC37A88E-A0B5-4676-84F7-0ED03B63D2A3}">
      <dgm:prSet phldrT="[Текст]"/>
      <dgm:spPr>
        <a:solidFill>
          <a:schemeClr val="accent6">
            <a:lumMod val="50000"/>
          </a:schemeClr>
        </a:solidFill>
      </dgm:spPr>
      <dgm:t>
        <a:bodyPr/>
        <a:lstStyle/>
        <a:p>
          <a:r>
            <a:rPr lang="ru-RU" dirty="0" smtClean="0"/>
            <a:t>аналитическая отчётность (просмотр аналитических данных и показателей, инструменты анализа и визуализации данных, такие, как таблицы, графики, гистограммы, а также картографическое представление данных по субъектам РФ). Есть возможность создания собственных отчётов пользовательских;</a:t>
          </a:r>
          <a:endParaRPr lang="ru-RU" dirty="0"/>
        </a:p>
      </dgm:t>
    </dgm:pt>
    <dgm:pt modelId="{23ED92C3-EC1D-434D-A2D1-A99A135E254F}" type="parTrans" cxnId="{68E0D1E5-0A8C-4B0C-8761-ACD69E591921}">
      <dgm:prSet/>
      <dgm:spPr/>
      <dgm:t>
        <a:bodyPr/>
        <a:lstStyle/>
        <a:p>
          <a:endParaRPr lang="ru-RU"/>
        </a:p>
      </dgm:t>
    </dgm:pt>
    <dgm:pt modelId="{7DB26CFC-B23B-41B8-9EFB-37FBCB00EDEF}" type="sibTrans" cxnId="{68E0D1E5-0A8C-4B0C-8761-ACD69E591921}">
      <dgm:prSet/>
      <dgm:spPr/>
      <dgm:t>
        <a:bodyPr/>
        <a:lstStyle/>
        <a:p>
          <a:endParaRPr lang="ru-RU"/>
        </a:p>
      </dgm:t>
    </dgm:pt>
    <dgm:pt modelId="{942F8E1A-88B6-4445-9C6D-2B0B77E4FCFE}">
      <dgm:prSet phldrT="[Текст]"/>
      <dgm:spPr>
        <a:solidFill>
          <a:schemeClr val="accent5">
            <a:lumMod val="50000"/>
          </a:schemeClr>
        </a:solidFill>
      </dgm:spPr>
      <dgm:t>
        <a:bodyPr/>
        <a:lstStyle/>
        <a:p>
          <a:r>
            <a:rPr lang="ru-RU" dirty="0" smtClean="0"/>
            <a:t>реестр показателей (структурированный, иерархически организованный список баз данных государственных информационных систем и их электронных сервисов);</a:t>
          </a:r>
          <a:endParaRPr lang="ru-RU" dirty="0"/>
        </a:p>
      </dgm:t>
    </dgm:pt>
    <dgm:pt modelId="{3FB2D27A-0E10-4F54-BA6F-213DD7FC303C}" type="parTrans" cxnId="{93F17A03-889A-4B7D-A4B5-C49FEB1885AD}">
      <dgm:prSet/>
      <dgm:spPr/>
      <dgm:t>
        <a:bodyPr/>
        <a:lstStyle/>
        <a:p>
          <a:endParaRPr lang="ru-RU"/>
        </a:p>
      </dgm:t>
    </dgm:pt>
    <dgm:pt modelId="{7ABA3E21-67C1-474F-9D1B-B4B4FA86B460}" type="sibTrans" cxnId="{93F17A03-889A-4B7D-A4B5-C49FEB1885AD}">
      <dgm:prSet/>
      <dgm:spPr/>
      <dgm:t>
        <a:bodyPr/>
        <a:lstStyle/>
        <a:p>
          <a:endParaRPr lang="ru-RU"/>
        </a:p>
      </dgm:t>
    </dgm:pt>
    <dgm:pt modelId="{B7E76B38-A926-4E34-9F3C-8860FCE9DC3D}">
      <dgm:prSet phldrT="[Текст]"/>
      <dgm:spPr>
        <a:solidFill>
          <a:schemeClr val="accent2">
            <a:lumMod val="50000"/>
          </a:schemeClr>
        </a:solidFill>
      </dgm:spPr>
      <dgm:t>
        <a:bodyPr/>
        <a:lstStyle/>
        <a:p>
          <a:r>
            <a:rPr lang="ru-RU" dirty="0" smtClean="0"/>
            <a:t>экспорт данных по предварительно настроенным наборам показателей (данные за период по выбранному субъекту РФ);</a:t>
          </a:r>
          <a:endParaRPr lang="ru-RU" dirty="0"/>
        </a:p>
      </dgm:t>
    </dgm:pt>
    <dgm:pt modelId="{F281DB84-30A4-42B2-B720-76C85D8515A2}" type="parTrans" cxnId="{3B635675-25ED-4EC0-B4F8-EB313F841312}">
      <dgm:prSet/>
      <dgm:spPr/>
      <dgm:t>
        <a:bodyPr/>
        <a:lstStyle/>
        <a:p>
          <a:endParaRPr lang="ru-RU"/>
        </a:p>
      </dgm:t>
    </dgm:pt>
    <dgm:pt modelId="{A16970D9-A513-4E58-9E4D-07DC793E198D}" type="sibTrans" cxnId="{3B635675-25ED-4EC0-B4F8-EB313F841312}">
      <dgm:prSet/>
      <dgm:spPr/>
      <dgm:t>
        <a:bodyPr/>
        <a:lstStyle/>
        <a:p>
          <a:endParaRPr lang="ru-RU"/>
        </a:p>
      </dgm:t>
    </dgm:pt>
    <dgm:pt modelId="{6962521F-C0D0-4F0F-A8D7-F169DA9434DD}">
      <dgm:prSet phldrT="[Текст]"/>
      <dgm:spPr>
        <a:solidFill>
          <a:schemeClr val="accent4">
            <a:lumMod val="50000"/>
          </a:schemeClr>
        </a:solidFill>
      </dgm:spPr>
      <dgm:t>
        <a:bodyPr/>
        <a:lstStyle/>
        <a:p>
          <a:r>
            <a:rPr lang="ru-RU" dirty="0" smtClean="0"/>
            <a:t>хранение и публикация документов (организована база данных пользовательских документов, доступ может быть дифференцирован в зависимости от прав доступа к системе).</a:t>
          </a:r>
          <a:endParaRPr lang="ru-RU" dirty="0"/>
        </a:p>
      </dgm:t>
    </dgm:pt>
    <dgm:pt modelId="{C61768D2-1BAD-4245-8C53-EAEF32C07FAD}" type="parTrans" cxnId="{A1D916D5-4503-447D-816E-1080943155FB}">
      <dgm:prSet/>
      <dgm:spPr/>
      <dgm:t>
        <a:bodyPr/>
        <a:lstStyle/>
        <a:p>
          <a:endParaRPr lang="ru-RU"/>
        </a:p>
      </dgm:t>
    </dgm:pt>
    <dgm:pt modelId="{64C71312-D122-455B-850B-7535B27D0446}" type="sibTrans" cxnId="{A1D916D5-4503-447D-816E-1080943155FB}">
      <dgm:prSet/>
      <dgm:spPr/>
      <dgm:t>
        <a:bodyPr/>
        <a:lstStyle/>
        <a:p>
          <a:endParaRPr lang="ru-RU"/>
        </a:p>
      </dgm:t>
    </dgm:pt>
    <dgm:pt modelId="{3C20D3DA-EFDE-405F-8D1B-29857CFB430C}" type="pres">
      <dgm:prSet presAssocID="{B8D26B22-0642-45E8-94A5-3192F11B24E3}" presName="diagram" presStyleCnt="0">
        <dgm:presLayoutVars>
          <dgm:dir/>
          <dgm:resizeHandles val="exact"/>
        </dgm:presLayoutVars>
      </dgm:prSet>
      <dgm:spPr/>
      <dgm:t>
        <a:bodyPr/>
        <a:lstStyle/>
        <a:p>
          <a:endParaRPr lang="ru-RU"/>
        </a:p>
      </dgm:t>
    </dgm:pt>
    <dgm:pt modelId="{C9EB4204-73B4-4009-B666-869795601D94}" type="pres">
      <dgm:prSet presAssocID="{EC37A88E-A0B5-4676-84F7-0ED03B63D2A3}" presName="node" presStyleLbl="node1" presStyleIdx="0" presStyleCnt="4">
        <dgm:presLayoutVars>
          <dgm:bulletEnabled val="1"/>
        </dgm:presLayoutVars>
      </dgm:prSet>
      <dgm:spPr/>
      <dgm:t>
        <a:bodyPr/>
        <a:lstStyle/>
        <a:p>
          <a:endParaRPr lang="ru-RU"/>
        </a:p>
      </dgm:t>
    </dgm:pt>
    <dgm:pt modelId="{F563DEB9-7EF7-4503-BCAC-DFA8847FE754}" type="pres">
      <dgm:prSet presAssocID="{7DB26CFC-B23B-41B8-9EFB-37FBCB00EDEF}" presName="sibTrans" presStyleCnt="0"/>
      <dgm:spPr/>
    </dgm:pt>
    <dgm:pt modelId="{048D2A78-5768-4A80-B312-5FF33D0EB6BD}" type="pres">
      <dgm:prSet presAssocID="{942F8E1A-88B6-4445-9C6D-2B0B77E4FCFE}" presName="node" presStyleLbl="node1" presStyleIdx="1" presStyleCnt="4">
        <dgm:presLayoutVars>
          <dgm:bulletEnabled val="1"/>
        </dgm:presLayoutVars>
      </dgm:prSet>
      <dgm:spPr/>
      <dgm:t>
        <a:bodyPr/>
        <a:lstStyle/>
        <a:p>
          <a:endParaRPr lang="ru-RU"/>
        </a:p>
      </dgm:t>
    </dgm:pt>
    <dgm:pt modelId="{97F055F7-C964-410A-A120-2CB6495B7A29}" type="pres">
      <dgm:prSet presAssocID="{7ABA3E21-67C1-474F-9D1B-B4B4FA86B460}" presName="sibTrans" presStyleCnt="0"/>
      <dgm:spPr/>
    </dgm:pt>
    <dgm:pt modelId="{30C2C4F3-DA11-4CA9-B66E-27442DA3BE3A}" type="pres">
      <dgm:prSet presAssocID="{B7E76B38-A926-4E34-9F3C-8860FCE9DC3D}" presName="node" presStyleLbl="node1" presStyleIdx="2" presStyleCnt="4">
        <dgm:presLayoutVars>
          <dgm:bulletEnabled val="1"/>
        </dgm:presLayoutVars>
      </dgm:prSet>
      <dgm:spPr/>
      <dgm:t>
        <a:bodyPr/>
        <a:lstStyle/>
        <a:p>
          <a:endParaRPr lang="ru-RU"/>
        </a:p>
      </dgm:t>
    </dgm:pt>
    <dgm:pt modelId="{BC2ED0B6-B21B-4F65-AA79-A272F4EB14B2}" type="pres">
      <dgm:prSet presAssocID="{A16970D9-A513-4E58-9E4D-07DC793E198D}" presName="sibTrans" presStyleCnt="0"/>
      <dgm:spPr/>
    </dgm:pt>
    <dgm:pt modelId="{D7961BF8-383F-40FC-9EEE-8CE671DFB11A}" type="pres">
      <dgm:prSet presAssocID="{6962521F-C0D0-4F0F-A8D7-F169DA9434DD}" presName="node" presStyleLbl="node1" presStyleIdx="3" presStyleCnt="4">
        <dgm:presLayoutVars>
          <dgm:bulletEnabled val="1"/>
        </dgm:presLayoutVars>
      </dgm:prSet>
      <dgm:spPr/>
      <dgm:t>
        <a:bodyPr/>
        <a:lstStyle/>
        <a:p>
          <a:endParaRPr lang="ru-RU"/>
        </a:p>
      </dgm:t>
    </dgm:pt>
  </dgm:ptLst>
  <dgm:cxnLst>
    <dgm:cxn modelId="{4EBDE63A-BBFD-41F6-BB6E-CB2AB7E45B4A}" type="presOf" srcId="{EC37A88E-A0B5-4676-84F7-0ED03B63D2A3}" destId="{C9EB4204-73B4-4009-B666-869795601D94}" srcOrd="0" destOrd="0" presId="urn:microsoft.com/office/officeart/2005/8/layout/default"/>
    <dgm:cxn modelId="{93F17A03-889A-4B7D-A4B5-C49FEB1885AD}" srcId="{B8D26B22-0642-45E8-94A5-3192F11B24E3}" destId="{942F8E1A-88B6-4445-9C6D-2B0B77E4FCFE}" srcOrd="1" destOrd="0" parTransId="{3FB2D27A-0E10-4F54-BA6F-213DD7FC303C}" sibTransId="{7ABA3E21-67C1-474F-9D1B-B4B4FA86B460}"/>
    <dgm:cxn modelId="{3B635675-25ED-4EC0-B4F8-EB313F841312}" srcId="{B8D26B22-0642-45E8-94A5-3192F11B24E3}" destId="{B7E76B38-A926-4E34-9F3C-8860FCE9DC3D}" srcOrd="2" destOrd="0" parTransId="{F281DB84-30A4-42B2-B720-76C85D8515A2}" sibTransId="{A16970D9-A513-4E58-9E4D-07DC793E198D}"/>
    <dgm:cxn modelId="{CD520D2F-66DE-4291-9249-AA3D8CEB6D99}" type="presOf" srcId="{942F8E1A-88B6-4445-9C6D-2B0B77E4FCFE}" destId="{048D2A78-5768-4A80-B312-5FF33D0EB6BD}" srcOrd="0" destOrd="0" presId="urn:microsoft.com/office/officeart/2005/8/layout/default"/>
    <dgm:cxn modelId="{7CEAA053-F759-4A7C-9B57-0213F886FDE5}" type="presOf" srcId="{6962521F-C0D0-4F0F-A8D7-F169DA9434DD}" destId="{D7961BF8-383F-40FC-9EEE-8CE671DFB11A}" srcOrd="0" destOrd="0" presId="urn:microsoft.com/office/officeart/2005/8/layout/default"/>
    <dgm:cxn modelId="{0F0D6A27-45E6-410D-8619-20D4046003E3}" type="presOf" srcId="{B7E76B38-A926-4E34-9F3C-8860FCE9DC3D}" destId="{30C2C4F3-DA11-4CA9-B66E-27442DA3BE3A}" srcOrd="0" destOrd="0" presId="urn:microsoft.com/office/officeart/2005/8/layout/default"/>
    <dgm:cxn modelId="{A1D916D5-4503-447D-816E-1080943155FB}" srcId="{B8D26B22-0642-45E8-94A5-3192F11B24E3}" destId="{6962521F-C0D0-4F0F-A8D7-F169DA9434DD}" srcOrd="3" destOrd="0" parTransId="{C61768D2-1BAD-4245-8C53-EAEF32C07FAD}" sibTransId="{64C71312-D122-455B-850B-7535B27D0446}"/>
    <dgm:cxn modelId="{68E0D1E5-0A8C-4B0C-8761-ACD69E591921}" srcId="{B8D26B22-0642-45E8-94A5-3192F11B24E3}" destId="{EC37A88E-A0B5-4676-84F7-0ED03B63D2A3}" srcOrd="0" destOrd="0" parTransId="{23ED92C3-EC1D-434D-A2D1-A99A135E254F}" sibTransId="{7DB26CFC-B23B-41B8-9EFB-37FBCB00EDEF}"/>
    <dgm:cxn modelId="{EB015D74-5ACB-4222-BC0F-DF0E4CFDD13E}" type="presOf" srcId="{B8D26B22-0642-45E8-94A5-3192F11B24E3}" destId="{3C20D3DA-EFDE-405F-8D1B-29857CFB430C}" srcOrd="0" destOrd="0" presId="urn:microsoft.com/office/officeart/2005/8/layout/default"/>
    <dgm:cxn modelId="{9F2A861C-ECC5-4214-8980-1F65949CFECC}" type="presParOf" srcId="{3C20D3DA-EFDE-405F-8D1B-29857CFB430C}" destId="{C9EB4204-73B4-4009-B666-869795601D94}" srcOrd="0" destOrd="0" presId="urn:microsoft.com/office/officeart/2005/8/layout/default"/>
    <dgm:cxn modelId="{ADA9699C-049F-4D88-AB2B-ABD4B397502B}" type="presParOf" srcId="{3C20D3DA-EFDE-405F-8D1B-29857CFB430C}" destId="{F563DEB9-7EF7-4503-BCAC-DFA8847FE754}" srcOrd="1" destOrd="0" presId="urn:microsoft.com/office/officeart/2005/8/layout/default"/>
    <dgm:cxn modelId="{44146B16-C49E-45E2-83DD-B5B543722B7A}" type="presParOf" srcId="{3C20D3DA-EFDE-405F-8D1B-29857CFB430C}" destId="{048D2A78-5768-4A80-B312-5FF33D0EB6BD}" srcOrd="2" destOrd="0" presId="urn:microsoft.com/office/officeart/2005/8/layout/default"/>
    <dgm:cxn modelId="{A357537F-3BD7-4419-A57A-15604485F610}" type="presParOf" srcId="{3C20D3DA-EFDE-405F-8D1B-29857CFB430C}" destId="{97F055F7-C964-410A-A120-2CB6495B7A29}" srcOrd="3" destOrd="0" presId="urn:microsoft.com/office/officeart/2005/8/layout/default"/>
    <dgm:cxn modelId="{D8598B44-35C2-4F0D-89B7-11900E978135}" type="presParOf" srcId="{3C20D3DA-EFDE-405F-8D1B-29857CFB430C}" destId="{30C2C4F3-DA11-4CA9-B66E-27442DA3BE3A}" srcOrd="4" destOrd="0" presId="urn:microsoft.com/office/officeart/2005/8/layout/default"/>
    <dgm:cxn modelId="{34829A9D-C9A8-428F-B5A5-FCA5C132F48F}" type="presParOf" srcId="{3C20D3DA-EFDE-405F-8D1B-29857CFB430C}" destId="{BC2ED0B6-B21B-4F65-AA79-A272F4EB14B2}" srcOrd="5" destOrd="0" presId="urn:microsoft.com/office/officeart/2005/8/layout/default"/>
    <dgm:cxn modelId="{F159E674-CB83-49B4-B4BA-1754218984F7}" type="presParOf" srcId="{3C20D3DA-EFDE-405F-8D1B-29857CFB430C}" destId="{D7961BF8-383F-40FC-9EEE-8CE671DFB11A}"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B7ACDEB-E9B8-4FD5-B3E0-7F4464DEB210}" type="doc">
      <dgm:prSet loTypeId="urn:microsoft.com/office/officeart/2005/8/layout/hList3" loCatId="list" qsTypeId="urn:microsoft.com/office/officeart/2005/8/quickstyle/3d2" qsCatId="3D" csTypeId="urn:microsoft.com/office/officeart/2005/8/colors/accent1_2" csCatId="accent1" phldr="1"/>
      <dgm:spPr/>
      <dgm:t>
        <a:bodyPr/>
        <a:lstStyle/>
        <a:p>
          <a:endParaRPr lang="ru-RU"/>
        </a:p>
      </dgm:t>
    </dgm:pt>
    <dgm:pt modelId="{59AFABFC-61F0-40BB-96FD-DCD5B32E2178}">
      <dgm:prSet phldrT="[Текст]"/>
      <dgm:spPr>
        <a:solidFill>
          <a:schemeClr val="tx2">
            <a:lumMod val="50000"/>
          </a:schemeClr>
        </a:solidFill>
      </dgm:spPr>
      <dgm:t>
        <a:bodyPr/>
        <a:lstStyle/>
        <a:p>
          <a:r>
            <a:rPr lang="ru-RU" b="1" dirty="0" smtClean="0"/>
            <a:t>Государственная информационная система государственных и муниципальных платежей (ГИС ГМП) </a:t>
          </a:r>
          <a:endParaRPr lang="ru-RU" dirty="0"/>
        </a:p>
      </dgm:t>
    </dgm:pt>
    <dgm:pt modelId="{994C5B69-6F0C-4FA9-8FA5-B4949088B176}" type="parTrans" cxnId="{0BEDA018-830E-4240-B834-BC4CE6E6659A}">
      <dgm:prSet/>
      <dgm:spPr/>
      <dgm:t>
        <a:bodyPr/>
        <a:lstStyle/>
        <a:p>
          <a:endParaRPr lang="ru-RU"/>
        </a:p>
      </dgm:t>
    </dgm:pt>
    <dgm:pt modelId="{C8768E7C-5790-4817-BE5D-314F5BEE5795}" type="sibTrans" cxnId="{0BEDA018-830E-4240-B834-BC4CE6E6659A}">
      <dgm:prSet/>
      <dgm:spPr/>
      <dgm:t>
        <a:bodyPr/>
        <a:lstStyle/>
        <a:p>
          <a:endParaRPr lang="ru-RU"/>
        </a:p>
      </dgm:t>
    </dgm:pt>
    <dgm:pt modelId="{8C15FC82-4B48-436C-A282-41531D0CF210}">
      <dgm:prSet phldrT="[Текст]"/>
      <dgm:spPr>
        <a:solidFill>
          <a:schemeClr val="accent6">
            <a:lumMod val="50000"/>
          </a:schemeClr>
        </a:solidFill>
      </dgm:spPr>
      <dgm:t>
        <a:bodyPr/>
        <a:lstStyle/>
        <a:p>
          <a:pPr algn="ctr"/>
          <a:r>
            <a:rPr lang="ru-RU" dirty="0" smtClean="0"/>
            <a:t>слабая методическая поддержка со стороны оператора системы, Федерального казначейства;</a:t>
          </a:r>
          <a:endParaRPr lang="ru-RU" dirty="0"/>
        </a:p>
      </dgm:t>
    </dgm:pt>
    <dgm:pt modelId="{10A7B023-E646-4A28-9FD7-CB0DDE661773}" type="parTrans" cxnId="{1732F898-FF51-4285-8E99-9154CB47F0E7}">
      <dgm:prSet/>
      <dgm:spPr/>
      <dgm:t>
        <a:bodyPr/>
        <a:lstStyle/>
        <a:p>
          <a:endParaRPr lang="ru-RU"/>
        </a:p>
      </dgm:t>
    </dgm:pt>
    <dgm:pt modelId="{5D4BB09F-2BC4-4651-BD05-D075183E3738}" type="sibTrans" cxnId="{1732F898-FF51-4285-8E99-9154CB47F0E7}">
      <dgm:prSet/>
      <dgm:spPr/>
      <dgm:t>
        <a:bodyPr/>
        <a:lstStyle/>
        <a:p>
          <a:endParaRPr lang="ru-RU"/>
        </a:p>
      </dgm:t>
    </dgm:pt>
    <dgm:pt modelId="{6E56115D-BAF1-47CB-81ED-D29FA05F96CE}">
      <dgm:prSet phldrT="[Текст]"/>
      <dgm:spPr>
        <a:solidFill>
          <a:schemeClr val="accent2">
            <a:lumMod val="50000"/>
          </a:schemeClr>
        </a:solidFill>
      </dgm:spPr>
      <dgm:t>
        <a:bodyPr/>
        <a:lstStyle/>
        <a:p>
          <a:pPr algn="ctr"/>
          <a:r>
            <a:rPr lang="ru-RU" dirty="0" smtClean="0"/>
            <a:t>не определены полномочия, ответственность сторон, механизм участия агентов, принимающих платежи – банков, расчетно-кассовых центров (РКЦ) и т.д.</a:t>
          </a:r>
          <a:endParaRPr lang="ru-RU" dirty="0"/>
        </a:p>
      </dgm:t>
    </dgm:pt>
    <dgm:pt modelId="{7791D473-97A4-4F8E-BE50-1A0614B9917B}" type="sibTrans" cxnId="{4DF5B416-4A4F-4C6D-A14D-7BB5D5F8B366}">
      <dgm:prSet/>
      <dgm:spPr/>
      <dgm:t>
        <a:bodyPr/>
        <a:lstStyle/>
        <a:p>
          <a:endParaRPr lang="ru-RU"/>
        </a:p>
      </dgm:t>
    </dgm:pt>
    <dgm:pt modelId="{CE0F0540-57AD-4EC5-80B5-D6D7059BC9FC}" type="parTrans" cxnId="{4DF5B416-4A4F-4C6D-A14D-7BB5D5F8B366}">
      <dgm:prSet/>
      <dgm:spPr/>
      <dgm:t>
        <a:bodyPr/>
        <a:lstStyle/>
        <a:p>
          <a:endParaRPr lang="ru-RU"/>
        </a:p>
      </dgm:t>
    </dgm:pt>
    <dgm:pt modelId="{50B4CA6F-1B7B-4D04-B569-3E4555BEEEF1}" type="pres">
      <dgm:prSet presAssocID="{8B7ACDEB-E9B8-4FD5-B3E0-7F4464DEB210}" presName="composite" presStyleCnt="0">
        <dgm:presLayoutVars>
          <dgm:chMax val="1"/>
          <dgm:dir/>
          <dgm:resizeHandles val="exact"/>
        </dgm:presLayoutVars>
      </dgm:prSet>
      <dgm:spPr/>
      <dgm:t>
        <a:bodyPr/>
        <a:lstStyle/>
        <a:p>
          <a:endParaRPr lang="ru-RU"/>
        </a:p>
      </dgm:t>
    </dgm:pt>
    <dgm:pt modelId="{9F1B06FF-9DFB-4AF9-9057-B9D497AD9B2B}" type="pres">
      <dgm:prSet presAssocID="{59AFABFC-61F0-40BB-96FD-DCD5B32E2178}" presName="roof" presStyleLbl="dkBgShp" presStyleIdx="0" presStyleCnt="2" custScaleY="102575"/>
      <dgm:spPr/>
      <dgm:t>
        <a:bodyPr/>
        <a:lstStyle/>
        <a:p>
          <a:endParaRPr lang="ru-RU"/>
        </a:p>
      </dgm:t>
    </dgm:pt>
    <dgm:pt modelId="{3A950389-7A37-4817-AB21-DB858DDF0406}" type="pres">
      <dgm:prSet presAssocID="{59AFABFC-61F0-40BB-96FD-DCD5B32E2178}" presName="pillars" presStyleCnt="0"/>
      <dgm:spPr/>
    </dgm:pt>
    <dgm:pt modelId="{AE5CD61A-3BEB-4F04-8879-983318C9AB94}" type="pres">
      <dgm:prSet presAssocID="{59AFABFC-61F0-40BB-96FD-DCD5B32E2178}" presName="pillar1" presStyleLbl="node1" presStyleIdx="0" presStyleCnt="2">
        <dgm:presLayoutVars>
          <dgm:bulletEnabled val="1"/>
        </dgm:presLayoutVars>
      </dgm:prSet>
      <dgm:spPr/>
      <dgm:t>
        <a:bodyPr/>
        <a:lstStyle/>
        <a:p>
          <a:endParaRPr lang="ru-RU"/>
        </a:p>
      </dgm:t>
    </dgm:pt>
    <dgm:pt modelId="{21C4DE66-C23C-4F84-9AEE-D33E7F493AD6}" type="pres">
      <dgm:prSet presAssocID="{6E56115D-BAF1-47CB-81ED-D29FA05F96CE}" presName="pillarX" presStyleLbl="node1" presStyleIdx="1" presStyleCnt="2">
        <dgm:presLayoutVars>
          <dgm:bulletEnabled val="1"/>
        </dgm:presLayoutVars>
      </dgm:prSet>
      <dgm:spPr/>
      <dgm:t>
        <a:bodyPr/>
        <a:lstStyle/>
        <a:p>
          <a:endParaRPr lang="ru-RU"/>
        </a:p>
      </dgm:t>
    </dgm:pt>
    <dgm:pt modelId="{C4CCBCF5-AB17-4F30-B6FD-BD42A2A1DF4C}" type="pres">
      <dgm:prSet presAssocID="{59AFABFC-61F0-40BB-96FD-DCD5B32E2178}" presName="base" presStyleLbl="dkBgShp" presStyleIdx="1" presStyleCnt="2"/>
      <dgm:spPr>
        <a:solidFill>
          <a:schemeClr val="tx2">
            <a:lumMod val="50000"/>
          </a:schemeClr>
        </a:solidFill>
      </dgm:spPr>
    </dgm:pt>
  </dgm:ptLst>
  <dgm:cxnLst>
    <dgm:cxn modelId="{4DF5B416-4A4F-4C6D-A14D-7BB5D5F8B366}" srcId="{59AFABFC-61F0-40BB-96FD-DCD5B32E2178}" destId="{6E56115D-BAF1-47CB-81ED-D29FA05F96CE}" srcOrd="1" destOrd="0" parTransId="{CE0F0540-57AD-4EC5-80B5-D6D7059BC9FC}" sibTransId="{7791D473-97A4-4F8E-BE50-1A0614B9917B}"/>
    <dgm:cxn modelId="{0BEDA018-830E-4240-B834-BC4CE6E6659A}" srcId="{8B7ACDEB-E9B8-4FD5-B3E0-7F4464DEB210}" destId="{59AFABFC-61F0-40BB-96FD-DCD5B32E2178}" srcOrd="0" destOrd="0" parTransId="{994C5B69-6F0C-4FA9-8FA5-B4949088B176}" sibTransId="{C8768E7C-5790-4817-BE5D-314F5BEE5795}"/>
    <dgm:cxn modelId="{DA35B993-7BD6-4C13-BB2F-92861D38710F}" type="presOf" srcId="{6E56115D-BAF1-47CB-81ED-D29FA05F96CE}" destId="{21C4DE66-C23C-4F84-9AEE-D33E7F493AD6}" srcOrd="0" destOrd="0" presId="urn:microsoft.com/office/officeart/2005/8/layout/hList3"/>
    <dgm:cxn modelId="{211E03CE-1F71-408F-BCA8-0E2BEFCA62E6}" type="presOf" srcId="{8C15FC82-4B48-436C-A282-41531D0CF210}" destId="{AE5CD61A-3BEB-4F04-8879-983318C9AB94}" srcOrd="0" destOrd="0" presId="urn:microsoft.com/office/officeart/2005/8/layout/hList3"/>
    <dgm:cxn modelId="{A9723036-4186-4B6D-A635-B3A5DB88269F}" type="presOf" srcId="{8B7ACDEB-E9B8-4FD5-B3E0-7F4464DEB210}" destId="{50B4CA6F-1B7B-4D04-B569-3E4555BEEEF1}" srcOrd="0" destOrd="0" presId="urn:microsoft.com/office/officeart/2005/8/layout/hList3"/>
    <dgm:cxn modelId="{1732F898-FF51-4285-8E99-9154CB47F0E7}" srcId="{59AFABFC-61F0-40BB-96FD-DCD5B32E2178}" destId="{8C15FC82-4B48-436C-A282-41531D0CF210}" srcOrd="0" destOrd="0" parTransId="{10A7B023-E646-4A28-9FD7-CB0DDE661773}" sibTransId="{5D4BB09F-2BC4-4651-BD05-D075183E3738}"/>
    <dgm:cxn modelId="{1281592F-7AD9-4350-9672-4A3486F7798C}" type="presOf" srcId="{59AFABFC-61F0-40BB-96FD-DCD5B32E2178}" destId="{9F1B06FF-9DFB-4AF9-9057-B9D497AD9B2B}" srcOrd="0" destOrd="0" presId="urn:microsoft.com/office/officeart/2005/8/layout/hList3"/>
    <dgm:cxn modelId="{36371C71-47D2-471B-877E-B935CB69BBC8}" type="presParOf" srcId="{50B4CA6F-1B7B-4D04-B569-3E4555BEEEF1}" destId="{9F1B06FF-9DFB-4AF9-9057-B9D497AD9B2B}" srcOrd="0" destOrd="0" presId="urn:microsoft.com/office/officeart/2005/8/layout/hList3"/>
    <dgm:cxn modelId="{71C635A8-F79E-44EB-A5AD-45BF33371B93}" type="presParOf" srcId="{50B4CA6F-1B7B-4D04-B569-3E4555BEEEF1}" destId="{3A950389-7A37-4817-AB21-DB858DDF0406}" srcOrd="1" destOrd="0" presId="urn:microsoft.com/office/officeart/2005/8/layout/hList3"/>
    <dgm:cxn modelId="{DBFEBBD2-6A94-40BF-B2C9-3DDD8EBCE62E}" type="presParOf" srcId="{3A950389-7A37-4817-AB21-DB858DDF0406}" destId="{AE5CD61A-3BEB-4F04-8879-983318C9AB94}" srcOrd="0" destOrd="0" presId="urn:microsoft.com/office/officeart/2005/8/layout/hList3"/>
    <dgm:cxn modelId="{D63ECCCA-3A06-457C-ADDB-4567BD14B1B7}" type="presParOf" srcId="{3A950389-7A37-4817-AB21-DB858DDF0406}" destId="{21C4DE66-C23C-4F84-9AEE-D33E7F493AD6}" srcOrd="1" destOrd="0" presId="urn:microsoft.com/office/officeart/2005/8/layout/hList3"/>
    <dgm:cxn modelId="{BEBE2144-98F1-49C6-882B-FEDF98709EAA}" type="presParOf" srcId="{50B4CA6F-1B7B-4D04-B569-3E4555BEEEF1}" destId="{C4CCBCF5-AB17-4F30-B6FD-BD42A2A1DF4C}" srcOrd="2" destOrd="0" presId="urn:microsoft.com/office/officeart/2005/8/layout/h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4D16558-9454-4527-A6EC-2B38C91C9A55}" type="doc">
      <dgm:prSet loTypeId="urn:microsoft.com/office/officeart/2005/8/layout/default" loCatId="list" qsTypeId="urn:microsoft.com/office/officeart/2005/8/quickstyle/3d3" qsCatId="3D" csTypeId="urn:microsoft.com/office/officeart/2005/8/colors/accent1_2" csCatId="accent1" phldr="1"/>
      <dgm:spPr/>
      <dgm:t>
        <a:bodyPr/>
        <a:lstStyle/>
        <a:p>
          <a:endParaRPr lang="ru-RU"/>
        </a:p>
      </dgm:t>
    </dgm:pt>
    <dgm:pt modelId="{58E76A2A-24EF-4CE7-9EED-CC13BAA0C140}">
      <dgm:prSet phldrT="[Текст]"/>
      <dgm:spPr>
        <a:solidFill>
          <a:schemeClr val="tx2">
            <a:lumMod val="50000"/>
          </a:schemeClr>
        </a:solidFill>
      </dgm:spPr>
      <dgm:t>
        <a:bodyPr/>
        <a:lstStyle/>
        <a:p>
          <a:r>
            <a:rPr lang="ru-RU" dirty="0" err="1" smtClean="0"/>
            <a:t>Геомаркетинг</a:t>
          </a:r>
          <a:r>
            <a:rPr lang="ru-RU" dirty="0" smtClean="0"/>
            <a:t> похож одновременно на SEO и SMM. Это работа с </a:t>
          </a:r>
          <a:r>
            <a:rPr lang="ru-RU" dirty="0" err="1" smtClean="0"/>
            <a:t>геосервисами</a:t>
          </a:r>
          <a:r>
            <a:rPr lang="ru-RU" dirty="0" smtClean="0"/>
            <a:t>, например, «‎</a:t>
          </a:r>
          <a:r>
            <a:rPr lang="ru-RU" dirty="0" err="1" smtClean="0"/>
            <a:t>Google.Картами</a:t>
          </a:r>
          <a:r>
            <a:rPr lang="ru-RU" dirty="0" smtClean="0"/>
            <a:t>», «‎</a:t>
          </a:r>
          <a:r>
            <a:rPr lang="ru-RU" dirty="0" err="1" smtClean="0"/>
            <a:t>Яндекс.Навигатором</a:t>
          </a:r>
          <a:r>
            <a:rPr lang="ru-RU" dirty="0" smtClean="0"/>
            <a:t>» и 2ГИС. Также есть специализированные порталы — например, «‎</a:t>
          </a:r>
          <a:r>
            <a:rPr lang="ru-RU" dirty="0" err="1" smtClean="0"/>
            <a:t>Банки.ру</a:t>
          </a:r>
          <a:r>
            <a:rPr lang="ru-RU" dirty="0" smtClean="0"/>
            <a:t>», где можно подобрать банк под свои предпочтения, а также прочитать отзывы или оставить свой.</a:t>
          </a:r>
          <a:endParaRPr lang="ru-RU" dirty="0"/>
        </a:p>
      </dgm:t>
    </dgm:pt>
    <dgm:pt modelId="{CD4444C5-B58D-49BB-9F02-D8F3B36E14FB}" type="parTrans" cxnId="{8FFB096B-377F-4775-A270-E448C515FBEF}">
      <dgm:prSet/>
      <dgm:spPr/>
      <dgm:t>
        <a:bodyPr/>
        <a:lstStyle/>
        <a:p>
          <a:endParaRPr lang="ru-RU"/>
        </a:p>
      </dgm:t>
    </dgm:pt>
    <dgm:pt modelId="{9CAB6CBA-B10F-4D1F-A630-5500AA49604F}" type="sibTrans" cxnId="{8FFB096B-377F-4775-A270-E448C515FBEF}">
      <dgm:prSet/>
      <dgm:spPr/>
      <dgm:t>
        <a:bodyPr/>
        <a:lstStyle/>
        <a:p>
          <a:endParaRPr lang="ru-RU"/>
        </a:p>
      </dgm:t>
    </dgm:pt>
    <dgm:pt modelId="{671B5A74-AB59-40E9-B140-E36C84DA2646}">
      <dgm:prSet phldrT="[Текст]"/>
      <dgm:spPr>
        <a:solidFill>
          <a:schemeClr val="accent2">
            <a:lumMod val="50000"/>
          </a:schemeClr>
        </a:solidFill>
      </dgm:spPr>
      <dgm:t>
        <a:bodyPr/>
        <a:lstStyle/>
        <a:p>
          <a:r>
            <a:rPr lang="ru-RU" dirty="0" err="1" smtClean="0"/>
            <a:t>Геосервисы</a:t>
          </a:r>
          <a:r>
            <a:rPr lang="ru-RU" dirty="0" smtClean="0"/>
            <a:t> работают так: пользователь вводит запрос, а система показывает результат, основываясь на его </a:t>
          </a:r>
          <a:r>
            <a:rPr lang="ru-RU" dirty="0" err="1" smtClean="0"/>
            <a:t>геопозиции</a:t>
          </a:r>
          <a:r>
            <a:rPr lang="ru-RU" dirty="0" smtClean="0"/>
            <a:t>.</a:t>
          </a:r>
          <a:endParaRPr lang="ru-RU" dirty="0"/>
        </a:p>
      </dgm:t>
    </dgm:pt>
    <dgm:pt modelId="{6A87EAF9-E2D6-467F-A796-C9F4DCBEA36C}" type="parTrans" cxnId="{E2AE08AA-D5C9-4C37-AD97-3B565540C087}">
      <dgm:prSet/>
      <dgm:spPr/>
      <dgm:t>
        <a:bodyPr/>
        <a:lstStyle/>
        <a:p>
          <a:endParaRPr lang="ru-RU"/>
        </a:p>
      </dgm:t>
    </dgm:pt>
    <dgm:pt modelId="{6512C82F-92EC-4B8A-BF0E-79AFEC535864}" type="sibTrans" cxnId="{E2AE08AA-D5C9-4C37-AD97-3B565540C087}">
      <dgm:prSet/>
      <dgm:spPr/>
      <dgm:t>
        <a:bodyPr/>
        <a:lstStyle/>
        <a:p>
          <a:endParaRPr lang="ru-RU"/>
        </a:p>
      </dgm:t>
    </dgm:pt>
    <dgm:pt modelId="{F6CF1AA9-6003-433E-80A8-EE1FC7365550}" type="pres">
      <dgm:prSet presAssocID="{84D16558-9454-4527-A6EC-2B38C91C9A55}" presName="diagram" presStyleCnt="0">
        <dgm:presLayoutVars>
          <dgm:dir/>
          <dgm:resizeHandles val="exact"/>
        </dgm:presLayoutVars>
      </dgm:prSet>
      <dgm:spPr/>
      <dgm:t>
        <a:bodyPr/>
        <a:lstStyle/>
        <a:p>
          <a:endParaRPr lang="ru-RU"/>
        </a:p>
      </dgm:t>
    </dgm:pt>
    <dgm:pt modelId="{A5F90D50-843E-45B0-888B-97B60C806EBB}" type="pres">
      <dgm:prSet presAssocID="{58E76A2A-24EF-4CE7-9EED-CC13BAA0C140}" presName="node" presStyleLbl="node1" presStyleIdx="0" presStyleCnt="2" custLinFactNeighborX="-2017" custLinFactNeighborY="-4921">
        <dgm:presLayoutVars>
          <dgm:bulletEnabled val="1"/>
        </dgm:presLayoutVars>
      </dgm:prSet>
      <dgm:spPr/>
      <dgm:t>
        <a:bodyPr/>
        <a:lstStyle/>
        <a:p>
          <a:endParaRPr lang="ru-RU"/>
        </a:p>
      </dgm:t>
    </dgm:pt>
    <dgm:pt modelId="{5B5205E9-4480-450E-B66F-65AE6E77A9C5}" type="pres">
      <dgm:prSet presAssocID="{9CAB6CBA-B10F-4D1F-A630-5500AA49604F}" presName="sibTrans" presStyleCnt="0"/>
      <dgm:spPr/>
    </dgm:pt>
    <dgm:pt modelId="{6A7E44D9-4AEA-48CA-8A00-B22AFB64D42C}" type="pres">
      <dgm:prSet presAssocID="{671B5A74-AB59-40E9-B140-E36C84DA2646}" presName="node" presStyleLbl="node1" presStyleIdx="1" presStyleCnt="2">
        <dgm:presLayoutVars>
          <dgm:bulletEnabled val="1"/>
        </dgm:presLayoutVars>
      </dgm:prSet>
      <dgm:spPr/>
      <dgm:t>
        <a:bodyPr/>
        <a:lstStyle/>
        <a:p>
          <a:endParaRPr lang="ru-RU"/>
        </a:p>
      </dgm:t>
    </dgm:pt>
  </dgm:ptLst>
  <dgm:cxnLst>
    <dgm:cxn modelId="{8FFB096B-377F-4775-A270-E448C515FBEF}" srcId="{84D16558-9454-4527-A6EC-2B38C91C9A55}" destId="{58E76A2A-24EF-4CE7-9EED-CC13BAA0C140}" srcOrd="0" destOrd="0" parTransId="{CD4444C5-B58D-49BB-9F02-D8F3B36E14FB}" sibTransId="{9CAB6CBA-B10F-4D1F-A630-5500AA49604F}"/>
    <dgm:cxn modelId="{91ECE281-6202-45B8-8323-1961C3E6F170}" type="presOf" srcId="{671B5A74-AB59-40E9-B140-E36C84DA2646}" destId="{6A7E44D9-4AEA-48CA-8A00-B22AFB64D42C}" srcOrd="0" destOrd="0" presId="urn:microsoft.com/office/officeart/2005/8/layout/default"/>
    <dgm:cxn modelId="{4B7E87A0-0E83-4406-B601-38547DC291DF}" type="presOf" srcId="{84D16558-9454-4527-A6EC-2B38C91C9A55}" destId="{F6CF1AA9-6003-433E-80A8-EE1FC7365550}" srcOrd="0" destOrd="0" presId="urn:microsoft.com/office/officeart/2005/8/layout/default"/>
    <dgm:cxn modelId="{97F783F4-8220-4C5A-8B02-4AB39C2E79CE}" type="presOf" srcId="{58E76A2A-24EF-4CE7-9EED-CC13BAA0C140}" destId="{A5F90D50-843E-45B0-888B-97B60C806EBB}" srcOrd="0" destOrd="0" presId="urn:microsoft.com/office/officeart/2005/8/layout/default"/>
    <dgm:cxn modelId="{E2AE08AA-D5C9-4C37-AD97-3B565540C087}" srcId="{84D16558-9454-4527-A6EC-2B38C91C9A55}" destId="{671B5A74-AB59-40E9-B140-E36C84DA2646}" srcOrd="1" destOrd="0" parTransId="{6A87EAF9-E2D6-467F-A796-C9F4DCBEA36C}" sibTransId="{6512C82F-92EC-4B8A-BF0E-79AFEC535864}"/>
    <dgm:cxn modelId="{10BA03F5-4C82-4CA9-9A09-19643F1C4012}" type="presParOf" srcId="{F6CF1AA9-6003-433E-80A8-EE1FC7365550}" destId="{A5F90D50-843E-45B0-888B-97B60C806EBB}" srcOrd="0" destOrd="0" presId="urn:microsoft.com/office/officeart/2005/8/layout/default"/>
    <dgm:cxn modelId="{23CE316F-9B18-4D6F-9374-5BD5E7045846}" type="presParOf" srcId="{F6CF1AA9-6003-433E-80A8-EE1FC7365550}" destId="{5B5205E9-4480-450E-B66F-65AE6E77A9C5}" srcOrd="1" destOrd="0" presId="urn:microsoft.com/office/officeart/2005/8/layout/default"/>
    <dgm:cxn modelId="{75A4D743-53A0-4F5D-89FB-F2705B820A10}" type="presParOf" srcId="{F6CF1AA9-6003-433E-80A8-EE1FC7365550}" destId="{6A7E44D9-4AEA-48CA-8A00-B22AFB64D42C}"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B7ACDEB-E9B8-4FD5-B3E0-7F4464DEB210}" type="doc">
      <dgm:prSet loTypeId="urn:microsoft.com/office/officeart/2005/8/layout/hList3" loCatId="list" qsTypeId="urn:microsoft.com/office/officeart/2005/8/quickstyle/3d2" qsCatId="3D" csTypeId="urn:microsoft.com/office/officeart/2005/8/colors/accent1_2" csCatId="accent1" phldr="1"/>
      <dgm:spPr/>
      <dgm:t>
        <a:bodyPr/>
        <a:lstStyle/>
        <a:p>
          <a:endParaRPr lang="ru-RU"/>
        </a:p>
      </dgm:t>
    </dgm:pt>
    <dgm:pt modelId="{59AFABFC-61F0-40BB-96FD-DCD5B32E2178}">
      <dgm:prSet phldrT="[Текст]"/>
      <dgm:spPr>
        <a:solidFill>
          <a:schemeClr val="accent1">
            <a:lumMod val="50000"/>
          </a:schemeClr>
        </a:solidFill>
      </dgm:spPr>
      <dgm:t>
        <a:bodyPr/>
        <a:lstStyle/>
        <a:p>
          <a:r>
            <a:rPr lang="ru-RU" b="1" dirty="0" smtClean="0"/>
            <a:t>Что нужно для внедрения</a:t>
          </a:r>
          <a:endParaRPr lang="ru-RU" dirty="0"/>
        </a:p>
      </dgm:t>
    </dgm:pt>
    <dgm:pt modelId="{994C5B69-6F0C-4FA9-8FA5-B4949088B176}" type="parTrans" cxnId="{0BEDA018-830E-4240-B834-BC4CE6E6659A}">
      <dgm:prSet/>
      <dgm:spPr/>
      <dgm:t>
        <a:bodyPr/>
        <a:lstStyle/>
        <a:p>
          <a:endParaRPr lang="ru-RU"/>
        </a:p>
      </dgm:t>
    </dgm:pt>
    <dgm:pt modelId="{C8768E7C-5790-4817-BE5D-314F5BEE5795}" type="sibTrans" cxnId="{0BEDA018-830E-4240-B834-BC4CE6E6659A}">
      <dgm:prSet/>
      <dgm:spPr/>
      <dgm:t>
        <a:bodyPr/>
        <a:lstStyle/>
        <a:p>
          <a:endParaRPr lang="ru-RU"/>
        </a:p>
      </dgm:t>
    </dgm:pt>
    <dgm:pt modelId="{8C15FC82-4B48-436C-A282-41531D0CF210}">
      <dgm:prSet phldrT="[Текст]"/>
      <dgm:spPr>
        <a:solidFill>
          <a:schemeClr val="accent6">
            <a:lumMod val="50000"/>
          </a:schemeClr>
        </a:solidFill>
      </dgm:spPr>
      <dgm:t>
        <a:bodyPr/>
        <a:lstStyle/>
        <a:p>
          <a:pPr algn="just"/>
          <a:r>
            <a:rPr lang="ru-RU" b="1" dirty="0" smtClean="0"/>
            <a:t>информация</a:t>
          </a:r>
          <a:r>
            <a:rPr lang="ru-RU" dirty="0" smtClean="0"/>
            <a:t>: адреса, филиалы, телефоны. Ее нужно собрать и проверить на актуальность;</a:t>
          </a:r>
          <a:endParaRPr lang="ru-RU" dirty="0"/>
        </a:p>
      </dgm:t>
    </dgm:pt>
    <dgm:pt modelId="{10A7B023-E646-4A28-9FD7-CB0DDE661773}" type="parTrans" cxnId="{1732F898-FF51-4285-8E99-9154CB47F0E7}">
      <dgm:prSet/>
      <dgm:spPr/>
      <dgm:t>
        <a:bodyPr/>
        <a:lstStyle/>
        <a:p>
          <a:endParaRPr lang="ru-RU"/>
        </a:p>
      </dgm:t>
    </dgm:pt>
    <dgm:pt modelId="{5D4BB09F-2BC4-4651-BD05-D075183E3738}" type="sibTrans" cxnId="{1732F898-FF51-4285-8E99-9154CB47F0E7}">
      <dgm:prSet/>
      <dgm:spPr/>
      <dgm:t>
        <a:bodyPr/>
        <a:lstStyle/>
        <a:p>
          <a:endParaRPr lang="ru-RU"/>
        </a:p>
      </dgm:t>
    </dgm:pt>
    <dgm:pt modelId="{6E56115D-BAF1-47CB-81ED-D29FA05F96CE}">
      <dgm:prSet phldrT="[Текст]"/>
      <dgm:spPr>
        <a:solidFill>
          <a:schemeClr val="accent2">
            <a:lumMod val="50000"/>
          </a:schemeClr>
        </a:solidFill>
      </dgm:spPr>
      <dgm:t>
        <a:bodyPr/>
        <a:lstStyle/>
        <a:p>
          <a:pPr algn="just"/>
          <a:r>
            <a:rPr lang="ru-RU" b="1" dirty="0" smtClean="0"/>
            <a:t>время сотрудника</a:t>
          </a:r>
          <a:r>
            <a:rPr lang="ru-RU" dirty="0" smtClean="0"/>
            <a:t>: если в вашей компании несколько маркетологов, нужно понять, кто будет заниматься карточками, и выделить дни; </a:t>
          </a:r>
          <a:endParaRPr lang="ru-RU" dirty="0"/>
        </a:p>
      </dgm:t>
    </dgm:pt>
    <dgm:pt modelId="{CE0F0540-57AD-4EC5-80B5-D6D7059BC9FC}" type="parTrans" cxnId="{4DF5B416-4A4F-4C6D-A14D-7BB5D5F8B366}">
      <dgm:prSet/>
      <dgm:spPr/>
      <dgm:t>
        <a:bodyPr/>
        <a:lstStyle/>
        <a:p>
          <a:endParaRPr lang="ru-RU"/>
        </a:p>
      </dgm:t>
    </dgm:pt>
    <dgm:pt modelId="{7791D473-97A4-4F8E-BE50-1A0614B9917B}" type="sibTrans" cxnId="{4DF5B416-4A4F-4C6D-A14D-7BB5D5F8B366}">
      <dgm:prSet/>
      <dgm:spPr/>
      <dgm:t>
        <a:bodyPr/>
        <a:lstStyle/>
        <a:p>
          <a:endParaRPr lang="ru-RU"/>
        </a:p>
      </dgm:t>
    </dgm:pt>
    <dgm:pt modelId="{05B61781-A9E2-46BD-93DA-6BA7121FD4F9}">
      <dgm:prSet phldrT="[Текст]"/>
      <dgm:spPr>
        <a:solidFill>
          <a:schemeClr val="accent4">
            <a:lumMod val="50000"/>
          </a:schemeClr>
        </a:solidFill>
      </dgm:spPr>
      <dgm:t>
        <a:bodyPr/>
        <a:lstStyle/>
        <a:p>
          <a:pPr algn="just"/>
          <a:r>
            <a:rPr lang="ru-RU" b="1" dirty="0" smtClean="0"/>
            <a:t>терпение</a:t>
          </a:r>
          <a:r>
            <a:rPr lang="ru-RU" dirty="0" smtClean="0"/>
            <a:t>: если у бизнеса 10+ филиалов, нужно создать каждому филиалу отдельную карточку в </a:t>
          </a:r>
          <a:r>
            <a:rPr lang="ru-RU" dirty="0" err="1" smtClean="0"/>
            <a:t>геосервисах</a:t>
          </a:r>
          <a:r>
            <a:rPr lang="ru-RU" dirty="0" smtClean="0"/>
            <a:t> и подтвердить ее — нельзя сделать одну карточку для всех филиалов. </a:t>
          </a:r>
          <a:endParaRPr lang="ru-RU" dirty="0"/>
        </a:p>
      </dgm:t>
    </dgm:pt>
    <dgm:pt modelId="{DBE100AB-72A5-452D-95E3-73A33BFBA674}" type="parTrans" cxnId="{3EE58BA6-3DE2-4065-8C5E-DFDDA5F87487}">
      <dgm:prSet/>
      <dgm:spPr/>
      <dgm:t>
        <a:bodyPr/>
        <a:lstStyle/>
        <a:p>
          <a:endParaRPr lang="ru-RU"/>
        </a:p>
      </dgm:t>
    </dgm:pt>
    <dgm:pt modelId="{CE4E6AA8-661F-4BE2-9460-E602FE124DA8}" type="sibTrans" cxnId="{3EE58BA6-3DE2-4065-8C5E-DFDDA5F87487}">
      <dgm:prSet/>
      <dgm:spPr/>
      <dgm:t>
        <a:bodyPr/>
        <a:lstStyle/>
        <a:p>
          <a:endParaRPr lang="ru-RU"/>
        </a:p>
      </dgm:t>
    </dgm:pt>
    <dgm:pt modelId="{50B4CA6F-1B7B-4D04-B569-3E4555BEEEF1}" type="pres">
      <dgm:prSet presAssocID="{8B7ACDEB-E9B8-4FD5-B3E0-7F4464DEB210}" presName="composite" presStyleCnt="0">
        <dgm:presLayoutVars>
          <dgm:chMax val="1"/>
          <dgm:dir/>
          <dgm:resizeHandles val="exact"/>
        </dgm:presLayoutVars>
      </dgm:prSet>
      <dgm:spPr/>
      <dgm:t>
        <a:bodyPr/>
        <a:lstStyle/>
        <a:p>
          <a:endParaRPr lang="ru-RU"/>
        </a:p>
      </dgm:t>
    </dgm:pt>
    <dgm:pt modelId="{9F1B06FF-9DFB-4AF9-9057-B9D497AD9B2B}" type="pres">
      <dgm:prSet presAssocID="{59AFABFC-61F0-40BB-96FD-DCD5B32E2178}" presName="roof" presStyleLbl="dkBgShp" presStyleIdx="0" presStyleCnt="2" custScaleY="102575"/>
      <dgm:spPr/>
      <dgm:t>
        <a:bodyPr/>
        <a:lstStyle/>
        <a:p>
          <a:endParaRPr lang="ru-RU"/>
        </a:p>
      </dgm:t>
    </dgm:pt>
    <dgm:pt modelId="{3A950389-7A37-4817-AB21-DB858DDF0406}" type="pres">
      <dgm:prSet presAssocID="{59AFABFC-61F0-40BB-96FD-DCD5B32E2178}" presName="pillars" presStyleCnt="0"/>
      <dgm:spPr/>
    </dgm:pt>
    <dgm:pt modelId="{AE5CD61A-3BEB-4F04-8879-983318C9AB94}" type="pres">
      <dgm:prSet presAssocID="{59AFABFC-61F0-40BB-96FD-DCD5B32E2178}" presName="pillar1" presStyleLbl="node1" presStyleIdx="0" presStyleCnt="3">
        <dgm:presLayoutVars>
          <dgm:bulletEnabled val="1"/>
        </dgm:presLayoutVars>
      </dgm:prSet>
      <dgm:spPr/>
      <dgm:t>
        <a:bodyPr/>
        <a:lstStyle/>
        <a:p>
          <a:endParaRPr lang="ru-RU"/>
        </a:p>
      </dgm:t>
    </dgm:pt>
    <dgm:pt modelId="{21C4DE66-C23C-4F84-9AEE-D33E7F493AD6}" type="pres">
      <dgm:prSet presAssocID="{6E56115D-BAF1-47CB-81ED-D29FA05F96CE}" presName="pillarX" presStyleLbl="node1" presStyleIdx="1" presStyleCnt="3">
        <dgm:presLayoutVars>
          <dgm:bulletEnabled val="1"/>
        </dgm:presLayoutVars>
      </dgm:prSet>
      <dgm:spPr/>
      <dgm:t>
        <a:bodyPr/>
        <a:lstStyle/>
        <a:p>
          <a:endParaRPr lang="ru-RU"/>
        </a:p>
      </dgm:t>
    </dgm:pt>
    <dgm:pt modelId="{E0CC006F-2A3C-4EB1-95F9-F45F7EDEBBB2}" type="pres">
      <dgm:prSet presAssocID="{05B61781-A9E2-46BD-93DA-6BA7121FD4F9}" presName="pillarX" presStyleLbl="node1" presStyleIdx="2" presStyleCnt="3">
        <dgm:presLayoutVars>
          <dgm:bulletEnabled val="1"/>
        </dgm:presLayoutVars>
      </dgm:prSet>
      <dgm:spPr/>
      <dgm:t>
        <a:bodyPr/>
        <a:lstStyle/>
        <a:p>
          <a:endParaRPr lang="ru-RU"/>
        </a:p>
      </dgm:t>
    </dgm:pt>
    <dgm:pt modelId="{C4CCBCF5-AB17-4F30-B6FD-BD42A2A1DF4C}" type="pres">
      <dgm:prSet presAssocID="{59AFABFC-61F0-40BB-96FD-DCD5B32E2178}" presName="base" presStyleLbl="dkBgShp" presStyleIdx="1" presStyleCnt="2"/>
      <dgm:spPr>
        <a:solidFill>
          <a:schemeClr val="accent1">
            <a:lumMod val="50000"/>
          </a:schemeClr>
        </a:solidFill>
      </dgm:spPr>
    </dgm:pt>
  </dgm:ptLst>
  <dgm:cxnLst>
    <dgm:cxn modelId="{4DF5B416-4A4F-4C6D-A14D-7BB5D5F8B366}" srcId="{59AFABFC-61F0-40BB-96FD-DCD5B32E2178}" destId="{6E56115D-BAF1-47CB-81ED-D29FA05F96CE}" srcOrd="1" destOrd="0" parTransId="{CE0F0540-57AD-4EC5-80B5-D6D7059BC9FC}" sibTransId="{7791D473-97A4-4F8E-BE50-1A0614B9917B}"/>
    <dgm:cxn modelId="{0BEDA018-830E-4240-B834-BC4CE6E6659A}" srcId="{8B7ACDEB-E9B8-4FD5-B3E0-7F4464DEB210}" destId="{59AFABFC-61F0-40BB-96FD-DCD5B32E2178}" srcOrd="0" destOrd="0" parTransId="{994C5B69-6F0C-4FA9-8FA5-B4949088B176}" sibTransId="{C8768E7C-5790-4817-BE5D-314F5BEE5795}"/>
    <dgm:cxn modelId="{DFD4835E-85AA-498F-B5C3-922BAD57066F}" type="presOf" srcId="{8B7ACDEB-E9B8-4FD5-B3E0-7F4464DEB210}" destId="{50B4CA6F-1B7B-4D04-B569-3E4555BEEEF1}" srcOrd="0" destOrd="0" presId="urn:microsoft.com/office/officeart/2005/8/layout/hList3"/>
    <dgm:cxn modelId="{3D10B925-A3E1-4B0C-8C47-8691AA513F0C}" type="presOf" srcId="{6E56115D-BAF1-47CB-81ED-D29FA05F96CE}" destId="{21C4DE66-C23C-4F84-9AEE-D33E7F493AD6}" srcOrd="0" destOrd="0" presId="urn:microsoft.com/office/officeart/2005/8/layout/hList3"/>
    <dgm:cxn modelId="{A15025E2-5223-438B-BA0E-3F7274E5F0D1}" type="presOf" srcId="{05B61781-A9E2-46BD-93DA-6BA7121FD4F9}" destId="{E0CC006F-2A3C-4EB1-95F9-F45F7EDEBBB2}" srcOrd="0" destOrd="0" presId="urn:microsoft.com/office/officeart/2005/8/layout/hList3"/>
    <dgm:cxn modelId="{1732F898-FF51-4285-8E99-9154CB47F0E7}" srcId="{59AFABFC-61F0-40BB-96FD-DCD5B32E2178}" destId="{8C15FC82-4B48-436C-A282-41531D0CF210}" srcOrd="0" destOrd="0" parTransId="{10A7B023-E646-4A28-9FD7-CB0DDE661773}" sibTransId="{5D4BB09F-2BC4-4651-BD05-D075183E3738}"/>
    <dgm:cxn modelId="{177A7E44-BAE7-4D8D-97F8-F424B7F55F12}" type="presOf" srcId="{59AFABFC-61F0-40BB-96FD-DCD5B32E2178}" destId="{9F1B06FF-9DFB-4AF9-9057-B9D497AD9B2B}" srcOrd="0" destOrd="0" presId="urn:microsoft.com/office/officeart/2005/8/layout/hList3"/>
    <dgm:cxn modelId="{1F0CC607-215E-4100-9E13-8499BE3C136A}" type="presOf" srcId="{8C15FC82-4B48-436C-A282-41531D0CF210}" destId="{AE5CD61A-3BEB-4F04-8879-983318C9AB94}" srcOrd="0" destOrd="0" presId="urn:microsoft.com/office/officeart/2005/8/layout/hList3"/>
    <dgm:cxn modelId="{3EE58BA6-3DE2-4065-8C5E-DFDDA5F87487}" srcId="{59AFABFC-61F0-40BB-96FD-DCD5B32E2178}" destId="{05B61781-A9E2-46BD-93DA-6BA7121FD4F9}" srcOrd="2" destOrd="0" parTransId="{DBE100AB-72A5-452D-95E3-73A33BFBA674}" sibTransId="{CE4E6AA8-661F-4BE2-9460-E602FE124DA8}"/>
    <dgm:cxn modelId="{961346FD-FC77-423A-BBDB-92D343CD6451}" type="presParOf" srcId="{50B4CA6F-1B7B-4D04-B569-3E4555BEEEF1}" destId="{9F1B06FF-9DFB-4AF9-9057-B9D497AD9B2B}" srcOrd="0" destOrd="0" presId="urn:microsoft.com/office/officeart/2005/8/layout/hList3"/>
    <dgm:cxn modelId="{B8965F3C-9B70-41F4-89DF-F2623E2AFE32}" type="presParOf" srcId="{50B4CA6F-1B7B-4D04-B569-3E4555BEEEF1}" destId="{3A950389-7A37-4817-AB21-DB858DDF0406}" srcOrd="1" destOrd="0" presId="urn:microsoft.com/office/officeart/2005/8/layout/hList3"/>
    <dgm:cxn modelId="{31302D4E-F954-488A-B2A6-48D38722F462}" type="presParOf" srcId="{3A950389-7A37-4817-AB21-DB858DDF0406}" destId="{AE5CD61A-3BEB-4F04-8879-983318C9AB94}" srcOrd="0" destOrd="0" presId="urn:microsoft.com/office/officeart/2005/8/layout/hList3"/>
    <dgm:cxn modelId="{BBB646E2-5E7B-472E-9297-4C83233D8146}" type="presParOf" srcId="{3A950389-7A37-4817-AB21-DB858DDF0406}" destId="{21C4DE66-C23C-4F84-9AEE-D33E7F493AD6}" srcOrd="1" destOrd="0" presId="urn:microsoft.com/office/officeart/2005/8/layout/hList3"/>
    <dgm:cxn modelId="{E12D55CD-84DC-47B1-B4DA-FEDB28A9BD03}" type="presParOf" srcId="{3A950389-7A37-4817-AB21-DB858DDF0406}" destId="{E0CC006F-2A3C-4EB1-95F9-F45F7EDEBBB2}" srcOrd="2" destOrd="0" presId="urn:microsoft.com/office/officeart/2005/8/layout/hList3"/>
    <dgm:cxn modelId="{DC1C12A2-617A-4525-864E-169B4FC1C172}" type="presParOf" srcId="{50B4CA6F-1B7B-4D04-B569-3E4555BEEEF1}" destId="{C4CCBCF5-AB17-4F30-B6FD-BD42A2A1DF4C}" srcOrd="2" destOrd="0" presId="urn:microsoft.com/office/officeart/2005/8/layout/h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B7ACDEB-E9B8-4FD5-B3E0-7F4464DEB210}" type="doc">
      <dgm:prSet loTypeId="urn:microsoft.com/office/officeart/2005/8/layout/hList3" loCatId="list" qsTypeId="urn:microsoft.com/office/officeart/2005/8/quickstyle/3d2" qsCatId="3D" csTypeId="urn:microsoft.com/office/officeart/2005/8/colors/accent1_2" csCatId="accent1" phldr="1"/>
      <dgm:spPr/>
      <dgm:t>
        <a:bodyPr/>
        <a:lstStyle/>
        <a:p>
          <a:endParaRPr lang="ru-RU"/>
        </a:p>
      </dgm:t>
    </dgm:pt>
    <dgm:pt modelId="{59AFABFC-61F0-40BB-96FD-DCD5B32E2178}">
      <dgm:prSet phldrT="[Текст]"/>
      <dgm:spPr>
        <a:solidFill>
          <a:schemeClr val="tx2">
            <a:lumMod val="50000"/>
          </a:schemeClr>
        </a:solidFill>
      </dgm:spPr>
      <dgm:t>
        <a:bodyPr/>
        <a:lstStyle/>
        <a:p>
          <a:r>
            <a:rPr lang="ru-RU" b="1" dirty="0" smtClean="0"/>
            <a:t>Основные сложности</a:t>
          </a:r>
          <a:endParaRPr lang="ru-RU" dirty="0"/>
        </a:p>
      </dgm:t>
    </dgm:pt>
    <dgm:pt modelId="{994C5B69-6F0C-4FA9-8FA5-B4949088B176}" type="parTrans" cxnId="{0BEDA018-830E-4240-B834-BC4CE6E6659A}">
      <dgm:prSet/>
      <dgm:spPr/>
      <dgm:t>
        <a:bodyPr/>
        <a:lstStyle/>
        <a:p>
          <a:endParaRPr lang="ru-RU"/>
        </a:p>
      </dgm:t>
    </dgm:pt>
    <dgm:pt modelId="{C8768E7C-5790-4817-BE5D-314F5BEE5795}" type="sibTrans" cxnId="{0BEDA018-830E-4240-B834-BC4CE6E6659A}">
      <dgm:prSet/>
      <dgm:spPr/>
      <dgm:t>
        <a:bodyPr/>
        <a:lstStyle/>
        <a:p>
          <a:endParaRPr lang="ru-RU"/>
        </a:p>
      </dgm:t>
    </dgm:pt>
    <dgm:pt modelId="{8C15FC82-4B48-436C-A282-41531D0CF210}">
      <dgm:prSet phldrT="[Текст]"/>
      <dgm:spPr>
        <a:solidFill>
          <a:schemeClr val="accent6">
            <a:lumMod val="50000"/>
          </a:schemeClr>
        </a:solidFill>
      </dgm:spPr>
      <dgm:t>
        <a:bodyPr/>
        <a:lstStyle/>
        <a:p>
          <a:pPr algn="ctr"/>
          <a:r>
            <a:rPr lang="ru-RU" b="1" dirty="0" smtClean="0"/>
            <a:t>Верификация занимает от 2 недель до месяца</a:t>
          </a:r>
          <a:r>
            <a:rPr lang="ru-RU" dirty="0" smtClean="0"/>
            <a:t>. У </a:t>
          </a:r>
          <a:r>
            <a:rPr lang="ru-RU" dirty="0" err="1" smtClean="0"/>
            <a:t>геосервисов</a:t>
          </a:r>
          <a:r>
            <a:rPr lang="ru-RU" dirty="0" smtClean="0"/>
            <a:t> разные </a:t>
          </a:r>
          <a:r>
            <a:rPr lang="ru-RU" dirty="0" err="1" smtClean="0"/>
            <a:t>гайды</a:t>
          </a:r>
          <a:r>
            <a:rPr lang="ru-RU" dirty="0" smtClean="0"/>
            <a:t> и способы проверки. Иногда они затягиваются, а еще могут быть просто странными или неудобными</a:t>
          </a:r>
          <a:endParaRPr lang="ru-RU" dirty="0"/>
        </a:p>
      </dgm:t>
    </dgm:pt>
    <dgm:pt modelId="{10A7B023-E646-4A28-9FD7-CB0DDE661773}" type="parTrans" cxnId="{1732F898-FF51-4285-8E99-9154CB47F0E7}">
      <dgm:prSet/>
      <dgm:spPr/>
      <dgm:t>
        <a:bodyPr/>
        <a:lstStyle/>
        <a:p>
          <a:endParaRPr lang="ru-RU"/>
        </a:p>
      </dgm:t>
    </dgm:pt>
    <dgm:pt modelId="{5D4BB09F-2BC4-4651-BD05-D075183E3738}" type="sibTrans" cxnId="{1732F898-FF51-4285-8E99-9154CB47F0E7}">
      <dgm:prSet/>
      <dgm:spPr/>
      <dgm:t>
        <a:bodyPr/>
        <a:lstStyle/>
        <a:p>
          <a:endParaRPr lang="ru-RU"/>
        </a:p>
      </dgm:t>
    </dgm:pt>
    <dgm:pt modelId="{6E56115D-BAF1-47CB-81ED-D29FA05F96CE}">
      <dgm:prSet phldrT="[Текст]"/>
      <dgm:spPr>
        <a:solidFill>
          <a:schemeClr val="accent2">
            <a:lumMod val="50000"/>
          </a:schemeClr>
        </a:solidFill>
      </dgm:spPr>
      <dgm:t>
        <a:bodyPr/>
        <a:lstStyle/>
        <a:p>
          <a:pPr algn="ctr"/>
          <a:r>
            <a:rPr lang="ru-RU" b="1" dirty="0" smtClean="0"/>
            <a:t>Большой поток информации и отзывов, за которым трудно следить</a:t>
          </a:r>
          <a:r>
            <a:rPr lang="ru-RU" dirty="0" smtClean="0"/>
            <a:t>. </a:t>
          </a:r>
          <a:endParaRPr lang="ru-RU" dirty="0"/>
        </a:p>
      </dgm:t>
    </dgm:pt>
    <dgm:pt modelId="{7791D473-97A4-4F8E-BE50-1A0614B9917B}" type="sibTrans" cxnId="{4DF5B416-4A4F-4C6D-A14D-7BB5D5F8B366}">
      <dgm:prSet/>
      <dgm:spPr/>
      <dgm:t>
        <a:bodyPr/>
        <a:lstStyle/>
        <a:p>
          <a:endParaRPr lang="ru-RU"/>
        </a:p>
      </dgm:t>
    </dgm:pt>
    <dgm:pt modelId="{CE0F0540-57AD-4EC5-80B5-D6D7059BC9FC}" type="parTrans" cxnId="{4DF5B416-4A4F-4C6D-A14D-7BB5D5F8B366}">
      <dgm:prSet/>
      <dgm:spPr/>
      <dgm:t>
        <a:bodyPr/>
        <a:lstStyle/>
        <a:p>
          <a:endParaRPr lang="ru-RU"/>
        </a:p>
      </dgm:t>
    </dgm:pt>
    <dgm:pt modelId="{50B4CA6F-1B7B-4D04-B569-3E4555BEEEF1}" type="pres">
      <dgm:prSet presAssocID="{8B7ACDEB-E9B8-4FD5-B3E0-7F4464DEB210}" presName="composite" presStyleCnt="0">
        <dgm:presLayoutVars>
          <dgm:chMax val="1"/>
          <dgm:dir/>
          <dgm:resizeHandles val="exact"/>
        </dgm:presLayoutVars>
      </dgm:prSet>
      <dgm:spPr/>
      <dgm:t>
        <a:bodyPr/>
        <a:lstStyle/>
        <a:p>
          <a:endParaRPr lang="ru-RU"/>
        </a:p>
      </dgm:t>
    </dgm:pt>
    <dgm:pt modelId="{9F1B06FF-9DFB-4AF9-9057-B9D497AD9B2B}" type="pres">
      <dgm:prSet presAssocID="{59AFABFC-61F0-40BB-96FD-DCD5B32E2178}" presName="roof" presStyleLbl="dkBgShp" presStyleIdx="0" presStyleCnt="2" custScaleY="102575"/>
      <dgm:spPr/>
      <dgm:t>
        <a:bodyPr/>
        <a:lstStyle/>
        <a:p>
          <a:endParaRPr lang="ru-RU"/>
        </a:p>
      </dgm:t>
    </dgm:pt>
    <dgm:pt modelId="{3A950389-7A37-4817-AB21-DB858DDF0406}" type="pres">
      <dgm:prSet presAssocID="{59AFABFC-61F0-40BB-96FD-DCD5B32E2178}" presName="pillars" presStyleCnt="0"/>
      <dgm:spPr/>
    </dgm:pt>
    <dgm:pt modelId="{AE5CD61A-3BEB-4F04-8879-983318C9AB94}" type="pres">
      <dgm:prSet presAssocID="{59AFABFC-61F0-40BB-96FD-DCD5B32E2178}" presName="pillar1" presStyleLbl="node1" presStyleIdx="0" presStyleCnt="2">
        <dgm:presLayoutVars>
          <dgm:bulletEnabled val="1"/>
        </dgm:presLayoutVars>
      </dgm:prSet>
      <dgm:spPr/>
      <dgm:t>
        <a:bodyPr/>
        <a:lstStyle/>
        <a:p>
          <a:endParaRPr lang="ru-RU"/>
        </a:p>
      </dgm:t>
    </dgm:pt>
    <dgm:pt modelId="{21C4DE66-C23C-4F84-9AEE-D33E7F493AD6}" type="pres">
      <dgm:prSet presAssocID="{6E56115D-BAF1-47CB-81ED-D29FA05F96CE}" presName="pillarX" presStyleLbl="node1" presStyleIdx="1" presStyleCnt="2">
        <dgm:presLayoutVars>
          <dgm:bulletEnabled val="1"/>
        </dgm:presLayoutVars>
      </dgm:prSet>
      <dgm:spPr/>
      <dgm:t>
        <a:bodyPr/>
        <a:lstStyle/>
        <a:p>
          <a:endParaRPr lang="ru-RU"/>
        </a:p>
      </dgm:t>
    </dgm:pt>
    <dgm:pt modelId="{C4CCBCF5-AB17-4F30-B6FD-BD42A2A1DF4C}" type="pres">
      <dgm:prSet presAssocID="{59AFABFC-61F0-40BB-96FD-DCD5B32E2178}" presName="base" presStyleLbl="dkBgShp" presStyleIdx="1" presStyleCnt="2"/>
      <dgm:spPr>
        <a:solidFill>
          <a:schemeClr val="tx2">
            <a:lumMod val="50000"/>
          </a:schemeClr>
        </a:solidFill>
      </dgm:spPr>
    </dgm:pt>
  </dgm:ptLst>
  <dgm:cxnLst>
    <dgm:cxn modelId="{4DF5B416-4A4F-4C6D-A14D-7BB5D5F8B366}" srcId="{59AFABFC-61F0-40BB-96FD-DCD5B32E2178}" destId="{6E56115D-BAF1-47CB-81ED-D29FA05F96CE}" srcOrd="1" destOrd="0" parTransId="{CE0F0540-57AD-4EC5-80B5-D6D7059BC9FC}" sibTransId="{7791D473-97A4-4F8E-BE50-1A0614B9917B}"/>
    <dgm:cxn modelId="{0BEDA018-830E-4240-B834-BC4CE6E6659A}" srcId="{8B7ACDEB-E9B8-4FD5-B3E0-7F4464DEB210}" destId="{59AFABFC-61F0-40BB-96FD-DCD5B32E2178}" srcOrd="0" destOrd="0" parTransId="{994C5B69-6F0C-4FA9-8FA5-B4949088B176}" sibTransId="{C8768E7C-5790-4817-BE5D-314F5BEE5795}"/>
    <dgm:cxn modelId="{DA35B993-7BD6-4C13-BB2F-92861D38710F}" type="presOf" srcId="{6E56115D-BAF1-47CB-81ED-D29FA05F96CE}" destId="{21C4DE66-C23C-4F84-9AEE-D33E7F493AD6}" srcOrd="0" destOrd="0" presId="urn:microsoft.com/office/officeart/2005/8/layout/hList3"/>
    <dgm:cxn modelId="{211E03CE-1F71-408F-BCA8-0E2BEFCA62E6}" type="presOf" srcId="{8C15FC82-4B48-436C-A282-41531D0CF210}" destId="{AE5CD61A-3BEB-4F04-8879-983318C9AB94}" srcOrd="0" destOrd="0" presId="urn:microsoft.com/office/officeart/2005/8/layout/hList3"/>
    <dgm:cxn modelId="{A9723036-4186-4B6D-A635-B3A5DB88269F}" type="presOf" srcId="{8B7ACDEB-E9B8-4FD5-B3E0-7F4464DEB210}" destId="{50B4CA6F-1B7B-4D04-B569-3E4555BEEEF1}" srcOrd="0" destOrd="0" presId="urn:microsoft.com/office/officeart/2005/8/layout/hList3"/>
    <dgm:cxn modelId="{1732F898-FF51-4285-8E99-9154CB47F0E7}" srcId="{59AFABFC-61F0-40BB-96FD-DCD5B32E2178}" destId="{8C15FC82-4B48-436C-A282-41531D0CF210}" srcOrd="0" destOrd="0" parTransId="{10A7B023-E646-4A28-9FD7-CB0DDE661773}" sibTransId="{5D4BB09F-2BC4-4651-BD05-D075183E3738}"/>
    <dgm:cxn modelId="{1281592F-7AD9-4350-9672-4A3486F7798C}" type="presOf" srcId="{59AFABFC-61F0-40BB-96FD-DCD5B32E2178}" destId="{9F1B06FF-9DFB-4AF9-9057-B9D497AD9B2B}" srcOrd="0" destOrd="0" presId="urn:microsoft.com/office/officeart/2005/8/layout/hList3"/>
    <dgm:cxn modelId="{36371C71-47D2-471B-877E-B935CB69BBC8}" type="presParOf" srcId="{50B4CA6F-1B7B-4D04-B569-3E4555BEEEF1}" destId="{9F1B06FF-9DFB-4AF9-9057-B9D497AD9B2B}" srcOrd="0" destOrd="0" presId="urn:microsoft.com/office/officeart/2005/8/layout/hList3"/>
    <dgm:cxn modelId="{71C635A8-F79E-44EB-A5AD-45BF33371B93}" type="presParOf" srcId="{50B4CA6F-1B7B-4D04-B569-3E4555BEEEF1}" destId="{3A950389-7A37-4817-AB21-DB858DDF0406}" srcOrd="1" destOrd="0" presId="urn:microsoft.com/office/officeart/2005/8/layout/hList3"/>
    <dgm:cxn modelId="{DBFEBBD2-6A94-40BF-B2C9-3DDD8EBCE62E}" type="presParOf" srcId="{3A950389-7A37-4817-AB21-DB858DDF0406}" destId="{AE5CD61A-3BEB-4F04-8879-983318C9AB94}" srcOrd="0" destOrd="0" presId="urn:microsoft.com/office/officeart/2005/8/layout/hList3"/>
    <dgm:cxn modelId="{D63ECCCA-3A06-457C-ADDB-4567BD14B1B7}" type="presParOf" srcId="{3A950389-7A37-4817-AB21-DB858DDF0406}" destId="{21C4DE66-C23C-4F84-9AEE-D33E7F493AD6}" srcOrd="1" destOrd="0" presId="urn:microsoft.com/office/officeart/2005/8/layout/hList3"/>
    <dgm:cxn modelId="{BEBE2144-98F1-49C6-882B-FEDF98709EAA}" type="presParOf" srcId="{50B4CA6F-1B7B-4D04-B569-3E4555BEEEF1}" destId="{C4CCBCF5-AB17-4F30-B6FD-BD42A2A1DF4C}" srcOrd="2" destOrd="0" presId="urn:microsoft.com/office/officeart/2005/8/layout/h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0A63E4E-E3AE-48F4-9DE3-123E3888D599}" type="doc">
      <dgm:prSet loTypeId="urn:microsoft.com/office/officeart/2005/8/layout/hList3" loCatId="list" qsTypeId="urn:microsoft.com/office/officeart/2005/8/quickstyle/3d2" qsCatId="3D" csTypeId="urn:microsoft.com/office/officeart/2005/8/colors/accent1_2" csCatId="accent1" phldr="1"/>
      <dgm:spPr/>
      <dgm:t>
        <a:bodyPr/>
        <a:lstStyle/>
        <a:p>
          <a:endParaRPr lang="ru-RU"/>
        </a:p>
      </dgm:t>
    </dgm:pt>
    <dgm:pt modelId="{EDDA3A4F-794E-4E51-8CFF-82D51998AF86}">
      <dgm:prSet phldrT="[Текст]"/>
      <dgm:spPr>
        <a:solidFill>
          <a:schemeClr val="tx2">
            <a:lumMod val="50000"/>
          </a:schemeClr>
        </a:solidFill>
      </dgm:spPr>
      <dgm:t>
        <a:bodyPr/>
        <a:lstStyle/>
        <a:p>
          <a:r>
            <a:rPr lang="ru-RU" b="1" dirty="0" smtClean="0"/>
            <a:t>Безопасность предприятия и прилегающих территорий</a:t>
          </a:r>
          <a:endParaRPr lang="ru-RU" dirty="0"/>
        </a:p>
      </dgm:t>
    </dgm:pt>
    <dgm:pt modelId="{E809EC0E-589C-4280-AF23-E214F3C37B69}" type="parTrans" cxnId="{0BC001E4-A649-4BE3-89E1-A0A6B6E1D62E}">
      <dgm:prSet/>
      <dgm:spPr/>
      <dgm:t>
        <a:bodyPr/>
        <a:lstStyle/>
        <a:p>
          <a:endParaRPr lang="ru-RU"/>
        </a:p>
      </dgm:t>
    </dgm:pt>
    <dgm:pt modelId="{E2CCB92A-6515-495D-8D6D-EE1F5FCF8C0C}" type="sibTrans" cxnId="{0BC001E4-A649-4BE3-89E1-A0A6B6E1D62E}">
      <dgm:prSet/>
      <dgm:spPr/>
      <dgm:t>
        <a:bodyPr/>
        <a:lstStyle/>
        <a:p>
          <a:endParaRPr lang="ru-RU"/>
        </a:p>
      </dgm:t>
    </dgm:pt>
    <dgm:pt modelId="{6606F9AD-C7D8-4E30-9277-2B28E2EAA908}">
      <dgm:prSet phldrT="[Текст]"/>
      <dgm:spPr>
        <a:solidFill>
          <a:schemeClr val="accent2">
            <a:lumMod val="50000"/>
          </a:schemeClr>
        </a:solidFill>
      </dgm:spPr>
      <dgm:t>
        <a:bodyPr/>
        <a:lstStyle/>
        <a:p>
          <a:r>
            <a:rPr lang="ru-RU" dirty="0" smtClean="0"/>
            <a:t>С помощью </a:t>
          </a:r>
          <a:r>
            <a:rPr lang="ru-RU" dirty="0" err="1" smtClean="0"/>
            <a:t>геоинформацилнных</a:t>
          </a:r>
          <a:r>
            <a:rPr lang="ru-RU" dirty="0" smtClean="0"/>
            <a:t> систем производится </a:t>
          </a:r>
          <a:r>
            <a:rPr lang="ru-RU" i="1" dirty="0" smtClean="0"/>
            <a:t>прогнозирование чрезвычайных ситуаций</a:t>
          </a:r>
          <a:r>
            <a:rPr lang="ru-RU" dirty="0" smtClean="0"/>
            <a:t> (пожаров, наводнений, землетрясений, селей, ураганов). </a:t>
          </a:r>
          <a:endParaRPr lang="ru-RU" dirty="0"/>
        </a:p>
      </dgm:t>
    </dgm:pt>
    <dgm:pt modelId="{9D13CCD8-DF7F-47F2-A659-024B271242ED}" type="parTrans" cxnId="{F47B4011-FDA1-4C7A-AF8C-093E56F17CA3}">
      <dgm:prSet/>
      <dgm:spPr/>
      <dgm:t>
        <a:bodyPr/>
        <a:lstStyle/>
        <a:p>
          <a:endParaRPr lang="ru-RU"/>
        </a:p>
      </dgm:t>
    </dgm:pt>
    <dgm:pt modelId="{AAD7AEF9-6B4F-4C60-A463-6CEFB0EB00D1}" type="sibTrans" cxnId="{F47B4011-FDA1-4C7A-AF8C-093E56F17CA3}">
      <dgm:prSet/>
      <dgm:spPr/>
      <dgm:t>
        <a:bodyPr/>
        <a:lstStyle/>
        <a:p>
          <a:endParaRPr lang="ru-RU"/>
        </a:p>
      </dgm:t>
    </dgm:pt>
    <dgm:pt modelId="{FE6A9C39-2A3D-4249-9697-BA8EB9795B3C}">
      <dgm:prSet phldrT="[Текст]"/>
      <dgm:spPr>
        <a:solidFill>
          <a:schemeClr val="accent4">
            <a:lumMod val="50000"/>
          </a:schemeClr>
        </a:solidFill>
      </dgm:spPr>
      <dgm:t>
        <a:bodyPr/>
        <a:lstStyle/>
        <a:p>
          <a:pPr algn="ctr"/>
          <a:r>
            <a:rPr lang="ru-RU" dirty="0" smtClean="0"/>
            <a:t>Использование ГИС приложений помогает спрогнозировать загрязнение от источников на местности при:</a:t>
          </a:r>
        </a:p>
        <a:p>
          <a:pPr algn="just"/>
          <a:r>
            <a:rPr lang="ru-RU" dirty="0" smtClean="0"/>
            <a:t>дорожно-транспортных происшествиях на автомобильном транспорте;</a:t>
          </a:r>
        </a:p>
        <a:p>
          <a:pPr algn="just"/>
          <a:r>
            <a:rPr lang="ru-RU" dirty="0" smtClean="0"/>
            <a:t>крушении поездов с нефтеналивными цистернами на железнодорожном транспорте;</a:t>
          </a:r>
        </a:p>
        <a:p>
          <a:pPr algn="just"/>
          <a:r>
            <a:rPr lang="ru-RU" dirty="0" smtClean="0"/>
            <a:t>падении воздушных судов на объекты ядерной промышленности;</a:t>
          </a:r>
        </a:p>
        <a:p>
          <a:pPr algn="just"/>
          <a:r>
            <a:rPr lang="ru-RU" dirty="0" smtClean="0"/>
            <a:t>при разливе нефтепродуктов на воде и т.д.</a:t>
          </a:r>
          <a:endParaRPr lang="ru-RU" dirty="0"/>
        </a:p>
      </dgm:t>
    </dgm:pt>
    <dgm:pt modelId="{5C34D252-5D51-4002-9CDA-603FB078F7E3}" type="parTrans" cxnId="{672A61ED-31D3-48CE-8CDB-A8033BE8BEA4}">
      <dgm:prSet/>
      <dgm:spPr/>
      <dgm:t>
        <a:bodyPr/>
        <a:lstStyle/>
        <a:p>
          <a:endParaRPr lang="ru-RU"/>
        </a:p>
      </dgm:t>
    </dgm:pt>
    <dgm:pt modelId="{E57A8BBE-25F1-4459-8B08-A9C13F015E26}" type="sibTrans" cxnId="{672A61ED-31D3-48CE-8CDB-A8033BE8BEA4}">
      <dgm:prSet/>
      <dgm:spPr/>
      <dgm:t>
        <a:bodyPr/>
        <a:lstStyle/>
        <a:p>
          <a:endParaRPr lang="ru-RU"/>
        </a:p>
      </dgm:t>
    </dgm:pt>
    <dgm:pt modelId="{A1915FE7-5EE3-4554-813D-ACAF2868A9A0}" type="pres">
      <dgm:prSet presAssocID="{50A63E4E-E3AE-48F4-9DE3-123E3888D599}" presName="composite" presStyleCnt="0">
        <dgm:presLayoutVars>
          <dgm:chMax val="1"/>
          <dgm:dir/>
          <dgm:resizeHandles val="exact"/>
        </dgm:presLayoutVars>
      </dgm:prSet>
      <dgm:spPr/>
      <dgm:t>
        <a:bodyPr/>
        <a:lstStyle/>
        <a:p>
          <a:endParaRPr lang="ru-RU"/>
        </a:p>
      </dgm:t>
    </dgm:pt>
    <dgm:pt modelId="{084AEF5C-3D9D-425C-83E3-7FA3B938FB9E}" type="pres">
      <dgm:prSet presAssocID="{EDDA3A4F-794E-4E51-8CFF-82D51998AF86}" presName="roof" presStyleLbl="dkBgShp" presStyleIdx="0" presStyleCnt="2" custScaleX="99481" custScaleY="99391"/>
      <dgm:spPr/>
      <dgm:t>
        <a:bodyPr/>
        <a:lstStyle/>
        <a:p>
          <a:endParaRPr lang="ru-RU"/>
        </a:p>
      </dgm:t>
    </dgm:pt>
    <dgm:pt modelId="{84442373-E640-42DA-833C-F3683501F812}" type="pres">
      <dgm:prSet presAssocID="{EDDA3A4F-794E-4E51-8CFF-82D51998AF86}" presName="pillars" presStyleCnt="0"/>
      <dgm:spPr/>
    </dgm:pt>
    <dgm:pt modelId="{BE76EF05-1D90-4D23-928B-4D048E8A4E82}" type="pres">
      <dgm:prSet presAssocID="{EDDA3A4F-794E-4E51-8CFF-82D51998AF86}" presName="pillar1" presStyleLbl="node1" presStyleIdx="0" presStyleCnt="2">
        <dgm:presLayoutVars>
          <dgm:bulletEnabled val="1"/>
        </dgm:presLayoutVars>
      </dgm:prSet>
      <dgm:spPr/>
      <dgm:t>
        <a:bodyPr/>
        <a:lstStyle/>
        <a:p>
          <a:endParaRPr lang="ru-RU"/>
        </a:p>
      </dgm:t>
    </dgm:pt>
    <dgm:pt modelId="{16A5130B-2BF9-4576-AB20-4228D0B2E633}" type="pres">
      <dgm:prSet presAssocID="{FE6A9C39-2A3D-4249-9697-BA8EB9795B3C}" presName="pillarX" presStyleLbl="node1" presStyleIdx="1" presStyleCnt="2">
        <dgm:presLayoutVars>
          <dgm:bulletEnabled val="1"/>
        </dgm:presLayoutVars>
      </dgm:prSet>
      <dgm:spPr/>
      <dgm:t>
        <a:bodyPr/>
        <a:lstStyle/>
        <a:p>
          <a:endParaRPr lang="ru-RU"/>
        </a:p>
      </dgm:t>
    </dgm:pt>
    <dgm:pt modelId="{C21DABF1-C295-483F-A04A-E03770040AB7}" type="pres">
      <dgm:prSet presAssocID="{EDDA3A4F-794E-4E51-8CFF-82D51998AF86}" presName="base" presStyleLbl="dkBgShp" presStyleIdx="1" presStyleCnt="2"/>
      <dgm:spPr>
        <a:solidFill>
          <a:schemeClr val="tx2">
            <a:lumMod val="50000"/>
          </a:schemeClr>
        </a:solidFill>
      </dgm:spPr>
    </dgm:pt>
  </dgm:ptLst>
  <dgm:cxnLst>
    <dgm:cxn modelId="{353B8ADC-077E-4CB9-8365-111E4A8F6B49}" type="presOf" srcId="{EDDA3A4F-794E-4E51-8CFF-82D51998AF86}" destId="{084AEF5C-3D9D-425C-83E3-7FA3B938FB9E}" srcOrd="0" destOrd="0" presId="urn:microsoft.com/office/officeart/2005/8/layout/hList3"/>
    <dgm:cxn modelId="{7AC5E19C-B6A6-482F-B856-DC4838360D9E}" type="presOf" srcId="{6606F9AD-C7D8-4E30-9277-2B28E2EAA908}" destId="{BE76EF05-1D90-4D23-928B-4D048E8A4E82}" srcOrd="0" destOrd="0" presId="urn:microsoft.com/office/officeart/2005/8/layout/hList3"/>
    <dgm:cxn modelId="{1A34734D-3551-415C-95CB-6C510CBD8A9A}" type="presOf" srcId="{50A63E4E-E3AE-48F4-9DE3-123E3888D599}" destId="{A1915FE7-5EE3-4554-813D-ACAF2868A9A0}" srcOrd="0" destOrd="0" presId="urn:microsoft.com/office/officeart/2005/8/layout/hList3"/>
    <dgm:cxn modelId="{672A61ED-31D3-48CE-8CDB-A8033BE8BEA4}" srcId="{EDDA3A4F-794E-4E51-8CFF-82D51998AF86}" destId="{FE6A9C39-2A3D-4249-9697-BA8EB9795B3C}" srcOrd="1" destOrd="0" parTransId="{5C34D252-5D51-4002-9CDA-603FB078F7E3}" sibTransId="{E57A8BBE-25F1-4459-8B08-A9C13F015E26}"/>
    <dgm:cxn modelId="{0BC001E4-A649-4BE3-89E1-A0A6B6E1D62E}" srcId="{50A63E4E-E3AE-48F4-9DE3-123E3888D599}" destId="{EDDA3A4F-794E-4E51-8CFF-82D51998AF86}" srcOrd="0" destOrd="0" parTransId="{E809EC0E-589C-4280-AF23-E214F3C37B69}" sibTransId="{E2CCB92A-6515-495D-8D6D-EE1F5FCF8C0C}"/>
    <dgm:cxn modelId="{F47B4011-FDA1-4C7A-AF8C-093E56F17CA3}" srcId="{EDDA3A4F-794E-4E51-8CFF-82D51998AF86}" destId="{6606F9AD-C7D8-4E30-9277-2B28E2EAA908}" srcOrd="0" destOrd="0" parTransId="{9D13CCD8-DF7F-47F2-A659-024B271242ED}" sibTransId="{AAD7AEF9-6B4F-4C60-A463-6CEFB0EB00D1}"/>
    <dgm:cxn modelId="{CEAF1A0F-80D8-4450-92D7-B7E11F311DB5}" type="presOf" srcId="{FE6A9C39-2A3D-4249-9697-BA8EB9795B3C}" destId="{16A5130B-2BF9-4576-AB20-4228D0B2E633}" srcOrd="0" destOrd="0" presId="urn:microsoft.com/office/officeart/2005/8/layout/hList3"/>
    <dgm:cxn modelId="{5001696E-89A4-453B-9E82-9F95A37959D9}" type="presParOf" srcId="{A1915FE7-5EE3-4554-813D-ACAF2868A9A0}" destId="{084AEF5C-3D9D-425C-83E3-7FA3B938FB9E}" srcOrd="0" destOrd="0" presId="urn:microsoft.com/office/officeart/2005/8/layout/hList3"/>
    <dgm:cxn modelId="{6272ED58-0547-4D17-AD1A-6B436E579DAC}" type="presParOf" srcId="{A1915FE7-5EE3-4554-813D-ACAF2868A9A0}" destId="{84442373-E640-42DA-833C-F3683501F812}" srcOrd="1" destOrd="0" presId="urn:microsoft.com/office/officeart/2005/8/layout/hList3"/>
    <dgm:cxn modelId="{F2DE0655-73F1-4AA0-AB53-B123917A4AEA}" type="presParOf" srcId="{84442373-E640-42DA-833C-F3683501F812}" destId="{BE76EF05-1D90-4D23-928B-4D048E8A4E82}" srcOrd="0" destOrd="0" presId="urn:microsoft.com/office/officeart/2005/8/layout/hList3"/>
    <dgm:cxn modelId="{001F69BF-A3FC-4802-A0DC-B8A1B718B051}" type="presParOf" srcId="{84442373-E640-42DA-833C-F3683501F812}" destId="{16A5130B-2BF9-4576-AB20-4228D0B2E633}" srcOrd="1" destOrd="0" presId="urn:microsoft.com/office/officeart/2005/8/layout/hList3"/>
    <dgm:cxn modelId="{FC719A21-D5AB-4AB6-BCA7-AA8957F963B8}" type="presParOf" srcId="{A1915FE7-5EE3-4554-813D-ACAF2868A9A0}" destId="{C21DABF1-C295-483F-A04A-E03770040AB7}" srcOrd="2" destOrd="0" presId="urn:microsoft.com/office/officeart/2005/8/layout/h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5F5C232-ED51-461F-8CFE-DABAA21851BD}" type="doc">
      <dgm:prSet loTypeId="urn:microsoft.com/office/officeart/2005/8/layout/default" loCatId="list" qsTypeId="urn:microsoft.com/office/officeart/2005/8/quickstyle/simple5" qsCatId="simple" csTypeId="urn:microsoft.com/office/officeart/2005/8/colors/accent1_2" csCatId="accent1" phldr="1"/>
      <dgm:spPr/>
      <dgm:t>
        <a:bodyPr/>
        <a:lstStyle/>
        <a:p>
          <a:endParaRPr lang="ru-RU"/>
        </a:p>
      </dgm:t>
    </dgm:pt>
    <dgm:pt modelId="{85CEDE2B-D7FA-441E-92C8-3A60375EC1FA}">
      <dgm:prSet phldrT="[Текст]"/>
      <dgm:spPr>
        <a:solidFill>
          <a:schemeClr val="accent6">
            <a:lumMod val="50000"/>
          </a:schemeClr>
        </a:solidFill>
      </dgm:spPr>
      <dgm:t>
        <a:bodyPr/>
        <a:lstStyle/>
        <a:p>
          <a:r>
            <a:rPr lang="ru-RU" dirty="0" smtClean="0"/>
            <a:t>хранить различные представления территории предприятия;</a:t>
          </a:r>
          <a:endParaRPr lang="ru-RU" dirty="0"/>
        </a:p>
      </dgm:t>
    </dgm:pt>
    <dgm:pt modelId="{607F62CD-47F6-455E-A3DC-E27BD38A85E2}" type="parTrans" cxnId="{7F136FD3-7441-4641-8D5D-AB1DFA691303}">
      <dgm:prSet/>
      <dgm:spPr/>
      <dgm:t>
        <a:bodyPr/>
        <a:lstStyle/>
        <a:p>
          <a:endParaRPr lang="ru-RU"/>
        </a:p>
      </dgm:t>
    </dgm:pt>
    <dgm:pt modelId="{7E7A1DB8-A2A1-46D6-936F-1E56F6FCA45C}" type="sibTrans" cxnId="{7F136FD3-7441-4641-8D5D-AB1DFA691303}">
      <dgm:prSet/>
      <dgm:spPr/>
      <dgm:t>
        <a:bodyPr/>
        <a:lstStyle/>
        <a:p>
          <a:endParaRPr lang="ru-RU"/>
        </a:p>
      </dgm:t>
    </dgm:pt>
    <dgm:pt modelId="{1340B612-821B-4B6B-AEB1-4AC806CD1912}">
      <dgm:prSet phldrT="[Текст]"/>
      <dgm:spPr>
        <a:solidFill>
          <a:schemeClr val="accent5">
            <a:lumMod val="50000"/>
          </a:schemeClr>
        </a:solidFill>
      </dgm:spPr>
      <dgm:t>
        <a:bodyPr/>
        <a:lstStyle/>
        <a:p>
          <a:r>
            <a:rPr lang="ru-RU" dirty="0" smtClean="0"/>
            <a:t>сочетать в единой среде общий трехмерный план, поэтажные планы входящих в него зданий, схемы коммуникаций и другую информацию;</a:t>
          </a:r>
          <a:endParaRPr lang="ru-RU" dirty="0"/>
        </a:p>
      </dgm:t>
    </dgm:pt>
    <dgm:pt modelId="{7C930D7E-78F4-43F8-BABA-0828D4F28261}" type="parTrans" cxnId="{C4F836E4-BDFA-4168-913B-FD1C386B36D9}">
      <dgm:prSet/>
      <dgm:spPr/>
      <dgm:t>
        <a:bodyPr/>
        <a:lstStyle/>
        <a:p>
          <a:endParaRPr lang="ru-RU"/>
        </a:p>
      </dgm:t>
    </dgm:pt>
    <dgm:pt modelId="{2E13F081-93E2-45A2-B82D-2ED3B81BA1AA}" type="sibTrans" cxnId="{C4F836E4-BDFA-4168-913B-FD1C386B36D9}">
      <dgm:prSet/>
      <dgm:spPr/>
      <dgm:t>
        <a:bodyPr/>
        <a:lstStyle/>
        <a:p>
          <a:endParaRPr lang="ru-RU"/>
        </a:p>
      </dgm:t>
    </dgm:pt>
    <dgm:pt modelId="{4D49DA72-AF57-4A63-9F0E-062AF39E983C}">
      <dgm:prSet phldrT="[Текст]"/>
      <dgm:spPr>
        <a:solidFill>
          <a:schemeClr val="accent4">
            <a:lumMod val="50000"/>
          </a:schemeClr>
        </a:solidFill>
      </dgm:spPr>
      <dgm:t>
        <a:bodyPr/>
        <a:lstStyle/>
        <a:p>
          <a:r>
            <a:rPr lang="ru-RU" dirty="0" smtClean="0"/>
            <a:t>моделировать поведение объектов;</a:t>
          </a:r>
          <a:endParaRPr lang="ru-RU" dirty="0"/>
        </a:p>
      </dgm:t>
    </dgm:pt>
    <dgm:pt modelId="{98701433-963A-42F7-A5FE-C98E2BF91661}" type="parTrans" cxnId="{DEC6C22B-C276-4B30-A6AC-362661A7FD3A}">
      <dgm:prSet/>
      <dgm:spPr/>
      <dgm:t>
        <a:bodyPr/>
        <a:lstStyle/>
        <a:p>
          <a:endParaRPr lang="ru-RU"/>
        </a:p>
      </dgm:t>
    </dgm:pt>
    <dgm:pt modelId="{583C7D6B-2B0A-467E-A865-D9F5EBC6DE32}" type="sibTrans" cxnId="{DEC6C22B-C276-4B30-A6AC-362661A7FD3A}">
      <dgm:prSet/>
      <dgm:spPr/>
      <dgm:t>
        <a:bodyPr/>
        <a:lstStyle/>
        <a:p>
          <a:endParaRPr lang="ru-RU"/>
        </a:p>
      </dgm:t>
    </dgm:pt>
    <dgm:pt modelId="{0FE34EE1-2CDE-43FF-BF4D-747FF796CE3C}">
      <dgm:prSet phldrT="[Текст]"/>
      <dgm:spPr>
        <a:solidFill>
          <a:schemeClr val="accent2">
            <a:lumMod val="50000"/>
          </a:schemeClr>
        </a:solidFill>
      </dgm:spPr>
      <dgm:t>
        <a:bodyPr/>
        <a:lstStyle/>
        <a:p>
          <a:r>
            <a:rPr lang="ru-RU" dirty="0" smtClean="0"/>
            <a:t>находить недоиспользованные ресурсы;</a:t>
          </a:r>
          <a:endParaRPr lang="ru-RU" dirty="0"/>
        </a:p>
      </dgm:t>
    </dgm:pt>
    <dgm:pt modelId="{9ED36EF1-8855-4723-BA19-C674E45268DA}" type="parTrans" cxnId="{24E91E5A-EFE6-4D99-AEC7-9AD89AB50EF9}">
      <dgm:prSet/>
      <dgm:spPr/>
      <dgm:t>
        <a:bodyPr/>
        <a:lstStyle/>
        <a:p>
          <a:endParaRPr lang="ru-RU"/>
        </a:p>
      </dgm:t>
    </dgm:pt>
    <dgm:pt modelId="{DE44730C-29B8-4B8C-B84E-392021489939}" type="sibTrans" cxnId="{24E91E5A-EFE6-4D99-AEC7-9AD89AB50EF9}">
      <dgm:prSet/>
      <dgm:spPr/>
      <dgm:t>
        <a:bodyPr/>
        <a:lstStyle/>
        <a:p>
          <a:endParaRPr lang="ru-RU"/>
        </a:p>
      </dgm:t>
    </dgm:pt>
    <dgm:pt modelId="{49DCCA15-ED6F-4CEA-9B43-04B87CA2FC12}">
      <dgm:prSet phldrT="[Текст]"/>
      <dgm:spPr>
        <a:solidFill>
          <a:schemeClr val="tx2">
            <a:lumMod val="50000"/>
          </a:schemeClr>
        </a:solidFill>
      </dgm:spPr>
      <dgm:t>
        <a:bodyPr/>
        <a:lstStyle/>
        <a:p>
          <a:r>
            <a:rPr lang="ru-RU" dirty="0" smtClean="0"/>
            <a:t>вычислять ошибки в размещении, которые создают угрозу безопасности или какие-либо неудобства и </a:t>
          </a:r>
          <a:r>
            <a:rPr lang="ru-RU" dirty="0" err="1" smtClean="0"/>
            <a:t>т.д</a:t>
          </a:r>
          <a:endParaRPr lang="ru-RU" dirty="0"/>
        </a:p>
      </dgm:t>
    </dgm:pt>
    <dgm:pt modelId="{0DD09E28-347D-4143-8A82-FFDC2726EB74}" type="parTrans" cxnId="{9292A908-514C-469D-991D-5BC1B32808B9}">
      <dgm:prSet/>
      <dgm:spPr/>
      <dgm:t>
        <a:bodyPr/>
        <a:lstStyle/>
        <a:p>
          <a:endParaRPr lang="ru-RU"/>
        </a:p>
      </dgm:t>
    </dgm:pt>
    <dgm:pt modelId="{0A0575A4-9817-4EED-B636-61530FC9E97D}" type="sibTrans" cxnId="{9292A908-514C-469D-991D-5BC1B32808B9}">
      <dgm:prSet/>
      <dgm:spPr/>
      <dgm:t>
        <a:bodyPr/>
        <a:lstStyle/>
        <a:p>
          <a:endParaRPr lang="ru-RU"/>
        </a:p>
      </dgm:t>
    </dgm:pt>
    <dgm:pt modelId="{DBAC4526-081E-4E5B-80F6-CC38A2A7AD98}" type="pres">
      <dgm:prSet presAssocID="{75F5C232-ED51-461F-8CFE-DABAA21851BD}" presName="diagram" presStyleCnt="0">
        <dgm:presLayoutVars>
          <dgm:dir/>
          <dgm:resizeHandles val="exact"/>
        </dgm:presLayoutVars>
      </dgm:prSet>
      <dgm:spPr/>
      <dgm:t>
        <a:bodyPr/>
        <a:lstStyle/>
        <a:p>
          <a:endParaRPr lang="ru-RU"/>
        </a:p>
      </dgm:t>
    </dgm:pt>
    <dgm:pt modelId="{E9714796-510E-4E11-9F33-FF610E8F1BD4}" type="pres">
      <dgm:prSet presAssocID="{85CEDE2B-D7FA-441E-92C8-3A60375EC1FA}" presName="node" presStyleLbl="node1" presStyleIdx="0" presStyleCnt="5">
        <dgm:presLayoutVars>
          <dgm:bulletEnabled val="1"/>
        </dgm:presLayoutVars>
      </dgm:prSet>
      <dgm:spPr/>
      <dgm:t>
        <a:bodyPr/>
        <a:lstStyle/>
        <a:p>
          <a:endParaRPr lang="ru-RU"/>
        </a:p>
      </dgm:t>
    </dgm:pt>
    <dgm:pt modelId="{569AE5B2-1902-4B3F-8F77-C9A2F54DE7E9}" type="pres">
      <dgm:prSet presAssocID="{7E7A1DB8-A2A1-46D6-936F-1E56F6FCA45C}" presName="sibTrans" presStyleCnt="0"/>
      <dgm:spPr/>
    </dgm:pt>
    <dgm:pt modelId="{604195B2-B832-4441-8AC2-939D9E65987C}" type="pres">
      <dgm:prSet presAssocID="{1340B612-821B-4B6B-AEB1-4AC806CD1912}" presName="node" presStyleLbl="node1" presStyleIdx="1" presStyleCnt="5">
        <dgm:presLayoutVars>
          <dgm:bulletEnabled val="1"/>
        </dgm:presLayoutVars>
      </dgm:prSet>
      <dgm:spPr/>
      <dgm:t>
        <a:bodyPr/>
        <a:lstStyle/>
        <a:p>
          <a:endParaRPr lang="ru-RU"/>
        </a:p>
      </dgm:t>
    </dgm:pt>
    <dgm:pt modelId="{9185270D-22FD-43F6-AAA5-23F326654EB3}" type="pres">
      <dgm:prSet presAssocID="{2E13F081-93E2-45A2-B82D-2ED3B81BA1AA}" presName="sibTrans" presStyleCnt="0"/>
      <dgm:spPr/>
    </dgm:pt>
    <dgm:pt modelId="{D6B274DF-6493-4BC2-A594-2914C17DA18E}" type="pres">
      <dgm:prSet presAssocID="{4D49DA72-AF57-4A63-9F0E-062AF39E983C}" presName="node" presStyleLbl="node1" presStyleIdx="2" presStyleCnt="5">
        <dgm:presLayoutVars>
          <dgm:bulletEnabled val="1"/>
        </dgm:presLayoutVars>
      </dgm:prSet>
      <dgm:spPr/>
      <dgm:t>
        <a:bodyPr/>
        <a:lstStyle/>
        <a:p>
          <a:endParaRPr lang="ru-RU"/>
        </a:p>
      </dgm:t>
    </dgm:pt>
    <dgm:pt modelId="{632CC6B6-47BA-4CD2-8C8A-70F0C47E3D94}" type="pres">
      <dgm:prSet presAssocID="{583C7D6B-2B0A-467E-A865-D9F5EBC6DE32}" presName="sibTrans" presStyleCnt="0"/>
      <dgm:spPr/>
    </dgm:pt>
    <dgm:pt modelId="{49C33FE8-637F-489C-B4F7-06E2C945C3C6}" type="pres">
      <dgm:prSet presAssocID="{0FE34EE1-2CDE-43FF-BF4D-747FF796CE3C}" presName="node" presStyleLbl="node1" presStyleIdx="3" presStyleCnt="5">
        <dgm:presLayoutVars>
          <dgm:bulletEnabled val="1"/>
        </dgm:presLayoutVars>
      </dgm:prSet>
      <dgm:spPr/>
      <dgm:t>
        <a:bodyPr/>
        <a:lstStyle/>
        <a:p>
          <a:endParaRPr lang="ru-RU"/>
        </a:p>
      </dgm:t>
    </dgm:pt>
    <dgm:pt modelId="{5DADE0CB-AA13-47F8-9852-5E6520C16D7C}" type="pres">
      <dgm:prSet presAssocID="{DE44730C-29B8-4B8C-B84E-392021489939}" presName="sibTrans" presStyleCnt="0"/>
      <dgm:spPr/>
    </dgm:pt>
    <dgm:pt modelId="{277A06A8-1F36-44B3-AD88-323E2BDD3AEB}" type="pres">
      <dgm:prSet presAssocID="{49DCCA15-ED6F-4CEA-9B43-04B87CA2FC12}" presName="node" presStyleLbl="node1" presStyleIdx="4" presStyleCnt="5">
        <dgm:presLayoutVars>
          <dgm:bulletEnabled val="1"/>
        </dgm:presLayoutVars>
      </dgm:prSet>
      <dgm:spPr/>
      <dgm:t>
        <a:bodyPr/>
        <a:lstStyle/>
        <a:p>
          <a:endParaRPr lang="ru-RU"/>
        </a:p>
      </dgm:t>
    </dgm:pt>
  </dgm:ptLst>
  <dgm:cxnLst>
    <dgm:cxn modelId="{DEC6C22B-C276-4B30-A6AC-362661A7FD3A}" srcId="{75F5C232-ED51-461F-8CFE-DABAA21851BD}" destId="{4D49DA72-AF57-4A63-9F0E-062AF39E983C}" srcOrd="2" destOrd="0" parTransId="{98701433-963A-42F7-A5FE-C98E2BF91661}" sibTransId="{583C7D6B-2B0A-467E-A865-D9F5EBC6DE32}"/>
    <dgm:cxn modelId="{802179C3-953A-4D37-A3D1-46A29B2982F1}" type="presOf" srcId="{85CEDE2B-D7FA-441E-92C8-3A60375EC1FA}" destId="{E9714796-510E-4E11-9F33-FF610E8F1BD4}" srcOrd="0" destOrd="0" presId="urn:microsoft.com/office/officeart/2005/8/layout/default"/>
    <dgm:cxn modelId="{8B53278D-9339-4485-BF84-2C2720B3240C}" type="presOf" srcId="{75F5C232-ED51-461F-8CFE-DABAA21851BD}" destId="{DBAC4526-081E-4E5B-80F6-CC38A2A7AD98}" srcOrd="0" destOrd="0" presId="urn:microsoft.com/office/officeart/2005/8/layout/default"/>
    <dgm:cxn modelId="{8A867C65-0B67-4A83-BFB1-8FA1702F2858}" type="presOf" srcId="{4D49DA72-AF57-4A63-9F0E-062AF39E983C}" destId="{D6B274DF-6493-4BC2-A594-2914C17DA18E}" srcOrd="0" destOrd="0" presId="urn:microsoft.com/office/officeart/2005/8/layout/default"/>
    <dgm:cxn modelId="{C4F836E4-BDFA-4168-913B-FD1C386B36D9}" srcId="{75F5C232-ED51-461F-8CFE-DABAA21851BD}" destId="{1340B612-821B-4B6B-AEB1-4AC806CD1912}" srcOrd="1" destOrd="0" parTransId="{7C930D7E-78F4-43F8-BABA-0828D4F28261}" sibTransId="{2E13F081-93E2-45A2-B82D-2ED3B81BA1AA}"/>
    <dgm:cxn modelId="{DB536B69-E6BB-489D-AD0C-44E05B8E9214}" type="presOf" srcId="{0FE34EE1-2CDE-43FF-BF4D-747FF796CE3C}" destId="{49C33FE8-637F-489C-B4F7-06E2C945C3C6}" srcOrd="0" destOrd="0" presId="urn:microsoft.com/office/officeart/2005/8/layout/default"/>
    <dgm:cxn modelId="{CC88F7E5-A8A8-4A0E-BA1F-4CE2F6A54EBB}" type="presOf" srcId="{1340B612-821B-4B6B-AEB1-4AC806CD1912}" destId="{604195B2-B832-4441-8AC2-939D9E65987C}" srcOrd="0" destOrd="0" presId="urn:microsoft.com/office/officeart/2005/8/layout/default"/>
    <dgm:cxn modelId="{64F330CE-4ED2-4CA0-B344-F4EE22306EC9}" type="presOf" srcId="{49DCCA15-ED6F-4CEA-9B43-04B87CA2FC12}" destId="{277A06A8-1F36-44B3-AD88-323E2BDD3AEB}" srcOrd="0" destOrd="0" presId="urn:microsoft.com/office/officeart/2005/8/layout/default"/>
    <dgm:cxn modelId="{24E91E5A-EFE6-4D99-AEC7-9AD89AB50EF9}" srcId="{75F5C232-ED51-461F-8CFE-DABAA21851BD}" destId="{0FE34EE1-2CDE-43FF-BF4D-747FF796CE3C}" srcOrd="3" destOrd="0" parTransId="{9ED36EF1-8855-4723-BA19-C674E45268DA}" sibTransId="{DE44730C-29B8-4B8C-B84E-392021489939}"/>
    <dgm:cxn modelId="{9292A908-514C-469D-991D-5BC1B32808B9}" srcId="{75F5C232-ED51-461F-8CFE-DABAA21851BD}" destId="{49DCCA15-ED6F-4CEA-9B43-04B87CA2FC12}" srcOrd="4" destOrd="0" parTransId="{0DD09E28-347D-4143-8A82-FFDC2726EB74}" sibTransId="{0A0575A4-9817-4EED-B636-61530FC9E97D}"/>
    <dgm:cxn modelId="{7F136FD3-7441-4641-8D5D-AB1DFA691303}" srcId="{75F5C232-ED51-461F-8CFE-DABAA21851BD}" destId="{85CEDE2B-D7FA-441E-92C8-3A60375EC1FA}" srcOrd="0" destOrd="0" parTransId="{607F62CD-47F6-455E-A3DC-E27BD38A85E2}" sibTransId="{7E7A1DB8-A2A1-46D6-936F-1E56F6FCA45C}"/>
    <dgm:cxn modelId="{585CF65B-946C-44DC-9BD7-1391CB5536FB}" type="presParOf" srcId="{DBAC4526-081E-4E5B-80F6-CC38A2A7AD98}" destId="{E9714796-510E-4E11-9F33-FF610E8F1BD4}" srcOrd="0" destOrd="0" presId="urn:microsoft.com/office/officeart/2005/8/layout/default"/>
    <dgm:cxn modelId="{53471FCC-1142-47A8-B9DA-C3E4D7E9E376}" type="presParOf" srcId="{DBAC4526-081E-4E5B-80F6-CC38A2A7AD98}" destId="{569AE5B2-1902-4B3F-8F77-C9A2F54DE7E9}" srcOrd="1" destOrd="0" presId="urn:microsoft.com/office/officeart/2005/8/layout/default"/>
    <dgm:cxn modelId="{1C145479-A9F4-41FA-998E-5B5DB5FEF3E8}" type="presParOf" srcId="{DBAC4526-081E-4E5B-80F6-CC38A2A7AD98}" destId="{604195B2-B832-4441-8AC2-939D9E65987C}" srcOrd="2" destOrd="0" presId="urn:microsoft.com/office/officeart/2005/8/layout/default"/>
    <dgm:cxn modelId="{D690B976-B6F5-41B1-84D8-685DB6C23E85}" type="presParOf" srcId="{DBAC4526-081E-4E5B-80F6-CC38A2A7AD98}" destId="{9185270D-22FD-43F6-AAA5-23F326654EB3}" srcOrd="3" destOrd="0" presId="urn:microsoft.com/office/officeart/2005/8/layout/default"/>
    <dgm:cxn modelId="{3D8BC218-05B5-48FF-91A3-E6D3D5F50734}" type="presParOf" srcId="{DBAC4526-081E-4E5B-80F6-CC38A2A7AD98}" destId="{D6B274DF-6493-4BC2-A594-2914C17DA18E}" srcOrd="4" destOrd="0" presId="urn:microsoft.com/office/officeart/2005/8/layout/default"/>
    <dgm:cxn modelId="{1A05434B-FF3C-4FFB-A6CA-3106D0BC3082}" type="presParOf" srcId="{DBAC4526-081E-4E5B-80F6-CC38A2A7AD98}" destId="{632CC6B6-47BA-4CD2-8C8A-70F0C47E3D94}" srcOrd="5" destOrd="0" presId="urn:microsoft.com/office/officeart/2005/8/layout/default"/>
    <dgm:cxn modelId="{C2BC91FB-A979-4F0B-B86E-3E284FB703A8}" type="presParOf" srcId="{DBAC4526-081E-4E5B-80F6-CC38A2A7AD98}" destId="{49C33FE8-637F-489C-B4F7-06E2C945C3C6}" srcOrd="6" destOrd="0" presId="urn:microsoft.com/office/officeart/2005/8/layout/default"/>
    <dgm:cxn modelId="{5C69BB95-2918-4C6D-9118-15D4EDBF63E5}" type="presParOf" srcId="{DBAC4526-081E-4E5B-80F6-CC38A2A7AD98}" destId="{5DADE0CB-AA13-47F8-9852-5E6520C16D7C}" srcOrd="7" destOrd="0" presId="urn:microsoft.com/office/officeart/2005/8/layout/default"/>
    <dgm:cxn modelId="{1A4CC7C0-2936-4CEC-9ABA-236DB4B75C39}" type="presParOf" srcId="{DBAC4526-081E-4E5B-80F6-CC38A2A7AD98}" destId="{277A06A8-1F36-44B3-AD88-323E2BDD3AEB}"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7B22060-03F0-437C-B5D4-C8E6B466EE8B}" type="doc">
      <dgm:prSet loTypeId="urn:microsoft.com/office/officeart/2005/8/layout/default" loCatId="list" qsTypeId="urn:microsoft.com/office/officeart/2005/8/quickstyle/3d2" qsCatId="3D" csTypeId="urn:microsoft.com/office/officeart/2005/8/colors/accent1_2" csCatId="accent1" phldr="1"/>
      <dgm:spPr/>
      <dgm:t>
        <a:bodyPr/>
        <a:lstStyle/>
        <a:p>
          <a:endParaRPr lang="ru-RU"/>
        </a:p>
      </dgm:t>
    </dgm:pt>
    <dgm:pt modelId="{4542896B-0899-45A3-B462-A317DE3E1590}">
      <dgm:prSet phldrT="[Текст]"/>
      <dgm:spPr>
        <a:solidFill>
          <a:schemeClr val="accent6">
            <a:lumMod val="50000"/>
          </a:schemeClr>
        </a:solidFill>
      </dgm:spPr>
      <dgm:t>
        <a:bodyPr/>
        <a:lstStyle/>
        <a:p>
          <a:r>
            <a:rPr lang="ru-RU" dirty="0" smtClean="0"/>
            <a:t>вычислять мощность или напряжённость, то есть количество пассажиров, которое проезжает в определённое время на заданном участке маршрута в одном направлении (любым видом транспорта);</a:t>
          </a:r>
          <a:endParaRPr lang="ru-RU" dirty="0"/>
        </a:p>
      </dgm:t>
    </dgm:pt>
    <dgm:pt modelId="{38E3C4B4-BAE5-4AD6-AD51-7D5F386EA923}" type="parTrans" cxnId="{C1C45980-7FEF-428D-9EB8-E3975BED2643}">
      <dgm:prSet/>
      <dgm:spPr/>
      <dgm:t>
        <a:bodyPr/>
        <a:lstStyle/>
        <a:p>
          <a:endParaRPr lang="ru-RU"/>
        </a:p>
      </dgm:t>
    </dgm:pt>
    <dgm:pt modelId="{C64A6943-EBD9-4283-A5E3-139762F68FF0}" type="sibTrans" cxnId="{C1C45980-7FEF-428D-9EB8-E3975BED2643}">
      <dgm:prSet/>
      <dgm:spPr/>
      <dgm:t>
        <a:bodyPr/>
        <a:lstStyle/>
        <a:p>
          <a:endParaRPr lang="ru-RU"/>
        </a:p>
      </dgm:t>
    </dgm:pt>
    <dgm:pt modelId="{70090198-D54A-4AAE-996B-0789E0FF7939}">
      <dgm:prSet phldrT="[Текст]"/>
      <dgm:spPr>
        <a:solidFill>
          <a:schemeClr val="accent5">
            <a:lumMod val="50000"/>
          </a:schemeClr>
        </a:solidFill>
      </dgm:spPr>
      <dgm:t>
        <a:bodyPr/>
        <a:lstStyle/>
        <a:p>
          <a:r>
            <a:rPr lang="ru-RU" dirty="0" smtClean="0"/>
            <a:t>рассчитывать объём перевозок пассажиров, то есть количество пассажиров перевозимых рассматриваемым видом транспорта за определённый промежуток времени (час, сутки, месяц, год);</a:t>
          </a:r>
          <a:endParaRPr lang="ru-RU" dirty="0"/>
        </a:p>
      </dgm:t>
    </dgm:pt>
    <dgm:pt modelId="{C8639FBB-FB74-42E7-8FF5-4463B6D95088}" type="parTrans" cxnId="{7B93B1C0-F532-48FF-855B-8D49DD6530B3}">
      <dgm:prSet/>
      <dgm:spPr/>
      <dgm:t>
        <a:bodyPr/>
        <a:lstStyle/>
        <a:p>
          <a:endParaRPr lang="ru-RU"/>
        </a:p>
      </dgm:t>
    </dgm:pt>
    <dgm:pt modelId="{48CCCC6D-2647-4833-8A10-0859DA6A8C9B}" type="sibTrans" cxnId="{7B93B1C0-F532-48FF-855B-8D49DD6530B3}">
      <dgm:prSet/>
      <dgm:spPr/>
      <dgm:t>
        <a:bodyPr/>
        <a:lstStyle/>
        <a:p>
          <a:endParaRPr lang="ru-RU"/>
        </a:p>
      </dgm:t>
    </dgm:pt>
    <dgm:pt modelId="{760F73B4-13F4-423B-8631-483FB33DE35F}">
      <dgm:prSet phldrT="[Текст]"/>
      <dgm:spPr>
        <a:solidFill>
          <a:schemeClr val="accent2">
            <a:lumMod val="50000"/>
          </a:schemeClr>
        </a:solidFill>
      </dgm:spPr>
      <dgm:t>
        <a:bodyPr/>
        <a:lstStyle/>
        <a:p>
          <a:r>
            <a:rPr lang="ru-RU" dirty="0" smtClean="0"/>
            <a:t>строить матрицы интенсивностей потоков;</a:t>
          </a:r>
          <a:endParaRPr lang="ru-RU" dirty="0"/>
        </a:p>
      </dgm:t>
    </dgm:pt>
    <dgm:pt modelId="{301CC634-8C8E-4BD7-AEF3-AE17C8347F42}" type="parTrans" cxnId="{B245ECFC-C39A-4120-AEDE-B31DE8D37973}">
      <dgm:prSet/>
      <dgm:spPr/>
      <dgm:t>
        <a:bodyPr/>
        <a:lstStyle/>
        <a:p>
          <a:endParaRPr lang="ru-RU"/>
        </a:p>
      </dgm:t>
    </dgm:pt>
    <dgm:pt modelId="{28AA7BBE-B5B0-4B92-93A1-2E44245979A6}" type="sibTrans" cxnId="{B245ECFC-C39A-4120-AEDE-B31DE8D37973}">
      <dgm:prSet/>
      <dgm:spPr/>
      <dgm:t>
        <a:bodyPr/>
        <a:lstStyle/>
        <a:p>
          <a:endParaRPr lang="ru-RU"/>
        </a:p>
      </dgm:t>
    </dgm:pt>
    <dgm:pt modelId="{59945EDD-55DC-4997-8E6B-606E2C5DFA49}">
      <dgm:prSet phldrT="[Текст]"/>
      <dgm:spPr>
        <a:solidFill>
          <a:schemeClr val="accent4">
            <a:lumMod val="50000"/>
          </a:schemeClr>
        </a:solidFill>
      </dgm:spPr>
      <dgm:t>
        <a:bodyPr/>
        <a:lstStyle/>
        <a:p>
          <a:r>
            <a:rPr lang="ru-RU" dirty="0" smtClean="0"/>
            <a:t>проводить сравнительный анализ пропускной способности для различного времени суток (вечернего часа пик, выходных и праздничных дней и т.д.) при существующей схеме организации движения.</a:t>
          </a:r>
          <a:endParaRPr lang="ru-RU" dirty="0"/>
        </a:p>
      </dgm:t>
    </dgm:pt>
    <dgm:pt modelId="{5642A675-FBB7-4BE1-8217-F547B2855EEB}" type="parTrans" cxnId="{FA12A9FF-B42C-4EC9-8BAB-72AF8416F298}">
      <dgm:prSet/>
      <dgm:spPr/>
      <dgm:t>
        <a:bodyPr/>
        <a:lstStyle/>
        <a:p>
          <a:endParaRPr lang="ru-RU"/>
        </a:p>
      </dgm:t>
    </dgm:pt>
    <dgm:pt modelId="{59690603-D637-4515-BD60-4ADA9027B38F}" type="sibTrans" cxnId="{FA12A9FF-B42C-4EC9-8BAB-72AF8416F298}">
      <dgm:prSet/>
      <dgm:spPr/>
      <dgm:t>
        <a:bodyPr/>
        <a:lstStyle/>
        <a:p>
          <a:endParaRPr lang="ru-RU"/>
        </a:p>
      </dgm:t>
    </dgm:pt>
    <dgm:pt modelId="{68A62ECA-79EA-426C-979E-173E6E06C8DD}" type="pres">
      <dgm:prSet presAssocID="{D7B22060-03F0-437C-B5D4-C8E6B466EE8B}" presName="diagram" presStyleCnt="0">
        <dgm:presLayoutVars>
          <dgm:dir/>
          <dgm:resizeHandles val="exact"/>
        </dgm:presLayoutVars>
      </dgm:prSet>
      <dgm:spPr/>
      <dgm:t>
        <a:bodyPr/>
        <a:lstStyle/>
        <a:p>
          <a:endParaRPr lang="ru-RU"/>
        </a:p>
      </dgm:t>
    </dgm:pt>
    <dgm:pt modelId="{6CFFF7C2-A712-43EE-9F94-FB4100C25857}" type="pres">
      <dgm:prSet presAssocID="{4542896B-0899-45A3-B462-A317DE3E1590}" presName="node" presStyleLbl="node1" presStyleIdx="0" presStyleCnt="4">
        <dgm:presLayoutVars>
          <dgm:bulletEnabled val="1"/>
        </dgm:presLayoutVars>
      </dgm:prSet>
      <dgm:spPr/>
      <dgm:t>
        <a:bodyPr/>
        <a:lstStyle/>
        <a:p>
          <a:endParaRPr lang="ru-RU"/>
        </a:p>
      </dgm:t>
    </dgm:pt>
    <dgm:pt modelId="{C317F1FA-A50B-44DE-9196-DACC9EF334D5}" type="pres">
      <dgm:prSet presAssocID="{C64A6943-EBD9-4283-A5E3-139762F68FF0}" presName="sibTrans" presStyleCnt="0"/>
      <dgm:spPr/>
    </dgm:pt>
    <dgm:pt modelId="{4102FCD4-1643-4355-8232-F42544E6DEC4}" type="pres">
      <dgm:prSet presAssocID="{70090198-D54A-4AAE-996B-0789E0FF7939}" presName="node" presStyleLbl="node1" presStyleIdx="1" presStyleCnt="4">
        <dgm:presLayoutVars>
          <dgm:bulletEnabled val="1"/>
        </dgm:presLayoutVars>
      </dgm:prSet>
      <dgm:spPr/>
      <dgm:t>
        <a:bodyPr/>
        <a:lstStyle/>
        <a:p>
          <a:endParaRPr lang="ru-RU"/>
        </a:p>
      </dgm:t>
    </dgm:pt>
    <dgm:pt modelId="{EBE1382B-3940-456D-B951-A7289ED0A899}" type="pres">
      <dgm:prSet presAssocID="{48CCCC6D-2647-4833-8A10-0859DA6A8C9B}" presName="sibTrans" presStyleCnt="0"/>
      <dgm:spPr/>
    </dgm:pt>
    <dgm:pt modelId="{FC367C47-376A-4F85-9EA0-148837BB8BC3}" type="pres">
      <dgm:prSet presAssocID="{760F73B4-13F4-423B-8631-483FB33DE35F}" presName="node" presStyleLbl="node1" presStyleIdx="2" presStyleCnt="4">
        <dgm:presLayoutVars>
          <dgm:bulletEnabled val="1"/>
        </dgm:presLayoutVars>
      </dgm:prSet>
      <dgm:spPr/>
      <dgm:t>
        <a:bodyPr/>
        <a:lstStyle/>
        <a:p>
          <a:endParaRPr lang="ru-RU"/>
        </a:p>
      </dgm:t>
    </dgm:pt>
    <dgm:pt modelId="{F5AD7532-798C-4240-B7B9-C6C4634BD50E}" type="pres">
      <dgm:prSet presAssocID="{28AA7BBE-B5B0-4B92-93A1-2E44245979A6}" presName="sibTrans" presStyleCnt="0"/>
      <dgm:spPr/>
    </dgm:pt>
    <dgm:pt modelId="{04E7C760-4A70-4997-82B7-81C213638609}" type="pres">
      <dgm:prSet presAssocID="{59945EDD-55DC-4997-8E6B-606E2C5DFA49}" presName="node" presStyleLbl="node1" presStyleIdx="3" presStyleCnt="4">
        <dgm:presLayoutVars>
          <dgm:bulletEnabled val="1"/>
        </dgm:presLayoutVars>
      </dgm:prSet>
      <dgm:spPr/>
      <dgm:t>
        <a:bodyPr/>
        <a:lstStyle/>
        <a:p>
          <a:endParaRPr lang="ru-RU"/>
        </a:p>
      </dgm:t>
    </dgm:pt>
  </dgm:ptLst>
  <dgm:cxnLst>
    <dgm:cxn modelId="{7B93B1C0-F532-48FF-855B-8D49DD6530B3}" srcId="{D7B22060-03F0-437C-B5D4-C8E6B466EE8B}" destId="{70090198-D54A-4AAE-996B-0789E0FF7939}" srcOrd="1" destOrd="0" parTransId="{C8639FBB-FB74-42E7-8FF5-4463B6D95088}" sibTransId="{48CCCC6D-2647-4833-8A10-0859DA6A8C9B}"/>
    <dgm:cxn modelId="{C1C45980-7FEF-428D-9EB8-E3975BED2643}" srcId="{D7B22060-03F0-437C-B5D4-C8E6B466EE8B}" destId="{4542896B-0899-45A3-B462-A317DE3E1590}" srcOrd="0" destOrd="0" parTransId="{38E3C4B4-BAE5-4AD6-AD51-7D5F386EA923}" sibTransId="{C64A6943-EBD9-4283-A5E3-139762F68FF0}"/>
    <dgm:cxn modelId="{B245ECFC-C39A-4120-AEDE-B31DE8D37973}" srcId="{D7B22060-03F0-437C-B5D4-C8E6B466EE8B}" destId="{760F73B4-13F4-423B-8631-483FB33DE35F}" srcOrd="2" destOrd="0" parTransId="{301CC634-8C8E-4BD7-AEF3-AE17C8347F42}" sibTransId="{28AA7BBE-B5B0-4B92-93A1-2E44245979A6}"/>
    <dgm:cxn modelId="{B40EDFA3-AF01-4A0D-A26D-3DDE479B08C8}" type="presOf" srcId="{59945EDD-55DC-4997-8E6B-606E2C5DFA49}" destId="{04E7C760-4A70-4997-82B7-81C213638609}" srcOrd="0" destOrd="0" presId="urn:microsoft.com/office/officeart/2005/8/layout/default"/>
    <dgm:cxn modelId="{FA12A9FF-B42C-4EC9-8BAB-72AF8416F298}" srcId="{D7B22060-03F0-437C-B5D4-C8E6B466EE8B}" destId="{59945EDD-55DC-4997-8E6B-606E2C5DFA49}" srcOrd="3" destOrd="0" parTransId="{5642A675-FBB7-4BE1-8217-F547B2855EEB}" sibTransId="{59690603-D637-4515-BD60-4ADA9027B38F}"/>
    <dgm:cxn modelId="{4BDEA870-2F08-445A-B0AA-8A69894628BE}" type="presOf" srcId="{760F73B4-13F4-423B-8631-483FB33DE35F}" destId="{FC367C47-376A-4F85-9EA0-148837BB8BC3}" srcOrd="0" destOrd="0" presId="urn:microsoft.com/office/officeart/2005/8/layout/default"/>
    <dgm:cxn modelId="{4ADD4ABA-BEB7-4662-A97F-86C4B09CC67F}" type="presOf" srcId="{4542896B-0899-45A3-B462-A317DE3E1590}" destId="{6CFFF7C2-A712-43EE-9F94-FB4100C25857}" srcOrd="0" destOrd="0" presId="urn:microsoft.com/office/officeart/2005/8/layout/default"/>
    <dgm:cxn modelId="{F191DB8A-A6D3-4DF4-9BD9-D1F4E280769C}" type="presOf" srcId="{70090198-D54A-4AAE-996B-0789E0FF7939}" destId="{4102FCD4-1643-4355-8232-F42544E6DEC4}" srcOrd="0" destOrd="0" presId="urn:microsoft.com/office/officeart/2005/8/layout/default"/>
    <dgm:cxn modelId="{ED9B70F7-227C-43FB-9A0F-0DB08296526C}" type="presOf" srcId="{D7B22060-03F0-437C-B5D4-C8E6B466EE8B}" destId="{68A62ECA-79EA-426C-979E-173E6E06C8DD}" srcOrd="0" destOrd="0" presId="urn:microsoft.com/office/officeart/2005/8/layout/default"/>
    <dgm:cxn modelId="{726D5D24-EA9D-443E-B571-19A8D4905F3E}" type="presParOf" srcId="{68A62ECA-79EA-426C-979E-173E6E06C8DD}" destId="{6CFFF7C2-A712-43EE-9F94-FB4100C25857}" srcOrd="0" destOrd="0" presId="urn:microsoft.com/office/officeart/2005/8/layout/default"/>
    <dgm:cxn modelId="{BD5DA003-D343-43FE-BA3E-DB55EC8BE41F}" type="presParOf" srcId="{68A62ECA-79EA-426C-979E-173E6E06C8DD}" destId="{C317F1FA-A50B-44DE-9196-DACC9EF334D5}" srcOrd="1" destOrd="0" presId="urn:microsoft.com/office/officeart/2005/8/layout/default"/>
    <dgm:cxn modelId="{07C1CA4A-04BA-4B03-80AC-46A4222BFCFD}" type="presParOf" srcId="{68A62ECA-79EA-426C-979E-173E6E06C8DD}" destId="{4102FCD4-1643-4355-8232-F42544E6DEC4}" srcOrd="2" destOrd="0" presId="urn:microsoft.com/office/officeart/2005/8/layout/default"/>
    <dgm:cxn modelId="{7EBA71D1-88D6-4B45-94C3-DC087E31D8C4}" type="presParOf" srcId="{68A62ECA-79EA-426C-979E-173E6E06C8DD}" destId="{EBE1382B-3940-456D-B951-A7289ED0A899}" srcOrd="3" destOrd="0" presId="urn:microsoft.com/office/officeart/2005/8/layout/default"/>
    <dgm:cxn modelId="{232D09EE-256D-4BA2-AF74-6821388FACC8}" type="presParOf" srcId="{68A62ECA-79EA-426C-979E-173E6E06C8DD}" destId="{FC367C47-376A-4F85-9EA0-148837BB8BC3}" srcOrd="4" destOrd="0" presId="urn:microsoft.com/office/officeart/2005/8/layout/default"/>
    <dgm:cxn modelId="{1FE99A5F-D504-4ADE-B402-B62F46B1D2CF}" type="presParOf" srcId="{68A62ECA-79EA-426C-979E-173E6E06C8DD}" destId="{F5AD7532-798C-4240-B7B9-C6C4634BD50E}" srcOrd="5" destOrd="0" presId="urn:microsoft.com/office/officeart/2005/8/layout/default"/>
    <dgm:cxn modelId="{B27B3C6F-1996-465B-8FF2-07EE949E9036}" type="presParOf" srcId="{68A62ECA-79EA-426C-979E-173E6E06C8DD}" destId="{04E7C760-4A70-4997-82B7-81C213638609}"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B7ACDEB-E9B8-4FD5-B3E0-7F4464DEB210}" type="doc">
      <dgm:prSet loTypeId="urn:microsoft.com/office/officeart/2005/8/layout/hList3" loCatId="list" qsTypeId="urn:microsoft.com/office/officeart/2005/8/quickstyle/3d2" qsCatId="3D" csTypeId="urn:microsoft.com/office/officeart/2005/8/colors/accent1_2" csCatId="accent1" phldr="1"/>
      <dgm:spPr/>
      <dgm:t>
        <a:bodyPr/>
        <a:lstStyle/>
        <a:p>
          <a:endParaRPr lang="ru-RU"/>
        </a:p>
      </dgm:t>
    </dgm:pt>
    <dgm:pt modelId="{59AFABFC-61F0-40BB-96FD-DCD5B32E2178}">
      <dgm:prSet phldrT="[Текст]"/>
      <dgm:spPr>
        <a:solidFill>
          <a:schemeClr val="accent1">
            <a:lumMod val="50000"/>
          </a:schemeClr>
        </a:solidFill>
      </dgm:spPr>
      <dgm:t>
        <a:bodyPr/>
        <a:lstStyle/>
        <a:p>
          <a:r>
            <a:rPr lang="ru-RU" dirty="0" smtClean="0"/>
            <a:t>ГИС «Генеральный план» позволяет решать множество задач:</a:t>
          </a:r>
          <a:endParaRPr lang="ru-RU" dirty="0"/>
        </a:p>
      </dgm:t>
    </dgm:pt>
    <dgm:pt modelId="{994C5B69-6F0C-4FA9-8FA5-B4949088B176}" type="parTrans" cxnId="{0BEDA018-830E-4240-B834-BC4CE6E6659A}">
      <dgm:prSet/>
      <dgm:spPr/>
      <dgm:t>
        <a:bodyPr/>
        <a:lstStyle/>
        <a:p>
          <a:endParaRPr lang="ru-RU"/>
        </a:p>
      </dgm:t>
    </dgm:pt>
    <dgm:pt modelId="{C8768E7C-5790-4817-BE5D-314F5BEE5795}" type="sibTrans" cxnId="{0BEDA018-830E-4240-B834-BC4CE6E6659A}">
      <dgm:prSet/>
      <dgm:spPr/>
      <dgm:t>
        <a:bodyPr/>
        <a:lstStyle/>
        <a:p>
          <a:endParaRPr lang="ru-RU"/>
        </a:p>
      </dgm:t>
    </dgm:pt>
    <dgm:pt modelId="{8C15FC82-4B48-436C-A282-41531D0CF210}">
      <dgm:prSet phldrT="[Текст]"/>
      <dgm:spPr>
        <a:solidFill>
          <a:schemeClr val="accent6">
            <a:lumMod val="50000"/>
          </a:schemeClr>
        </a:solidFill>
      </dgm:spPr>
      <dgm:t>
        <a:bodyPr/>
        <a:lstStyle/>
        <a:p>
          <a:pPr algn="just"/>
          <a:r>
            <a:rPr lang="ru-RU" dirty="0" smtClean="0"/>
            <a:t>Базы данных не являются статичными. Картографические слои можно обновлять, создавать новые тематические слои; семантические базы данных также можно обновлять и, кроме того, расширять, т.е. вводить новые характеристики. </a:t>
          </a:r>
          <a:endParaRPr lang="ru-RU" dirty="0"/>
        </a:p>
      </dgm:t>
    </dgm:pt>
    <dgm:pt modelId="{10A7B023-E646-4A28-9FD7-CB0DDE661773}" type="parTrans" cxnId="{1732F898-FF51-4285-8E99-9154CB47F0E7}">
      <dgm:prSet/>
      <dgm:spPr/>
      <dgm:t>
        <a:bodyPr/>
        <a:lstStyle/>
        <a:p>
          <a:endParaRPr lang="ru-RU"/>
        </a:p>
      </dgm:t>
    </dgm:pt>
    <dgm:pt modelId="{5D4BB09F-2BC4-4651-BD05-D075183E3738}" type="sibTrans" cxnId="{1732F898-FF51-4285-8E99-9154CB47F0E7}">
      <dgm:prSet/>
      <dgm:spPr/>
      <dgm:t>
        <a:bodyPr/>
        <a:lstStyle/>
        <a:p>
          <a:endParaRPr lang="ru-RU"/>
        </a:p>
      </dgm:t>
    </dgm:pt>
    <dgm:pt modelId="{6E56115D-BAF1-47CB-81ED-D29FA05F96CE}">
      <dgm:prSet phldrT="[Текст]"/>
      <dgm:spPr>
        <a:solidFill>
          <a:schemeClr val="accent2">
            <a:lumMod val="50000"/>
          </a:schemeClr>
        </a:solidFill>
      </dgm:spPr>
      <dgm:t>
        <a:bodyPr/>
        <a:lstStyle/>
        <a:p>
          <a:pPr algn="just"/>
          <a:r>
            <a:rPr lang="ru-RU" dirty="0" smtClean="0"/>
            <a:t>Возможность совмещения цифровых картографических слоев в любом сочетании. </a:t>
          </a:r>
          <a:endParaRPr lang="ru-RU" dirty="0"/>
        </a:p>
      </dgm:t>
    </dgm:pt>
    <dgm:pt modelId="{CE0F0540-57AD-4EC5-80B5-D6D7059BC9FC}" type="parTrans" cxnId="{4DF5B416-4A4F-4C6D-A14D-7BB5D5F8B366}">
      <dgm:prSet/>
      <dgm:spPr/>
      <dgm:t>
        <a:bodyPr/>
        <a:lstStyle/>
        <a:p>
          <a:endParaRPr lang="ru-RU"/>
        </a:p>
      </dgm:t>
    </dgm:pt>
    <dgm:pt modelId="{7791D473-97A4-4F8E-BE50-1A0614B9917B}" type="sibTrans" cxnId="{4DF5B416-4A4F-4C6D-A14D-7BB5D5F8B366}">
      <dgm:prSet/>
      <dgm:spPr/>
      <dgm:t>
        <a:bodyPr/>
        <a:lstStyle/>
        <a:p>
          <a:endParaRPr lang="ru-RU"/>
        </a:p>
      </dgm:t>
    </dgm:pt>
    <dgm:pt modelId="{05B61781-A9E2-46BD-93DA-6BA7121FD4F9}">
      <dgm:prSet phldrT="[Текст]"/>
      <dgm:spPr>
        <a:solidFill>
          <a:schemeClr val="accent4">
            <a:lumMod val="50000"/>
          </a:schemeClr>
        </a:solidFill>
      </dgm:spPr>
      <dgm:t>
        <a:bodyPr/>
        <a:lstStyle/>
        <a:p>
          <a:pPr algn="just"/>
          <a:r>
            <a:rPr lang="ru-RU" dirty="0" smtClean="0"/>
            <a:t>Автоматическая работа с базами данных для принятия решений. ГИС-технологии позволяют в автоматическом режиме решать задачи по выбору территорий, отвечающих заданным критериям.</a:t>
          </a:r>
          <a:endParaRPr lang="ru-RU" dirty="0"/>
        </a:p>
      </dgm:t>
    </dgm:pt>
    <dgm:pt modelId="{DBE100AB-72A5-452D-95E3-73A33BFBA674}" type="parTrans" cxnId="{3EE58BA6-3DE2-4065-8C5E-DFDDA5F87487}">
      <dgm:prSet/>
      <dgm:spPr/>
      <dgm:t>
        <a:bodyPr/>
        <a:lstStyle/>
        <a:p>
          <a:endParaRPr lang="ru-RU"/>
        </a:p>
      </dgm:t>
    </dgm:pt>
    <dgm:pt modelId="{CE4E6AA8-661F-4BE2-9460-E602FE124DA8}" type="sibTrans" cxnId="{3EE58BA6-3DE2-4065-8C5E-DFDDA5F87487}">
      <dgm:prSet/>
      <dgm:spPr/>
      <dgm:t>
        <a:bodyPr/>
        <a:lstStyle/>
        <a:p>
          <a:endParaRPr lang="ru-RU"/>
        </a:p>
      </dgm:t>
    </dgm:pt>
    <dgm:pt modelId="{50B4CA6F-1B7B-4D04-B569-3E4555BEEEF1}" type="pres">
      <dgm:prSet presAssocID="{8B7ACDEB-E9B8-4FD5-B3E0-7F4464DEB210}" presName="composite" presStyleCnt="0">
        <dgm:presLayoutVars>
          <dgm:chMax val="1"/>
          <dgm:dir/>
          <dgm:resizeHandles val="exact"/>
        </dgm:presLayoutVars>
      </dgm:prSet>
      <dgm:spPr/>
      <dgm:t>
        <a:bodyPr/>
        <a:lstStyle/>
        <a:p>
          <a:endParaRPr lang="ru-RU"/>
        </a:p>
      </dgm:t>
    </dgm:pt>
    <dgm:pt modelId="{9F1B06FF-9DFB-4AF9-9057-B9D497AD9B2B}" type="pres">
      <dgm:prSet presAssocID="{59AFABFC-61F0-40BB-96FD-DCD5B32E2178}" presName="roof" presStyleLbl="dkBgShp" presStyleIdx="0" presStyleCnt="2" custScaleY="102575"/>
      <dgm:spPr/>
      <dgm:t>
        <a:bodyPr/>
        <a:lstStyle/>
        <a:p>
          <a:endParaRPr lang="ru-RU"/>
        </a:p>
      </dgm:t>
    </dgm:pt>
    <dgm:pt modelId="{3A950389-7A37-4817-AB21-DB858DDF0406}" type="pres">
      <dgm:prSet presAssocID="{59AFABFC-61F0-40BB-96FD-DCD5B32E2178}" presName="pillars" presStyleCnt="0"/>
      <dgm:spPr/>
    </dgm:pt>
    <dgm:pt modelId="{AE5CD61A-3BEB-4F04-8879-983318C9AB94}" type="pres">
      <dgm:prSet presAssocID="{59AFABFC-61F0-40BB-96FD-DCD5B32E2178}" presName="pillar1" presStyleLbl="node1" presStyleIdx="0" presStyleCnt="3">
        <dgm:presLayoutVars>
          <dgm:bulletEnabled val="1"/>
        </dgm:presLayoutVars>
      </dgm:prSet>
      <dgm:spPr/>
      <dgm:t>
        <a:bodyPr/>
        <a:lstStyle/>
        <a:p>
          <a:endParaRPr lang="ru-RU"/>
        </a:p>
      </dgm:t>
    </dgm:pt>
    <dgm:pt modelId="{21C4DE66-C23C-4F84-9AEE-D33E7F493AD6}" type="pres">
      <dgm:prSet presAssocID="{6E56115D-BAF1-47CB-81ED-D29FA05F96CE}" presName="pillarX" presStyleLbl="node1" presStyleIdx="1" presStyleCnt="3">
        <dgm:presLayoutVars>
          <dgm:bulletEnabled val="1"/>
        </dgm:presLayoutVars>
      </dgm:prSet>
      <dgm:spPr/>
      <dgm:t>
        <a:bodyPr/>
        <a:lstStyle/>
        <a:p>
          <a:endParaRPr lang="ru-RU"/>
        </a:p>
      </dgm:t>
    </dgm:pt>
    <dgm:pt modelId="{E0CC006F-2A3C-4EB1-95F9-F45F7EDEBBB2}" type="pres">
      <dgm:prSet presAssocID="{05B61781-A9E2-46BD-93DA-6BA7121FD4F9}" presName="pillarX" presStyleLbl="node1" presStyleIdx="2" presStyleCnt="3">
        <dgm:presLayoutVars>
          <dgm:bulletEnabled val="1"/>
        </dgm:presLayoutVars>
      </dgm:prSet>
      <dgm:spPr/>
      <dgm:t>
        <a:bodyPr/>
        <a:lstStyle/>
        <a:p>
          <a:endParaRPr lang="ru-RU"/>
        </a:p>
      </dgm:t>
    </dgm:pt>
    <dgm:pt modelId="{C4CCBCF5-AB17-4F30-B6FD-BD42A2A1DF4C}" type="pres">
      <dgm:prSet presAssocID="{59AFABFC-61F0-40BB-96FD-DCD5B32E2178}" presName="base" presStyleLbl="dkBgShp" presStyleIdx="1" presStyleCnt="2"/>
      <dgm:spPr>
        <a:solidFill>
          <a:schemeClr val="accent1">
            <a:lumMod val="50000"/>
          </a:schemeClr>
        </a:solidFill>
      </dgm:spPr>
    </dgm:pt>
  </dgm:ptLst>
  <dgm:cxnLst>
    <dgm:cxn modelId="{4DF5B416-4A4F-4C6D-A14D-7BB5D5F8B366}" srcId="{59AFABFC-61F0-40BB-96FD-DCD5B32E2178}" destId="{6E56115D-BAF1-47CB-81ED-D29FA05F96CE}" srcOrd="1" destOrd="0" parTransId="{CE0F0540-57AD-4EC5-80B5-D6D7059BC9FC}" sibTransId="{7791D473-97A4-4F8E-BE50-1A0614B9917B}"/>
    <dgm:cxn modelId="{0BEDA018-830E-4240-B834-BC4CE6E6659A}" srcId="{8B7ACDEB-E9B8-4FD5-B3E0-7F4464DEB210}" destId="{59AFABFC-61F0-40BB-96FD-DCD5B32E2178}" srcOrd="0" destOrd="0" parTransId="{994C5B69-6F0C-4FA9-8FA5-B4949088B176}" sibTransId="{C8768E7C-5790-4817-BE5D-314F5BEE5795}"/>
    <dgm:cxn modelId="{DFD4835E-85AA-498F-B5C3-922BAD57066F}" type="presOf" srcId="{8B7ACDEB-E9B8-4FD5-B3E0-7F4464DEB210}" destId="{50B4CA6F-1B7B-4D04-B569-3E4555BEEEF1}" srcOrd="0" destOrd="0" presId="urn:microsoft.com/office/officeart/2005/8/layout/hList3"/>
    <dgm:cxn modelId="{3D10B925-A3E1-4B0C-8C47-8691AA513F0C}" type="presOf" srcId="{6E56115D-BAF1-47CB-81ED-D29FA05F96CE}" destId="{21C4DE66-C23C-4F84-9AEE-D33E7F493AD6}" srcOrd="0" destOrd="0" presId="urn:microsoft.com/office/officeart/2005/8/layout/hList3"/>
    <dgm:cxn modelId="{A15025E2-5223-438B-BA0E-3F7274E5F0D1}" type="presOf" srcId="{05B61781-A9E2-46BD-93DA-6BA7121FD4F9}" destId="{E0CC006F-2A3C-4EB1-95F9-F45F7EDEBBB2}" srcOrd="0" destOrd="0" presId="urn:microsoft.com/office/officeart/2005/8/layout/hList3"/>
    <dgm:cxn modelId="{1732F898-FF51-4285-8E99-9154CB47F0E7}" srcId="{59AFABFC-61F0-40BB-96FD-DCD5B32E2178}" destId="{8C15FC82-4B48-436C-A282-41531D0CF210}" srcOrd="0" destOrd="0" parTransId="{10A7B023-E646-4A28-9FD7-CB0DDE661773}" sibTransId="{5D4BB09F-2BC4-4651-BD05-D075183E3738}"/>
    <dgm:cxn modelId="{177A7E44-BAE7-4D8D-97F8-F424B7F55F12}" type="presOf" srcId="{59AFABFC-61F0-40BB-96FD-DCD5B32E2178}" destId="{9F1B06FF-9DFB-4AF9-9057-B9D497AD9B2B}" srcOrd="0" destOrd="0" presId="urn:microsoft.com/office/officeart/2005/8/layout/hList3"/>
    <dgm:cxn modelId="{1F0CC607-215E-4100-9E13-8499BE3C136A}" type="presOf" srcId="{8C15FC82-4B48-436C-A282-41531D0CF210}" destId="{AE5CD61A-3BEB-4F04-8879-983318C9AB94}" srcOrd="0" destOrd="0" presId="urn:microsoft.com/office/officeart/2005/8/layout/hList3"/>
    <dgm:cxn modelId="{3EE58BA6-3DE2-4065-8C5E-DFDDA5F87487}" srcId="{59AFABFC-61F0-40BB-96FD-DCD5B32E2178}" destId="{05B61781-A9E2-46BD-93DA-6BA7121FD4F9}" srcOrd="2" destOrd="0" parTransId="{DBE100AB-72A5-452D-95E3-73A33BFBA674}" sibTransId="{CE4E6AA8-661F-4BE2-9460-E602FE124DA8}"/>
    <dgm:cxn modelId="{961346FD-FC77-423A-BBDB-92D343CD6451}" type="presParOf" srcId="{50B4CA6F-1B7B-4D04-B569-3E4555BEEEF1}" destId="{9F1B06FF-9DFB-4AF9-9057-B9D497AD9B2B}" srcOrd="0" destOrd="0" presId="urn:microsoft.com/office/officeart/2005/8/layout/hList3"/>
    <dgm:cxn modelId="{B8965F3C-9B70-41F4-89DF-F2623E2AFE32}" type="presParOf" srcId="{50B4CA6F-1B7B-4D04-B569-3E4555BEEEF1}" destId="{3A950389-7A37-4817-AB21-DB858DDF0406}" srcOrd="1" destOrd="0" presId="urn:microsoft.com/office/officeart/2005/8/layout/hList3"/>
    <dgm:cxn modelId="{31302D4E-F954-488A-B2A6-48D38722F462}" type="presParOf" srcId="{3A950389-7A37-4817-AB21-DB858DDF0406}" destId="{AE5CD61A-3BEB-4F04-8879-983318C9AB94}" srcOrd="0" destOrd="0" presId="urn:microsoft.com/office/officeart/2005/8/layout/hList3"/>
    <dgm:cxn modelId="{BBB646E2-5E7B-472E-9297-4C83233D8146}" type="presParOf" srcId="{3A950389-7A37-4817-AB21-DB858DDF0406}" destId="{21C4DE66-C23C-4F84-9AEE-D33E7F493AD6}" srcOrd="1" destOrd="0" presId="urn:microsoft.com/office/officeart/2005/8/layout/hList3"/>
    <dgm:cxn modelId="{E12D55CD-84DC-47B1-B4DA-FEDB28A9BD03}" type="presParOf" srcId="{3A950389-7A37-4817-AB21-DB858DDF0406}" destId="{E0CC006F-2A3C-4EB1-95F9-F45F7EDEBBB2}" srcOrd="2" destOrd="0" presId="urn:microsoft.com/office/officeart/2005/8/layout/hList3"/>
    <dgm:cxn modelId="{DC1C12A2-617A-4525-864E-169B4FC1C172}" type="presParOf" srcId="{50B4CA6F-1B7B-4D04-B569-3E4555BEEEF1}" destId="{C4CCBCF5-AB17-4F30-B6FD-BD42A2A1DF4C}" srcOrd="2" destOrd="0" presId="urn:microsoft.com/office/officeart/2005/8/layout/h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1B06FF-9DFB-4AF9-9057-B9D497AD9B2B}">
      <dsp:nvSpPr>
        <dsp:cNvPr id="0" name=""/>
        <dsp:cNvSpPr/>
      </dsp:nvSpPr>
      <dsp:spPr>
        <a:xfrm>
          <a:off x="0" y="-13244"/>
          <a:ext cx="12192000" cy="2110378"/>
        </a:xfrm>
        <a:prstGeom prst="rect">
          <a:avLst/>
        </a:prstGeom>
        <a:solidFill>
          <a:schemeClr val="accent1">
            <a:lumMod val="50000"/>
          </a:schemeClr>
        </a:solidFill>
        <a:ln>
          <a:noFill/>
        </a:ln>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txBody>
        <a:bodyPr spcFirstLastPara="0" vert="horz" wrap="square" lIns="160020" tIns="160020" rIns="160020" bIns="160020" numCol="1" spcCol="1270" anchor="ctr" anchorCtr="0">
          <a:noAutofit/>
        </a:bodyPr>
        <a:lstStyle/>
        <a:p>
          <a:pPr lvl="0" algn="ctr" defTabSz="1866900">
            <a:lnSpc>
              <a:spcPct val="90000"/>
            </a:lnSpc>
            <a:spcBef>
              <a:spcPct val="0"/>
            </a:spcBef>
            <a:spcAft>
              <a:spcPct val="35000"/>
            </a:spcAft>
          </a:pPr>
          <a:r>
            <a:rPr lang="ru-RU" sz="4200" b="1" kern="1200" dirty="0" smtClean="0"/>
            <a:t>Федеральные государственные информационные системы, входящие в систему электронного правительства Российской Федерации</a:t>
          </a:r>
          <a:endParaRPr lang="ru-RU" sz="4200" kern="1200" dirty="0"/>
        </a:p>
      </dsp:txBody>
      <dsp:txXfrm>
        <a:off x="0" y="-13244"/>
        <a:ext cx="12192000" cy="2110378"/>
      </dsp:txXfrm>
    </dsp:sp>
    <dsp:sp modelId="{AE5CD61A-3BEB-4F04-8879-983318C9AB94}">
      <dsp:nvSpPr>
        <dsp:cNvPr id="0" name=""/>
        <dsp:cNvSpPr/>
      </dsp:nvSpPr>
      <dsp:spPr>
        <a:xfrm>
          <a:off x="5953" y="2070644"/>
          <a:ext cx="4060031" cy="4320540"/>
        </a:xfrm>
        <a:prstGeom prst="rect">
          <a:avLst/>
        </a:prstGeom>
        <a:solidFill>
          <a:schemeClr val="accent6">
            <a:lumMod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just" defTabSz="1066800">
            <a:lnSpc>
              <a:spcPct val="90000"/>
            </a:lnSpc>
            <a:spcBef>
              <a:spcPct val="0"/>
            </a:spcBef>
            <a:spcAft>
              <a:spcPct val="35000"/>
            </a:spcAft>
          </a:pPr>
          <a:r>
            <a:rPr lang="ru-RU" sz="2400" kern="1200" dirty="0" smtClean="0"/>
            <a:t>Не обеспечена интеграция единого портала </a:t>
          </a:r>
          <a:r>
            <a:rPr lang="ru-RU" sz="2400" kern="1200" dirty="0" err="1" smtClean="0"/>
            <a:t>госуслуг</a:t>
          </a:r>
          <a:r>
            <a:rPr lang="ru-RU" sz="2400" kern="1200" dirty="0" smtClean="0"/>
            <a:t> (ЕПГУ) с информационными системами ОМСУ в части организации предоставления муниципальных услуг.</a:t>
          </a:r>
          <a:endParaRPr lang="ru-RU" sz="2400" kern="1200" dirty="0"/>
        </a:p>
      </dsp:txBody>
      <dsp:txXfrm>
        <a:off x="5953" y="2070644"/>
        <a:ext cx="4060031" cy="4320540"/>
      </dsp:txXfrm>
    </dsp:sp>
    <dsp:sp modelId="{21C4DE66-C23C-4F84-9AEE-D33E7F493AD6}">
      <dsp:nvSpPr>
        <dsp:cNvPr id="0" name=""/>
        <dsp:cNvSpPr/>
      </dsp:nvSpPr>
      <dsp:spPr>
        <a:xfrm>
          <a:off x="4065984" y="2070644"/>
          <a:ext cx="4060031" cy="4320540"/>
        </a:xfrm>
        <a:prstGeom prst="rect">
          <a:avLst/>
        </a:prstGeom>
        <a:solidFill>
          <a:schemeClr val="accent2">
            <a:lumMod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just" defTabSz="1066800">
            <a:lnSpc>
              <a:spcPct val="90000"/>
            </a:lnSpc>
            <a:spcBef>
              <a:spcPct val="0"/>
            </a:spcBef>
            <a:spcAft>
              <a:spcPct val="35000"/>
            </a:spcAft>
          </a:pPr>
          <a:r>
            <a:rPr lang="ru-RU" sz="2400" kern="1200" dirty="0" smtClean="0"/>
            <a:t>Не все федеральные региональные органы исполнительной власти (ФОИВ и РОИВ) перешли на предоставление сведений, документов, хранящихся в их ведомствах, через СМЭВ. </a:t>
          </a:r>
          <a:endParaRPr lang="ru-RU" sz="2400" kern="1200" dirty="0"/>
        </a:p>
      </dsp:txBody>
      <dsp:txXfrm>
        <a:off x="4065984" y="2070644"/>
        <a:ext cx="4060031" cy="4320540"/>
      </dsp:txXfrm>
    </dsp:sp>
    <dsp:sp modelId="{E0CC006F-2A3C-4EB1-95F9-F45F7EDEBBB2}">
      <dsp:nvSpPr>
        <dsp:cNvPr id="0" name=""/>
        <dsp:cNvSpPr/>
      </dsp:nvSpPr>
      <dsp:spPr>
        <a:xfrm>
          <a:off x="8126015" y="2070644"/>
          <a:ext cx="4060031" cy="4320540"/>
        </a:xfrm>
        <a:prstGeom prst="rect">
          <a:avLst/>
        </a:prstGeom>
        <a:solidFill>
          <a:schemeClr val="accent4">
            <a:lumMod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just" defTabSz="1066800">
            <a:lnSpc>
              <a:spcPct val="90000"/>
            </a:lnSpc>
            <a:spcBef>
              <a:spcPct val="0"/>
            </a:spcBef>
            <a:spcAft>
              <a:spcPct val="35000"/>
            </a:spcAft>
          </a:pPr>
          <a:r>
            <a:rPr lang="ru-RU" sz="2400" kern="1200" dirty="0" smtClean="0"/>
            <a:t>Региональный сегмент СМЭВ имеет ряд технических недоработок, не позволяющих автоматически и своевременно получать уведомления о новых межведомственных запросах, а также о поступивших заявлениях на получение муниципальной услуги. </a:t>
          </a:r>
          <a:endParaRPr lang="ru-RU" sz="2400" kern="1200" dirty="0"/>
        </a:p>
      </dsp:txBody>
      <dsp:txXfrm>
        <a:off x="8126015" y="2070644"/>
        <a:ext cx="4060031" cy="4320540"/>
      </dsp:txXfrm>
    </dsp:sp>
    <dsp:sp modelId="{C4CCBCF5-AB17-4F30-B6FD-BD42A2A1DF4C}">
      <dsp:nvSpPr>
        <dsp:cNvPr id="0" name=""/>
        <dsp:cNvSpPr/>
      </dsp:nvSpPr>
      <dsp:spPr>
        <a:xfrm>
          <a:off x="0" y="6391184"/>
          <a:ext cx="12192000" cy="480060"/>
        </a:xfrm>
        <a:prstGeom prst="rect">
          <a:avLst/>
        </a:prstGeom>
        <a:solidFill>
          <a:schemeClr val="accent1">
            <a:lumMod val="50000"/>
          </a:schemeClr>
        </a:solidFill>
        <a:ln>
          <a:noFill/>
        </a:ln>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EB4204-73B4-4009-B666-869795601D94}">
      <dsp:nvSpPr>
        <dsp:cNvPr id="0" name=""/>
        <dsp:cNvSpPr/>
      </dsp:nvSpPr>
      <dsp:spPr>
        <a:xfrm>
          <a:off x="1161378" y="1508"/>
          <a:ext cx="4594080" cy="2756448"/>
        </a:xfrm>
        <a:prstGeom prst="rect">
          <a:avLst/>
        </a:prstGeom>
        <a:solidFill>
          <a:schemeClr val="accent6">
            <a:lumMod val="5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ru-RU" sz="2000" kern="1200" dirty="0" smtClean="0"/>
            <a:t>аналитическая отчётность (просмотр аналитических данных и показателей, инструменты анализа и визуализации данных, такие, как таблицы, графики, гистограммы, а также картографическое представление данных по субъектам РФ). Есть возможность создания собственных отчётов пользовательских;</a:t>
          </a:r>
          <a:endParaRPr lang="ru-RU" sz="2000" kern="1200" dirty="0"/>
        </a:p>
      </dsp:txBody>
      <dsp:txXfrm>
        <a:off x="1161378" y="1508"/>
        <a:ext cx="4594080" cy="2756448"/>
      </dsp:txXfrm>
    </dsp:sp>
    <dsp:sp modelId="{048D2A78-5768-4A80-B312-5FF33D0EB6BD}">
      <dsp:nvSpPr>
        <dsp:cNvPr id="0" name=""/>
        <dsp:cNvSpPr/>
      </dsp:nvSpPr>
      <dsp:spPr>
        <a:xfrm>
          <a:off x="6214867" y="1508"/>
          <a:ext cx="4594080" cy="2756448"/>
        </a:xfrm>
        <a:prstGeom prst="rect">
          <a:avLst/>
        </a:prstGeom>
        <a:solidFill>
          <a:schemeClr val="accent5">
            <a:lumMod val="5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ru-RU" sz="2000" kern="1200" dirty="0" smtClean="0"/>
            <a:t>реестр показателей (структурированный, иерархически организованный список баз данных государственных информационных систем и их электронных сервисов);</a:t>
          </a:r>
          <a:endParaRPr lang="ru-RU" sz="2000" kern="1200" dirty="0"/>
        </a:p>
      </dsp:txBody>
      <dsp:txXfrm>
        <a:off x="6214867" y="1508"/>
        <a:ext cx="4594080" cy="2756448"/>
      </dsp:txXfrm>
    </dsp:sp>
    <dsp:sp modelId="{30C2C4F3-DA11-4CA9-B66E-27442DA3BE3A}">
      <dsp:nvSpPr>
        <dsp:cNvPr id="0" name=""/>
        <dsp:cNvSpPr/>
      </dsp:nvSpPr>
      <dsp:spPr>
        <a:xfrm>
          <a:off x="1161378" y="3217365"/>
          <a:ext cx="4594080" cy="2756448"/>
        </a:xfrm>
        <a:prstGeom prst="rect">
          <a:avLst/>
        </a:prstGeom>
        <a:solidFill>
          <a:schemeClr val="accent2">
            <a:lumMod val="5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ru-RU" sz="2000" kern="1200" dirty="0" smtClean="0"/>
            <a:t>экспорт данных по предварительно настроенным наборам показателей (данные за период по выбранному субъекту РФ);</a:t>
          </a:r>
          <a:endParaRPr lang="ru-RU" sz="2000" kern="1200" dirty="0"/>
        </a:p>
      </dsp:txBody>
      <dsp:txXfrm>
        <a:off x="1161378" y="3217365"/>
        <a:ext cx="4594080" cy="2756448"/>
      </dsp:txXfrm>
    </dsp:sp>
    <dsp:sp modelId="{D7961BF8-383F-40FC-9EEE-8CE671DFB11A}">
      <dsp:nvSpPr>
        <dsp:cNvPr id="0" name=""/>
        <dsp:cNvSpPr/>
      </dsp:nvSpPr>
      <dsp:spPr>
        <a:xfrm>
          <a:off x="6214867" y="3217365"/>
          <a:ext cx="4594080" cy="2756448"/>
        </a:xfrm>
        <a:prstGeom prst="rect">
          <a:avLst/>
        </a:prstGeom>
        <a:solidFill>
          <a:schemeClr val="accent4">
            <a:lumMod val="5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ru-RU" sz="2000" kern="1200" dirty="0" smtClean="0"/>
            <a:t>хранение и публикация документов (организована база данных пользовательских документов, доступ может быть дифференцирован в зависимости от прав доступа к системе).</a:t>
          </a:r>
          <a:endParaRPr lang="ru-RU" sz="2000" kern="1200" dirty="0"/>
        </a:p>
      </dsp:txBody>
      <dsp:txXfrm>
        <a:off x="6214867" y="3217365"/>
        <a:ext cx="4594080" cy="27564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1B06FF-9DFB-4AF9-9057-B9D497AD9B2B}">
      <dsp:nvSpPr>
        <dsp:cNvPr id="0" name=""/>
        <dsp:cNvSpPr/>
      </dsp:nvSpPr>
      <dsp:spPr>
        <a:xfrm>
          <a:off x="0" y="-13244"/>
          <a:ext cx="12192000" cy="2110378"/>
        </a:xfrm>
        <a:prstGeom prst="rect">
          <a:avLst/>
        </a:prstGeom>
        <a:solidFill>
          <a:schemeClr val="tx2">
            <a:lumMod val="50000"/>
          </a:schemeClr>
        </a:solidFill>
        <a:ln>
          <a:noFill/>
        </a:ln>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txBody>
        <a:bodyPr spcFirstLastPara="0" vert="horz" wrap="square" lIns="160020" tIns="160020" rIns="160020" bIns="160020" numCol="1" spcCol="1270" anchor="ctr" anchorCtr="0">
          <a:noAutofit/>
        </a:bodyPr>
        <a:lstStyle/>
        <a:p>
          <a:pPr lvl="0" algn="ctr" defTabSz="1866900">
            <a:lnSpc>
              <a:spcPct val="90000"/>
            </a:lnSpc>
            <a:spcBef>
              <a:spcPct val="0"/>
            </a:spcBef>
            <a:spcAft>
              <a:spcPct val="35000"/>
            </a:spcAft>
          </a:pPr>
          <a:r>
            <a:rPr lang="ru-RU" sz="4200" b="1" kern="1200" dirty="0" smtClean="0"/>
            <a:t>Государственная информационная система государственных и муниципальных платежей (ГИС ГМП) </a:t>
          </a:r>
          <a:endParaRPr lang="ru-RU" sz="4200" kern="1200" dirty="0"/>
        </a:p>
      </dsp:txBody>
      <dsp:txXfrm>
        <a:off x="0" y="-13244"/>
        <a:ext cx="12192000" cy="2110378"/>
      </dsp:txXfrm>
    </dsp:sp>
    <dsp:sp modelId="{AE5CD61A-3BEB-4F04-8879-983318C9AB94}">
      <dsp:nvSpPr>
        <dsp:cNvPr id="0" name=""/>
        <dsp:cNvSpPr/>
      </dsp:nvSpPr>
      <dsp:spPr>
        <a:xfrm>
          <a:off x="0" y="2070644"/>
          <a:ext cx="6095999" cy="4320540"/>
        </a:xfrm>
        <a:prstGeom prst="rect">
          <a:avLst/>
        </a:prstGeom>
        <a:solidFill>
          <a:schemeClr val="accent6">
            <a:lumMod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bodyPr>
        <a:lstStyle/>
        <a:p>
          <a:pPr lvl="0" algn="ctr" defTabSz="1733550">
            <a:lnSpc>
              <a:spcPct val="90000"/>
            </a:lnSpc>
            <a:spcBef>
              <a:spcPct val="0"/>
            </a:spcBef>
            <a:spcAft>
              <a:spcPct val="35000"/>
            </a:spcAft>
          </a:pPr>
          <a:r>
            <a:rPr lang="ru-RU" sz="3900" kern="1200" dirty="0" smtClean="0"/>
            <a:t>слабая методическая поддержка со стороны оператора системы, Федерального казначейства;</a:t>
          </a:r>
          <a:endParaRPr lang="ru-RU" sz="3900" kern="1200" dirty="0"/>
        </a:p>
      </dsp:txBody>
      <dsp:txXfrm>
        <a:off x="0" y="2070644"/>
        <a:ext cx="6095999" cy="4320540"/>
      </dsp:txXfrm>
    </dsp:sp>
    <dsp:sp modelId="{21C4DE66-C23C-4F84-9AEE-D33E7F493AD6}">
      <dsp:nvSpPr>
        <dsp:cNvPr id="0" name=""/>
        <dsp:cNvSpPr/>
      </dsp:nvSpPr>
      <dsp:spPr>
        <a:xfrm>
          <a:off x="6096000" y="2070644"/>
          <a:ext cx="6095999" cy="4320540"/>
        </a:xfrm>
        <a:prstGeom prst="rect">
          <a:avLst/>
        </a:prstGeom>
        <a:solidFill>
          <a:schemeClr val="accent2">
            <a:lumMod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bodyPr>
        <a:lstStyle/>
        <a:p>
          <a:pPr lvl="0" algn="ctr" defTabSz="1733550">
            <a:lnSpc>
              <a:spcPct val="90000"/>
            </a:lnSpc>
            <a:spcBef>
              <a:spcPct val="0"/>
            </a:spcBef>
            <a:spcAft>
              <a:spcPct val="35000"/>
            </a:spcAft>
          </a:pPr>
          <a:r>
            <a:rPr lang="ru-RU" sz="3900" kern="1200" dirty="0" smtClean="0"/>
            <a:t>не определены полномочия, ответственность сторон, механизм участия агентов, принимающих платежи – банков, расчетно-кассовых центров (РКЦ) и т.д.</a:t>
          </a:r>
          <a:endParaRPr lang="ru-RU" sz="3900" kern="1200" dirty="0"/>
        </a:p>
      </dsp:txBody>
      <dsp:txXfrm>
        <a:off x="6096000" y="2070644"/>
        <a:ext cx="6095999" cy="4320540"/>
      </dsp:txXfrm>
    </dsp:sp>
    <dsp:sp modelId="{C4CCBCF5-AB17-4F30-B6FD-BD42A2A1DF4C}">
      <dsp:nvSpPr>
        <dsp:cNvPr id="0" name=""/>
        <dsp:cNvSpPr/>
      </dsp:nvSpPr>
      <dsp:spPr>
        <a:xfrm>
          <a:off x="0" y="6391184"/>
          <a:ext cx="12192000" cy="480060"/>
        </a:xfrm>
        <a:prstGeom prst="rect">
          <a:avLst/>
        </a:prstGeom>
        <a:solidFill>
          <a:schemeClr val="tx2">
            <a:lumMod val="50000"/>
          </a:schemeClr>
        </a:solidFill>
        <a:ln>
          <a:noFill/>
        </a:ln>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F90D50-843E-45B0-888B-97B60C806EBB}">
      <dsp:nvSpPr>
        <dsp:cNvPr id="0" name=""/>
        <dsp:cNvSpPr/>
      </dsp:nvSpPr>
      <dsp:spPr>
        <a:xfrm>
          <a:off x="697461" y="0"/>
          <a:ext cx="4873941" cy="2924364"/>
        </a:xfrm>
        <a:prstGeom prst="rect">
          <a:avLst/>
        </a:prstGeom>
        <a:solidFill>
          <a:schemeClr val="tx2">
            <a:lumMod val="5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ru-RU" sz="2100" kern="1200" dirty="0" err="1" smtClean="0"/>
            <a:t>Геомаркетинг</a:t>
          </a:r>
          <a:r>
            <a:rPr lang="ru-RU" sz="2100" kern="1200" dirty="0" smtClean="0"/>
            <a:t> похож одновременно на SEO и SMM. Это работа с </a:t>
          </a:r>
          <a:r>
            <a:rPr lang="ru-RU" sz="2100" kern="1200" dirty="0" err="1" smtClean="0"/>
            <a:t>геосервисами</a:t>
          </a:r>
          <a:r>
            <a:rPr lang="ru-RU" sz="2100" kern="1200" dirty="0" smtClean="0"/>
            <a:t>, например, «‎</a:t>
          </a:r>
          <a:r>
            <a:rPr lang="ru-RU" sz="2100" kern="1200" dirty="0" err="1" smtClean="0"/>
            <a:t>Google.Картами</a:t>
          </a:r>
          <a:r>
            <a:rPr lang="ru-RU" sz="2100" kern="1200" dirty="0" smtClean="0"/>
            <a:t>», «‎</a:t>
          </a:r>
          <a:r>
            <a:rPr lang="ru-RU" sz="2100" kern="1200" dirty="0" err="1" smtClean="0"/>
            <a:t>Яндекс.Навигатором</a:t>
          </a:r>
          <a:r>
            <a:rPr lang="ru-RU" sz="2100" kern="1200" dirty="0" smtClean="0"/>
            <a:t>» и 2ГИС. Также есть специализированные порталы — например, «‎</a:t>
          </a:r>
          <a:r>
            <a:rPr lang="ru-RU" sz="2100" kern="1200" dirty="0" err="1" smtClean="0"/>
            <a:t>Банки.ру</a:t>
          </a:r>
          <a:r>
            <a:rPr lang="ru-RU" sz="2100" kern="1200" dirty="0" smtClean="0"/>
            <a:t>», где можно подобрать банк под свои предпочтения, а также прочитать отзывы или оставить свой.</a:t>
          </a:r>
          <a:endParaRPr lang="ru-RU" sz="2100" kern="1200" dirty="0"/>
        </a:p>
      </dsp:txBody>
      <dsp:txXfrm>
        <a:off x="697461" y="0"/>
        <a:ext cx="4873941" cy="2924364"/>
      </dsp:txXfrm>
    </dsp:sp>
    <dsp:sp modelId="{6A7E44D9-4AEA-48CA-8A00-B22AFB64D42C}">
      <dsp:nvSpPr>
        <dsp:cNvPr id="0" name=""/>
        <dsp:cNvSpPr/>
      </dsp:nvSpPr>
      <dsp:spPr>
        <a:xfrm>
          <a:off x="6157104" y="1702"/>
          <a:ext cx="4873941" cy="2924364"/>
        </a:xfrm>
        <a:prstGeom prst="rect">
          <a:avLst/>
        </a:prstGeom>
        <a:solidFill>
          <a:schemeClr val="accent2">
            <a:lumMod val="5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ru-RU" sz="2100" kern="1200" dirty="0" err="1" smtClean="0"/>
            <a:t>Геосервисы</a:t>
          </a:r>
          <a:r>
            <a:rPr lang="ru-RU" sz="2100" kern="1200" dirty="0" smtClean="0"/>
            <a:t> работают так: пользователь вводит запрос, а система показывает результат, основываясь на его </a:t>
          </a:r>
          <a:r>
            <a:rPr lang="ru-RU" sz="2100" kern="1200" dirty="0" err="1" smtClean="0"/>
            <a:t>геопозиции</a:t>
          </a:r>
          <a:r>
            <a:rPr lang="ru-RU" sz="2100" kern="1200" dirty="0" smtClean="0"/>
            <a:t>.</a:t>
          </a:r>
          <a:endParaRPr lang="ru-RU" sz="2100" kern="1200" dirty="0"/>
        </a:p>
      </dsp:txBody>
      <dsp:txXfrm>
        <a:off x="6157104" y="1702"/>
        <a:ext cx="4873941" cy="292436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1B06FF-9DFB-4AF9-9057-B9D497AD9B2B}">
      <dsp:nvSpPr>
        <dsp:cNvPr id="0" name=""/>
        <dsp:cNvSpPr/>
      </dsp:nvSpPr>
      <dsp:spPr>
        <a:xfrm>
          <a:off x="0" y="-13244"/>
          <a:ext cx="12192000" cy="2110378"/>
        </a:xfrm>
        <a:prstGeom prst="rect">
          <a:avLst/>
        </a:prstGeom>
        <a:solidFill>
          <a:schemeClr val="accent1">
            <a:lumMod val="50000"/>
          </a:schemeClr>
        </a:solidFill>
        <a:ln>
          <a:noFill/>
        </a:ln>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ru-RU" sz="6500" b="1" kern="1200" dirty="0" smtClean="0"/>
            <a:t>Что нужно для внедрения</a:t>
          </a:r>
          <a:endParaRPr lang="ru-RU" sz="6500" kern="1200" dirty="0"/>
        </a:p>
      </dsp:txBody>
      <dsp:txXfrm>
        <a:off x="0" y="-13244"/>
        <a:ext cx="12192000" cy="2110378"/>
      </dsp:txXfrm>
    </dsp:sp>
    <dsp:sp modelId="{AE5CD61A-3BEB-4F04-8879-983318C9AB94}">
      <dsp:nvSpPr>
        <dsp:cNvPr id="0" name=""/>
        <dsp:cNvSpPr/>
      </dsp:nvSpPr>
      <dsp:spPr>
        <a:xfrm>
          <a:off x="5953" y="2070644"/>
          <a:ext cx="4060031" cy="4320540"/>
        </a:xfrm>
        <a:prstGeom prst="rect">
          <a:avLst/>
        </a:prstGeom>
        <a:solidFill>
          <a:schemeClr val="accent6">
            <a:lumMod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lvl="0" algn="just" defTabSz="1289050">
            <a:lnSpc>
              <a:spcPct val="90000"/>
            </a:lnSpc>
            <a:spcBef>
              <a:spcPct val="0"/>
            </a:spcBef>
            <a:spcAft>
              <a:spcPct val="35000"/>
            </a:spcAft>
          </a:pPr>
          <a:r>
            <a:rPr lang="ru-RU" sz="2900" b="1" kern="1200" dirty="0" smtClean="0"/>
            <a:t>информация</a:t>
          </a:r>
          <a:r>
            <a:rPr lang="ru-RU" sz="2900" kern="1200" dirty="0" smtClean="0"/>
            <a:t>: адреса, филиалы, телефоны. Ее нужно собрать и проверить на актуальность;</a:t>
          </a:r>
          <a:endParaRPr lang="ru-RU" sz="2900" kern="1200" dirty="0"/>
        </a:p>
      </dsp:txBody>
      <dsp:txXfrm>
        <a:off x="5953" y="2070644"/>
        <a:ext cx="4060031" cy="4320540"/>
      </dsp:txXfrm>
    </dsp:sp>
    <dsp:sp modelId="{21C4DE66-C23C-4F84-9AEE-D33E7F493AD6}">
      <dsp:nvSpPr>
        <dsp:cNvPr id="0" name=""/>
        <dsp:cNvSpPr/>
      </dsp:nvSpPr>
      <dsp:spPr>
        <a:xfrm>
          <a:off x="4065984" y="2070644"/>
          <a:ext cx="4060031" cy="4320540"/>
        </a:xfrm>
        <a:prstGeom prst="rect">
          <a:avLst/>
        </a:prstGeom>
        <a:solidFill>
          <a:schemeClr val="accent2">
            <a:lumMod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lvl="0" algn="just" defTabSz="1289050">
            <a:lnSpc>
              <a:spcPct val="90000"/>
            </a:lnSpc>
            <a:spcBef>
              <a:spcPct val="0"/>
            </a:spcBef>
            <a:spcAft>
              <a:spcPct val="35000"/>
            </a:spcAft>
          </a:pPr>
          <a:r>
            <a:rPr lang="ru-RU" sz="2900" b="1" kern="1200" dirty="0" smtClean="0"/>
            <a:t>время сотрудника</a:t>
          </a:r>
          <a:r>
            <a:rPr lang="ru-RU" sz="2900" kern="1200" dirty="0" smtClean="0"/>
            <a:t>: если в вашей компании несколько маркетологов, нужно понять, кто будет заниматься карточками, и выделить дни; </a:t>
          </a:r>
          <a:endParaRPr lang="ru-RU" sz="2900" kern="1200" dirty="0"/>
        </a:p>
      </dsp:txBody>
      <dsp:txXfrm>
        <a:off x="4065984" y="2070644"/>
        <a:ext cx="4060031" cy="4320540"/>
      </dsp:txXfrm>
    </dsp:sp>
    <dsp:sp modelId="{E0CC006F-2A3C-4EB1-95F9-F45F7EDEBBB2}">
      <dsp:nvSpPr>
        <dsp:cNvPr id="0" name=""/>
        <dsp:cNvSpPr/>
      </dsp:nvSpPr>
      <dsp:spPr>
        <a:xfrm>
          <a:off x="8126015" y="2070644"/>
          <a:ext cx="4060031" cy="4320540"/>
        </a:xfrm>
        <a:prstGeom prst="rect">
          <a:avLst/>
        </a:prstGeom>
        <a:solidFill>
          <a:schemeClr val="accent4">
            <a:lumMod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lvl="0" algn="just" defTabSz="1289050">
            <a:lnSpc>
              <a:spcPct val="90000"/>
            </a:lnSpc>
            <a:spcBef>
              <a:spcPct val="0"/>
            </a:spcBef>
            <a:spcAft>
              <a:spcPct val="35000"/>
            </a:spcAft>
          </a:pPr>
          <a:r>
            <a:rPr lang="ru-RU" sz="2900" b="1" kern="1200" dirty="0" smtClean="0"/>
            <a:t>терпение</a:t>
          </a:r>
          <a:r>
            <a:rPr lang="ru-RU" sz="2900" kern="1200" dirty="0" smtClean="0"/>
            <a:t>: если у бизнеса 10+ филиалов, нужно создать каждому филиалу отдельную карточку в </a:t>
          </a:r>
          <a:r>
            <a:rPr lang="ru-RU" sz="2900" kern="1200" dirty="0" err="1" smtClean="0"/>
            <a:t>геосервисах</a:t>
          </a:r>
          <a:r>
            <a:rPr lang="ru-RU" sz="2900" kern="1200" dirty="0" smtClean="0"/>
            <a:t> и подтвердить ее — нельзя сделать одну карточку для всех филиалов. </a:t>
          </a:r>
          <a:endParaRPr lang="ru-RU" sz="2900" kern="1200" dirty="0"/>
        </a:p>
      </dsp:txBody>
      <dsp:txXfrm>
        <a:off x="8126015" y="2070644"/>
        <a:ext cx="4060031" cy="4320540"/>
      </dsp:txXfrm>
    </dsp:sp>
    <dsp:sp modelId="{C4CCBCF5-AB17-4F30-B6FD-BD42A2A1DF4C}">
      <dsp:nvSpPr>
        <dsp:cNvPr id="0" name=""/>
        <dsp:cNvSpPr/>
      </dsp:nvSpPr>
      <dsp:spPr>
        <a:xfrm>
          <a:off x="0" y="6391184"/>
          <a:ext cx="12192000" cy="480060"/>
        </a:xfrm>
        <a:prstGeom prst="rect">
          <a:avLst/>
        </a:prstGeom>
        <a:solidFill>
          <a:schemeClr val="accent1">
            <a:lumMod val="50000"/>
          </a:schemeClr>
        </a:solidFill>
        <a:ln>
          <a:noFill/>
        </a:ln>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1B06FF-9DFB-4AF9-9057-B9D497AD9B2B}">
      <dsp:nvSpPr>
        <dsp:cNvPr id="0" name=""/>
        <dsp:cNvSpPr/>
      </dsp:nvSpPr>
      <dsp:spPr>
        <a:xfrm>
          <a:off x="0" y="-13244"/>
          <a:ext cx="12192000" cy="2110378"/>
        </a:xfrm>
        <a:prstGeom prst="rect">
          <a:avLst/>
        </a:prstGeom>
        <a:solidFill>
          <a:schemeClr val="tx2">
            <a:lumMod val="50000"/>
          </a:schemeClr>
        </a:solidFill>
        <a:ln>
          <a:noFill/>
        </a:ln>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ru-RU" sz="6500" b="1" kern="1200" dirty="0" smtClean="0"/>
            <a:t>Основные сложности</a:t>
          </a:r>
          <a:endParaRPr lang="ru-RU" sz="6500" kern="1200" dirty="0"/>
        </a:p>
      </dsp:txBody>
      <dsp:txXfrm>
        <a:off x="0" y="-13244"/>
        <a:ext cx="12192000" cy="2110378"/>
      </dsp:txXfrm>
    </dsp:sp>
    <dsp:sp modelId="{AE5CD61A-3BEB-4F04-8879-983318C9AB94}">
      <dsp:nvSpPr>
        <dsp:cNvPr id="0" name=""/>
        <dsp:cNvSpPr/>
      </dsp:nvSpPr>
      <dsp:spPr>
        <a:xfrm>
          <a:off x="0" y="2070644"/>
          <a:ext cx="6095999" cy="4320540"/>
        </a:xfrm>
        <a:prstGeom prst="rect">
          <a:avLst/>
        </a:prstGeom>
        <a:solidFill>
          <a:schemeClr val="accent6">
            <a:lumMod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lvl="0" algn="ctr" defTabSz="1644650">
            <a:lnSpc>
              <a:spcPct val="90000"/>
            </a:lnSpc>
            <a:spcBef>
              <a:spcPct val="0"/>
            </a:spcBef>
            <a:spcAft>
              <a:spcPct val="35000"/>
            </a:spcAft>
          </a:pPr>
          <a:r>
            <a:rPr lang="ru-RU" sz="3700" b="1" kern="1200" dirty="0" smtClean="0"/>
            <a:t>Верификация занимает от 2 недель до месяца</a:t>
          </a:r>
          <a:r>
            <a:rPr lang="ru-RU" sz="3700" kern="1200" dirty="0" smtClean="0"/>
            <a:t>. У </a:t>
          </a:r>
          <a:r>
            <a:rPr lang="ru-RU" sz="3700" kern="1200" dirty="0" err="1" smtClean="0"/>
            <a:t>геосервисов</a:t>
          </a:r>
          <a:r>
            <a:rPr lang="ru-RU" sz="3700" kern="1200" dirty="0" smtClean="0"/>
            <a:t> разные </a:t>
          </a:r>
          <a:r>
            <a:rPr lang="ru-RU" sz="3700" kern="1200" dirty="0" err="1" smtClean="0"/>
            <a:t>гайды</a:t>
          </a:r>
          <a:r>
            <a:rPr lang="ru-RU" sz="3700" kern="1200" dirty="0" smtClean="0"/>
            <a:t> и способы проверки. Иногда они затягиваются, а еще могут быть просто странными или неудобными</a:t>
          </a:r>
          <a:endParaRPr lang="ru-RU" sz="3700" kern="1200" dirty="0"/>
        </a:p>
      </dsp:txBody>
      <dsp:txXfrm>
        <a:off x="0" y="2070644"/>
        <a:ext cx="6095999" cy="4320540"/>
      </dsp:txXfrm>
    </dsp:sp>
    <dsp:sp modelId="{21C4DE66-C23C-4F84-9AEE-D33E7F493AD6}">
      <dsp:nvSpPr>
        <dsp:cNvPr id="0" name=""/>
        <dsp:cNvSpPr/>
      </dsp:nvSpPr>
      <dsp:spPr>
        <a:xfrm>
          <a:off x="6096000" y="2070644"/>
          <a:ext cx="6095999" cy="4320540"/>
        </a:xfrm>
        <a:prstGeom prst="rect">
          <a:avLst/>
        </a:prstGeom>
        <a:solidFill>
          <a:schemeClr val="accent2">
            <a:lumMod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lvl="0" algn="ctr" defTabSz="1644650">
            <a:lnSpc>
              <a:spcPct val="90000"/>
            </a:lnSpc>
            <a:spcBef>
              <a:spcPct val="0"/>
            </a:spcBef>
            <a:spcAft>
              <a:spcPct val="35000"/>
            </a:spcAft>
          </a:pPr>
          <a:r>
            <a:rPr lang="ru-RU" sz="3700" b="1" kern="1200" dirty="0" smtClean="0"/>
            <a:t>Большой поток информации и отзывов, за которым трудно следить</a:t>
          </a:r>
          <a:r>
            <a:rPr lang="ru-RU" sz="3700" kern="1200" dirty="0" smtClean="0"/>
            <a:t>. </a:t>
          </a:r>
          <a:endParaRPr lang="ru-RU" sz="3700" kern="1200" dirty="0"/>
        </a:p>
      </dsp:txBody>
      <dsp:txXfrm>
        <a:off x="6096000" y="2070644"/>
        <a:ext cx="6095999" cy="4320540"/>
      </dsp:txXfrm>
    </dsp:sp>
    <dsp:sp modelId="{C4CCBCF5-AB17-4F30-B6FD-BD42A2A1DF4C}">
      <dsp:nvSpPr>
        <dsp:cNvPr id="0" name=""/>
        <dsp:cNvSpPr/>
      </dsp:nvSpPr>
      <dsp:spPr>
        <a:xfrm>
          <a:off x="0" y="6391184"/>
          <a:ext cx="12192000" cy="480060"/>
        </a:xfrm>
        <a:prstGeom prst="rect">
          <a:avLst/>
        </a:prstGeom>
        <a:solidFill>
          <a:schemeClr val="tx2">
            <a:lumMod val="50000"/>
          </a:schemeClr>
        </a:solidFill>
        <a:ln>
          <a:noFill/>
        </a:ln>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AEF5C-3D9D-425C-83E3-7FA3B938FB9E}">
      <dsp:nvSpPr>
        <dsp:cNvPr id="0" name=""/>
        <dsp:cNvSpPr/>
      </dsp:nvSpPr>
      <dsp:spPr>
        <a:xfrm>
          <a:off x="31638" y="3104"/>
          <a:ext cx="12128723" cy="2026864"/>
        </a:xfrm>
        <a:prstGeom prst="rect">
          <a:avLst/>
        </a:prstGeom>
        <a:solidFill>
          <a:schemeClr val="tx2">
            <a:lumMod val="50000"/>
          </a:schemeClr>
        </a:solidFill>
        <a:ln>
          <a:noFill/>
        </a:ln>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txBody>
        <a:bodyPr spcFirstLastPara="0" vert="horz" wrap="square" lIns="217170" tIns="217170" rIns="217170" bIns="217170" numCol="1" spcCol="1270" anchor="ctr" anchorCtr="0">
          <a:noAutofit/>
        </a:bodyPr>
        <a:lstStyle/>
        <a:p>
          <a:pPr lvl="0" algn="ctr" defTabSz="2533650">
            <a:lnSpc>
              <a:spcPct val="90000"/>
            </a:lnSpc>
            <a:spcBef>
              <a:spcPct val="0"/>
            </a:spcBef>
            <a:spcAft>
              <a:spcPct val="35000"/>
            </a:spcAft>
          </a:pPr>
          <a:r>
            <a:rPr lang="ru-RU" sz="5700" b="1" kern="1200" dirty="0" smtClean="0"/>
            <a:t>Безопасность предприятия и прилегающих территорий</a:t>
          </a:r>
          <a:endParaRPr lang="ru-RU" sz="5700" kern="1200" dirty="0"/>
        </a:p>
      </dsp:txBody>
      <dsp:txXfrm>
        <a:off x="31638" y="3104"/>
        <a:ext cx="12128723" cy="2026864"/>
      </dsp:txXfrm>
    </dsp:sp>
    <dsp:sp modelId="{BE76EF05-1D90-4D23-928B-4D048E8A4E82}">
      <dsp:nvSpPr>
        <dsp:cNvPr id="0" name=""/>
        <dsp:cNvSpPr/>
      </dsp:nvSpPr>
      <dsp:spPr>
        <a:xfrm>
          <a:off x="0" y="2036179"/>
          <a:ext cx="6095999" cy="4282496"/>
        </a:xfrm>
        <a:prstGeom prst="rect">
          <a:avLst/>
        </a:prstGeom>
        <a:solidFill>
          <a:schemeClr val="accent2">
            <a:lumMod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ru-RU" sz="2300" kern="1200" dirty="0" smtClean="0"/>
            <a:t>С помощью </a:t>
          </a:r>
          <a:r>
            <a:rPr lang="ru-RU" sz="2300" kern="1200" dirty="0" err="1" smtClean="0"/>
            <a:t>геоинформацилнных</a:t>
          </a:r>
          <a:r>
            <a:rPr lang="ru-RU" sz="2300" kern="1200" dirty="0" smtClean="0"/>
            <a:t> систем производится </a:t>
          </a:r>
          <a:r>
            <a:rPr lang="ru-RU" sz="2300" i="1" kern="1200" dirty="0" smtClean="0"/>
            <a:t>прогнозирование чрезвычайных ситуаций</a:t>
          </a:r>
          <a:r>
            <a:rPr lang="ru-RU" sz="2300" kern="1200" dirty="0" smtClean="0"/>
            <a:t> (пожаров, наводнений, землетрясений, селей, ураганов). </a:t>
          </a:r>
          <a:endParaRPr lang="ru-RU" sz="2300" kern="1200" dirty="0"/>
        </a:p>
      </dsp:txBody>
      <dsp:txXfrm>
        <a:off x="0" y="2036179"/>
        <a:ext cx="6095999" cy="4282496"/>
      </dsp:txXfrm>
    </dsp:sp>
    <dsp:sp modelId="{16A5130B-2BF9-4576-AB20-4228D0B2E633}">
      <dsp:nvSpPr>
        <dsp:cNvPr id="0" name=""/>
        <dsp:cNvSpPr/>
      </dsp:nvSpPr>
      <dsp:spPr>
        <a:xfrm>
          <a:off x="6096000" y="2036179"/>
          <a:ext cx="6095999" cy="4282496"/>
        </a:xfrm>
        <a:prstGeom prst="rect">
          <a:avLst/>
        </a:prstGeom>
        <a:solidFill>
          <a:schemeClr val="accent4">
            <a:lumMod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ru-RU" sz="2300" kern="1200" dirty="0" smtClean="0"/>
            <a:t>Использование ГИС приложений помогает спрогнозировать загрязнение от источников на местности при:</a:t>
          </a:r>
        </a:p>
        <a:p>
          <a:pPr lvl="0" algn="just" defTabSz="1022350">
            <a:lnSpc>
              <a:spcPct val="90000"/>
            </a:lnSpc>
            <a:spcBef>
              <a:spcPct val="0"/>
            </a:spcBef>
            <a:spcAft>
              <a:spcPct val="35000"/>
            </a:spcAft>
          </a:pPr>
          <a:r>
            <a:rPr lang="ru-RU" sz="2300" kern="1200" dirty="0" smtClean="0"/>
            <a:t>дорожно-транспортных происшествиях на автомобильном транспорте;</a:t>
          </a:r>
        </a:p>
        <a:p>
          <a:pPr lvl="0" algn="just" defTabSz="1022350">
            <a:lnSpc>
              <a:spcPct val="90000"/>
            </a:lnSpc>
            <a:spcBef>
              <a:spcPct val="0"/>
            </a:spcBef>
            <a:spcAft>
              <a:spcPct val="35000"/>
            </a:spcAft>
          </a:pPr>
          <a:r>
            <a:rPr lang="ru-RU" sz="2300" kern="1200" dirty="0" smtClean="0"/>
            <a:t>крушении поездов с нефтеналивными цистернами на железнодорожном транспорте;</a:t>
          </a:r>
        </a:p>
        <a:p>
          <a:pPr lvl="0" algn="just" defTabSz="1022350">
            <a:lnSpc>
              <a:spcPct val="90000"/>
            </a:lnSpc>
            <a:spcBef>
              <a:spcPct val="0"/>
            </a:spcBef>
            <a:spcAft>
              <a:spcPct val="35000"/>
            </a:spcAft>
          </a:pPr>
          <a:r>
            <a:rPr lang="ru-RU" sz="2300" kern="1200" dirty="0" smtClean="0"/>
            <a:t>падении воздушных судов на объекты ядерной промышленности;</a:t>
          </a:r>
        </a:p>
        <a:p>
          <a:pPr lvl="0" algn="just" defTabSz="1022350">
            <a:lnSpc>
              <a:spcPct val="90000"/>
            </a:lnSpc>
            <a:spcBef>
              <a:spcPct val="0"/>
            </a:spcBef>
            <a:spcAft>
              <a:spcPct val="35000"/>
            </a:spcAft>
          </a:pPr>
          <a:r>
            <a:rPr lang="ru-RU" sz="2300" kern="1200" dirty="0" smtClean="0"/>
            <a:t>при разливе нефтепродуктов на воде и т.д.</a:t>
          </a:r>
          <a:endParaRPr lang="ru-RU" sz="2300" kern="1200" dirty="0"/>
        </a:p>
      </dsp:txBody>
      <dsp:txXfrm>
        <a:off x="6096000" y="2036179"/>
        <a:ext cx="6095999" cy="4282496"/>
      </dsp:txXfrm>
    </dsp:sp>
    <dsp:sp modelId="{C21DABF1-C295-483F-A04A-E03770040AB7}">
      <dsp:nvSpPr>
        <dsp:cNvPr id="0" name=""/>
        <dsp:cNvSpPr/>
      </dsp:nvSpPr>
      <dsp:spPr>
        <a:xfrm>
          <a:off x="0" y="6318676"/>
          <a:ext cx="12192000" cy="475832"/>
        </a:xfrm>
        <a:prstGeom prst="rect">
          <a:avLst/>
        </a:prstGeom>
        <a:solidFill>
          <a:schemeClr val="tx2">
            <a:lumMod val="50000"/>
          </a:schemeClr>
        </a:solidFill>
        <a:ln>
          <a:noFill/>
        </a:ln>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714796-510E-4E11-9F33-FF610E8F1BD4}">
      <dsp:nvSpPr>
        <dsp:cNvPr id="0" name=""/>
        <dsp:cNvSpPr/>
      </dsp:nvSpPr>
      <dsp:spPr>
        <a:xfrm>
          <a:off x="0" y="660207"/>
          <a:ext cx="3706090" cy="2223654"/>
        </a:xfrm>
        <a:prstGeom prst="rect">
          <a:avLst/>
        </a:prstGeom>
        <a:solidFill>
          <a:schemeClr val="accent6">
            <a:lumMod val="5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ru-RU" sz="2400" kern="1200" dirty="0" smtClean="0"/>
            <a:t>хранить различные представления территории предприятия;</a:t>
          </a:r>
          <a:endParaRPr lang="ru-RU" sz="2400" kern="1200" dirty="0"/>
        </a:p>
      </dsp:txBody>
      <dsp:txXfrm>
        <a:off x="0" y="660207"/>
        <a:ext cx="3706090" cy="2223654"/>
      </dsp:txXfrm>
    </dsp:sp>
    <dsp:sp modelId="{604195B2-B832-4441-8AC2-939D9E65987C}">
      <dsp:nvSpPr>
        <dsp:cNvPr id="0" name=""/>
        <dsp:cNvSpPr/>
      </dsp:nvSpPr>
      <dsp:spPr>
        <a:xfrm>
          <a:off x="4076700" y="660207"/>
          <a:ext cx="3706090" cy="2223654"/>
        </a:xfrm>
        <a:prstGeom prst="rect">
          <a:avLst/>
        </a:prstGeom>
        <a:solidFill>
          <a:schemeClr val="accent5">
            <a:lumMod val="5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ru-RU" sz="2400" kern="1200" dirty="0" smtClean="0"/>
            <a:t>сочетать в единой среде общий трехмерный план, поэтажные планы входящих в него зданий, схемы коммуникаций и другую информацию;</a:t>
          </a:r>
          <a:endParaRPr lang="ru-RU" sz="2400" kern="1200" dirty="0"/>
        </a:p>
      </dsp:txBody>
      <dsp:txXfrm>
        <a:off x="4076700" y="660207"/>
        <a:ext cx="3706090" cy="2223654"/>
      </dsp:txXfrm>
    </dsp:sp>
    <dsp:sp modelId="{D6B274DF-6493-4BC2-A594-2914C17DA18E}">
      <dsp:nvSpPr>
        <dsp:cNvPr id="0" name=""/>
        <dsp:cNvSpPr/>
      </dsp:nvSpPr>
      <dsp:spPr>
        <a:xfrm>
          <a:off x="8153400" y="660207"/>
          <a:ext cx="3706090" cy="2223654"/>
        </a:xfrm>
        <a:prstGeom prst="rect">
          <a:avLst/>
        </a:prstGeom>
        <a:solidFill>
          <a:schemeClr val="accent4">
            <a:lumMod val="5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ru-RU" sz="2400" kern="1200" dirty="0" smtClean="0"/>
            <a:t>моделировать поведение объектов;</a:t>
          </a:r>
          <a:endParaRPr lang="ru-RU" sz="2400" kern="1200" dirty="0"/>
        </a:p>
      </dsp:txBody>
      <dsp:txXfrm>
        <a:off x="8153400" y="660207"/>
        <a:ext cx="3706090" cy="2223654"/>
      </dsp:txXfrm>
    </dsp:sp>
    <dsp:sp modelId="{49C33FE8-637F-489C-B4F7-06E2C945C3C6}">
      <dsp:nvSpPr>
        <dsp:cNvPr id="0" name=""/>
        <dsp:cNvSpPr/>
      </dsp:nvSpPr>
      <dsp:spPr>
        <a:xfrm>
          <a:off x="2038350" y="3254471"/>
          <a:ext cx="3706090" cy="2223654"/>
        </a:xfrm>
        <a:prstGeom prst="rect">
          <a:avLst/>
        </a:prstGeom>
        <a:solidFill>
          <a:schemeClr val="accent2">
            <a:lumMod val="5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ru-RU" sz="2400" kern="1200" dirty="0" smtClean="0"/>
            <a:t>находить недоиспользованные ресурсы;</a:t>
          </a:r>
          <a:endParaRPr lang="ru-RU" sz="2400" kern="1200" dirty="0"/>
        </a:p>
      </dsp:txBody>
      <dsp:txXfrm>
        <a:off x="2038350" y="3254471"/>
        <a:ext cx="3706090" cy="2223654"/>
      </dsp:txXfrm>
    </dsp:sp>
    <dsp:sp modelId="{277A06A8-1F36-44B3-AD88-323E2BDD3AEB}">
      <dsp:nvSpPr>
        <dsp:cNvPr id="0" name=""/>
        <dsp:cNvSpPr/>
      </dsp:nvSpPr>
      <dsp:spPr>
        <a:xfrm>
          <a:off x="6115050" y="3254471"/>
          <a:ext cx="3706090" cy="2223654"/>
        </a:xfrm>
        <a:prstGeom prst="rect">
          <a:avLst/>
        </a:prstGeom>
        <a:solidFill>
          <a:schemeClr val="tx2">
            <a:lumMod val="5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ru-RU" sz="2400" kern="1200" dirty="0" smtClean="0"/>
            <a:t>вычислять ошибки в размещении, которые создают угрозу безопасности или какие-либо неудобства и </a:t>
          </a:r>
          <a:r>
            <a:rPr lang="ru-RU" sz="2400" kern="1200" dirty="0" err="1" smtClean="0"/>
            <a:t>т.д</a:t>
          </a:r>
          <a:endParaRPr lang="ru-RU" sz="2400" kern="1200" dirty="0"/>
        </a:p>
      </dsp:txBody>
      <dsp:txXfrm>
        <a:off x="6115050" y="3254471"/>
        <a:ext cx="3706090" cy="222365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FFF7C2-A712-43EE-9F94-FB4100C25857}">
      <dsp:nvSpPr>
        <dsp:cNvPr id="0" name=""/>
        <dsp:cNvSpPr/>
      </dsp:nvSpPr>
      <dsp:spPr>
        <a:xfrm>
          <a:off x="653942" y="3682"/>
          <a:ext cx="5094365" cy="3056619"/>
        </a:xfrm>
        <a:prstGeom prst="rect">
          <a:avLst/>
        </a:prstGeom>
        <a:solidFill>
          <a:schemeClr val="accent6">
            <a:lumMod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ru-RU" sz="2700" kern="1200" dirty="0" smtClean="0"/>
            <a:t>вычислять мощность или напряжённость, то есть количество пассажиров, которое проезжает в определённое время на заданном участке маршрута в одном направлении (любым видом транспорта);</a:t>
          </a:r>
          <a:endParaRPr lang="ru-RU" sz="2700" kern="1200" dirty="0"/>
        </a:p>
      </dsp:txBody>
      <dsp:txXfrm>
        <a:off x="653942" y="3682"/>
        <a:ext cx="5094365" cy="3056619"/>
      </dsp:txXfrm>
    </dsp:sp>
    <dsp:sp modelId="{4102FCD4-1643-4355-8232-F42544E6DEC4}">
      <dsp:nvSpPr>
        <dsp:cNvPr id="0" name=""/>
        <dsp:cNvSpPr/>
      </dsp:nvSpPr>
      <dsp:spPr>
        <a:xfrm>
          <a:off x="6257744" y="3682"/>
          <a:ext cx="5094365" cy="3056619"/>
        </a:xfrm>
        <a:prstGeom prst="rect">
          <a:avLst/>
        </a:prstGeom>
        <a:solidFill>
          <a:schemeClr val="accent5">
            <a:lumMod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ru-RU" sz="2700" kern="1200" dirty="0" smtClean="0"/>
            <a:t>рассчитывать объём перевозок пассажиров, то есть количество пассажиров перевозимых рассматриваемым видом транспорта за определённый промежуток времени (час, сутки, месяц, год);</a:t>
          </a:r>
          <a:endParaRPr lang="ru-RU" sz="2700" kern="1200" dirty="0"/>
        </a:p>
      </dsp:txBody>
      <dsp:txXfrm>
        <a:off x="6257744" y="3682"/>
        <a:ext cx="5094365" cy="3056619"/>
      </dsp:txXfrm>
    </dsp:sp>
    <dsp:sp modelId="{FC367C47-376A-4F85-9EA0-148837BB8BC3}">
      <dsp:nvSpPr>
        <dsp:cNvPr id="0" name=""/>
        <dsp:cNvSpPr/>
      </dsp:nvSpPr>
      <dsp:spPr>
        <a:xfrm>
          <a:off x="653942" y="3569738"/>
          <a:ext cx="5094365" cy="3056619"/>
        </a:xfrm>
        <a:prstGeom prst="rect">
          <a:avLst/>
        </a:prstGeom>
        <a:solidFill>
          <a:schemeClr val="accent2">
            <a:lumMod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ru-RU" sz="2700" kern="1200" dirty="0" smtClean="0"/>
            <a:t>строить матрицы интенсивностей потоков;</a:t>
          </a:r>
          <a:endParaRPr lang="ru-RU" sz="2700" kern="1200" dirty="0"/>
        </a:p>
      </dsp:txBody>
      <dsp:txXfrm>
        <a:off x="653942" y="3569738"/>
        <a:ext cx="5094365" cy="3056619"/>
      </dsp:txXfrm>
    </dsp:sp>
    <dsp:sp modelId="{04E7C760-4A70-4997-82B7-81C213638609}">
      <dsp:nvSpPr>
        <dsp:cNvPr id="0" name=""/>
        <dsp:cNvSpPr/>
      </dsp:nvSpPr>
      <dsp:spPr>
        <a:xfrm>
          <a:off x="6257744" y="3569738"/>
          <a:ext cx="5094365" cy="3056619"/>
        </a:xfrm>
        <a:prstGeom prst="rect">
          <a:avLst/>
        </a:prstGeom>
        <a:solidFill>
          <a:schemeClr val="accent4">
            <a:lumMod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ru-RU" sz="2700" kern="1200" dirty="0" smtClean="0"/>
            <a:t>проводить сравнительный анализ пропускной способности для различного времени суток (вечернего часа пик, выходных и праздничных дней и т.д.) при существующей схеме организации движения.</a:t>
          </a:r>
          <a:endParaRPr lang="ru-RU" sz="2700" kern="1200" dirty="0"/>
        </a:p>
      </dsp:txBody>
      <dsp:txXfrm>
        <a:off x="6257744" y="3569738"/>
        <a:ext cx="5094365" cy="305661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1B06FF-9DFB-4AF9-9057-B9D497AD9B2B}">
      <dsp:nvSpPr>
        <dsp:cNvPr id="0" name=""/>
        <dsp:cNvSpPr/>
      </dsp:nvSpPr>
      <dsp:spPr>
        <a:xfrm>
          <a:off x="0" y="-13244"/>
          <a:ext cx="12192000" cy="2110378"/>
        </a:xfrm>
        <a:prstGeom prst="rect">
          <a:avLst/>
        </a:prstGeom>
        <a:solidFill>
          <a:schemeClr val="accent1">
            <a:lumMod val="50000"/>
          </a:schemeClr>
        </a:solidFill>
        <a:ln>
          <a:noFill/>
        </a:ln>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txBody>
        <a:bodyPr spcFirstLastPara="0" vert="horz" wrap="square" lIns="224790" tIns="224790" rIns="224790" bIns="224790" numCol="1" spcCol="1270" anchor="ctr" anchorCtr="0">
          <a:noAutofit/>
        </a:bodyPr>
        <a:lstStyle/>
        <a:p>
          <a:pPr lvl="0" algn="ctr" defTabSz="2622550">
            <a:lnSpc>
              <a:spcPct val="90000"/>
            </a:lnSpc>
            <a:spcBef>
              <a:spcPct val="0"/>
            </a:spcBef>
            <a:spcAft>
              <a:spcPct val="35000"/>
            </a:spcAft>
          </a:pPr>
          <a:r>
            <a:rPr lang="ru-RU" sz="5900" kern="1200" dirty="0" smtClean="0"/>
            <a:t>ГИС «Генеральный план» позволяет решать множество задач:</a:t>
          </a:r>
          <a:endParaRPr lang="ru-RU" sz="5900" kern="1200" dirty="0"/>
        </a:p>
      </dsp:txBody>
      <dsp:txXfrm>
        <a:off x="0" y="-13244"/>
        <a:ext cx="12192000" cy="2110378"/>
      </dsp:txXfrm>
    </dsp:sp>
    <dsp:sp modelId="{AE5CD61A-3BEB-4F04-8879-983318C9AB94}">
      <dsp:nvSpPr>
        <dsp:cNvPr id="0" name=""/>
        <dsp:cNvSpPr/>
      </dsp:nvSpPr>
      <dsp:spPr>
        <a:xfrm>
          <a:off x="5953" y="2070644"/>
          <a:ext cx="4060031" cy="4320540"/>
        </a:xfrm>
        <a:prstGeom prst="rect">
          <a:avLst/>
        </a:prstGeom>
        <a:solidFill>
          <a:schemeClr val="accent6">
            <a:lumMod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lvl="0" algn="just" defTabSz="1155700">
            <a:lnSpc>
              <a:spcPct val="90000"/>
            </a:lnSpc>
            <a:spcBef>
              <a:spcPct val="0"/>
            </a:spcBef>
            <a:spcAft>
              <a:spcPct val="35000"/>
            </a:spcAft>
          </a:pPr>
          <a:r>
            <a:rPr lang="ru-RU" sz="2600" kern="1200" dirty="0" smtClean="0"/>
            <a:t>Базы данных не являются статичными. Картографические слои можно обновлять, создавать новые тематические слои; семантические базы данных также можно обновлять и, кроме того, расширять, т.е. вводить новые характеристики. </a:t>
          </a:r>
          <a:endParaRPr lang="ru-RU" sz="2600" kern="1200" dirty="0"/>
        </a:p>
      </dsp:txBody>
      <dsp:txXfrm>
        <a:off x="5953" y="2070644"/>
        <a:ext cx="4060031" cy="4320540"/>
      </dsp:txXfrm>
    </dsp:sp>
    <dsp:sp modelId="{21C4DE66-C23C-4F84-9AEE-D33E7F493AD6}">
      <dsp:nvSpPr>
        <dsp:cNvPr id="0" name=""/>
        <dsp:cNvSpPr/>
      </dsp:nvSpPr>
      <dsp:spPr>
        <a:xfrm>
          <a:off x="4065984" y="2070644"/>
          <a:ext cx="4060031" cy="4320540"/>
        </a:xfrm>
        <a:prstGeom prst="rect">
          <a:avLst/>
        </a:prstGeom>
        <a:solidFill>
          <a:schemeClr val="accent2">
            <a:lumMod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lvl="0" algn="just" defTabSz="1155700">
            <a:lnSpc>
              <a:spcPct val="90000"/>
            </a:lnSpc>
            <a:spcBef>
              <a:spcPct val="0"/>
            </a:spcBef>
            <a:spcAft>
              <a:spcPct val="35000"/>
            </a:spcAft>
          </a:pPr>
          <a:r>
            <a:rPr lang="ru-RU" sz="2600" kern="1200" dirty="0" smtClean="0"/>
            <a:t>Возможность совмещения цифровых картографических слоев в любом сочетании. </a:t>
          </a:r>
          <a:endParaRPr lang="ru-RU" sz="2600" kern="1200" dirty="0"/>
        </a:p>
      </dsp:txBody>
      <dsp:txXfrm>
        <a:off x="4065984" y="2070644"/>
        <a:ext cx="4060031" cy="4320540"/>
      </dsp:txXfrm>
    </dsp:sp>
    <dsp:sp modelId="{E0CC006F-2A3C-4EB1-95F9-F45F7EDEBBB2}">
      <dsp:nvSpPr>
        <dsp:cNvPr id="0" name=""/>
        <dsp:cNvSpPr/>
      </dsp:nvSpPr>
      <dsp:spPr>
        <a:xfrm>
          <a:off x="8126015" y="2070644"/>
          <a:ext cx="4060031" cy="4320540"/>
        </a:xfrm>
        <a:prstGeom prst="rect">
          <a:avLst/>
        </a:prstGeom>
        <a:solidFill>
          <a:schemeClr val="accent4">
            <a:lumMod val="50000"/>
          </a:schemeClr>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lvl="0" algn="just" defTabSz="1155700">
            <a:lnSpc>
              <a:spcPct val="90000"/>
            </a:lnSpc>
            <a:spcBef>
              <a:spcPct val="0"/>
            </a:spcBef>
            <a:spcAft>
              <a:spcPct val="35000"/>
            </a:spcAft>
          </a:pPr>
          <a:r>
            <a:rPr lang="ru-RU" sz="2600" kern="1200" dirty="0" smtClean="0"/>
            <a:t>Автоматическая работа с базами данных для принятия решений. ГИС-технологии позволяют в автоматическом режиме решать задачи по выбору территорий, отвечающих заданным критериям.</a:t>
          </a:r>
          <a:endParaRPr lang="ru-RU" sz="2600" kern="1200" dirty="0"/>
        </a:p>
      </dsp:txBody>
      <dsp:txXfrm>
        <a:off x="8126015" y="2070644"/>
        <a:ext cx="4060031" cy="4320540"/>
      </dsp:txXfrm>
    </dsp:sp>
    <dsp:sp modelId="{C4CCBCF5-AB17-4F30-B6FD-BD42A2A1DF4C}">
      <dsp:nvSpPr>
        <dsp:cNvPr id="0" name=""/>
        <dsp:cNvSpPr/>
      </dsp:nvSpPr>
      <dsp:spPr>
        <a:xfrm>
          <a:off x="0" y="6391184"/>
          <a:ext cx="12192000" cy="480060"/>
        </a:xfrm>
        <a:prstGeom prst="rect">
          <a:avLst/>
        </a:prstGeom>
        <a:solidFill>
          <a:schemeClr val="accent1">
            <a:lumMod val="50000"/>
          </a:schemeClr>
        </a:solidFill>
        <a:ln>
          <a:noFill/>
        </a:ln>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D1E16D-40AE-4F7B-89DA-08FA8576FE62}" type="datetimeFigureOut">
              <a:rPr lang="ru-RU" smtClean="0"/>
              <a:t>24.03.2026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E7B180-2896-4825-A371-C953116C1FCE}" type="slidenum">
              <a:rPr lang="ru-RU" smtClean="0"/>
              <a:t>‹#›</a:t>
            </a:fld>
            <a:endParaRPr lang="ru-RU"/>
          </a:p>
        </p:txBody>
      </p:sp>
    </p:spTree>
    <p:extLst>
      <p:ext uri="{BB962C8B-B14F-4D97-AF65-F5344CB8AC3E}">
        <p14:creationId xmlns:p14="http://schemas.microsoft.com/office/powerpoint/2010/main" val="1966748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Образ слайда 1"/>
          <p:cNvSpPr>
            <a:spLocks noGrp="1" noRot="1" noChangeAspect="1" noTextEdit="1"/>
          </p:cNvSpPr>
          <p:nvPr>
            <p:ph type="sldImg"/>
          </p:nvPr>
        </p:nvSpPr>
        <p:spPr>
          <a:xfrm>
            <a:off x="90488" y="744538"/>
            <a:ext cx="6616700" cy="3722687"/>
          </a:xfrm>
          <a:ln/>
        </p:spPr>
      </p:sp>
      <p:sp>
        <p:nvSpPr>
          <p:cNvPr id="34819" name="Заметки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ru-RU" altLang="ru-RU" smtClean="0">
              <a:latin typeface="Arial" pitchFamily="34" charset="0"/>
            </a:endParaRPr>
          </a:p>
        </p:txBody>
      </p:sp>
      <p:sp>
        <p:nvSpPr>
          <p:cNvPr id="34820" name="Номер слайда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fld id="{3995C959-3E6F-4A2D-BBCE-A1FF53A98587}" type="slidenum">
              <a:rPr lang="ru-RU" altLang="ru-RU">
                <a:solidFill>
                  <a:prstClr val="black"/>
                </a:solidFill>
              </a:rPr>
              <a:pPr/>
              <a:t>1</a:t>
            </a:fld>
            <a:endParaRPr lang="ru-RU" altLang="ru-RU">
              <a:solidFill>
                <a:prstClr val="black"/>
              </a:solidFill>
            </a:endParaRPr>
          </a:p>
        </p:txBody>
      </p:sp>
    </p:spTree>
    <p:extLst>
      <p:ext uri="{BB962C8B-B14F-4D97-AF65-F5344CB8AC3E}">
        <p14:creationId xmlns:p14="http://schemas.microsoft.com/office/powerpoint/2010/main" val="4291879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FBE7B180-2896-4825-A371-C953116C1FCE}" type="slidenum">
              <a:rPr lang="ru-RU" smtClean="0"/>
              <a:t>14</a:t>
            </a:fld>
            <a:endParaRPr lang="ru-RU"/>
          </a:p>
        </p:txBody>
      </p:sp>
    </p:spTree>
    <p:extLst>
      <p:ext uri="{BB962C8B-B14F-4D97-AF65-F5344CB8AC3E}">
        <p14:creationId xmlns:p14="http://schemas.microsoft.com/office/powerpoint/2010/main" val="1849463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ru-RU"/>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44454585-7C67-480B-A3E7-2717674931C3}" type="datetimeFigureOut">
              <a:rPr lang="ru-RU" smtClean="0"/>
              <a:t>24.03.2026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378964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44454585-7C67-480B-A3E7-2717674931C3}" type="datetimeFigureOut">
              <a:rPr lang="ru-RU" smtClean="0"/>
              <a:t>24.03.2026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3889928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ru-RU"/>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44454585-7C67-480B-A3E7-2717674931C3}" type="datetimeFigureOut">
              <a:rPr lang="ru-RU" smtClean="0"/>
              <a:t>24.03.2026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1303067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44454585-7C67-480B-A3E7-2717674931C3}" type="datetimeFigureOut">
              <a:rPr lang="ru-RU" smtClean="0"/>
              <a:t>24.03.2026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3351046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ru-RU"/>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44454585-7C67-480B-A3E7-2717674931C3}" type="datetimeFigureOut">
              <a:rPr lang="ru-RU" smtClean="0"/>
              <a:t>24.03.2026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13998000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44454585-7C67-480B-A3E7-2717674931C3}" type="datetimeFigureOut">
              <a:rPr lang="ru-RU" smtClean="0"/>
              <a:t>24.03.2026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3909878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44454585-7C67-480B-A3E7-2717674931C3}" type="datetimeFigureOut">
              <a:rPr lang="ru-RU" smtClean="0"/>
              <a:t>24.03.2026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2308135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44454585-7C67-480B-A3E7-2717674931C3}" type="datetimeFigureOut">
              <a:rPr lang="ru-RU" smtClean="0"/>
              <a:t>24.03.2026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3771137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44454585-7C67-480B-A3E7-2717674931C3}" type="datetimeFigureOut">
              <a:rPr lang="ru-RU" smtClean="0"/>
              <a:t>24.03.2026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281202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44454585-7C67-480B-A3E7-2717674931C3}" type="datetimeFigureOut">
              <a:rPr lang="ru-RU" smtClean="0"/>
              <a:t>24.03.2026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448889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44454585-7C67-480B-A3E7-2717674931C3}" type="datetimeFigureOut">
              <a:rPr lang="ru-RU" smtClean="0"/>
              <a:t>24.03.2026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026E1B2-CEBD-427E-9745-F7D5EC90EFA3}" type="slidenum">
              <a:rPr lang="ru-RU" smtClean="0"/>
              <a:t>‹#›</a:t>
            </a:fld>
            <a:endParaRPr lang="ru-RU"/>
          </a:p>
        </p:txBody>
      </p:sp>
    </p:spTree>
    <p:extLst>
      <p:ext uri="{BB962C8B-B14F-4D97-AF65-F5344CB8AC3E}">
        <p14:creationId xmlns:p14="http://schemas.microsoft.com/office/powerpoint/2010/main" val="1265443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454585-7C67-480B-A3E7-2717674931C3}" type="datetimeFigureOut">
              <a:rPr lang="ru-RU" smtClean="0"/>
              <a:t>24.03.2026</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26E1B2-CEBD-427E-9745-F7D5EC90EFA3}" type="slidenum">
              <a:rPr lang="ru-RU" smtClean="0"/>
              <a:t>‹#›</a:t>
            </a:fld>
            <a:endParaRPr lang="ru-RU"/>
          </a:p>
        </p:txBody>
      </p:sp>
    </p:spTree>
    <p:extLst>
      <p:ext uri="{BB962C8B-B14F-4D97-AF65-F5344CB8AC3E}">
        <p14:creationId xmlns:p14="http://schemas.microsoft.com/office/powerpoint/2010/main" val="7572085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diagramLayout" Target="../diagrams/layout4.xml"/><Relationship Id="rId7" Type="http://schemas.openxmlformats.org/officeDocument/2006/relationships/hyperlink" Target="https://salesap.ru/blog/wp-content/uploads/2021/05/1-1.png" TargetMode="Externa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salesap.ru/blog/wp-content/uploads/2021/05/2-1.png"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3" Type="http://schemas.openxmlformats.org/officeDocument/2006/relationships/hyperlink" Target="https://support.google.com/business/answer/6279343" TargetMode="External"/><Relationship Id="rId2" Type="http://schemas.openxmlformats.org/officeDocument/2006/relationships/hyperlink" Target="https://yandex.ru/support/sprav/add-company/" TargetMode="External"/><Relationship Id="rId1" Type="http://schemas.openxmlformats.org/officeDocument/2006/relationships/slideLayout" Target="../slideLayouts/slideLayout7.xml"/><Relationship Id="rId4" Type="http://schemas.openxmlformats.org/officeDocument/2006/relationships/hyperlink" Target="https://help.2gis.ru/question/kak-dobavit-kompaniyu-v-2gi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salesap.ru/blog/wp-content/uploads/2021/05/4-1.png"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7.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7.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hyperlink" Target="https://gisinfo.ru/images/item/75/img1.png" TargetMode="Externa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gisinfo.ru/images/item/75/img2.png" TargetMode="Externa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gisinfo.ru/images/item/75/img3.png" TargetMode="Externa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gisinfo.ru/images/item/75/img4.png" TargetMode="Externa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7.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5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6"/>
          <p:cNvSpPr>
            <a:spLocks noChangeArrowheads="1"/>
          </p:cNvSpPr>
          <p:nvPr/>
        </p:nvSpPr>
        <p:spPr bwMode="auto">
          <a:xfrm>
            <a:off x="4956265" y="510698"/>
            <a:ext cx="569118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fontAlgn="base">
              <a:spcBef>
                <a:spcPct val="0"/>
              </a:spcBef>
              <a:spcAft>
                <a:spcPct val="0"/>
              </a:spcAft>
            </a:pPr>
            <a:r>
              <a:rPr lang="ru-RU" altLang="ru-RU" sz="1400" b="1" dirty="0">
                <a:solidFill>
                  <a:srgbClr val="A40000"/>
                </a:solidFill>
                <a:latin typeface="+mn-lt"/>
                <a:cs typeface="Tahoma" pitchFamily="34" charset="0"/>
              </a:rPr>
              <a:t>НИЖЕГОРОДСКИЙ			</a:t>
            </a:r>
          </a:p>
          <a:p>
            <a:pPr fontAlgn="base">
              <a:spcBef>
                <a:spcPct val="0"/>
              </a:spcBef>
              <a:spcAft>
                <a:spcPct val="0"/>
              </a:spcAft>
            </a:pPr>
            <a:r>
              <a:rPr lang="ru-RU" altLang="ru-RU" sz="1400" b="1" dirty="0">
                <a:solidFill>
                  <a:srgbClr val="A40000"/>
                </a:solidFill>
                <a:latin typeface="+mn-lt"/>
                <a:cs typeface="Tahoma" pitchFamily="34" charset="0"/>
              </a:rPr>
              <a:t>ИНСТИТУТ				</a:t>
            </a:r>
          </a:p>
          <a:p>
            <a:pPr fontAlgn="base">
              <a:spcBef>
                <a:spcPct val="0"/>
              </a:spcBef>
              <a:spcAft>
                <a:spcPct val="0"/>
              </a:spcAft>
            </a:pPr>
            <a:r>
              <a:rPr lang="ru-RU" altLang="ru-RU" sz="1400" b="1" dirty="0">
                <a:solidFill>
                  <a:srgbClr val="A40000"/>
                </a:solidFill>
                <a:latin typeface="+mn-lt"/>
                <a:cs typeface="Tahoma" pitchFamily="34" charset="0"/>
              </a:rPr>
              <a:t>УПРАВЛЕНИЯ			</a:t>
            </a:r>
            <a:endParaRPr lang="en-US" altLang="ru-RU" sz="1400" b="1" dirty="0">
              <a:solidFill>
                <a:srgbClr val="A40000"/>
              </a:solidFill>
              <a:latin typeface="+mn-lt"/>
              <a:cs typeface="Tahoma" pitchFamily="34" charset="0"/>
            </a:endParaRPr>
          </a:p>
        </p:txBody>
      </p:sp>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2475" y="854076"/>
            <a:ext cx="2344738"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Прямоугольник 7"/>
          <p:cNvSpPr>
            <a:spLocks noChangeArrowheads="1"/>
          </p:cNvSpPr>
          <p:nvPr/>
        </p:nvSpPr>
        <p:spPr bwMode="auto">
          <a:xfrm flipH="1">
            <a:off x="351631" y="2762182"/>
            <a:ext cx="2843213" cy="1538287"/>
          </a:xfrm>
          <a:prstGeom prst="rect">
            <a:avLst/>
          </a:prstGeom>
          <a:gradFill rotWithShape="1">
            <a:gsLst>
              <a:gs pos="0">
                <a:srgbClr val="770000"/>
              </a:gs>
              <a:gs pos="50000">
                <a:srgbClr val="AD0000"/>
              </a:gs>
              <a:gs pos="100000">
                <a:srgbClr val="CE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defTabSz="1042988">
              <a:defRPr>
                <a:solidFill>
                  <a:schemeClr val="tx1"/>
                </a:solidFill>
                <a:latin typeface="Arial" pitchFamily="34" charset="0"/>
              </a:defRPr>
            </a:lvl1pPr>
            <a:lvl2pPr marL="742950" indent="-285750" defTabSz="1042988">
              <a:defRPr>
                <a:solidFill>
                  <a:schemeClr val="tx1"/>
                </a:solidFill>
                <a:latin typeface="Arial" pitchFamily="34" charset="0"/>
              </a:defRPr>
            </a:lvl2pPr>
            <a:lvl3pPr marL="1143000" indent="-228600" defTabSz="1042988">
              <a:defRPr>
                <a:solidFill>
                  <a:schemeClr val="tx1"/>
                </a:solidFill>
                <a:latin typeface="Arial" pitchFamily="34" charset="0"/>
              </a:defRPr>
            </a:lvl3pPr>
            <a:lvl4pPr marL="1600200" indent="-228600" defTabSz="1042988">
              <a:defRPr>
                <a:solidFill>
                  <a:schemeClr val="tx1"/>
                </a:solidFill>
                <a:latin typeface="Arial" pitchFamily="34" charset="0"/>
              </a:defRPr>
            </a:lvl4pPr>
            <a:lvl5pPr marL="2057400" indent="-228600" defTabSz="1042988">
              <a:defRPr>
                <a:solidFill>
                  <a:schemeClr val="tx1"/>
                </a:solidFill>
                <a:latin typeface="Arial" pitchFamily="34" charset="0"/>
              </a:defRPr>
            </a:lvl5pPr>
            <a:lvl6pPr marL="2514600" indent="-228600" defTabSz="1042988" eaLnBrk="0" fontAlgn="base" hangingPunct="0">
              <a:spcBef>
                <a:spcPct val="0"/>
              </a:spcBef>
              <a:spcAft>
                <a:spcPct val="0"/>
              </a:spcAft>
              <a:defRPr>
                <a:solidFill>
                  <a:schemeClr val="tx1"/>
                </a:solidFill>
                <a:latin typeface="Arial" pitchFamily="34" charset="0"/>
              </a:defRPr>
            </a:lvl6pPr>
            <a:lvl7pPr marL="2971800" indent="-228600" defTabSz="1042988" eaLnBrk="0" fontAlgn="base" hangingPunct="0">
              <a:spcBef>
                <a:spcPct val="0"/>
              </a:spcBef>
              <a:spcAft>
                <a:spcPct val="0"/>
              </a:spcAft>
              <a:defRPr>
                <a:solidFill>
                  <a:schemeClr val="tx1"/>
                </a:solidFill>
                <a:latin typeface="Arial" pitchFamily="34" charset="0"/>
              </a:defRPr>
            </a:lvl7pPr>
            <a:lvl8pPr marL="3429000" indent="-228600" defTabSz="1042988" eaLnBrk="0" fontAlgn="base" hangingPunct="0">
              <a:spcBef>
                <a:spcPct val="0"/>
              </a:spcBef>
              <a:spcAft>
                <a:spcPct val="0"/>
              </a:spcAft>
              <a:defRPr>
                <a:solidFill>
                  <a:schemeClr val="tx1"/>
                </a:solidFill>
                <a:latin typeface="Arial" pitchFamily="34" charset="0"/>
              </a:defRPr>
            </a:lvl8pPr>
            <a:lvl9pPr marL="3886200" indent="-228600" defTabSz="1042988" eaLnBrk="0" fontAlgn="base" hangingPunct="0">
              <a:spcBef>
                <a:spcPct val="0"/>
              </a:spcBef>
              <a:spcAft>
                <a:spcPct val="0"/>
              </a:spcAft>
              <a:defRPr>
                <a:solidFill>
                  <a:schemeClr val="tx1"/>
                </a:solidFill>
                <a:latin typeface="Arial" pitchFamily="34" charset="0"/>
              </a:defRPr>
            </a:lvl9pPr>
          </a:lstStyle>
          <a:p>
            <a:pPr algn="ctr" fontAlgn="base">
              <a:spcBef>
                <a:spcPct val="0"/>
              </a:spcBef>
              <a:spcAft>
                <a:spcPct val="0"/>
              </a:spcAft>
            </a:pPr>
            <a:r>
              <a:rPr lang="ru-RU" altLang="ru-RU" sz="2400" b="1" dirty="0" smtClean="0">
                <a:solidFill>
                  <a:schemeClr val="bg1"/>
                </a:solidFill>
              </a:rPr>
              <a:t>ТЕМА № 6</a:t>
            </a:r>
            <a:endParaRPr lang="ru-RU" altLang="ru-RU" sz="2400" b="1" dirty="0">
              <a:solidFill>
                <a:schemeClr val="bg1"/>
              </a:solidFill>
            </a:endParaRPr>
          </a:p>
        </p:txBody>
      </p:sp>
      <p:sp>
        <p:nvSpPr>
          <p:cNvPr id="17413" name="Text Box 23"/>
          <p:cNvSpPr txBox="1">
            <a:spLocks noChangeArrowheads="1"/>
          </p:cNvSpPr>
          <p:nvPr/>
        </p:nvSpPr>
        <p:spPr bwMode="auto">
          <a:xfrm>
            <a:off x="3224426" y="2481858"/>
            <a:ext cx="8622017"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fontAlgn="base">
              <a:spcBef>
                <a:spcPct val="0"/>
              </a:spcBef>
              <a:spcAft>
                <a:spcPct val="0"/>
              </a:spcAft>
            </a:pPr>
            <a:r>
              <a:rPr lang="ru-RU" sz="4800" b="1" dirty="0"/>
              <a:t>СФЕРЫ ИСПОЛЬЗОВАНИЯ, ПРИКЛАДНОЕ ЗНАЧЕНИЕ ГИС.</a:t>
            </a:r>
            <a:endParaRPr lang="ru-RU" sz="4800" dirty="0"/>
          </a:p>
          <a:p>
            <a:pPr algn="ctr" fontAlgn="base">
              <a:spcBef>
                <a:spcPct val="0"/>
              </a:spcBef>
              <a:spcAft>
                <a:spcPct val="0"/>
              </a:spcAft>
            </a:pPr>
            <a:r>
              <a:rPr lang="ru-RU" sz="4800" dirty="0"/>
              <a:t/>
            </a:r>
            <a:br>
              <a:rPr lang="ru-RU" sz="4800" dirty="0"/>
            </a:br>
            <a:endParaRPr lang="ru-RU" altLang="ru-RU" sz="4800" b="1" dirty="0">
              <a:solidFill>
                <a:srgbClr val="C00000"/>
              </a:solidFill>
            </a:endParaRPr>
          </a:p>
        </p:txBody>
      </p:sp>
      <p:sp>
        <p:nvSpPr>
          <p:cNvPr id="5127" name="Text Box 23"/>
          <p:cNvSpPr txBox="1">
            <a:spLocks noChangeArrowheads="1"/>
          </p:cNvSpPr>
          <p:nvPr/>
        </p:nvSpPr>
        <p:spPr bwMode="auto">
          <a:xfrm>
            <a:off x="7535435" y="4944070"/>
            <a:ext cx="443397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fontAlgn="base" hangingPunct="1">
              <a:spcBef>
                <a:spcPct val="0"/>
              </a:spcBef>
              <a:spcAft>
                <a:spcPct val="0"/>
              </a:spcAft>
              <a:defRPr/>
            </a:pPr>
            <a:r>
              <a:rPr lang="ru-RU" sz="1600" dirty="0" smtClean="0"/>
              <a:t>Кафедра информатики </a:t>
            </a:r>
            <a:r>
              <a:rPr lang="ru-RU" sz="1600" dirty="0"/>
              <a:t>и информационных технологий, </a:t>
            </a:r>
            <a:r>
              <a:rPr lang="ru-RU" sz="1600" dirty="0" err="1"/>
              <a:t>к.т.н</a:t>
            </a:r>
            <a:r>
              <a:rPr lang="ru-RU" sz="1600" dirty="0"/>
              <a:t>, доцент, </a:t>
            </a:r>
            <a:r>
              <a:rPr lang="ru-RU" sz="1600" dirty="0" smtClean="0"/>
              <a:t>Гордеев А. Б.</a:t>
            </a:r>
            <a:endParaRPr lang="ru-RU" altLang="ru-RU" sz="1600" b="1" dirty="0">
              <a:solidFill>
                <a:srgbClr val="000000"/>
              </a:solidFill>
              <a:latin typeface="Arial"/>
              <a:cs typeface="Arial" charset="0"/>
            </a:endParaRPr>
          </a:p>
        </p:txBody>
      </p:sp>
      <p:grpSp>
        <p:nvGrpSpPr>
          <p:cNvPr id="17415" name="Группа 12"/>
          <p:cNvGrpSpPr>
            <a:grpSpLocks/>
          </p:cNvGrpSpPr>
          <p:nvPr/>
        </p:nvGrpSpPr>
        <p:grpSpPr bwMode="auto">
          <a:xfrm>
            <a:off x="4616451" y="1598613"/>
            <a:ext cx="5732463" cy="781050"/>
            <a:chOff x="0" y="0"/>
            <a:chExt cx="6210300" cy="781275"/>
          </a:xfrm>
        </p:grpSpPr>
        <p:pic>
          <p:nvPicPr>
            <p:cNvPr id="17416" name="Рисунок 13" descr="D:\ИПК\Фотографии\на стенд\на сайт\главная\Академия 2.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04900" y="0"/>
              <a:ext cx="10287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7" name="Рисунок 14" descr="D:\для фотопрезентации ФПК\Презид.программа\фото Открытие Президентской  Прогр\6.jpg"/>
            <p:cNvPicPr>
              <a:picLocks noChangeAspect="1"/>
            </p:cNvPicPr>
            <p:nvPr/>
          </p:nvPicPr>
          <p:blipFill>
            <a:blip r:embed="rId5">
              <a:extLst>
                <a:ext uri="{28A0092B-C50C-407E-A947-70E740481C1C}">
                  <a14:useLocalDpi xmlns:a14="http://schemas.microsoft.com/office/drawing/2010/main" val="0"/>
                </a:ext>
              </a:extLst>
            </a:blip>
            <a:srcRect l="5675" r="-2" b="1205"/>
            <a:stretch>
              <a:fillRect/>
            </a:stretch>
          </p:blipFill>
          <p:spPr bwMode="auto">
            <a:xfrm>
              <a:off x="0" y="1"/>
              <a:ext cx="1114425"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8" name="Рисунок 15" descr="D:\Презид.программа 20 мая-05 июня 2013\30.05.13\работа в проектных группах_30.05.13\DSCF8003.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162300" y="9750"/>
              <a:ext cx="1038225"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9" name="Рисунок 16" descr="D:\для фотопрезентации ФПК\Президентская программа (6) 17 сентября 2012 (З).JP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2133600" y="9525"/>
              <a:ext cx="102870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0" name="Рисунок 17" descr="D:\ИПК\Фотографии\для книги Академии\1.2.Здание.jpg"/>
            <p:cNvPicPr>
              <a:picLocks noChangeAspect="1"/>
            </p:cNvPicPr>
            <p:nvPr/>
          </p:nvPicPr>
          <p:blipFill>
            <a:blip r:embed="rId8">
              <a:extLst>
                <a:ext uri="{28A0092B-C50C-407E-A947-70E740481C1C}">
                  <a14:useLocalDpi xmlns:a14="http://schemas.microsoft.com/office/drawing/2010/main" val="0"/>
                </a:ext>
              </a:extLst>
            </a:blip>
            <a:srcRect t="2" b="1219"/>
            <a:stretch>
              <a:fillRect/>
            </a:stretch>
          </p:blipFill>
          <p:spPr bwMode="auto">
            <a:xfrm>
              <a:off x="4191000" y="9525"/>
              <a:ext cx="97155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1" name="Рисунок 18" descr="D:\ИПК\Фотографии\для книги Академии\5.2.JPG"/>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5162550" y="9525"/>
              <a:ext cx="104775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TextBox 1"/>
          <p:cNvSpPr txBox="1"/>
          <p:nvPr/>
        </p:nvSpPr>
        <p:spPr>
          <a:xfrm>
            <a:off x="4367213" y="6021288"/>
            <a:ext cx="3718804" cy="338554"/>
          </a:xfrm>
          <a:prstGeom prst="rect">
            <a:avLst/>
          </a:prstGeom>
          <a:noFill/>
        </p:spPr>
        <p:txBody>
          <a:bodyPr wrap="square" rtlCol="0">
            <a:spAutoFit/>
          </a:bodyPr>
          <a:lstStyle/>
          <a:p>
            <a:r>
              <a:rPr lang="ru-RU" sz="1600" b="1" dirty="0"/>
              <a:t>Нижний Новгород 20</a:t>
            </a:r>
            <a:r>
              <a:rPr lang="en-US" sz="1600" b="1" dirty="0" smtClean="0"/>
              <a:t>2</a:t>
            </a:r>
            <a:r>
              <a:rPr lang="ru-RU" sz="1600" b="1" dirty="0" smtClean="0"/>
              <a:t>6</a:t>
            </a:r>
            <a:endParaRPr lang="ru-RU" sz="1600" b="1" dirty="0"/>
          </a:p>
        </p:txBody>
      </p:sp>
    </p:spTree>
    <p:extLst>
      <p:ext uri="{BB962C8B-B14F-4D97-AF65-F5344CB8AC3E}">
        <p14:creationId xmlns:p14="http://schemas.microsoft.com/office/powerpoint/2010/main" val="771745572"/>
      </p:ext>
    </p:extLst>
  </p:cSld>
  <p:clrMapOvr>
    <a:masterClrMapping/>
  </p:clrMapOvr>
  <p:transition advClick="0"/>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Прямоугольник 12"/>
          <p:cNvSpPr>
            <a:spLocks noChangeArrowheads="1"/>
          </p:cNvSpPr>
          <p:nvPr/>
        </p:nvSpPr>
        <p:spPr bwMode="auto">
          <a:xfrm>
            <a:off x="435635" y="463138"/>
            <a:ext cx="581890" cy="843149"/>
          </a:xfrm>
          <a:prstGeom prst="rect">
            <a:avLst/>
          </a:prstGeom>
          <a:gradFill rotWithShape="1">
            <a:gsLst>
              <a:gs pos="0">
                <a:srgbClr val="770000"/>
              </a:gs>
              <a:gs pos="50000">
                <a:srgbClr val="AD0000"/>
              </a:gs>
              <a:gs pos="100000">
                <a:srgbClr val="CE0000"/>
              </a:gs>
            </a:gsLst>
            <a:lin ang="0" scaled="1"/>
          </a:gradFill>
          <a:ln w="9525" algn="ctr">
            <a:noFill/>
            <a:round/>
            <a:headEnd/>
            <a:tailEnd/>
          </a:ln>
        </p:spPr>
        <p:txBody>
          <a:bodyPr/>
          <a:lstStyle/>
          <a:p>
            <a:pPr defTabSz="1043001"/>
            <a:endParaRPr lang="ru-RU" sz="2100" dirty="0"/>
          </a:p>
        </p:txBody>
      </p:sp>
      <p:sp>
        <p:nvSpPr>
          <p:cNvPr id="9" name="Номер слайда 8"/>
          <p:cNvSpPr>
            <a:spLocks noGrp="1"/>
          </p:cNvSpPr>
          <p:nvPr>
            <p:ph type="sldNum" sz="quarter" idx="12"/>
          </p:nvPr>
        </p:nvSpPr>
        <p:spPr/>
        <p:txBody>
          <a:bodyPr/>
          <a:lstStyle/>
          <a:p>
            <a:fld id="{027F3A33-6A4A-4395-8324-C6DCD486F135}" type="slidenum">
              <a:rPr lang="ru-RU" smtClean="0">
                <a:solidFill>
                  <a:schemeClr val="bg2">
                    <a:lumMod val="75000"/>
                  </a:schemeClr>
                </a:solidFill>
              </a:rPr>
              <a:pPr/>
              <a:t>2</a:t>
            </a:fld>
            <a:endParaRPr lang="ru-RU" dirty="0">
              <a:solidFill>
                <a:schemeClr val="bg2">
                  <a:lumMod val="75000"/>
                </a:schemeClr>
              </a:solidFill>
            </a:endParaRPr>
          </a:p>
        </p:txBody>
      </p:sp>
      <p:pic>
        <p:nvPicPr>
          <p:cNvPr id="1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0250" y="463138"/>
            <a:ext cx="2827683" cy="880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726580" y="2341171"/>
            <a:ext cx="10254195" cy="1938992"/>
          </a:xfrm>
          <a:prstGeom prst="rect">
            <a:avLst/>
          </a:prstGeom>
          <a:noFill/>
        </p:spPr>
        <p:txBody>
          <a:bodyPr wrap="square" rtlCol="0">
            <a:spAutoFit/>
          </a:bodyPr>
          <a:lstStyle/>
          <a:p>
            <a:pPr lvl="0" algn="ctr"/>
            <a:r>
              <a:rPr lang="ru-RU" sz="4000" b="1" dirty="0">
                <a:solidFill>
                  <a:srgbClr val="FF0000"/>
                </a:solidFill>
              </a:rPr>
              <a:t>ГИС В ИНФОРМАТИЗАЦИИ ОРГАНОВ ВЛАСТИ И УПРАВЛЕНИЯ</a:t>
            </a:r>
            <a:endParaRPr lang="ru-RU" sz="4000" dirty="0">
              <a:solidFill>
                <a:srgbClr val="FF0000"/>
              </a:solidFill>
            </a:endParaRPr>
          </a:p>
          <a:p>
            <a:pPr lvl="0" algn="ctr"/>
            <a:r>
              <a:rPr lang="ru-RU" sz="4000" b="1" dirty="0" smtClean="0"/>
              <a:t>Вопрос 1</a:t>
            </a:r>
            <a:endParaRPr lang="ru-RU" sz="4000" dirty="0"/>
          </a:p>
        </p:txBody>
      </p:sp>
    </p:spTree>
    <p:extLst>
      <p:ext uri="{BB962C8B-B14F-4D97-AF65-F5344CB8AC3E}">
        <p14:creationId xmlns:p14="http://schemas.microsoft.com/office/powerpoint/2010/main" val="18017495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Таблица 2"/>
          <p:cNvGraphicFramePr>
            <a:graphicFrameLocks noGrp="1"/>
          </p:cNvGraphicFramePr>
          <p:nvPr>
            <p:extLst>
              <p:ext uri="{D42A27DB-BD31-4B8C-83A1-F6EECF244321}">
                <p14:modId xmlns:p14="http://schemas.microsoft.com/office/powerpoint/2010/main" val="2380308275"/>
              </p:ext>
            </p:extLst>
          </p:nvPr>
        </p:nvGraphicFramePr>
        <p:xfrm>
          <a:off x="0" y="0"/>
          <a:ext cx="12192000" cy="6570192"/>
        </p:xfrm>
        <a:graphic>
          <a:graphicData uri="http://schemas.openxmlformats.org/drawingml/2006/table">
            <a:tbl>
              <a:tblPr firstRow="1" firstCol="1" bandRow="1">
                <a:tableStyleId>{5C22544A-7EE6-4342-B048-85BDC9FD1C3A}</a:tableStyleId>
              </a:tblPr>
              <a:tblGrid>
                <a:gridCol w="10737273">
                  <a:extLst>
                    <a:ext uri="{9D8B030D-6E8A-4147-A177-3AD203B41FA5}">
                      <a16:colId xmlns:a16="http://schemas.microsoft.com/office/drawing/2014/main" val="451484385"/>
                    </a:ext>
                  </a:extLst>
                </a:gridCol>
                <a:gridCol w="1454727">
                  <a:extLst>
                    <a:ext uri="{9D8B030D-6E8A-4147-A177-3AD203B41FA5}">
                      <a16:colId xmlns:a16="http://schemas.microsoft.com/office/drawing/2014/main" val="3077716796"/>
                    </a:ext>
                  </a:extLst>
                </a:gridCol>
              </a:tblGrid>
              <a:tr h="886691">
                <a:tc>
                  <a:txBody>
                    <a:bodyPr/>
                    <a:lstStyle/>
                    <a:p>
                      <a:pPr indent="450215" algn="ctr">
                        <a:lnSpc>
                          <a:spcPct val="107000"/>
                        </a:lnSpc>
                        <a:spcAft>
                          <a:spcPts val="0"/>
                        </a:spcAft>
                      </a:pPr>
                      <a:r>
                        <a:rPr lang="ru-RU" sz="2000" dirty="0">
                          <a:effectLst/>
                        </a:rPr>
                        <a:t>Перечень государственных информационных систем,</a:t>
                      </a:r>
                      <a:br>
                        <a:rPr lang="ru-RU" sz="2000" dirty="0">
                          <a:effectLst/>
                        </a:rPr>
                      </a:br>
                      <a:r>
                        <a:rPr lang="ru-RU" sz="2000" dirty="0">
                          <a:effectLst/>
                        </a:rPr>
                        <a:t>которые имеют наибольшее применение в ОМСУ</a:t>
                      </a: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tc>
                  <a:txBody>
                    <a:bodyPr/>
                    <a:lstStyle/>
                    <a:p>
                      <a:pPr indent="450215" algn="ctr">
                        <a:lnSpc>
                          <a:spcPct val="107000"/>
                        </a:lnSpc>
                        <a:spcAft>
                          <a:spcPts val="0"/>
                        </a:spcAft>
                      </a:pPr>
                      <a:r>
                        <a:rPr lang="ru-RU" sz="1600" dirty="0">
                          <a:effectLst/>
                        </a:rPr>
                        <a:t>Количество пользователей</a:t>
                      </a:r>
                      <a:br>
                        <a:rPr lang="ru-RU" sz="1600" dirty="0">
                          <a:effectLst/>
                        </a:rPr>
                      </a:br>
                      <a:r>
                        <a:rPr lang="ru-RU" sz="1600" dirty="0">
                          <a:effectLst/>
                        </a:rPr>
                        <a:t>в ОМСУ</a:t>
                      </a:r>
                      <a:br>
                        <a:rPr lang="ru-RU" sz="1600" dirty="0">
                          <a:effectLst/>
                        </a:rPr>
                      </a:br>
                      <a:r>
                        <a:rPr lang="ru-RU" sz="1600" dirty="0">
                          <a:effectLst/>
                        </a:rPr>
                        <a:t>(в %)</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extLst>
                  <a:ext uri="{0D108BD9-81ED-4DB2-BD59-A6C34878D82A}">
                    <a16:rowId xmlns:a16="http://schemas.microsoft.com/office/drawing/2014/main" val="4002972869"/>
                  </a:ext>
                </a:extLst>
              </a:tr>
              <a:tr h="205395">
                <a:tc>
                  <a:txBody>
                    <a:bodyPr/>
                    <a:lstStyle/>
                    <a:p>
                      <a:pPr indent="450215" algn="just">
                        <a:lnSpc>
                          <a:spcPct val="107000"/>
                        </a:lnSpc>
                        <a:spcAft>
                          <a:spcPts val="0"/>
                        </a:spcAft>
                      </a:pPr>
                      <a:r>
                        <a:rPr lang="ru-RU" sz="1600">
                          <a:effectLst/>
                        </a:rPr>
                        <a:t>1. ФГИС, входящие в систему электронного правительства РФ. В том числе:</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tc>
                  <a:txBody>
                    <a:bodyPr/>
                    <a:lstStyle/>
                    <a:p>
                      <a:pPr>
                        <a:lnSpc>
                          <a:spcPct val="107000"/>
                        </a:lnSpc>
                      </a:pPr>
                      <a:endParaRPr lang="ru-RU" sz="1600">
                        <a:effectLst/>
                        <a:latin typeface="Calibri" panose="020F0502020204030204" pitchFamily="34" charset="0"/>
                        <a:cs typeface="Times New Roman" panose="02020603050405020304" pitchFamily="18" charset="0"/>
                      </a:endParaRPr>
                    </a:p>
                  </a:txBody>
                  <a:tcPr marL="66940" marR="66940" marT="16735" marB="16735" anchor="ctr"/>
                </a:tc>
                <a:extLst>
                  <a:ext uri="{0D108BD9-81ED-4DB2-BD59-A6C34878D82A}">
                    <a16:rowId xmlns:a16="http://schemas.microsoft.com/office/drawing/2014/main" val="3828376735"/>
                  </a:ext>
                </a:extLst>
              </a:tr>
              <a:tr h="205395">
                <a:tc>
                  <a:txBody>
                    <a:bodyPr/>
                    <a:lstStyle/>
                    <a:p>
                      <a:pPr indent="450215" algn="just">
                        <a:lnSpc>
                          <a:spcPct val="107000"/>
                        </a:lnSpc>
                        <a:spcAft>
                          <a:spcPts val="0"/>
                        </a:spcAft>
                      </a:pPr>
                      <a:r>
                        <a:rPr lang="ru-RU" sz="1600">
                          <a:effectLst/>
                        </a:rPr>
                        <a:t>— единая система идентификации и аутентификации (ЕСИА)</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tc>
                  <a:txBody>
                    <a:bodyPr/>
                    <a:lstStyle/>
                    <a:p>
                      <a:pPr indent="450215" algn="just">
                        <a:lnSpc>
                          <a:spcPct val="107000"/>
                        </a:lnSpc>
                        <a:spcAft>
                          <a:spcPts val="0"/>
                        </a:spcAft>
                      </a:pPr>
                      <a:r>
                        <a:rPr lang="ru-RU" sz="1600">
                          <a:effectLst/>
                        </a:rPr>
                        <a:t>54</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extLst>
                  <a:ext uri="{0D108BD9-81ED-4DB2-BD59-A6C34878D82A}">
                    <a16:rowId xmlns:a16="http://schemas.microsoft.com/office/drawing/2014/main" val="1337036343"/>
                  </a:ext>
                </a:extLst>
              </a:tr>
              <a:tr h="205395">
                <a:tc>
                  <a:txBody>
                    <a:bodyPr/>
                    <a:lstStyle/>
                    <a:p>
                      <a:pPr indent="450215" algn="just">
                        <a:lnSpc>
                          <a:spcPct val="107000"/>
                        </a:lnSpc>
                        <a:spcAft>
                          <a:spcPts val="0"/>
                        </a:spcAft>
                      </a:pPr>
                      <a:r>
                        <a:rPr lang="ru-RU" sz="1600">
                          <a:effectLst/>
                        </a:rPr>
                        <a:t>— реестр государственных и муниципальных услуг (РГУ)</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tc>
                  <a:txBody>
                    <a:bodyPr/>
                    <a:lstStyle/>
                    <a:p>
                      <a:pPr indent="450215" algn="just">
                        <a:lnSpc>
                          <a:spcPct val="107000"/>
                        </a:lnSpc>
                        <a:spcAft>
                          <a:spcPts val="0"/>
                        </a:spcAft>
                      </a:pPr>
                      <a:r>
                        <a:rPr lang="ru-RU" sz="1600">
                          <a:effectLst/>
                        </a:rPr>
                        <a:t>32</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extLst>
                  <a:ext uri="{0D108BD9-81ED-4DB2-BD59-A6C34878D82A}">
                    <a16:rowId xmlns:a16="http://schemas.microsoft.com/office/drawing/2014/main" val="951538803"/>
                  </a:ext>
                </a:extLst>
              </a:tr>
              <a:tr h="205395">
                <a:tc>
                  <a:txBody>
                    <a:bodyPr/>
                    <a:lstStyle/>
                    <a:p>
                      <a:pPr indent="450215" algn="just">
                        <a:lnSpc>
                          <a:spcPct val="107000"/>
                        </a:lnSpc>
                        <a:spcAft>
                          <a:spcPts val="0"/>
                        </a:spcAft>
                      </a:pPr>
                      <a:r>
                        <a:rPr lang="ru-RU" sz="1600">
                          <a:effectLst/>
                        </a:rPr>
                        <a:t>— система межведомственного электронного взаимодействия (СМЭВ)</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tc>
                  <a:txBody>
                    <a:bodyPr/>
                    <a:lstStyle/>
                    <a:p>
                      <a:pPr indent="450215" algn="just">
                        <a:lnSpc>
                          <a:spcPct val="107000"/>
                        </a:lnSpc>
                        <a:spcAft>
                          <a:spcPts val="0"/>
                        </a:spcAft>
                      </a:pPr>
                      <a:r>
                        <a:rPr lang="ru-RU" sz="1600">
                          <a:effectLst/>
                        </a:rPr>
                        <a:t>28</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extLst>
                  <a:ext uri="{0D108BD9-81ED-4DB2-BD59-A6C34878D82A}">
                    <a16:rowId xmlns:a16="http://schemas.microsoft.com/office/drawing/2014/main" val="3947101558"/>
                  </a:ext>
                </a:extLst>
              </a:tr>
              <a:tr h="205395">
                <a:tc>
                  <a:txBody>
                    <a:bodyPr/>
                    <a:lstStyle/>
                    <a:p>
                      <a:pPr indent="450215" algn="just">
                        <a:lnSpc>
                          <a:spcPct val="107000"/>
                        </a:lnSpc>
                        <a:spcAft>
                          <a:spcPts val="0"/>
                        </a:spcAft>
                      </a:pPr>
                      <a:r>
                        <a:rPr lang="ru-RU" sz="1600">
                          <a:effectLst/>
                        </a:rPr>
                        <a:t>2. ФГИС Минфина России и Федерального казначейства. В том числе:</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tc>
                  <a:txBody>
                    <a:bodyPr/>
                    <a:lstStyle/>
                    <a:p>
                      <a:pPr indent="450215" algn="just">
                        <a:lnSpc>
                          <a:spcPct val="107000"/>
                        </a:lnSpc>
                        <a:spcAft>
                          <a:spcPts val="0"/>
                        </a:spcAft>
                      </a:pPr>
                      <a:r>
                        <a:rPr lang="ru-RU" sz="1600">
                          <a:effectLst/>
                        </a:rPr>
                        <a:t> </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extLst>
                  <a:ext uri="{0D108BD9-81ED-4DB2-BD59-A6C34878D82A}">
                    <a16:rowId xmlns:a16="http://schemas.microsoft.com/office/drawing/2014/main" val="984515896"/>
                  </a:ext>
                </a:extLst>
              </a:tr>
              <a:tr h="205395">
                <a:tc>
                  <a:txBody>
                    <a:bodyPr/>
                    <a:lstStyle/>
                    <a:p>
                      <a:pPr indent="450215" algn="just">
                        <a:lnSpc>
                          <a:spcPct val="107000"/>
                        </a:lnSpc>
                        <a:spcAft>
                          <a:spcPts val="0"/>
                        </a:spcAft>
                      </a:pPr>
                      <a:r>
                        <a:rPr lang="ru-RU" sz="1600">
                          <a:effectLst/>
                        </a:rPr>
                        <a:t>— система удаленного финансового документооборота (СУФД – online)</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tc>
                  <a:txBody>
                    <a:bodyPr/>
                    <a:lstStyle/>
                    <a:p>
                      <a:pPr indent="450215" algn="just">
                        <a:lnSpc>
                          <a:spcPct val="107000"/>
                        </a:lnSpc>
                        <a:spcAft>
                          <a:spcPts val="0"/>
                        </a:spcAft>
                      </a:pPr>
                      <a:r>
                        <a:rPr lang="ru-RU" sz="1600">
                          <a:effectLst/>
                        </a:rPr>
                        <a:t>18</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extLst>
                  <a:ext uri="{0D108BD9-81ED-4DB2-BD59-A6C34878D82A}">
                    <a16:rowId xmlns:a16="http://schemas.microsoft.com/office/drawing/2014/main" val="3077996084"/>
                  </a:ext>
                </a:extLst>
              </a:tr>
              <a:tr h="205395">
                <a:tc>
                  <a:txBody>
                    <a:bodyPr/>
                    <a:lstStyle/>
                    <a:p>
                      <a:pPr indent="450215" algn="just">
                        <a:lnSpc>
                          <a:spcPct val="107000"/>
                        </a:lnSpc>
                        <a:spcAft>
                          <a:spcPts val="0"/>
                        </a:spcAft>
                      </a:pPr>
                      <a:r>
                        <a:rPr lang="ru-RU" sz="1600">
                          <a:effectLst/>
                        </a:rPr>
                        <a:t>— единая информационная система в сфере закупок (Портал Госзакупок)</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tc>
                  <a:txBody>
                    <a:bodyPr/>
                    <a:lstStyle/>
                    <a:p>
                      <a:pPr indent="450215" algn="just">
                        <a:lnSpc>
                          <a:spcPct val="107000"/>
                        </a:lnSpc>
                        <a:spcAft>
                          <a:spcPts val="0"/>
                        </a:spcAft>
                      </a:pPr>
                      <a:r>
                        <a:rPr lang="ru-RU" sz="1600">
                          <a:effectLst/>
                        </a:rPr>
                        <a:t>13</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extLst>
                  <a:ext uri="{0D108BD9-81ED-4DB2-BD59-A6C34878D82A}">
                    <a16:rowId xmlns:a16="http://schemas.microsoft.com/office/drawing/2014/main" val="1786073534"/>
                  </a:ext>
                </a:extLst>
              </a:tr>
              <a:tr h="377320">
                <a:tc>
                  <a:txBody>
                    <a:bodyPr/>
                    <a:lstStyle/>
                    <a:p>
                      <a:pPr indent="450215" algn="just">
                        <a:lnSpc>
                          <a:spcPct val="107000"/>
                        </a:lnSpc>
                        <a:spcAft>
                          <a:spcPts val="0"/>
                        </a:spcAft>
                      </a:pPr>
                      <a:r>
                        <a:rPr lang="ru-RU" sz="1600">
                          <a:effectLst/>
                        </a:rPr>
                        <a:t>— интегрированная информационная система управления общественными финансами «Электронный бюджет» (ГИИС «Электронный бюджет»)</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tc>
                  <a:txBody>
                    <a:bodyPr/>
                    <a:lstStyle/>
                    <a:p>
                      <a:pPr indent="450215" algn="just">
                        <a:lnSpc>
                          <a:spcPct val="107000"/>
                        </a:lnSpc>
                        <a:spcAft>
                          <a:spcPts val="0"/>
                        </a:spcAft>
                      </a:pPr>
                      <a:r>
                        <a:rPr lang="ru-RU" sz="1600">
                          <a:effectLst/>
                        </a:rPr>
                        <a:t>12</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extLst>
                  <a:ext uri="{0D108BD9-81ED-4DB2-BD59-A6C34878D82A}">
                    <a16:rowId xmlns:a16="http://schemas.microsoft.com/office/drawing/2014/main" val="3460177478"/>
                  </a:ext>
                </a:extLst>
              </a:tr>
              <a:tr h="205395">
                <a:tc>
                  <a:txBody>
                    <a:bodyPr/>
                    <a:lstStyle/>
                    <a:p>
                      <a:pPr indent="450215" algn="just">
                        <a:lnSpc>
                          <a:spcPct val="107000"/>
                        </a:lnSpc>
                        <a:spcAft>
                          <a:spcPts val="0"/>
                        </a:spcAft>
                      </a:pPr>
                      <a:r>
                        <a:rPr lang="ru-RU" sz="1600">
                          <a:effectLst/>
                        </a:rPr>
                        <a:t>— Государственная автоматизированная информационная система «Управление» (ГАС «Управление»)</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tc>
                  <a:txBody>
                    <a:bodyPr/>
                    <a:lstStyle/>
                    <a:p>
                      <a:pPr indent="450215" algn="just">
                        <a:lnSpc>
                          <a:spcPct val="107000"/>
                        </a:lnSpc>
                        <a:spcAft>
                          <a:spcPts val="0"/>
                        </a:spcAft>
                      </a:pPr>
                      <a:r>
                        <a:rPr lang="ru-RU" sz="1600">
                          <a:effectLst/>
                        </a:rPr>
                        <a:t>6</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extLst>
                  <a:ext uri="{0D108BD9-81ED-4DB2-BD59-A6C34878D82A}">
                    <a16:rowId xmlns:a16="http://schemas.microsoft.com/office/drawing/2014/main" val="2126744692"/>
                  </a:ext>
                </a:extLst>
              </a:tr>
              <a:tr h="377320">
                <a:tc>
                  <a:txBody>
                    <a:bodyPr/>
                    <a:lstStyle/>
                    <a:p>
                      <a:pPr indent="450215" algn="just">
                        <a:lnSpc>
                          <a:spcPct val="107000"/>
                        </a:lnSpc>
                        <a:spcAft>
                          <a:spcPts val="0"/>
                        </a:spcAft>
                      </a:pPr>
                      <a:r>
                        <a:rPr lang="ru-RU" sz="1600">
                          <a:effectLst/>
                        </a:rPr>
                        <a:t>3. Государственная информационная система жилищно-коммунального</a:t>
                      </a:r>
                      <a:br>
                        <a:rPr lang="ru-RU" sz="1600">
                          <a:effectLst/>
                        </a:rPr>
                      </a:br>
                      <a:r>
                        <a:rPr lang="ru-RU" sz="1600">
                          <a:effectLst/>
                        </a:rPr>
                        <a:t>хозяйства (ГИС ЖКХ)</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tc>
                  <a:txBody>
                    <a:bodyPr/>
                    <a:lstStyle/>
                    <a:p>
                      <a:pPr indent="450215" algn="just">
                        <a:lnSpc>
                          <a:spcPct val="107000"/>
                        </a:lnSpc>
                        <a:spcAft>
                          <a:spcPts val="0"/>
                        </a:spcAft>
                      </a:pPr>
                      <a:r>
                        <a:rPr lang="ru-RU" sz="1600">
                          <a:effectLst/>
                        </a:rPr>
                        <a:t>18</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extLst>
                  <a:ext uri="{0D108BD9-81ED-4DB2-BD59-A6C34878D82A}">
                    <a16:rowId xmlns:a16="http://schemas.microsoft.com/office/drawing/2014/main" val="89478240"/>
                  </a:ext>
                </a:extLst>
              </a:tr>
              <a:tr h="205395">
                <a:tc>
                  <a:txBody>
                    <a:bodyPr/>
                    <a:lstStyle/>
                    <a:p>
                      <a:pPr indent="450215" algn="just">
                        <a:lnSpc>
                          <a:spcPct val="107000"/>
                        </a:lnSpc>
                        <a:spcAft>
                          <a:spcPts val="0"/>
                        </a:spcAft>
                      </a:pPr>
                      <a:r>
                        <a:rPr lang="ru-RU" sz="1600">
                          <a:effectLst/>
                        </a:rPr>
                        <a:t>4. Федеральная государственная информационная система «Единый реестр проверок» (ФГИС ЕРП)</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tc>
                  <a:txBody>
                    <a:bodyPr/>
                    <a:lstStyle/>
                    <a:p>
                      <a:pPr indent="450215" algn="just">
                        <a:lnSpc>
                          <a:spcPct val="107000"/>
                        </a:lnSpc>
                        <a:spcAft>
                          <a:spcPts val="0"/>
                        </a:spcAft>
                      </a:pPr>
                      <a:r>
                        <a:rPr lang="ru-RU" sz="1600">
                          <a:effectLst/>
                        </a:rPr>
                        <a:t>12</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extLst>
                  <a:ext uri="{0D108BD9-81ED-4DB2-BD59-A6C34878D82A}">
                    <a16:rowId xmlns:a16="http://schemas.microsoft.com/office/drawing/2014/main" val="2645155175"/>
                  </a:ext>
                </a:extLst>
              </a:tr>
              <a:tr h="205395">
                <a:tc>
                  <a:txBody>
                    <a:bodyPr/>
                    <a:lstStyle/>
                    <a:p>
                      <a:pPr indent="450215" algn="just">
                        <a:lnSpc>
                          <a:spcPct val="107000"/>
                        </a:lnSpc>
                        <a:spcAft>
                          <a:spcPts val="0"/>
                        </a:spcAft>
                      </a:pPr>
                      <a:r>
                        <a:rPr lang="ru-RU" sz="1600">
                          <a:effectLst/>
                        </a:rPr>
                        <a:t>5. Единая государственная система социального обеспечения (ЕГИССО)</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tc>
                  <a:txBody>
                    <a:bodyPr/>
                    <a:lstStyle/>
                    <a:p>
                      <a:pPr indent="450215" algn="just">
                        <a:lnSpc>
                          <a:spcPct val="107000"/>
                        </a:lnSpc>
                        <a:spcAft>
                          <a:spcPts val="0"/>
                        </a:spcAft>
                      </a:pPr>
                      <a:r>
                        <a:rPr lang="ru-RU" sz="1600">
                          <a:effectLst/>
                        </a:rPr>
                        <a:t>4</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extLst>
                  <a:ext uri="{0D108BD9-81ED-4DB2-BD59-A6C34878D82A}">
                    <a16:rowId xmlns:a16="http://schemas.microsoft.com/office/drawing/2014/main" val="1424757327"/>
                  </a:ext>
                </a:extLst>
              </a:tr>
              <a:tr h="205395">
                <a:tc>
                  <a:txBody>
                    <a:bodyPr/>
                    <a:lstStyle/>
                    <a:p>
                      <a:pPr indent="450215" algn="just">
                        <a:lnSpc>
                          <a:spcPct val="107000"/>
                        </a:lnSpc>
                        <a:spcAft>
                          <a:spcPts val="0"/>
                        </a:spcAft>
                      </a:pPr>
                      <a:r>
                        <a:rPr lang="ru-RU" sz="1600">
                          <a:effectLst/>
                        </a:rPr>
                        <a:t>6. Федеральные порталы</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tc>
                  <a:txBody>
                    <a:bodyPr/>
                    <a:lstStyle/>
                    <a:p>
                      <a:pPr indent="450215" algn="just">
                        <a:lnSpc>
                          <a:spcPct val="107000"/>
                        </a:lnSpc>
                        <a:spcAft>
                          <a:spcPts val="0"/>
                        </a:spcAft>
                      </a:pPr>
                      <a:r>
                        <a:rPr lang="ru-RU" sz="1600">
                          <a:effectLst/>
                        </a:rPr>
                        <a:t> </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extLst>
                  <a:ext uri="{0D108BD9-81ED-4DB2-BD59-A6C34878D82A}">
                    <a16:rowId xmlns:a16="http://schemas.microsoft.com/office/drawing/2014/main" val="3665403339"/>
                  </a:ext>
                </a:extLst>
              </a:tr>
              <a:tr h="205395">
                <a:tc>
                  <a:txBody>
                    <a:bodyPr/>
                    <a:lstStyle/>
                    <a:p>
                      <a:pPr indent="450215" algn="just">
                        <a:lnSpc>
                          <a:spcPct val="107000"/>
                        </a:lnSpc>
                        <a:spcAft>
                          <a:spcPts val="0"/>
                        </a:spcAft>
                      </a:pPr>
                      <a:r>
                        <a:rPr lang="ru-RU" sz="1600">
                          <a:effectLst/>
                        </a:rPr>
                        <a:t>— портал Федеральной службы кадастра и картографии (портал «Росреестр»)</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tc>
                  <a:txBody>
                    <a:bodyPr/>
                    <a:lstStyle/>
                    <a:p>
                      <a:pPr indent="450215" algn="just">
                        <a:lnSpc>
                          <a:spcPct val="107000"/>
                        </a:lnSpc>
                        <a:spcAft>
                          <a:spcPts val="0"/>
                        </a:spcAft>
                      </a:pPr>
                      <a:r>
                        <a:rPr lang="ru-RU" sz="1600">
                          <a:effectLst/>
                        </a:rPr>
                        <a:t>6</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extLst>
                  <a:ext uri="{0D108BD9-81ED-4DB2-BD59-A6C34878D82A}">
                    <a16:rowId xmlns:a16="http://schemas.microsoft.com/office/drawing/2014/main" val="1274689742"/>
                  </a:ext>
                </a:extLst>
              </a:tr>
              <a:tr h="205395">
                <a:tc>
                  <a:txBody>
                    <a:bodyPr/>
                    <a:lstStyle/>
                    <a:p>
                      <a:pPr indent="450215" algn="just">
                        <a:lnSpc>
                          <a:spcPct val="107000"/>
                        </a:lnSpc>
                        <a:spcAft>
                          <a:spcPts val="0"/>
                        </a:spcAft>
                      </a:pPr>
                      <a:r>
                        <a:rPr lang="ru-RU" sz="1600">
                          <a:effectLst/>
                        </a:rPr>
                        <a:t>— портал Федеральной налоговой службы (портал ФНС)</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tc>
                  <a:txBody>
                    <a:bodyPr/>
                    <a:lstStyle/>
                    <a:p>
                      <a:pPr indent="450215" algn="just">
                        <a:lnSpc>
                          <a:spcPct val="107000"/>
                        </a:lnSpc>
                        <a:spcAft>
                          <a:spcPts val="0"/>
                        </a:spcAft>
                      </a:pPr>
                      <a:r>
                        <a:rPr lang="ru-RU" sz="1600">
                          <a:effectLst/>
                        </a:rPr>
                        <a:t>3</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extLst>
                  <a:ext uri="{0D108BD9-81ED-4DB2-BD59-A6C34878D82A}">
                    <a16:rowId xmlns:a16="http://schemas.microsoft.com/office/drawing/2014/main" val="2535650722"/>
                  </a:ext>
                </a:extLst>
              </a:tr>
              <a:tr h="205395">
                <a:tc>
                  <a:txBody>
                    <a:bodyPr/>
                    <a:lstStyle/>
                    <a:p>
                      <a:pPr indent="450215" algn="just">
                        <a:lnSpc>
                          <a:spcPct val="107000"/>
                        </a:lnSpc>
                        <a:spcAft>
                          <a:spcPts val="0"/>
                        </a:spcAft>
                      </a:pPr>
                      <a:r>
                        <a:rPr lang="ru-RU" sz="1600">
                          <a:effectLst/>
                        </a:rPr>
                        <a:t>— портал Федерального агентства по управлению государственным имуществом (портал «Росимущество»)</a:t>
                      </a:r>
                      <a:endParaRPr lang="ru-RU" sz="160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tc>
                  <a:txBody>
                    <a:bodyPr/>
                    <a:lstStyle/>
                    <a:p>
                      <a:pPr indent="450215" algn="just">
                        <a:lnSpc>
                          <a:spcPct val="107000"/>
                        </a:lnSpc>
                        <a:spcAft>
                          <a:spcPts val="0"/>
                        </a:spcAft>
                      </a:pPr>
                      <a:r>
                        <a:rPr lang="ru-RU" sz="1600" dirty="0">
                          <a:effectLst/>
                        </a:rPr>
                        <a:t>1</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6940" marR="66940" marT="16735" marB="16735" anchor="ctr"/>
                </a:tc>
                <a:extLst>
                  <a:ext uri="{0D108BD9-81ED-4DB2-BD59-A6C34878D82A}">
                    <a16:rowId xmlns:a16="http://schemas.microsoft.com/office/drawing/2014/main" val="2296242910"/>
                  </a:ext>
                </a:extLst>
              </a:tr>
            </a:tbl>
          </a:graphicData>
        </a:graphic>
      </p:graphicFrame>
    </p:spTree>
    <p:extLst>
      <p:ext uri="{BB962C8B-B14F-4D97-AF65-F5344CB8AC3E}">
        <p14:creationId xmlns:p14="http://schemas.microsoft.com/office/powerpoint/2010/main" val="1845248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Схема 1"/>
          <p:cNvGraphicFramePr/>
          <p:nvPr>
            <p:extLst>
              <p:ext uri="{D42A27DB-BD31-4B8C-83A1-F6EECF244321}">
                <p14:modId xmlns:p14="http://schemas.microsoft.com/office/powerpoint/2010/main" val="214092362"/>
              </p:ext>
            </p:extLst>
          </p:nvPr>
        </p:nvGraphicFramePr>
        <p:xfrm>
          <a:off x="0" y="0"/>
          <a:ext cx="121920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01408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01782" y="0"/>
            <a:ext cx="11526982" cy="882678"/>
          </a:xfrm>
          <a:prstGeom prst="rect">
            <a:avLst/>
          </a:prstGeom>
        </p:spPr>
        <p:txBody>
          <a:bodyPr wrap="square">
            <a:spAutoFit/>
          </a:bodyPr>
          <a:lstStyle/>
          <a:p>
            <a:pPr indent="450215" algn="ctr">
              <a:lnSpc>
                <a:spcPct val="107000"/>
              </a:lnSpc>
              <a:spcAft>
                <a:spcPts val="0"/>
              </a:spcAft>
            </a:pPr>
            <a:r>
              <a:rPr lang="ru-RU" sz="2400" b="1" dirty="0">
                <a:latin typeface="Times New Roman" panose="02020603050405020304" pitchFamily="18" charset="0"/>
                <a:ea typeface="Times New Roman" panose="02020603050405020304" pitchFamily="18" charset="0"/>
                <a:cs typeface="Times New Roman" panose="02020603050405020304" pitchFamily="18" charset="0"/>
              </a:rPr>
              <a:t>Государственная автоматизированная информационная система «Управление»</a:t>
            </a:r>
            <a:r>
              <a:rPr lang="ru-RU" sz="2400" dirty="0">
                <a:latin typeface="Times New Roman" panose="02020603050405020304" pitchFamily="18" charset="0"/>
                <a:ea typeface="Times New Roman" panose="02020603050405020304" pitchFamily="18" charset="0"/>
                <a:cs typeface="Times New Roman" panose="02020603050405020304" pitchFamily="18" charset="0"/>
              </a:rPr>
              <a:t> (</a:t>
            </a:r>
            <a:r>
              <a:rPr lang="ru-RU" sz="2400" b="1" dirty="0">
                <a:latin typeface="Times New Roman" panose="02020603050405020304" pitchFamily="18" charset="0"/>
                <a:ea typeface="Times New Roman" panose="02020603050405020304" pitchFamily="18" charset="0"/>
                <a:cs typeface="Times New Roman" panose="02020603050405020304" pitchFamily="18" charset="0"/>
              </a:rPr>
              <a:t>ГАС «Управление») </a:t>
            </a:r>
            <a:endParaRPr lang="ru-RU" sz="24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3" name="Схема 2"/>
          <p:cNvGraphicFramePr/>
          <p:nvPr>
            <p:extLst>
              <p:ext uri="{D42A27DB-BD31-4B8C-83A1-F6EECF244321}">
                <p14:modId xmlns:p14="http://schemas.microsoft.com/office/powerpoint/2010/main" val="935174524"/>
              </p:ext>
            </p:extLst>
          </p:nvPr>
        </p:nvGraphicFramePr>
        <p:xfrm>
          <a:off x="96981" y="882678"/>
          <a:ext cx="11970327" cy="59753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26559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35526" y="283676"/>
            <a:ext cx="11651673" cy="4241418"/>
          </a:xfrm>
          <a:prstGeom prst="rect">
            <a:avLst/>
          </a:prstGeom>
        </p:spPr>
        <p:txBody>
          <a:bodyPr wrap="square">
            <a:spAutoFit/>
          </a:bodyPr>
          <a:lstStyle/>
          <a:p>
            <a:pPr indent="450215" algn="just">
              <a:lnSpc>
                <a:spcPct val="107000"/>
              </a:lnSpc>
              <a:spcAft>
                <a:spcPts val="0"/>
              </a:spcAft>
            </a:pPr>
            <a:r>
              <a:rPr lang="ru-RU" b="1">
                <a:latin typeface="Times New Roman" panose="02020603050405020304" pitchFamily="18" charset="0"/>
                <a:ea typeface="Times New Roman" panose="02020603050405020304" pitchFamily="18" charset="0"/>
                <a:cs typeface="Times New Roman" panose="02020603050405020304" pitchFamily="18" charset="0"/>
              </a:rPr>
              <a:t>Однако следующие моменты</a:t>
            </a:r>
            <a:r>
              <a:rPr lang="ru-RU">
                <a:latin typeface="Times New Roman" panose="02020603050405020304" pitchFamily="18" charset="0"/>
                <a:ea typeface="Times New Roman" panose="02020603050405020304" pitchFamily="18" charset="0"/>
                <a:cs typeface="Times New Roman" panose="02020603050405020304" pitchFamily="18" charset="0"/>
              </a:rPr>
              <a:t> </a:t>
            </a:r>
            <a:r>
              <a:rPr lang="ru-RU" b="1">
                <a:latin typeface="Times New Roman" panose="02020603050405020304" pitchFamily="18" charset="0"/>
                <a:ea typeface="Times New Roman" panose="02020603050405020304" pitchFamily="18" charset="0"/>
                <a:cs typeface="Times New Roman" panose="02020603050405020304" pitchFamily="18" charset="0"/>
              </a:rPr>
              <a:t>работы с системой усложняют работу пользователей ОМСУ, требуют доработку системы: </a:t>
            </a:r>
            <a:endParaRPr lang="ru-RU" sz="160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достаточно часто возникает ошибка «500» при попытке входа в систему, связанная с большим количеством одновременных обращений пользователей;</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информацию по формам 1-МУ необходимо загружать по каждой муниципальной услуге отдельно (а их около сотни);</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размещаемые специалистами администрации документы стратегического планирования утверждаются специалистами Минэкономразвития чаще всего несвоевременно, что приводит к нарушениям срока публикации этих документов;</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несмотря на то, что ОМСУ получен сертификат электронной подписи для работы в закрытой части портала, требуется приобретать дополнительно СКЗИ «Крипто-Про CSP» на каждое рабочее место. Желательно унифицировать средства защиты информации;</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для обращения в службу технической поддержки системы необходима регистрация в едином контактном центре Федерального казначейства, хотя пользователь уже зарегистрирован в системе.</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31224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2"/>
          <a:stretch>
            <a:fillRect/>
          </a:stretch>
        </p:blipFill>
        <p:spPr>
          <a:xfrm>
            <a:off x="1496291" y="2759602"/>
            <a:ext cx="9354873" cy="4001416"/>
          </a:xfrm>
          <a:prstGeom prst="rect">
            <a:avLst/>
          </a:prstGeom>
        </p:spPr>
      </p:pic>
      <p:sp>
        <p:nvSpPr>
          <p:cNvPr id="5" name="Прямоугольник 4"/>
          <p:cNvSpPr/>
          <p:nvPr/>
        </p:nvSpPr>
        <p:spPr>
          <a:xfrm>
            <a:off x="554181" y="0"/>
            <a:ext cx="11526982" cy="2759602"/>
          </a:xfrm>
          <a:prstGeom prst="rect">
            <a:avLst/>
          </a:prstGeom>
        </p:spPr>
        <p:txBody>
          <a:bodyPr wrap="square">
            <a:spAutoFit/>
          </a:bodyPr>
          <a:lstStyle/>
          <a:p>
            <a:pPr indent="450215" algn="just">
              <a:lnSpc>
                <a:spcPct val="107000"/>
              </a:lnSpc>
              <a:spcAft>
                <a:spcPts val="0"/>
              </a:spcAft>
            </a:pPr>
            <a:r>
              <a:rPr lang="ru-RU" b="1" dirty="0" smtClean="0">
                <a:latin typeface="Times New Roman" panose="02020603050405020304" pitchFamily="18" charset="0"/>
                <a:ea typeface="Times New Roman" panose="02020603050405020304" pitchFamily="18" charset="0"/>
                <a:cs typeface="Times New Roman" panose="02020603050405020304" pitchFamily="18" charset="0"/>
              </a:rPr>
              <a:t>Согласно </a:t>
            </a:r>
            <a:r>
              <a:rPr lang="ru-RU" b="1" dirty="0">
                <a:latin typeface="Times New Roman" panose="02020603050405020304" pitchFamily="18" charset="0"/>
                <a:ea typeface="Times New Roman" panose="02020603050405020304" pitchFamily="18" charset="0"/>
                <a:cs typeface="Times New Roman" panose="02020603050405020304" pitchFamily="18" charset="0"/>
              </a:rPr>
              <a:t>письму Минфина</a:t>
            </a:r>
            <a:r>
              <a:rPr lang="ru-RU" dirty="0">
                <a:latin typeface="Times New Roman" panose="02020603050405020304" pitchFamily="18" charset="0"/>
                <a:ea typeface="Times New Roman" panose="02020603050405020304" pitchFamily="18" charset="0"/>
                <a:cs typeface="Times New Roman" panose="02020603050405020304" pitchFamily="18" charset="0"/>
              </a:rPr>
              <a:t> от 05.02.2018 г. №21-05-08/6496 «О переходе на электронный юридически значимый документооборот при подписании соглашений о предоставлении субсидий местным бюджетам», с 01.01.2018 при предоставлении субсидии из регионального бюджета для финансовой помощи ОМСУ в части осуществления полномочий по вопросам местного значения перечисление указанной субсидии осуществляется при наличии заключенного в ГИИС «Электронный бюджет» соглашения о предоставлении субсидии.</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Поэтому администрации муниципального образования необходимо зарегистрироваться в подсистеме «Бюджетное планирование» в краткие сроки при отсутствии достаточных разъяснений о порядке регистрации специалистов, о необходимых правах доступа. Часто регистрация затягивается, и из-за этого невозможно своевременно оформить заявки.</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48523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Схема 1"/>
          <p:cNvGraphicFramePr/>
          <p:nvPr>
            <p:extLst>
              <p:ext uri="{D42A27DB-BD31-4B8C-83A1-F6EECF244321}">
                <p14:modId xmlns:p14="http://schemas.microsoft.com/office/powerpoint/2010/main" val="2137147232"/>
              </p:ext>
            </p:extLst>
          </p:nvPr>
        </p:nvGraphicFramePr>
        <p:xfrm>
          <a:off x="0" y="0"/>
          <a:ext cx="121920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66934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641113" y="131234"/>
            <a:ext cx="1745991" cy="487506"/>
          </a:xfrm>
          <a:prstGeom prst="rect">
            <a:avLst/>
          </a:prstGeom>
        </p:spPr>
        <p:txBody>
          <a:bodyPr wrap="none">
            <a:spAutoFit/>
          </a:bodyPr>
          <a:lstStyle/>
          <a:p>
            <a:pPr lvl="0" algn="just">
              <a:lnSpc>
                <a:spcPct val="107000"/>
              </a:lnSpc>
              <a:spcAft>
                <a:spcPts val="0"/>
              </a:spcAft>
              <a:tabLst>
                <a:tab pos="457200" algn="l"/>
              </a:tabLst>
            </a:pPr>
            <a:r>
              <a:rPr lang="ru-RU" sz="2400" b="1" dirty="0">
                <a:latin typeface="Times New Roman" panose="02020603050405020304" pitchFamily="18" charset="0"/>
                <a:ea typeface="Times New Roman" panose="02020603050405020304" pitchFamily="18" charset="0"/>
                <a:cs typeface="Times New Roman" panose="02020603050405020304" pitchFamily="18" charset="0"/>
              </a:rPr>
              <a:t>ГИС ЖКХ </a:t>
            </a:r>
            <a:endParaRPr lang="ru-RU" sz="2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Рисунок 3"/>
          <p:cNvPicPr>
            <a:picLocks noChangeAspect="1"/>
          </p:cNvPicPr>
          <p:nvPr/>
        </p:nvPicPr>
        <p:blipFill>
          <a:blip r:embed="rId2"/>
          <a:stretch>
            <a:fillRect/>
          </a:stretch>
        </p:blipFill>
        <p:spPr>
          <a:xfrm>
            <a:off x="0" y="618740"/>
            <a:ext cx="12172950" cy="6057900"/>
          </a:xfrm>
          <a:prstGeom prst="rect">
            <a:avLst/>
          </a:prstGeom>
        </p:spPr>
      </p:pic>
    </p:spTree>
    <p:extLst>
      <p:ext uri="{BB962C8B-B14F-4D97-AF65-F5344CB8AC3E}">
        <p14:creationId xmlns:p14="http://schemas.microsoft.com/office/powerpoint/2010/main" val="2134012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s://kontur.ru/Files/Modules/Article/1609i/f4381bc3-32c6-47e2-8b29-7df85ed09116.png?t=1424250880"/>
          <p:cNvPicPr/>
          <p:nvPr/>
        </p:nvPicPr>
        <p:blipFill>
          <a:blip r:embed="rId2">
            <a:extLst>
              <a:ext uri="{28A0092B-C50C-407E-A947-70E740481C1C}">
                <a14:useLocalDpi xmlns:a14="http://schemas.microsoft.com/office/drawing/2010/main" val="0"/>
              </a:ext>
            </a:extLst>
          </a:blip>
          <a:srcRect/>
          <a:stretch>
            <a:fillRect/>
          </a:stretch>
        </p:blipFill>
        <p:spPr bwMode="auto">
          <a:xfrm>
            <a:off x="2189018" y="207818"/>
            <a:ext cx="7443787" cy="3269673"/>
          </a:xfrm>
          <a:prstGeom prst="rect">
            <a:avLst/>
          </a:prstGeom>
          <a:noFill/>
          <a:ln>
            <a:noFill/>
          </a:ln>
        </p:spPr>
      </p:pic>
      <p:sp>
        <p:nvSpPr>
          <p:cNvPr id="3" name="Прямоугольник 2"/>
          <p:cNvSpPr/>
          <p:nvPr/>
        </p:nvSpPr>
        <p:spPr>
          <a:xfrm>
            <a:off x="429490" y="3757505"/>
            <a:ext cx="11416146" cy="2554545"/>
          </a:xfrm>
          <a:prstGeom prst="rect">
            <a:avLst/>
          </a:prstGeom>
          <a:solidFill>
            <a:schemeClr val="accent4">
              <a:lumMod val="20000"/>
              <a:lumOff val="80000"/>
            </a:schemeClr>
          </a:solidFill>
        </p:spPr>
        <p:txBody>
          <a:bodyPr wrap="square">
            <a:spAutoFit/>
          </a:bodyPr>
          <a:lstStyle/>
          <a:p>
            <a:pPr indent="450215" algn="just">
              <a:spcAft>
                <a:spcPts val="0"/>
              </a:spcAft>
            </a:pPr>
            <a:r>
              <a:rPr lang="ru-RU" sz="2000" dirty="0">
                <a:latin typeface="Times New Roman" panose="02020603050405020304" pitchFamily="18" charset="0"/>
                <a:ea typeface="Times New Roman" panose="02020603050405020304" pitchFamily="18" charset="0"/>
              </a:rPr>
              <a:t>Работа всех информационных систем в РФ определяется Федеральным законом от 27.07.2006 № 149-ФЗ (ред. от 21.07.2014) «Об информации, информационных технологиях и о защите информации» (27 июля 2006 г.). В статье 14 этого закона дается подробное описание </a:t>
            </a:r>
            <a:r>
              <a:rPr lang="ru-RU" sz="2000" dirty="0" err="1">
                <a:latin typeface="Times New Roman" panose="02020603050405020304" pitchFamily="18" charset="0"/>
                <a:ea typeface="Times New Roman" panose="02020603050405020304" pitchFamily="18" charset="0"/>
              </a:rPr>
              <a:t>ГИСов</a:t>
            </a:r>
            <a:r>
              <a:rPr lang="ru-RU" sz="2000" dirty="0">
                <a:latin typeface="Times New Roman" panose="02020603050405020304" pitchFamily="18" charset="0"/>
                <a:ea typeface="Times New Roman" panose="02020603050405020304" pitchFamily="18" charset="0"/>
              </a:rPr>
              <a:t>. К операторам  государственных ИС, в которых ведется обработка информации ограниченного доступа (не содержащей сведений, составляющих государственную тайну), предъявляются требования, изложенные  в Приказе ФСТЭК России от 11 февраля 2013 г. № 17 «Об утверждении требований о защите информации, не составляющей государственную тайну, содержащейся в государственных информационных системах».</a:t>
            </a:r>
          </a:p>
        </p:txBody>
      </p:sp>
    </p:spTree>
    <p:extLst>
      <p:ext uri="{BB962C8B-B14F-4D97-AF65-F5344CB8AC3E}">
        <p14:creationId xmlns:p14="http://schemas.microsoft.com/office/powerpoint/2010/main" val="1785115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Прямоугольник 12"/>
          <p:cNvSpPr>
            <a:spLocks noChangeArrowheads="1"/>
          </p:cNvSpPr>
          <p:nvPr/>
        </p:nvSpPr>
        <p:spPr bwMode="auto">
          <a:xfrm>
            <a:off x="435635" y="463138"/>
            <a:ext cx="581890" cy="843149"/>
          </a:xfrm>
          <a:prstGeom prst="rect">
            <a:avLst/>
          </a:prstGeom>
          <a:gradFill rotWithShape="1">
            <a:gsLst>
              <a:gs pos="0">
                <a:srgbClr val="770000"/>
              </a:gs>
              <a:gs pos="50000">
                <a:srgbClr val="AD0000"/>
              </a:gs>
              <a:gs pos="100000">
                <a:srgbClr val="CE0000"/>
              </a:gs>
            </a:gsLst>
            <a:lin ang="0" scaled="1"/>
          </a:gradFill>
          <a:ln w="9525" algn="ctr">
            <a:noFill/>
            <a:round/>
            <a:headEnd/>
            <a:tailEnd/>
          </a:ln>
        </p:spPr>
        <p:txBody>
          <a:bodyPr/>
          <a:lstStyle/>
          <a:p>
            <a:pPr defTabSz="1043001"/>
            <a:endParaRPr lang="ru-RU" sz="2100" dirty="0"/>
          </a:p>
        </p:txBody>
      </p:sp>
      <p:sp>
        <p:nvSpPr>
          <p:cNvPr id="9" name="Номер слайда 8"/>
          <p:cNvSpPr>
            <a:spLocks noGrp="1"/>
          </p:cNvSpPr>
          <p:nvPr>
            <p:ph type="sldNum" sz="quarter" idx="12"/>
          </p:nvPr>
        </p:nvSpPr>
        <p:spPr/>
        <p:txBody>
          <a:bodyPr/>
          <a:lstStyle/>
          <a:p>
            <a:fld id="{027F3A33-6A4A-4395-8324-C6DCD486F135}" type="slidenum">
              <a:rPr lang="ru-RU" smtClean="0">
                <a:solidFill>
                  <a:schemeClr val="bg2">
                    <a:lumMod val="75000"/>
                  </a:schemeClr>
                </a:solidFill>
              </a:rPr>
              <a:pPr/>
              <a:t>11</a:t>
            </a:fld>
            <a:endParaRPr lang="ru-RU" dirty="0">
              <a:solidFill>
                <a:schemeClr val="bg2">
                  <a:lumMod val="75000"/>
                </a:schemeClr>
              </a:solidFill>
            </a:endParaRPr>
          </a:p>
        </p:txBody>
      </p:sp>
      <p:pic>
        <p:nvPicPr>
          <p:cNvPr id="1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0250" y="463138"/>
            <a:ext cx="2827683" cy="880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726580" y="2341171"/>
            <a:ext cx="10254195" cy="1538883"/>
          </a:xfrm>
          <a:prstGeom prst="rect">
            <a:avLst/>
          </a:prstGeom>
          <a:noFill/>
        </p:spPr>
        <p:txBody>
          <a:bodyPr wrap="square" rtlCol="0">
            <a:spAutoFit/>
          </a:bodyPr>
          <a:lstStyle/>
          <a:p>
            <a:pPr lvl="0" algn="ctr"/>
            <a:r>
              <a:rPr lang="ru-RU" sz="5400" b="1" dirty="0">
                <a:solidFill>
                  <a:srgbClr val="FF0000"/>
                </a:solidFill>
              </a:rPr>
              <a:t>ГЕОМАРКЕТИНГ </a:t>
            </a:r>
            <a:endParaRPr lang="ru-RU" sz="5400" b="1" dirty="0" smtClean="0">
              <a:solidFill>
                <a:srgbClr val="FF0000"/>
              </a:solidFill>
            </a:endParaRPr>
          </a:p>
          <a:p>
            <a:pPr lvl="0" algn="ctr"/>
            <a:r>
              <a:rPr lang="ru-RU" sz="4000" b="1" dirty="0" smtClean="0"/>
              <a:t>Вопрос 2</a:t>
            </a:r>
            <a:endParaRPr lang="ru-RU" sz="4000" dirty="0"/>
          </a:p>
        </p:txBody>
      </p:sp>
    </p:spTree>
    <p:extLst>
      <p:ext uri="{BB962C8B-B14F-4D97-AF65-F5344CB8AC3E}">
        <p14:creationId xmlns:p14="http://schemas.microsoft.com/office/powerpoint/2010/main" val="413945382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Схема 2"/>
          <p:cNvGraphicFramePr/>
          <p:nvPr>
            <p:extLst>
              <p:ext uri="{D42A27DB-BD31-4B8C-83A1-F6EECF244321}">
                <p14:modId xmlns:p14="http://schemas.microsoft.com/office/powerpoint/2010/main" val="14192677"/>
              </p:ext>
            </p:extLst>
          </p:nvPr>
        </p:nvGraphicFramePr>
        <p:xfrm>
          <a:off x="112143" y="508158"/>
          <a:ext cx="11826815" cy="29277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Рисунок 3" descr="Поиск кофейни в Google картах">
            <a:hlinkClick r:id="rId7" tgtFrame="&quot;_blank&quo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703801" y="3547743"/>
            <a:ext cx="5428818" cy="3199419"/>
          </a:xfrm>
          <a:prstGeom prst="rect">
            <a:avLst/>
          </a:prstGeom>
          <a:noFill/>
          <a:ln>
            <a:noFill/>
          </a:ln>
        </p:spPr>
      </p:pic>
    </p:spTree>
    <p:extLst>
      <p:ext uri="{BB962C8B-B14F-4D97-AF65-F5344CB8AC3E}">
        <p14:creationId xmlns:p14="http://schemas.microsoft.com/office/powerpoint/2010/main" val="2238650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p:cNvGraphicFramePr>
            <a:graphicFrameLocks noGrp="1"/>
          </p:cNvGraphicFramePr>
          <p:nvPr>
            <p:extLst>
              <p:ext uri="{D42A27DB-BD31-4B8C-83A1-F6EECF244321}">
                <p14:modId xmlns:p14="http://schemas.microsoft.com/office/powerpoint/2010/main" val="3974220869"/>
              </p:ext>
            </p:extLst>
          </p:nvPr>
        </p:nvGraphicFramePr>
        <p:xfrm>
          <a:off x="0" y="0"/>
          <a:ext cx="12192000" cy="6858000"/>
        </p:xfrm>
        <a:graphic>
          <a:graphicData uri="http://schemas.openxmlformats.org/drawingml/2006/table">
            <a:tbl>
              <a:tblPr firstRow="1" firstCol="1" bandRow="1">
                <a:tableStyleId>{5C22544A-7EE6-4342-B048-85BDC9FD1C3A}</a:tableStyleId>
              </a:tblPr>
              <a:tblGrid>
                <a:gridCol w="2511552">
                  <a:extLst>
                    <a:ext uri="{9D8B030D-6E8A-4147-A177-3AD203B41FA5}">
                      <a16:colId xmlns:a16="http://schemas.microsoft.com/office/drawing/2014/main" val="3983963637"/>
                    </a:ext>
                  </a:extLst>
                </a:gridCol>
                <a:gridCol w="9680448">
                  <a:extLst>
                    <a:ext uri="{9D8B030D-6E8A-4147-A177-3AD203B41FA5}">
                      <a16:colId xmlns:a16="http://schemas.microsoft.com/office/drawing/2014/main" val="3035780903"/>
                    </a:ext>
                  </a:extLst>
                </a:gridCol>
              </a:tblGrid>
              <a:tr h="368632">
                <a:tc>
                  <a:txBody>
                    <a:bodyPr/>
                    <a:lstStyle/>
                    <a:p>
                      <a:pPr indent="450215" algn="ctr">
                        <a:lnSpc>
                          <a:spcPct val="107000"/>
                        </a:lnSpc>
                        <a:spcAft>
                          <a:spcPts val="0"/>
                        </a:spcAft>
                      </a:pPr>
                      <a:r>
                        <a:rPr lang="ru-RU" sz="2000" dirty="0">
                          <a:effectLst/>
                        </a:rPr>
                        <a:t>Сила</a:t>
                      </a: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solidFill>
                      <a:schemeClr val="accent2">
                        <a:lumMod val="50000"/>
                      </a:schemeClr>
                    </a:solidFill>
                  </a:tcPr>
                </a:tc>
                <a:tc>
                  <a:txBody>
                    <a:bodyPr/>
                    <a:lstStyle/>
                    <a:p>
                      <a:pPr indent="450215" algn="ctr">
                        <a:lnSpc>
                          <a:spcPct val="107000"/>
                        </a:lnSpc>
                        <a:spcAft>
                          <a:spcPts val="0"/>
                        </a:spcAft>
                      </a:pPr>
                      <a:r>
                        <a:rPr lang="ru-RU" sz="2000" dirty="0">
                          <a:effectLst/>
                        </a:rPr>
                        <a:t>Зачем</a:t>
                      </a: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solidFill>
                      <a:schemeClr val="accent6">
                        <a:lumMod val="50000"/>
                      </a:schemeClr>
                    </a:solidFill>
                  </a:tcPr>
                </a:tc>
                <a:extLst>
                  <a:ext uri="{0D108BD9-81ED-4DB2-BD59-A6C34878D82A}">
                    <a16:rowId xmlns:a16="http://schemas.microsoft.com/office/drawing/2014/main" val="2392559609"/>
                  </a:ext>
                </a:extLst>
              </a:tr>
              <a:tr h="1140146">
                <a:tc>
                  <a:txBody>
                    <a:bodyPr/>
                    <a:lstStyle/>
                    <a:p>
                      <a:pPr indent="450215" algn="ctr">
                        <a:lnSpc>
                          <a:spcPct val="107000"/>
                        </a:lnSpc>
                        <a:spcAft>
                          <a:spcPts val="0"/>
                        </a:spcAft>
                      </a:pPr>
                      <a:r>
                        <a:rPr lang="ru-RU" sz="2000" dirty="0">
                          <a:effectLst/>
                        </a:rPr>
                        <a:t>Всегда быть рядом</a:t>
                      </a: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solidFill>
                      <a:schemeClr val="accent5">
                        <a:lumMod val="50000"/>
                      </a:schemeClr>
                    </a:solidFill>
                  </a:tcPr>
                </a:tc>
                <a:tc>
                  <a:txBody>
                    <a:bodyPr/>
                    <a:lstStyle/>
                    <a:p>
                      <a:pPr indent="450215" algn="just">
                        <a:lnSpc>
                          <a:spcPct val="107000"/>
                        </a:lnSpc>
                        <a:spcAft>
                          <a:spcPts val="0"/>
                        </a:spcAft>
                      </a:pPr>
                      <a:r>
                        <a:rPr lang="ru-RU" sz="2000">
                          <a:effectLst/>
                        </a:rPr>
                        <a:t>Поисковик «‎соединяет» локации пользователя и бизнесов. Например, как у Андрея из Санкт-Петербурга — он был в незнакомом городе, но 2ГИС помог ему найти ближайший ларек с шавермой и не остаться голодным. </a:t>
                      </a:r>
                      <a:endParaRPr lang="ru-R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196237383"/>
                  </a:ext>
                </a:extLst>
              </a:tr>
              <a:tr h="2683173">
                <a:tc>
                  <a:txBody>
                    <a:bodyPr/>
                    <a:lstStyle/>
                    <a:p>
                      <a:pPr indent="450215" algn="ctr">
                        <a:lnSpc>
                          <a:spcPct val="107000"/>
                        </a:lnSpc>
                        <a:spcAft>
                          <a:spcPts val="0"/>
                        </a:spcAft>
                      </a:pPr>
                      <a:r>
                        <a:rPr lang="ru-RU" sz="2000" dirty="0">
                          <a:effectLst/>
                        </a:rPr>
                        <a:t>Сообщать актуальную информацию</a:t>
                      </a: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solidFill>
                      <a:schemeClr val="accent4">
                        <a:lumMod val="50000"/>
                      </a:schemeClr>
                    </a:solidFill>
                  </a:tcPr>
                </a:tc>
                <a:tc>
                  <a:txBody>
                    <a:bodyPr/>
                    <a:lstStyle/>
                    <a:p>
                      <a:pPr indent="450215" algn="just">
                        <a:lnSpc>
                          <a:spcPct val="107000"/>
                        </a:lnSpc>
                        <a:spcAft>
                          <a:spcPts val="0"/>
                        </a:spcAft>
                      </a:pPr>
                      <a:r>
                        <a:rPr lang="ru-RU" sz="2000">
                          <a:effectLst/>
                        </a:rPr>
                        <a:t>Клиент всегда найдет вас по верным контактам и координатам, а также получит позитивный опыт от первого взаимодействия с вашей компанией. </a:t>
                      </a:r>
                    </a:p>
                    <a:p>
                      <a:pPr indent="450215" algn="just">
                        <a:lnSpc>
                          <a:spcPct val="107000"/>
                        </a:lnSpc>
                        <a:spcAft>
                          <a:spcPts val="0"/>
                        </a:spcAft>
                      </a:pPr>
                      <a:r>
                        <a:rPr lang="ru-RU" sz="2000">
                          <a:effectLst/>
                        </a:rPr>
                        <a:t>Например, Андрей мог увидеть в 2ГИС несколько ларьков поблизости, пойти к тому, что за углом, и обнаружить его с надписью «‎Мы переехали». Андрей был голодный, поэтому разозлился и пошел в другое место. Маркетологи ларька просто забыли ‎исправить адрес филиала на карте, потеряли клиента и оставили о себе неприятное впечатление. </a:t>
                      </a:r>
                      <a:endParaRPr lang="ru-RU"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880040791"/>
                  </a:ext>
                </a:extLst>
              </a:tr>
              <a:tr h="1525903">
                <a:tc>
                  <a:txBody>
                    <a:bodyPr/>
                    <a:lstStyle/>
                    <a:p>
                      <a:pPr indent="450215" algn="ctr">
                        <a:lnSpc>
                          <a:spcPct val="107000"/>
                        </a:lnSpc>
                        <a:spcAft>
                          <a:spcPts val="0"/>
                        </a:spcAft>
                      </a:pPr>
                      <a:r>
                        <a:rPr lang="ru-RU" sz="2000" dirty="0">
                          <a:effectLst/>
                        </a:rPr>
                        <a:t>Увеличивать поток клиентов в точки продаж</a:t>
                      </a: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solidFill>
                      <a:schemeClr val="accent1">
                        <a:lumMod val="50000"/>
                      </a:schemeClr>
                    </a:solidFill>
                  </a:tcPr>
                </a:tc>
                <a:tc>
                  <a:txBody>
                    <a:bodyPr/>
                    <a:lstStyle/>
                    <a:p>
                      <a:pPr indent="450215" algn="just">
                        <a:lnSpc>
                          <a:spcPct val="107000"/>
                        </a:lnSpc>
                        <a:spcAft>
                          <a:spcPts val="0"/>
                        </a:spcAft>
                      </a:pPr>
                      <a:r>
                        <a:rPr lang="ru-RU" sz="2000">
                          <a:effectLst/>
                        </a:rPr>
                        <a:t>В карточки геосервисов можно добавить номер телефона, соцсети, почту, быстрые ссылки бронирования или заказа. Так люди могут сразу проложить к вам маршрут и зайти за покупкой, позвонить или выбрать блюдо меню для доставки. Это удобно — все в одном месте и не нужно совершать лишних движений. </a:t>
                      </a:r>
                      <a:endParaRPr lang="ru-R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128024613"/>
                  </a:ext>
                </a:extLst>
              </a:tr>
              <a:tr h="1140146">
                <a:tc>
                  <a:txBody>
                    <a:bodyPr/>
                    <a:lstStyle/>
                    <a:p>
                      <a:pPr indent="450215" algn="ctr">
                        <a:lnSpc>
                          <a:spcPct val="107000"/>
                        </a:lnSpc>
                        <a:spcAft>
                          <a:spcPts val="0"/>
                        </a:spcAft>
                      </a:pPr>
                      <a:r>
                        <a:rPr lang="ru-RU" sz="2000" dirty="0" err="1">
                          <a:effectLst/>
                        </a:rPr>
                        <a:t>Бюджетность</a:t>
                      </a:r>
                      <a:r>
                        <a:rPr lang="ru-RU" sz="2000" dirty="0">
                          <a:effectLst/>
                        </a:rPr>
                        <a:t> </a:t>
                      </a: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solidFill>
                      <a:schemeClr val="accent4">
                        <a:lumMod val="50000"/>
                      </a:schemeClr>
                    </a:solidFill>
                  </a:tcPr>
                </a:tc>
                <a:tc>
                  <a:txBody>
                    <a:bodyPr/>
                    <a:lstStyle/>
                    <a:p>
                      <a:pPr indent="450215" algn="just">
                        <a:lnSpc>
                          <a:spcPct val="107000"/>
                        </a:lnSpc>
                        <a:spcAft>
                          <a:spcPts val="0"/>
                        </a:spcAft>
                      </a:pPr>
                      <a:r>
                        <a:rPr lang="ru-RU" sz="2000" dirty="0" err="1">
                          <a:effectLst/>
                        </a:rPr>
                        <a:t>Геомаркетинг</a:t>
                      </a:r>
                      <a:r>
                        <a:rPr lang="ru-RU" sz="2000" dirty="0">
                          <a:effectLst/>
                        </a:rPr>
                        <a:t> из всех маркетинговых инструментов самый бюджетный — условно бесплатный. Его можно запустить и без бюджета, если вы не запускаете платное продвижение в </a:t>
                      </a:r>
                      <a:r>
                        <a:rPr lang="ru-RU" sz="2000" dirty="0" err="1">
                          <a:effectLst/>
                        </a:rPr>
                        <a:t>геосервисах</a:t>
                      </a:r>
                      <a:r>
                        <a:rPr lang="ru-RU" sz="2000" dirty="0">
                          <a:effectLst/>
                        </a:rPr>
                        <a:t> или не пользуетесь сторонними платформами.</a:t>
                      </a: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085981424"/>
                  </a:ext>
                </a:extLst>
              </a:tr>
            </a:tbl>
          </a:graphicData>
        </a:graphic>
      </p:graphicFrame>
    </p:spTree>
    <p:extLst>
      <p:ext uri="{BB962C8B-B14F-4D97-AF65-F5344CB8AC3E}">
        <p14:creationId xmlns:p14="http://schemas.microsoft.com/office/powerpoint/2010/main" val="2307768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152899" y="200507"/>
            <a:ext cx="3664529" cy="388696"/>
          </a:xfrm>
          <a:prstGeom prst="rect">
            <a:avLst/>
          </a:prstGeom>
        </p:spPr>
        <p:txBody>
          <a:bodyPr wrap="none">
            <a:spAutoFit/>
          </a:bodyPr>
          <a:lstStyle/>
          <a:p>
            <a:pPr indent="450215" algn="just">
              <a:lnSpc>
                <a:spcPct val="107000"/>
              </a:lnSpc>
              <a:spcBef>
                <a:spcPts val="200"/>
              </a:spcBef>
              <a:spcAft>
                <a:spcPts val="0"/>
              </a:spcAft>
            </a:pPr>
            <a:r>
              <a:rPr lang="ru-RU" b="1">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rPr>
              <a:t>Сколько стоит </a:t>
            </a:r>
            <a:r>
              <a:rPr lang="ru-RU" b="1" dirty="0" err="1">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rPr>
              <a:t>геомаркетинг</a:t>
            </a:r>
            <a:endParaRPr lang="ru-RU" sz="2000" b="1" dirty="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3" name="Прямоугольник 2"/>
          <p:cNvSpPr/>
          <p:nvPr/>
        </p:nvSpPr>
        <p:spPr>
          <a:xfrm>
            <a:off x="858980" y="812047"/>
            <a:ext cx="10945091" cy="1258421"/>
          </a:xfrm>
          <a:prstGeom prst="rect">
            <a:avLst/>
          </a:prstGeom>
        </p:spPr>
        <p:txBody>
          <a:bodyPr wrap="square">
            <a:spAutoFit/>
          </a:bodyPr>
          <a:lstStyle/>
          <a:p>
            <a:pPr indent="450215" algn="just">
              <a:spcAft>
                <a:spcPts val="0"/>
              </a:spcAft>
            </a:pPr>
            <a:r>
              <a:rPr lang="ru-RU" b="1" dirty="0" smtClean="0">
                <a:latin typeface="Times New Roman" panose="02020603050405020304" pitchFamily="18" charset="0"/>
                <a:ea typeface="Times New Roman" panose="02020603050405020304" pitchFamily="18" charset="0"/>
              </a:rPr>
              <a:t>Он </a:t>
            </a:r>
            <a:r>
              <a:rPr lang="ru-RU" b="1" dirty="0">
                <a:latin typeface="Times New Roman" panose="02020603050405020304" pitchFamily="18" charset="0"/>
                <a:ea typeface="Times New Roman" panose="02020603050405020304" pitchFamily="18" charset="0"/>
              </a:rPr>
              <a:t>бесплатный, если: </a:t>
            </a:r>
            <a:endParaRPr lang="ru-RU" dirty="0">
              <a:latin typeface="Times New Roman" panose="02020603050405020304" pitchFamily="18" charset="0"/>
              <a:ea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b="1" dirty="0">
                <a:latin typeface="Times New Roman" panose="02020603050405020304" pitchFamily="18" charset="0"/>
                <a:ea typeface="Calibri" panose="020F0502020204030204" pitchFamily="34" charset="0"/>
                <a:cs typeface="Times New Roman" panose="02020603050405020304" pitchFamily="18" charset="0"/>
              </a:rPr>
              <a:t>не применять платформы для работы с </a:t>
            </a:r>
            <a:r>
              <a:rPr lang="ru-RU" b="1" dirty="0" err="1">
                <a:latin typeface="Times New Roman" panose="02020603050405020304" pitchFamily="18" charset="0"/>
                <a:ea typeface="Calibri" panose="020F0502020204030204" pitchFamily="34" charset="0"/>
                <a:cs typeface="Times New Roman" panose="02020603050405020304" pitchFamily="18" charset="0"/>
              </a:rPr>
              <a:t>геосервисами</a:t>
            </a:r>
            <a:r>
              <a:rPr lang="ru-RU" b="1" dirty="0">
                <a:latin typeface="Times New Roman" panose="02020603050405020304" pitchFamily="18" charset="0"/>
                <a:ea typeface="Calibri" panose="020F0502020204030204" pitchFamily="34" charset="0"/>
                <a:cs typeface="Times New Roman" panose="02020603050405020304" pitchFamily="18" charset="0"/>
              </a:rPr>
              <a:t>;</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b="1" dirty="0">
                <a:latin typeface="Times New Roman" panose="02020603050405020304" pitchFamily="18" charset="0"/>
                <a:ea typeface="Calibri" panose="020F0502020204030204" pitchFamily="34" charset="0"/>
                <a:cs typeface="Times New Roman" panose="02020603050405020304" pitchFamily="18" charset="0"/>
              </a:rPr>
              <a:t>не закупать </a:t>
            </a:r>
            <a:r>
              <a:rPr lang="ru-RU" b="1" dirty="0" err="1">
                <a:latin typeface="Times New Roman" panose="02020603050405020304" pitchFamily="18" charset="0"/>
                <a:ea typeface="Calibri" panose="020F0502020204030204" pitchFamily="34" charset="0"/>
                <a:cs typeface="Times New Roman" panose="02020603050405020304" pitchFamily="18" charset="0"/>
              </a:rPr>
              <a:t>георекламу</a:t>
            </a:r>
            <a:r>
              <a:rPr lang="ru-RU" b="1" dirty="0">
                <a:latin typeface="Times New Roman" panose="02020603050405020304" pitchFamily="18" charset="0"/>
                <a:ea typeface="Calibri" panose="020F0502020204030204" pitchFamily="34" charset="0"/>
                <a:cs typeface="Times New Roman" panose="02020603050405020304" pitchFamily="18" charset="0"/>
              </a:rPr>
              <a:t>;</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b="1" dirty="0">
                <a:latin typeface="Times New Roman" panose="02020603050405020304" pitchFamily="18" charset="0"/>
                <a:ea typeface="Calibri" panose="020F0502020204030204" pitchFamily="34" charset="0"/>
                <a:cs typeface="Times New Roman" panose="02020603050405020304" pitchFamily="18" charset="0"/>
              </a:rPr>
              <a:t>не покупать приоритетное размещение — формат рекламы в </a:t>
            </a:r>
            <a:r>
              <a:rPr lang="ru-RU" b="1" dirty="0" err="1">
                <a:latin typeface="Times New Roman" panose="02020603050405020304" pitchFamily="18" charset="0"/>
                <a:ea typeface="Calibri" panose="020F0502020204030204" pitchFamily="34" charset="0"/>
                <a:cs typeface="Times New Roman" panose="02020603050405020304" pitchFamily="18" charset="0"/>
              </a:rPr>
              <a:t>геосервисах</a:t>
            </a:r>
            <a:r>
              <a:rPr lang="ru-RU" b="1" dirty="0">
                <a:latin typeface="Times New Roman" panose="02020603050405020304" pitchFamily="18" charset="0"/>
                <a:ea typeface="Calibri" panose="020F0502020204030204" pitchFamily="34" charset="0"/>
                <a:cs typeface="Times New Roman" panose="02020603050405020304" pitchFamily="18" charset="0"/>
              </a:rPr>
              <a:t>. </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Рисунок 3" descr="Компании отмеченные на «Яндекс. Картах»">
            <a:hlinkClick r:id="rId3" tgtFrame="&quot;_blank&quo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88127" y="2293312"/>
            <a:ext cx="7994072" cy="4461164"/>
          </a:xfrm>
          <a:prstGeom prst="rect">
            <a:avLst/>
          </a:prstGeom>
          <a:noFill/>
          <a:ln>
            <a:noFill/>
          </a:ln>
        </p:spPr>
      </p:pic>
    </p:spTree>
    <p:extLst>
      <p:ext uri="{BB962C8B-B14F-4D97-AF65-F5344CB8AC3E}">
        <p14:creationId xmlns:p14="http://schemas.microsoft.com/office/powerpoint/2010/main" val="7871032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Схема 1"/>
          <p:cNvGraphicFramePr/>
          <p:nvPr>
            <p:extLst>
              <p:ext uri="{D42A27DB-BD31-4B8C-83A1-F6EECF244321}">
                <p14:modId xmlns:p14="http://schemas.microsoft.com/office/powerpoint/2010/main" val="2550993389"/>
              </p:ext>
            </p:extLst>
          </p:nvPr>
        </p:nvGraphicFramePr>
        <p:xfrm>
          <a:off x="0" y="0"/>
          <a:ext cx="121920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991725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403307" y="255925"/>
            <a:ext cx="5191421" cy="530594"/>
          </a:xfrm>
          <a:prstGeom prst="rect">
            <a:avLst/>
          </a:prstGeom>
        </p:spPr>
        <p:txBody>
          <a:bodyPr wrap="none">
            <a:spAutoFit/>
          </a:bodyPr>
          <a:lstStyle/>
          <a:p>
            <a:pPr indent="450215" algn="just">
              <a:lnSpc>
                <a:spcPct val="107000"/>
              </a:lnSpc>
              <a:spcBef>
                <a:spcPts val="200"/>
              </a:spcBef>
              <a:spcAft>
                <a:spcPts val="0"/>
              </a:spcAft>
            </a:pPr>
            <a:r>
              <a:rPr lang="ru-RU" sz="28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Как внедрить </a:t>
            </a:r>
            <a:r>
              <a:rPr lang="ru-RU" sz="2800" b="1" dirty="0" err="1">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геомаркетинг</a:t>
            </a:r>
            <a:endParaRPr lang="ru-RU" sz="2800" b="1" dirty="0">
              <a:solidFill>
                <a:srgbClr val="FF0000"/>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4" name="Прямоугольник 3"/>
          <p:cNvSpPr/>
          <p:nvPr/>
        </p:nvSpPr>
        <p:spPr>
          <a:xfrm>
            <a:off x="131617" y="993193"/>
            <a:ext cx="11734800" cy="5632311"/>
          </a:xfrm>
          <a:prstGeom prst="rect">
            <a:avLst/>
          </a:prstGeom>
        </p:spPr>
        <p:txBody>
          <a:bodyPr wrap="square">
            <a:spAutoFit/>
          </a:bodyPr>
          <a:lstStyle/>
          <a:p>
            <a:pPr indent="450215" algn="just">
              <a:spcAft>
                <a:spcPts val="0"/>
              </a:spcAft>
            </a:pPr>
            <a:r>
              <a:rPr lang="ru-RU" sz="2400" b="1" dirty="0">
                <a:latin typeface="Times New Roman" panose="02020603050405020304" pitchFamily="18" charset="0"/>
                <a:ea typeface="Times New Roman" panose="02020603050405020304" pitchFamily="18" charset="0"/>
                <a:cs typeface="Times New Roman" panose="02020603050405020304" pitchFamily="18" charset="0"/>
              </a:rPr>
              <a:t>1. Соберите актуальные данные: номера телефонов, время работы, социальные сети, почту</a:t>
            </a:r>
            <a:r>
              <a:rPr lang="ru-RU" sz="2400" dirty="0">
                <a:latin typeface="Times New Roman" panose="02020603050405020304" pitchFamily="18" charset="0"/>
                <a:ea typeface="Times New Roman" panose="02020603050405020304" pitchFamily="18" charset="0"/>
                <a:cs typeface="Times New Roman" panose="02020603050405020304" pitchFamily="18" charset="0"/>
              </a:rPr>
              <a:t>. Например, если у вас кафе, не будут лишними фото блюд и цены. </a:t>
            </a:r>
          </a:p>
          <a:p>
            <a:pPr indent="450215" algn="just">
              <a:spcAft>
                <a:spcPts val="0"/>
              </a:spcAft>
            </a:pPr>
            <a:r>
              <a:rPr lang="ru-RU" sz="2400" b="1" dirty="0">
                <a:latin typeface="Times New Roman" panose="02020603050405020304" pitchFamily="18" charset="0"/>
                <a:ea typeface="Times New Roman" panose="02020603050405020304" pitchFamily="18" charset="0"/>
                <a:cs typeface="Times New Roman" panose="02020603050405020304" pitchFamily="18" charset="0"/>
              </a:rPr>
              <a:t>2. Определитесь, в какие сервисы вы хотите добавить филиалы</a:t>
            </a:r>
            <a:r>
              <a:rPr lang="ru-RU" sz="2400" dirty="0">
                <a:latin typeface="Times New Roman" panose="02020603050405020304" pitchFamily="18" charset="0"/>
                <a:ea typeface="Times New Roman" panose="02020603050405020304" pitchFamily="18" charset="0"/>
                <a:cs typeface="Times New Roman" panose="02020603050405020304" pitchFamily="18" charset="0"/>
              </a:rPr>
              <a:t>. Самые популярные </a:t>
            </a:r>
            <a:r>
              <a:rPr lang="ru-RU" sz="2400" dirty="0" err="1">
                <a:latin typeface="Times New Roman" panose="02020603050405020304" pitchFamily="18" charset="0"/>
                <a:ea typeface="Times New Roman" panose="02020603050405020304" pitchFamily="18" charset="0"/>
                <a:cs typeface="Times New Roman" panose="02020603050405020304" pitchFamily="18" charset="0"/>
              </a:rPr>
              <a:t>геоплощадки</a:t>
            </a:r>
            <a:r>
              <a:rPr lang="ru-RU" sz="2400" dirty="0">
                <a:latin typeface="Times New Roman" panose="02020603050405020304" pitchFamily="18" charset="0"/>
                <a:ea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ea typeface="Times New Roman" panose="02020603050405020304" pitchFamily="18" charset="0"/>
                <a:cs typeface="Times New Roman" panose="02020603050405020304" pitchFamily="18" charset="0"/>
              </a:rPr>
              <a:t>Google.Карты</a:t>
            </a:r>
            <a:r>
              <a:rPr lang="ru-RU" sz="2400" dirty="0">
                <a:latin typeface="Times New Roman" panose="02020603050405020304" pitchFamily="18" charset="0"/>
                <a:ea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ea typeface="Times New Roman" panose="02020603050405020304" pitchFamily="18" charset="0"/>
                <a:cs typeface="Times New Roman" panose="02020603050405020304" pitchFamily="18" charset="0"/>
              </a:rPr>
              <a:t>Яндекс.Справочник</a:t>
            </a:r>
            <a:r>
              <a:rPr lang="ru-RU" sz="2400" dirty="0">
                <a:latin typeface="Times New Roman" panose="02020603050405020304" pitchFamily="18" charset="0"/>
                <a:ea typeface="Times New Roman" panose="02020603050405020304" pitchFamily="18" charset="0"/>
                <a:cs typeface="Times New Roman" panose="02020603050405020304" pitchFamily="18" charset="0"/>
              </a:rPr>
              <a:t>» и 2ГИС. Не забудьте специализированные сервисы — например, для отелей это </a:t>
            </a:r>
            <a:r>
              <a:rPr lang="ru-RU" sz="2400" dirty="0" err="1">
                <a:latin typeface="Times New Roman" panose="02020603050405020304" pitchFamily="18" charset="0"/>
                <a:ea typeface="Times New Roman" panose="02020603050405020304" pitchFamily="18" charset="0"/>
                <a:cs typeface="Times New Roman" panose="02020603050405020304" pitchFamily="18" charset="0"/>
              </a:rPr>
              <a:t>Tripadvisor</a:t>
            </a:r>
            <a:r>
              <a:rPr lang="ru-RU" sz="2400" dirty="0">
                <a:latin typeface="Times New Roman" panose="02020603050405020304" pitchFamily="18" charset="0"/>
                <a:ea typeface="Times New Roman" panose="02020603050405020304" pitchFamily="18" charset="0"/>
                <a:cs typeface="Times New Roman" panose="02020603050405020304" pitchFamily="18" charset="0"/>
              </a:rPr>
              <a:t>, для банков — «‎</a:t>
            </a:r>
            <a:r>
              <a:rPr lang="ru-RU" sz="2400" dirty="0" err="1">
                <a:latin typeface="Times New Roman" panose="02020603050405020304" pitchFamily="18" charset="0"/>
                <a:ea typeface="Times New Roman" panose="02020603050405020304" pitchFamily="18" charset="0"/>
                <a:cs typeface="Times New Roman" panose="02020603050405020304" pitchFamily="18" charset="0"/>
              </a:rPr>
              <a:t>Банки.ру</a:t>
            </a:r>
            <a:r>
              <a:rPr lang="ru-RU" sz="2400" dirty="0">
                <a:latin typeface="Times New Roman" panose="02020603050405020304" pitchFamily="18" charset="0"/>
                <a:ea typeface="Times New Roman" panose="02020603050405020304" pitchFamily="18" charset="0"/>
                <a:cs typeface="Times New Roman" panose="02020603050405020304" pitchFamily="18" charset="0"/>
              </a:rPr>
              <a:t>». Если с </a:t>
            </a:r>
            <a:r>
              <a:rPr lang="ru-RU" sz="2400" dirty="0" err="1">
                <a:latin typeface="Times New Roman" panose="02020603050405020304" pitchFamily="18" charset="0"/>
                <a:ea typeface="Times New Roman" panose="02020603050405020304" pitchFamily="18" charset="0"/>
                <a:cs typeface="Times New Roman" panose="02020603050405020304" pitchFamily="18" charset="0"/>
              </a:rPr>
              <a:t>геомаркетингом</a:t>
            </a:r>
            <a:r>
              <a:rPr lang="ru-RU" sz="2400" dirty="0">
                <a:latin typeface="Times New Roman" panose="02020603050405020304" pitchFamily="18" charset="0"/>
                <a:ea typeface="Times New Roman" panose="02020603050405020304" pitchFamily="18" charset="0"/>
                <a:cs typeface="Times New Roman" panose="02020603050405020304" pitchFamily="18" charset="0"/>
              </a:rPr>
              <a:t> в компании до вас кто-то работал, узнайте, в каких сервисах вы уже есть, чтобы не создавать дубли карточек. </a:t>
            </a:r>
          </a:p>
          <a:p>
            <a:pPr indent="450215" algn="just">
              <a:spcAft>
                <a:spcPts val="0"/>
              </a:spcAft>
            </a:pPr>
            <a:r>
              <a:rPr lang="ru-RU" sz="2400" b="1" dirty="0">
                <a:latin typeface="Times New Roman" panose="02020603050405020304" pitchFamily="18" charset="0"/>
                <a:ea typeface="Times New Roman" panose="02020603050405020304" pitchFamily="18" charset="0"/>
                <a:cs typeface="Times New Roman" panose="02020603050405020304" pitchFamily="18" charset="0"/>
              </a:rPr>
              <a:t>3. Проверьте наличие </a:t>
            </a:r>
            <a:r>
              <a:rPr lang="ru-RU" sz="2400" b="1" dirty="0" err="1">
                <a:latin typeface="Times New Roman" panose="02020603050405020304" pitchFamily="18" charset="0"/>
                <a:ea typeface="Times New Roman" panose="02020603050405020304" pitchFamily="18" charset="0"/>
                <a:cs typeface="Times New Roman" panose="02020603050405020304" pitchFamily="18" charset="0"/>
              </a:rPr>
              <a:t>фейков</a:t>
            </a:r>
            <a:r>
              <a:rPr lang="ru-RU" sz="2400" b="1" dirty="0">
                <a:latin typeface="Times New Roman" panose="02020603050405020304" pitchFamily="18" charset="0"/>
                <a:ea typeface="Times New Roman" panose="02020603050405020304" pitchFamily="18" charset="0"/>
                <a:cs typeface="Times New Roman" panose="02020603050405020304" pitchFamily="18" charset="0"/>
              </a:rPr>
              <a:t>, которые могут создавать пользователи</a:t>
            </a:r>
            <a:r>
              <a:rPr lang="ru-RU" sz="2400" dirty="0">
                <a:latin typeface="Times New Roman" panose="02020603050405020304" pitchFamily="18" charset="0"/>
                <a:ea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ea typeface="Times New Roman" panose="02020603050405020304" pitchFamily="18" charset="0"/>
                <a:cs typeface="Times New Roman" panose="02020603050405020304" pitchFamily="18" charset="0"/>
              </a:rPr>
              <a:t>Фейки</a:t>
            </a:r>
            <a:r>
              <a:rPr lang="ru-RU" sz="2400" dirty="0">
                <a:latin typeface="Times New Roman" panose="02020603050405020304" pitchFamily="18" charset="0"/>
                <a:ea typeface="Times New Roman" panose="02020603050405020304" pitchFamily="18" charset="0"/>
                <a:cs typeface="Times New Roman" panose="02020603050405020304" pitchFamily="18" charset="0"/>
              </a:rPr>
              <a:t> появляются, если компания не верифицировала карточку и не закрепила за собой адрес. Тогда любой может отметить на карте, допустим, свой дом и указать, что филиал бизнеса находится тут. Так ваши клиенты могут приехать на </a:t>
            </a:r>
            <a:r>
              <a:rPr lang="ru-RU" sz="2400" dirty="0" err="1">
                <a:latin typeface="Times New Roman" panose="02020603050405020304" pitchFamily="18" charset="0"/>
                <a:ea typeface="Times New Roman" panose="02020603050405020304" pitchFamily="18" charset="0"/>
                <a:cs typeface="Times New Roman" panose="02020603050405020304" pitchFamily="18" charset="0"/>
              </a:rPr>
              <a:t>фейковый</a:t>
            </a:r>
            <a:r>
              <a:rPr lang="ru-RU" sz="2400" dirty="0">
                <a:latin typeface="Times New Roman" panose="02020603050405020304" pitchFamily="18" charset="0"/>
                <a:ea typeface="Times New Roman" panose="02020603050405020304" pitchFamily="18" charset="0"/>
                <a:cs typeface="Times New Roman" panose="02020603050405020304" pitchFamily="18" charset="0"/>
              </a:rPr>
              <a:t> адрес и расстроиться. Иногда таким приемом пользуются конкуренты, чтобы путать клиентов.</a:t>
            </a:r>
          </a:p>
          <a:p>
            <a:r>
              <a:rPr lang="ru-RU" sz="2400" b="1" dirty="0">
                <a:latin typeface="Times New Roman" panose="02020603050405020304" pitchFamily="18" charset="0"/>
                <a:ea typeface="Calibri" panose="020F0502020204030204" pitchFamily="34" charset="0"/>
                <a:cs typeface="Times New Roman" panose="02020603050405020304" pitchFamily="18" charset="0"/>
              </a:rPr>
              <a:t>4. Заполните карточки компании в соответствии с правилами </a:t>
            </a:r>
            <a:r>
              <a:rPr lang="ru-RU" sz="2400" b="1" dirty="0" err="1">
                <a:latin typeface="Times New Roman" panose="02020603050405020304" pitchFamily="18" charset="0"/>
                <a:ea typeface="Calibri" panose="020F0502020204030204" pitchFamily="34" charset="0"/>
                <a:cs typeface="Times New Roman" panose="02020603050405020304" pitchFamily="18" charset="0"/>
              </a:rPr>
              <a:t>геосервисов</a:t>
            </a:r>
            <a:r>
              <a:rPr lang="ru-RU" sz="2400" dirty="0">
                <a:latin typeface="Times New Roman" panose="02020603050405020304" pitchFamily="18" charset="0"/>
                <a:ea typeface="Calibri" panose="020F0502020204030204" pitchFamily="34" charset="0"/>
                <a:cs typeface="Times New Roman" panose="02020603050405020304" pitchFamily="18" charset="0"/>
              </a:rPr>
              <a:t> —  укажите координаты, категории бизнеса, название и др. Правила указаны на официальных сайтах площадок — </a:t>
            </a:r>
            <a:r>
              <a:rPr lang="ru-RU" sz="2400" u="sng" dirty="0">
                <a:solidFill>
                  <a:srgbClr val="0000FF"/>
                </a:solidFill>
                <a:latin typeface="Times New Roman" panose="02020603050405020304" pitchFamily="18" charset="0"/>
                <a:ea typeface="Calibri" panose="020F0502020204030204" pitchFamily="34" charset="0"/>
                <a:cs typeface="Times New Roman" panose="02020603050405020304" pitchFamily="18" charset="0"/>
                <a:hlinkClick r:id="rId2"/>
              </a:rPr>
              <a:t>«‎</a:t>
            </a:r>
            <a:r>
              <a:rPr lang="ru-RU" sz="2400" u="sng" dirty="0" err="1">
                <a:solidFill>
                  <a:srgbClr val="0000FF"/>
                </a:solidFill>
                <a:latin typeface="Times New Roman" panose="02020603050405020304" pitchFamily="18" charset="0"/>
                <a:ea typeface="Calibri" panose="020F0502020204030204" pitchFamily="34" charset="0"/>
                <a:cs typeface="Times New Roman" panose="02020603050405020304" pitchFamily="18" charset="0"/>
                <a:hlinkClick r:id="rId2"/>
              </a:rPr>
              <a:t>Яндекс.Справочник</a:t>
            </a:r>
            <a:r>
              <a:rPr lang="ru-RU" sz="2400" u="sng" dirty="0">
                <a:solidFill>
                  <a:srgbClr val="0000FF"/>
                </a:solidFill>
                <a:latin typeface="Times New Roman" panose="02020603050405020304" pitchFamily="18" charset="0"/>
                <a:ea typeface="Calibri" panose="020F0502020204030204" pitchFamily="34" charset="0"/>
                <a:cs typeface="Times New Roman" panose="02020603050405020304" pitchFamily="18" charset="0"/>
                <a:hlinkClick r:id="rId2"/>
              </a:rPr>
              <a:t>»</a:t>
            </a:r>
            <a:r>
              <a:rPr lang="ru-RU" sz="2400" dirty="0">
                <a:latin typeface="Times New Roman" panose="02020603050405020304" pitchFamily="18" charset="0"/>
                <a:ea typeface="Calibri" panose="020F0502020204030204" pitchFamily="34" charset="0"/>
                <a:cs typeface="Times New Roman" panose="02020603050405020304" pitchFamily="18" charset="0"/>
              </a:rPr>
              <a:t>, </a:t>
            </a:r>
            <a:r>
              <a:rPr lang="ru-RU" sz="2400" u="sng" dirty="0">
                <a:solidFill>
                  <a:srgbClr val="0000FF"/>
                </a:solidFill>
                <a:latin typeface="Times New Roman" panose="02020603050405020304" pitchFamily="18" charset="0"/>
                <a:ea typeface="Calibri" panose="020F0502020204030204" pitchFamily="34" charset="0"/>
                <a:cs typeface="Times New Roman" panose="02020603050405020304" pitchFamily="18" charset="0"/>
                <a:hlinkClick r:id="rId3"/>
              </a:rPr>
              <a:t>«</a:t>
            </a:r>
            <a:r>
              <a:rPr lang="ru-RU" sz="2400" u="sng" dirty="0" err="1">
                <a:solidFill>
                  <a:srgbClr val="0000FF"/>
                </a:solidFill>
                <a:latin typeface="Times New Roman" panose="02020603050405020304" pitchFamily="18" charset="0"/>
                <a:ea typeface="Calibri" panose="020F0502020204030204" pitchFamily="34" charset="0"/>
                <a:cs typeface="Times New Roman" panose="02020603050405020304" pitchFamily="18" charset="0"/>
                <a:hlinkClick r:id="rId3"/>
              </a:rPr>
              <a:t>Google.Карты</a:t>
            </a:r>
            <a:r>
              <a:rPr lang="ru-RU" sz="2400" u="sng" dirty="0">
                <a:solidFill>
                  <a:srgbClr val="0000FF"/>
                </a:solidFill>
                <a:latin typeface="Times New Roman" panose="02020603050405020304" pitchFamily="18" charset="0"/>
                <a:ea typeface="Calibri" panose="020F0502020204030204" pitchFamily="34" charset="0"/>
                <a:cs typeface="Times New Roman" panose="02020603050405020304" pitchFamily="18" charset="0"/>
                <a:hlinkClick r:id="rId3"/>
              </a:rPr>
              <a:t>»</a:t>
            </a:r>
            <a:r>
              <a:rPr lang="ru-RU" sz="2400" dirty="0">
                <a:latin typeface="Times New Roman" panose="02020603050405020304" pitchFamily="18" charset="0"/>
                <a:ea typeface="Calibri" panose="020F0502020204030204" pitchFamily="34" charset="0"/>
                <a:cs typeface="Times New Roman" panose="02020603050405020304" pitchFamily="18" charset="0"/>
              </a:rPr>
              <a:t>, </a:t>
            </a:r>
            <a:r>
              <a:rPr lang="ru-RU" sz="2400" u="sng" dirty="0">
                <a:solidFill>
                  <a:srgbClr val="0000FF"/>
                </a:solidFill>
                <a:latin typeface="Times New Roman" panose="02020603050405020304" pitchFamily="18" charset="0"/>
                <a:ea typeface="Calibri" panose="020F0502020204030204" pitchFamily="34" charset="0"/>
                <a:cs typeface="Times New Roman" panose="02020603050405020304" pitchFamily="18" charset="0"/>
                <a:hlinkClick r:id="rId4"/>
              </a:rPr>
              <a:t>2ГИС</a:t>
            </a:r>
            <a:r>
              <a:rPr lang="ru-RU" sz="2400" dirty="0">
                <a:latin typeface="Times New Roman" panose="02020603050405020304" pitchFamily="18" charset="0"/>
                <a:ea typeface="Calibri" panose="020F0502020204030204" pitchFamily="34" charset="0"/>
                <a:cs typeface="Times New Roman" panose="02020603050405020304" pitchFamily="18" charset="0"/>
              </a:rPr>
              <a:t>. </a:t>
            </a: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6399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32509" y="169729"/>
            <a:ext cx="11748655" cy="6370975"/>
          </a:xfrm>
          <a:prstGeom prst="rect">
            <a:avLst/>
          </a:prstGeom>
        </p:spPr>
        <p:txBody>
          <a:bodyPr wrap="square">
            <a:spAutoFit/>
          </a:bodyPr>
          <a:lstStyle/>
          <a:p>
            <a:pPr indent="450215" algn="just">
              <a:spcAft>
                <a:spcPts val="0"/>
              </a:spcAft>
            </a:pPr>
            <a:r>
              <a:rPr lang="ru-RU" sz="2400" b="1" dirty="0">
                <a:latin typeface="Times New Roman" panose="02020603050405020304" pitchFamily="18" charset="0"/>
                <a:ea typeface="Times New Roman" panose="02020603050405020304" pitchFamily="18" charset="0"/>
              </a:rPr>
              <a:t>5. Пройдите верификацию</a:t>
            </a:r>
            <a:r>
              <a:rPr lang="ru-RU" sz="2400" dirty="0">
                <a:latin typeface="Times New Roman" panose="02020603050405020304" pitchFamily="18" charset="0"/>
                <a:ea typeface="Times New Roman" panose="02020603050405020304" pitchFamily="18" charset="0"/>
              </a:rPr>
              <a:t> — бесплатное официальное подтверждение от </a:t>
            </a:r>
            <a:r>
              <a:rPr lang="ru-RU" sz="2400" dirty="0" err="1">
                <a:latin typeface="Times New Roman" panose="02020603050405020304" pitchFamily="18" charset="0"/>
                <a:ea typeface="Times New Roman" panose="02020603050405020304" pitchFamily="18" charset="0"/>
              </a:rPr>
              <a:t>геосервиса</a:t>
            </a:r>
            <a:r>
              <a:rPr lang="ru-RU" sz="2400" dirty="0">
                <a:latin typeface="Times New Roman" panose="02020603050405020304" pitchFamily="18" charset="0"/>
                <a:ea typeface="Times New Roman" panose="02020603050405020304" pitchFamily="18" charset="0"/>
              </a:rPr>
              <a:t>, что ваш бизнес действительно существует по адресу. Ее нужно сделать один раз. Владельцы верифицированной карточки могут отклонять изменения пользователей, отвечать на отзывы, подключать </a:t>
            </a:r>
            <a:r>
              <a:rPr lang="ru-RU" sz="2400" dirty="0" err="1">
                <a:latin typeface="Times New Roman" panose="02020603050405020304" pitchFamily="18" charset="0"/>
                <a:ea typeface="Times New Roman" panose="02020603050405020304" pitchFamily="18" charset="0"/>
              </a:rPr>
              <a:t>соцсети</a:t>
            </a:r>
            <a:r>
              <a:rPr lang="ru-RU" sz="2400" dirty="0">
                <a:latin typeface="Times New Roman" panose="02020603050405020304" pitchFamily="18" charset="0"/>
                <a:ea typeface="Times New Roman" panose="02020603050405020304" pitchFamily="18" charset="0"/>
              </a:rPr>
              <a:t>. </a:t>
            </a:r>
          </a:p>
          <a:p>
            <a:pPr indent="450215" algn="just">
              <a:spcAft>
                <a:spcPts val="0"/>
              </a:spcAft>
            </a:pPr>
            <a:r>
              <a:rPr lang="ru-RU" sz="2400" dirty="0">
                <a:latin typeface="Times New Roman" panose="02020603050405020304" pitchFamily="18" charset="0"/>
                <a:ea typeface="Times New Roman" panose="02020603050405020304" pitchFamily="18" charset="0"/>
              </a:rPr>
              <a:t>Пока компания не подтвердила авторство карточки, ее может присвоить любой пользователь и делать с ней, все что угодно: менять телефоны, закрывать филиалы, удалять фото и отзывы. Это может негативно сказаться на репутации компании. </a:t>
            </a:r>
          </a:p>
          <a:p>
            <a:pPr indent="450215" algn="just">
              <a:spcAft>
                <a:spcPts val="0"/>
              </a:spcAft>
            </a:pPr>
            <a:r>
              <a:rPr lang="ru-RU" sz="2400" b="1" dirty="0">
                <a:latin typeface="Times New Roman" panose="02020603050405020304" pitchFamily="18" charset="0"/>
                <a:ea typeface="Times New Roman" panose="02020603050405020304" pitchFamily="18" charset="0"/>
              </a:rPr>
              <a:t>6. Решите вопросы с контентом</a:t>
            </a:r>
            <a:r>
              <a:rPr lang="ru-RU" sz="2400" dirty="0">
                <a:latin typeface="Times New Roman" panose="02020603050405020304" pitchFamily="18" charset="0"/>
                <a:ea typeface="Times New Roman" panose="02020603050405020304" pitchFamily="18" charset="0"/>
              </a:rPr>
              <a:t>. В </a:t>
            </a:r>
            <a:r>
              <a:rPr lang="ru-RU" sz="2400" dirty="0" err="1">
                <a:latin typeface="Times New Roman" panose="02020603050405020304" pitchFamily="18" charset="0"/>
                <a:ea typeface="Times New Roman" panose="02020603050405020304" pitchFamily="18" charset="0"/>
              </a:rPr>
              <a:t>геосервисах</a:t>
            </a:r>
            <a:r>
              <a:rPr lang="ru-RU" sz="2400" dirty="0">
                <a:latin typeface="Times New Roman" panose="02020603050405020304" pitchFamily="18" charset="0"/>
                <a:ea typeface="Times New Roman" panose="02020603050405020304" pitchFamily="18" charset="0"/>
              </a:rPr>
              <a:t> пользователи могут сами добавлять фото в карточку вашего бизнеса, потому что они там были, и </a:t>
            </a:r>
            <a:r>
              <a:rPr lang="ru-RU" sz="2400" dirty="0" err="1">
                <a:latin typeface="Times New Roman" panose="02020603050405020304" pitchFamily="18" charset="0"/>
                <a:ea typeface="Times New Roman" panose="02020603050405020304" pitchFamily="18" charset="0"/>
              </a:rPr>
              <a:t>геосервис</a:t>
            </a:r>
            <a:r>
              <a:rPr lang="ru-RU" sz="2400" dirty="0">
                <a:latin typeface="Times New Roman" panose="02020603050405020304" pitchFamily="18" charset="0"/>
                <a:ea typeface="Times New Roman" panose="02020603050405020304" pitchFamily="18" charset="0"/>
              </a:rPr>
              <a:t> предлагает им поделиться. Фото от пользователей — это круто и очень живо, но они не всегда эстетичные. Поэтому нужно заботиться о привлекательности </a:t>
            </a:r>
            <a:r>
              <a:rPr lang="ru-RU" sz="2400" dirty="0" err="1">
                <a:latin typeface="Times New Roman" panose="02020603050405020304" pitchFamily="18" charset="0"/>
                <a:ea typeface="Times New Roman" panose="02020603050405020304" pitchFamily="18" charset="0"/>
              </a:rPr>
              <a:t>визуала</a:t>
            </a:r>
            <a:r>
              <a:rPr lang="ru-RU" sz="2400" dirty="0">
                <a:latin typeface="Times New Roman" panose="02020603050405020304" pitchFamily="18" charset="0"/>
                <a:ea typeface="Times New Roman" panose="02020603050405020304" pitchFamily="18" charset="0"/>
              </a:rPr>
              <a:t> и подавать жалобы на неактуальные фото, чтобы </a:t>
            </a:r>
            <a:r>
              <a:rPr lang="ru-RU" sz="2400" dirty="0" err="1">
                <a:latin typeface="Times New Roman" panose="02020603050405020304" pitchFamily="18" charset="0"/>
                <a:ea typeface="Times New Roman" panose="02020603050405020304" pitchFamily="18" charset="0"/>
              </a:rPr>
              <a:t>геосервис</a:t>
            </a:r>
            <a:r>
              <a:rPr lang="ru-RU" sz="2400" dirty="0">
                <a:latin typeface="Times New Roman" panose="02020603050405020304" pitchFamily="18" charset="0"/>
                <a:ea typeface="Times New Roman" panose="02020603050405020304" pitchFamily="18" charset="0"/>
              </a:rPr>
              <a:t> их удалил.</a:t>
            </a:r>
          </a:p>
          <a:p>
            <a:pPr indent="450215" algn="just">
              <a:spcAft>
                <a:spcPts val="0"/>
              </a:spcAft>
            </a:pPr>
            <a:r>
              <a:rPr lang="ru-RU" sz="2400" b="1" dirty="0">
                <a:latin typeface="Times New Roman" panose="02020603050405020304" pitchFamily="18" charset="0"/>
                <a:ea typeface="Times New Roman" panose="02020603050405020304" pitchFamily="18" charset="0"/>
              </a:rPr>
              <a:t>7. Настройте </a:t>
            </a:r>
            <a:r>
              <a:rPr lang="ru-RU" sz="2400" b="1" dirty="0" err="1">
                <a:latin typeface="Times New Roman" panose="02020603050405020304" pitchFamily="18" charset="0"/>
                <a:ea typeface="Times New Roman" panose="02020603050405020304" pitchFamily="18" charset="0"/>
              </a:rPr>
              <a:t>комьюнити</a:t>
            </a:r>
            <a:r>
              <a:rPr lang="ru-RU" sz="2400" b="1" dirty="0">
                <a:latin typeface="Times New Roman" panose="02020603050405020304" pitchFamily="18" charset="0"/>
                <a:ea typeface="Times New Roman" panose="02020603050405020304" pitchFamily="18" charset="0"/>
              </a:rPr>
              <a:t>-менеджмент</a:t>
            </a:r>
            <a:r>
              <a:rPr lang="ru-RU" sz="2400" dirty="0">
                <a:latin typeface="Times New Roman" panose="02020603050405020304" pitchFamily="18" charset="0"/>
                <a:ea typeface="Times New Roman" panose="02020603050405020304" pitchFamily="18" charset="0"/>
              </a:rPr>
              <a:t>. Назначьте сотрудника, который будет обрабатывать отзывы и выстраивать тональность коммуникаций.</a:t>
            </a:r>
          </a:p>
          <a:p>
            <a:pPr indent="450215" algn="just">
              <a:spcAft>
                <a:spcPts val="0"/>
              </a:spcAft>
            </a:pPr>
            <a:r>
              <a:rPr lang="ru-RU" sz="2400" b="1" dirty="0">
                <a:latin typeface="Times New Roman" panose="02020603050405020304" pitchFamily="18" charset="0"/>
                <a:ea typeface="Times New Roman" panose="02020603050405020304" pitchFamily="18" charset="0"/>
              </a:rPr>
              <a:t>8. Обновляйте данные раз в квартал, если поменялся телефон или филиал закрылся</a:t>
            </a:r>
            <a:r>
              <a:rPr lang="ru-RU" sz="2400" dirty="0">
                <a:latin typeface="Times New Roman" panose="02020603050405020304" pitchFamily="18" charset="0"/>
                <a:ea typeface="Times New Roman" panose="02020603050405020304" pitchFamily="18" charset="0"/>
              </a:rPr>
              <a:t>. Так информация в публичном доступе будет всегда актуальной, и ваши клиенты найдут вас по верным адресам. </a:t>
            </a:r>
          </a:p>
        </p:txBody>
      </p:sp>
    </p:spTree>
    <p:extLst>
      <p:ext uri="{BB962C8B-B14F-4D97-AF65-F5344CB8AC3E}">
        <p14:creationId xmlns:p14="http://schemas.microsoft.com/office/powerpoint/2010/main" val="1673140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Схема 1"/>
          <p:cNvGraphicFramePr/>
          <p:nvPr>
            <p:extLst>
              <p:ext uri="{D42A27DB-BD31-4B8C-83A1-F6EECF244321}">
                <p14:modId xmlns:p14="http://schemas.microsoft.com/office/powerpoint/2010/main" val="294248406"/>
              </p:ext>
            </p:extLst>
          </p:nvPr>
        </p:nvGraphicFramePr>
        <p:xfrm>
          <a:off x="0" y="0"/>
          <a:ext cx="121920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33724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280316" y="117379"/>
            <a:ext cx="4800097" cy="468077"/>
          </a:xfrm>
          <a:prstGeom prst="rect">
            <a:avLst/>
          </a:prstGeom>
        </p:spPr>
        <p:txBody>
          <a:bodyPr wrap="none">
            <a:spAutoFit/>
          </a:bodyPr>
          <a:lstStyle/>
          <a:p>
            <a:pPr indent="450215" algn="just">
              <a:lnSpc>
                <a:spcPct val="107000"/>
              </a:lnSpc>
              <a:spcBef>
                <a:spcPts val="200"/>
              </a:spcBef>
              <a:spcAft>
                <a:spcPts val="0"/>
              </a:spcAft>
            </a:pPr>
            <a:r>
              <a:rPr lang="ru-RU"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Как измерить эффективность</a:t>
            </a:r>
            <a:endParaRPr lang="ru-RU" sz="2400" b="1" dirty="0">
              <a:solidFill>
                <a:srgbClr val="FF0000"/>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pic>
        <p:nvPicPr>
          <p:cNvPr id="3" name="Рисунок 2" descr="Статистика в «Яндекс. Справочнике»">
            <a:hlinkClick r:id="rId2" tgtFrame="&quot;_blank&quo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2117" y="585456"/>
            <a:ext cx="5540028" cy="6161708"/>
          </a:xfrm>
          <a:prstGeom prst="rect">
            <a:avLst/>
          </a:prstGeom>
          <a:noFill/>
          <a:ln>
            <a:noFill/>
          </a:ln>
        </p:spPr>
      </p:pic>
      <p:sp>
        <p:nvSpPr>
          <p:cNvPr id="4" name="Прямоугольник 3"/>
          <p:cNvSpPr/>
          <p:nvPr/>
        </p:nvSpPr>
        <p:spPr>
          <a:xfrm>
            <a:off x="5929745" y="1053533"/>
            <a:ext cx="6096000" cy="2862322"/>
          </a:xfrm>
          <a:prstGeom prst="rect">
            <a:avLst/>
          </a:prstGeom>
        </p:spPr>
        <p:txBody>
          <a:bodyPr>
            <a:spAutoFit/>
          </a:bodyPr>
          <a:lstStyle/>
          <a:p>
            <a:pPr indent="450215" algn="just">
              <a:spcAft>
                <a:spcPts val="0"/>
              </a:spcAft>
            </a:pPr>
            <a:r>
              <a:rPr lang="ru-RU" sz="2000">
                <a:latin typeface="Times New Roman" panose="02020603050405020304" pitchFamily="18" charset="0"/>
                <a:ea typeface="Times New Roman" panose="02020603050405020304" pitchFamily="18" charset="0"/>
              </a:rPr>
              <a:t>В </a:t>
            </a:r>
            <a:r>
              <a:rPr lang="ru-RU" sz="2000" dirty="0" err="1">
                <a:latin typeface="Times New Roman" panose="02020603050405020304" pitchFamily="18" charset="0"/>
                <a:ea typeface="Times New Roman" panose="02020603050405020304" pitchFamily="18" charset="0"/>
              </a:rPr>
              <a:t>геосервисах</a:t>
            </a:r>
            <a:r>
              <a:rPr lang="ru-RU" sz="2000" dirty="0">
                <a:latin typeface="Times New Roman" panose="02020603050405020304" pitchFamily="18" charset="0"/>
                <a:ea typeface="Times New Roman" panose="02020603050405020304" pitchFamily="18" charset="0"/>
              </a:rPr>
              <a:t> есть аналитика в бесплатном доступе. Например, в «‎</a:t>
            </a:r>
            <a:r>
              <a:rPr lang="ru-RU" sz="2000" dirty="0" err="1">
                <a:latin typeface="Times New Roman" panose="02020603050405020304" pitchFamily="18" charset="0"/>
                <a:ea typeface="Times New Roman" panose="02020603050405020304" pitchFamily="18" charset="0"/>
              </a:rPr>
              <a:t>Яндекс.Справочнике</a:t>
            </a:r>
            <a:r>
              <a:rPr lang="ru-RU" sz="2000" dirty="0">
                <a:latin typeface="Times New Roman" panose="02020603050405020304" pitchFamily="18" charset="0"/>
                <a:ea typeface="Times New Roman" panose="02020603050405020304" pitchFamily="18" charset="0"/>
              </a:rPr>
              <a:t>» можно посмотреть, по каким запросам пользователь чаще всего находит ваше заведение, откуда были переходы, кто ваши конкуренты по категории в радиусе 1 км, какие действия совершают с карточкой и др. </a:t>
            </a:r>
          </a:p>
          <a:p>
            <a:pPr indent="450215" algn="just">
              <a:spcAft>
                <a:spcPts val="0"/>
              </a:spcAft>
            </a:pPr>
            <a:r>
              <a:rPr lang="ru-RU" sz="2000" dirty="0">
                <a:latin typeface="Times New Roman" panose="02020603050405020304" pitchFamily="18" charset="0"/>
                <a:ea typeface="Times New Roman" panose="02020603050405020304" pitchFamily="18" charset="0"/>
              </a:rPr>
              <a:t>С аналитическими данными вы можете улучшать внешний вид и функционал своей карточки, а также ставить цели, KPI и добиваться результатов.</a:t>
            </a:r>
          </a:p>
        </p:txBody>
      </p:sp>
    </p:spTree>
    <p:extLst>
      <p:ext uri="{BB962C8B-B14F-4D97-AF65-F5344CB8AC3E}">
        <p14:creationId xmlns:p14="http://schemas.microsoft.com/office/powerpoint/2010/main" val="37629398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923664" y="145088"/>
            <a:ext cx="1790490" cy="468077"/>
          </a:xfrm>
          <a:prstGeom prst="rect">
            <a:avLst/>
          </a:prstGeom>
        </p:spPr>
        <p:txBody>
          <a:bodyPr wrap="none">
            <a:spAutoFit/>
          </a:bodyPr>
          <a:lstStyle/>
          <a:p>
            <a:pPr indent="450215" algn="just">
              <a:lnSpc>
                <a:spcPct val="107000"/>
              </a:lnSpc>
              <a:spcBef>
                <a:spcPts val="200"/>
              </a:spcBef>
              <a:spcAft>
                <a:spcPts val="0"/>
              </a:spcAft>
            </a:pPr>
            <a:r>
              <a:rPr lang="ru-RU"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Выводы</a:t>
            </a:r>
            <a:endParaRPr lang="ru-RU" sz="2400" b="1" dirty="0">
              <a:solidFill>
                <a:srgbClr val="FF0000"/>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3" name="Прямоугольник 2"/>
          <p:cNvSpPr/>
          <p:nvPr/>
        </p:nvSpPr>
        <p:spPr>
          <a:xfrm>
            <a:off x="263235" y="718906"/>
            <a:ext cx="11471563" cy="5275290"/>
          </a:xfrm>
          <a:prstGeom prst="rect">
            <a:avLst/>
          </a:prstGeom>
        </p:spPr>
        <p:txBody>
          <a:bodyPr wrap="square">
            <a:spAutoFit/>
          </a:bodyPr>
          <a:lstStyle/>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err="1">
                <a:latin typeface="Times New Roman" panose="02020603050405020304" pitchFamily="18" charset="0"/>
                <a:ea typeface="Calibri" panose="020F0502020204030204" pitchFamily="34" charset="0"/>
                <a:cs typeface="Times New Roman" panose="02020603050405020304" pitchFamily="18" charset="0"/>
              </a:rPr>
              <a:t>Геомаркетинг</a:t>
            </a:r>
            <a:r>
              <a:rPr lang="ru-RU" sz="2000" dirty="0">
                <a:latin typeface="Times New Roman" panose="02020603050405020304" pitchFamily="18" charset="0"/>
                <a:ea typeface="Calibri" panose="020F0502020204030204" pitchFamily="34" charset="0"/>
                <a:cs typeface="Times New Roman" panose="02020603050405020304" pitchFamily="18" charset="0"/>
              </a:rPr>
              <a:t> похож одновременно на SEO и SMM. Это работа со специфичными поисковыми системами — </a:t>
            </a:r>
            <a:r>
              <a:rPr lang="ru-RU" sz="2000" dirty="0" err="1">
                <a:latin typeface="Times New Roman" panose="02020603050405020304" pitchFamily="18" charset="0"/>
                <a:ea typeface="Calibri" panose="020F0502020204030204" pitchFamily="34" charset="0"/>
                <a:cs typeface="Times New Roman" panose="02020603050405020304" pitchFamily="18" charset="0"/>
              </a:rPr>
              <a:t>геосервисами</a:t>
            </a:r>
            <a:r>
              <a:rPr lang="ru-RU" sz="2000" dirty="0">
                <a:latin typeface="Times New Roman" panose="02020603050405020304" pitchFamily="18" charset="0"/>
                <a:ea typeface="Calibri" panose="020F0502020204030204" pitchFamily="34" charset="0"/>
                <a:cs typeface="Times New Roman" panose="02020603050405020304" pitchFamily="18" charset="0"/>
              </a:rPr>
              <a:t>, например, «‎</a:t>
            </a:r>
            <a:r>
              <a:rPr lang="ru-RU" sz="2000" dirty="0" err="1">
                <a:latin typeface="Times New Roman" panose="02020603050405020304" pitchFamily="18" charset="0"/>
                <a:ea typeface="Calibri" panose="020F0502020204030204" pitchFamily="34" charset="0"/>
                <a:cs typeface="Times New Roman" panose="02020603050405020304" pitchFamily="18" charset="0"/>
              </a:rPr>
              <a:t>Google.Картами</a:t>
            </a:r>
            <a:r>
              <a:rPr lang="ru-RU" sz="2000" dirty="0">
                <a:latin typeface="Times New Roman" panose="02020603050405020304" pitchFamily="18" charset="0"/>
                <a:ea typeface="Calibri" panose="020F0502020204030204" pitchFamily="34" charset="0"/>
                <a:cs typeface="Times New Roman" panose="02020603050405020304" pitchFamily="18" charset="0"/>
              </a:rPr>
              <a:t>», «‎</a:t>
            </a:r>
            <a:r>
              <a:rPr lang="ru-RU" sz="2000" dirty="0" err="1">
                <a:latin typeface="Times New Roman" panose="02020603050405020304" pitchFamily="18" charset="0"/>
                <a:ea typeface="Calibri" panose="020F0502020204030204" pitchFamily="34" charset="0"/>
                <a:cs typeface="Times New Roman" panose="02020603050405020304" pitchFamily="18" charset="0"/>
              </a:rPr>
              <a:t>Яндекс.Навигатором</a:t>
            </a:r>
            <a:r>
              <a:rPr lang="ru-RU" sz="2000" dirty="0">
                <a:latin typeface="Times New Roman" panose="02020603050405020304" pitchFamily="18" charset="0"/>
                <a:ea typeface="Calibri" panose="020F0502020204030204" pitchFamily="34" charset="0"/>
                <a:cs typeface="Times New Roman" panose="02020603050405020304" pitchFamily="18" charset="0"/>
              </a:rPr>
              <a:t>» и 2ГИС. </a:t>
            </a: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err="1">
                <a:latin typeface="Times New Roman" panose="02020603050405020304" pitchFamily="18" charset="0"/>
                <a:ea typeface="Calibri" panose="020F0502020204030204" pitchFamily="34" charset="0"/>
                <a:cs typeface="Times New Roman" panose="02020603050405020304" pitchFamily="18" charset="0"/>
              </a:rPr>
              <a:t>Геомаркетинг</a:t>
            </a:r>
            <a:r>
              <a:rPr lang="ru-RU" sz="2000" dirty="0">
                <a:latin typeface="Times New Roman" panose="02020603050405020304" pitchFamily="18" charset="0"/>
                <a:ea typeface="Calibri" panose="020F0502020204030204" pitchFamily="34" charset="0"/>
                <a:cs typeface="Times New Roman" panose="02020603050405020304" pitchFamily="18" charset="0"/>
              </a:rPr>
              <a:t> про репутацию и онлайн-присутствие, проще говоря — быть там, где вас ищут.</a:t>
            </a: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err="1">
                <a:latin typeface="Times New Roman" panose="02020603050405020304" pitchFamily="18" charset="0"/>
                <a:ea typeface="Calibri" panose="020F0502020204030204" pitchFamily="34" charset="0"/>
                <a:cs typeface="Times New Roman" panose="02020603050405020304" pitchFamily="18" charset="0"/>
              </a:rPr>
              <a:t>Геомаркетинг</a:t>
            </a:r>
            <a:r>
              <a:rPr lang="ru-RU" sz="2000" dirty="0">
                <a:latin typeface="Times New Roman" panose="02020603050405020304" pitchFamily="18" charset="0"/>
                <a:ea typeface="Calibri" panose="020F0502020204030204" pitchFamily="34" charset="0"/>
                <a:cs typeface="Times New Roman" panose="02020603050405020304" pitchFamily="18" charset="0"/>
              </a:rPr>
              <a:t> будет эффективным, если регулярно работать с сервисами — недостаточно просто создать карточки и забыть о них навсегда.</a:t>
            </a: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Calibri" panose="020F0502020204030204" pitchFamily="34" charset="0"/>
                <a:cs typeface="Times New Roman" panose="02020603050405020304" pitchFamily="18" charset="0"/>
              </a:rPr>
              <a:t>Люди совершают много действий со смартфона, где есть автоматическая </a:t>
            </a:r>
            <a:r>
              <a:rPr lang="ru-RU" sz="2000" dirty="0" err="1">
                <a:latin typeface="Times New Roman" panose="02020603050405020304" pitchFamily="18" charset="0"/>
                <a:ea typeface="Calibri" panose="020F0502020204030204" pitchFamily="34" charset="0"/>
                <a:cs typeface="Times New Roman" panose="02020603050405020304" pitchFamily="18" charset="0"/>
              </a:rPr>
              <a:t>геолокация</a:t>
            </a:r>
            <a:r>
              <a:rPr lang="ru-RU" sz="2000" dirty="0">
                <a:latin typeface="Times New Roman" panose="02020603050405020304" pitchFamily="18" charset="0"/>
                <a:ea typeface="Calibri" panose="020F0502020204030204" pitchFamily="34" charset="0"/>
                <a:cs typeface="Times New Roman" panose="02020603050405020304" pitchFamily="18" charset="0"/>
              </a:rPr>
              <a:t>. Поисковик считывает эту </a:t>
            </a:r>
            <a:r>
              <a:rPr lang="ru-RU" sz="2000" dirty="0" err="1">
                <a:latin typeface="Times New Roman" panose="02020603050405020304" pitchFamily="18" charset="0"/>
                <a:ea typeface="Calibri" panose="020F0502020204030204" pitchFamily="34" charset="0"/>
                <a:cs typeface="Times New Roman" panose="02020603050405020304" pitchFamily="18" charset="0"/>
              </a:rPr>
              <a:t>геолокацию</a:t>
            </a:r>
            <a:r>
              <a:rPr lang="ru-RU" sz="2000" dirty="0">
                <a:latin typeface="Times New Roman" panose="02020603050405020304" pitchFamily="18" charset="0"/>
                <a:ea typeface="Calibri" panose="020F0502020204030204" pitchFamily="34" charset="0"/>
                <a:cs typeface="Times New Roman" panose="02020603050405020304" pitchFamily="18" charset="0"/>
              </a:rPr>
              <a:t> и показывает наиболее релевантные ей результаты. Поэтому бизнесам выгодно появляться в локальном поиске, чтобы люди чаще выбирали их продукты и услуги.</a:t>
            </a: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err="1">
                <a:latin typeface="Times New Roman" panose="02020603050405020304" pitchFamily="18" charset="0"/>
                <a:ea typeface="Calibri" panose="020F0502020204030204" pitchFamily="34" charset="0"/>
                <a:cs typeface="Times New Roman" panose="02020603050405020304" pitchFamily="18" charset="0"/>
              </a:rPr>
              <a:t>Геомаркетинг</a:t>
            </a:r>
            <a:r>
              <a:rPr lang="ru-RU" sz="2000" dirty="0">
                <a:latin typeface="Times New Roman" panose="02020603050405020304" pitchFamily="18" charset="0"/>
                <a:ea typeface="Calibri" panose="020F0502020204030204" pitchFamily="34" charset="0"/>
                <a:cs typeface="Times New Roman" panose="02020603050405020304" pitchFamily="18" charset="0"/>
              </a:rPr>
              <a:t> подходит всем офлайн-бизнесам, куда можно прийти за товаром или получить услугу. </a:t>
            </a: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Calibri" panose="020F0502020204030204" pitchFamily="34" charset="0"/>
                <a:cs typeface="Times New Roman" panose="02020603050405020304" pitchFamily="18" charset="0"/>
              </a:rPr>
              <a:t>Можно начинать заниматься </a:t>
            </a:r>
            <a:r>
              <a:rPr lang="ru-RU" sz="2000" dirty="0" err="1">
                <a:latin typeface="Times New Roman" panose="02020603050405020304" pitchFamily="18" charset="0"/>
                <a:ea typeface="Calibri" panose="020F0502020204030204" pitchFamily="34" charset="0"/>
                <a:cs typeface="Times New Roman" panose="02020603050405020304" pitchFamily="18" charset="0"/>
              </a:rPr>
              <a:t>геомаркетингом</a:t>
            </a:r>
            <a:r>
              <a:rPr lang="ru-RU" sz="2000" dirty="0">
                <a:latin typeface="Times New Roman" panose="02020603050405020304" pitchFamily="18" charset="0"/>
                <a:ea typeface="Calibri" panose="020F0502020204030204" pitchFamily="34" charset="0"/>
                <a:cs typeface="Times New Roman" panose="02020603050405020304" pitchFamily="18" charset="0"/>
              </a:rPr>
              <a:t> без бюджета, если не считать зарплату маркетолога. </a:t>
            </a: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Calibri" panose="020F0502020204030204" pitchFamily="34" charset="0"/>
                <a:cs typeface="Times New Roman" panose="02020603050405020304" pitchFamily="18" charset="0"/>
              </a:rPr>
              <a:t>Для запуска </a:t>
            </a:r>
            <a:r>
              <a:rPr lang="ru-RU" sz="2000" dirty="0" err="1">
                <a:latin typeface="Times New Roman" panose="02020603050405020304" pitchFamily="18" charset="0"/>
                <a:ea typeface="Calibri" panose="020F0502020204030204" pitchFamily="34" charset="0"/>
                <a:cs typeface="Times New Roman" panose="02020603050405020304" pitchFamily="18" charset="0"/>
              </a:rPr>
              <a:t>геормаркетинга</a:t>
            </a:r>
            <a:r>
              <a:rPr lang="ru-RU" sz="2000" dirty="0">
                <a:latin typeface="Times New Roman" panose="02020603050405020304" pitchFamily="18" charset="0"/>
                <a:ea typeface="Calibri" panose="020F0502020204030204" pitchFamily="34" charset="0"/>
                <a:cs typeface="Times New Roman" panose="02020603050405020304" pitchFamily="18" charset="0"/>
              </a:rPr>
              <a:t> понадобится информация о филиалах, время и терпение. Но есть платформы, которые это автоматизируют: </a:t>
            </a:r>
            <a:r>
              <a:rPr lang="ru-RU" sz="2000" dirty="0" err="1">
                <a:latin typeface="Times New Roman" panose="02020603050405020304" pitchFamily="18" charset="0"/>
                <a:ea typeface="Calibri" panose="020F0502020204030204" pitchFamily="34" charset="0"/>
                <a:cs typeface="Times New Roman" panose="02020603050405020304" pitchFamily="18" charset="0"/>
              </a:rPr>
              <a:t>RocketData</a:t>
            </a:r>
            <a:r>
              <a:rPr lang="ru-RU" sz="2000" dirty="0">
                <a:latin typeface="Times New Roman" panose="02020603050405020304" pitchFamily="18" charset="0"/>
                <a:ea typeface="Calibri" panose="020F0502020204030204" pitchFamily="34" charset="0"/>
                <a:cs typeface="Times New Roman" panose="02020603050405020304" pitchFamily="18" charset="0"/>
              </a:rPr>
              <a:t>, </a:t>
            </a:r>
            <a:r>
              <a:rPr lang="ru-RU" sz="2000" dirty="0" err="1">
                <a:latin typeface="Times New Roman" panose="02020603050405020304" pitchFamily="18" charset="0"/>
                <a:ea typeface="Calibri" panose="020F0502020204030204" pitchFamily="34" charset="0"/>
                <a:cs typeface="Times New Roman" panose="02020603050405020304" pitchFamily="18" charset="0"/>
              </a:rPr>
              <a:t>Uberall</a:t>
            </a:r>
            <a:r>
              <a:rPr lang="ru-RU" sz="2000" dirty="0">
                <a:latin typeface="Times New Roman" panose="02020603050405020304" pitchFamily="18" charset="0"/>
                <a:ea typeface="Calibri" panose="020F0502020204030204" pitchFamily="34" charset="0"/>
                <a:cs typeface="Times New Roman" panose="02020603050405020304" pitchFamily="18" charset="0"/>
              </a:rPr>
              <a:t>, </a:t>
            </a:r>
            <a:r>
              <a:rPr lang="ru-RU" sz="2000" dirty="0" err="1">
                <a:latin typeface="Times New Roman" panose="02020603050405020304" pitchFamily="18" charset="0"/>
                <a:ea typeface="Calibri" panose="020F0502020204030204" pitchFamily="34" charset="0"/>
                <a:cs typeface="Times New Roman" panose="02020603050405020304" pitchFamily="18" charset="0"/>
              </a:rPr>
              <a:t>Yext</a:t>
            </a:r>
            <a:r>
              <a:rPr lang="ru-RU" sz="2000" dirty="0">
                <a:latin typeface="Times New Roman" panose="02020603050405020304" pitchFamily="18" charset="0"/>
                <a:ea typeface="Calibri" panose="020F0502020204030204" pitchFamily="34" charset="0"/>
                <a:cs typeface="Times New Roman" panose="02020603050405020304" pitchFamily="18" charset="0"/>
              </a:rPr>
              <a:t>.</a:t>
            </a:r>
          </a:p>
          <a:p>
            <a:r>
              <a:rPr lang="ru-RU" sz="2000" dirty="0">
                <a:latin typeface="Times New Roman" panose="02020603050405020304" pitchFamily="18" charset="0"/>
                <a:ea typeface="Calibri" panose="020F0502020204030204" pitchFamily="34" charset="0"/>
                <a:cs typeface="Times New Roman" panose="02020603050405020304" pitchFamily="18" charset="0"/>
              </a:rPr>
              <a:t>Обязательно верифицируйте карточку своего филиала в </a:t>
            </a:r>
            <a:r>
              <a:rPr lang="ru-RU" sz="2000" dirty="0" err="1">
                <a:latin typeface="Times New Roman" panose="02020603050405020304" pitchFamily="18" charset="0"/>
                <a:ea typeface="Calibri" panose="020F0502020204030204" pitchFamily="34" charset="0"/>
                <a:cs typeface="Times New Roman" panose="02020603050405020304" pitchFamily="18" charset="0"/>
              </a:rPr>
              <a:t>геосервисе</a:t>
            </a:r>
            <a:r>
              <a:rPr lang="ru-RU" sz="2000" dirty="0">
                <a:latin typeface="Times New Roman" panose="02020603050405020304" pitchFamily="18" charset="0"/>
                <a:ea typeface="Calibri" panose="020F0502020204030204" pitchFamily="34" charset="0"/>
                <a:cs typeface="Times New Roman" panose="02020603050405020304" pitchFamily="18" charset="0"/>
              </a:rPr>
              <a:t>. Владельцы верифицированной карточки могут отклонять изменения пользователей, отвечать на отзывы, подключать </a:t>
            </a:r>
            <a:r>
              <a:rPr lang="ru-RU" sz="2000" dirty="0" err="1">
                <a:latin typeface="Times New Roman" panose="02020603050405020304" pitchFamily="18" charset="0"/>
                <a:ea typeface="Calibri" panose="020F0502020204030204" pitchFamily="34" charset="0"/>
                <a:cs typeface="Times New Roman" panose="02020603050405020304" pitchFamily="18" charset="0"/>
              </a:rPr>
              <a:t>соцсети</a:t>
            </a:r>
            <a:r>
              <a:rPr lang="ru-RU" sz="2000" dirty="0">
                <a:latin typeface="Times New Roman" panose="02020603050405020304" pitchFamily="18" charset="0"/>
                <a:ea typeface="Calibri" panose="020F0502020204030204" pitchFamily="34" charset="0"/>
                <a:cs typeface="Times New Roman" panose="02020603050405020304" pitchFamily="18" charset="0"/>
              </a:rPr>
              <a:t>. Пока компания не подтвердила авторство карточки, ее может присвоить любой пользователь и делать с ней, все что угодно: менять телефоны, закрывать филиалы, удалять фото и отзывы</a:t>
            </a:r>
            <a:endParaRPr lang="ru-RU"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16803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Прямоугольник 12"/>
          <p:cNvSpPr>
            <a:spLocks noChangeArrowheads="1"/>
          </p:cNvSpPr>
          <p:nvPr/>
        </p:nvSpPr>
        <p:spPr bwMode="auto">
          <a:xfrm>
            <a:off x="435635" y="463138"/>
            <a:ext cx="581890" cy="843149"/>
          </a:xfrm>
          <a:prstGeom prst="rect">
            <a:avLst/>
          </a:prstGeom>
          <a:gradFill rotWithShape="1">
            <a:gsLst>
              <a:gs pos="0">
                <a:srgbClr val="770000"/>
              </a:gs>
              <a:gs pos="50000">
                <a:srgbClr val="AD0000"/>
              </a:gs>
              <a:gs pos="100000">
                <a:srgbClr val="CE0000"/>
              </a:gs>
            </a:gsLst>
            <a:lin ang="0" scaled="1"/>
          </a:gradFill>
          <a:ln w="9525" algn="ctr">
            <a:noFill/>
            <a:round/>
            <a:headEnd/>
            <a:tailEnd/>
          </a:ln>
        </p:spPr>
        <p:txBody>
          <a:bodyPr/>
          <a:lstStyle/>
          <a:p>
            <a:pPr defTabSz="1043001"/>
            <a:endParaRPr lang="ru-RU" sz="2100" dirty="0"/>
          </a:p>
        </p:txBody>
      </p:sp>
      <p:sp>
        <p:nvSpPr>
          <p:cNvPr id="9" name="Номер слайда 8"/>
          <p:cNvSpPr>
            <a:spLocks noGrp="1"/>
          </p:cNvSpPr>
          <p:nvPr>
            <p:ph type="sldNum" sz="quarter" idx="12"/>
          </p:nvPr>
        </p:nvSpPr>
        <p:spPr/>
        <p:txBody>
          <a:bodyPr/>
          <a:lstStyle/>
          <a:p>
            <a:fld id="{027F3A33-6A4A-4395-8324-C6DCD486F135}" type="slidenum">
              <a:rPr lang="ru-RU" smtClean="0">
                <a:solidFill>
                  <a:schemeClr val="bg2">
                    <a:lumMod val="75000"/>
                  </a:schemeClr>
                </a:solidFill>
              </a:rPr>
              <a:pPr/>
              <a:t>21</a:t>
            </a:fld>
            <a:endParaRPr lang="ru-RU" dirty="0">
              <a:solidFill>
                <a:schemeClr val="bg2">
                  <a:lumMod val="75000"/>
                </a:schemeClr>
              </a:solidFill>
            </a:endParaRPr>
          </a:p>
        </p:txBody>
      </p:sp>
      <p:pic>
        <p:nvPicPr>
          <p:cNvPr id="1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0250" y="463138"/>
            <a:ext cx="2827683" cy="880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726580" y="2341171"/>
            <a:ext cx="10254195" cy="2185214"/>
          </a:xfrm>
          <a:prstGeom prst="rect">
            <a:avLst/>
          </a:prstGeom>
          <a:noFill/>
        </p:spPr>
        <p:txBody>
          <a:bodyPr wrap="square" rtlCol="0">
            <a:spAutoFit/>
          </a:bodyPr>
          <a:lstStyle/>
          <a:p>
            <a:pPr lvl="0" algn="ctr"/>
            <a:r>
              <a:rPr lang="ru-RU" sz="4800" b="1" dirty="0">
                <a:solidFill>
                  <a:srgbClr val="FF0000"/>
                </a:solidFill>
              </a:rPr>
              <a:t>ГИС ДЛЯ РЕШЕНИЯ ТРАНСПОРТНЫХ И СЕТЕВЫХ </a:t>
            </a:r>
            <a:r>
              <a:rPr lang="ru-RU" sz="4800" b="1" dirty="0" smtClean="0">
                <a:solidFill>
                  <a:srgbClr val="FF0000"/>
                </a:solidFill>
              </a:rPr>
              <a:t>ЗАДАЧ</a:t>
            </a:r>
          </a:p>
          <a:p>
            <a:pPr lvl="0" algn="ctr"/>
            <a:r>
              <a:rPr lang="ru-RU" sz="4000" b="1" dirty="0" smtClean="0"/>
              <a:t>Вопрос 3</a:t>
            </a:r>
            <a:endParaRPr lang="ru-RU" sz="4000" dirty="0"/>
          </a:p>
        </p:txBody>
      </p:sp>
    </p:spTree>
    <p:extLst>
      <p:ext uri="{BB962C8B-B14F-4D97-AF65-F5344CB8AC3E}">
        <p14:creationId xmlns:p14="http://schemas.microsoft.com/office/powerpoint/2010/main" val="391234129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63236" y="460674"/>
            <a:ext cx="11651673" cy="5324535"/>
          </a:xfrm>
          <a:prstGeom prst="rect">
            <a:avLst/>
          </a:prstGeom>
        </p:spPr>
        <p:txBody>
          <a:bodyPr wrap="square">
            <a:spAutoFit/>
          </a:bodyPr>
          <a:lstStyle/>
          <a:p>
            <a:pPr indent="450215" algn="just">
              <a:spcAft>
                <a:spcPts val="0"/>
              </a:spcAft>
            </a:pPr>
            <a:r>
              <a:rPr lang="ru-RU" sz="2000" dirty="0">
                <a:latin typeface="Times New Roman" panose="02020603050405020304" pitchFamily="18" charset="0"/>
                <a:ea typeface="Times New Roman" panose="02020603050405020304" pitchFamily="18" charset="0"/>
              </a:rPr>
              <a:t>Возможности геоинформационных систем могут быть полезны для самых различных пользователей, которым нужна транспортная информация. Это:</a:t>
            </a:r>
          </a:p>
          <a:p>
            <a:pPr marL="342900" lvl="0" indent="-342900" algn="just">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rPr>
              <a:t>дорожно-строительные компании, выполняющие работы по проектированию, созданию и ремонту транспортных артерий;</a:t>
            </a:r>
          </a:p>
          <a:p>
            <a:pPr marL="342900" lvl="0" indent="-342900" algn="just">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rPr>
              <a:t>строительные организации для мониторинг транспорта, спецтехники, дорогостоящего оборудования, стройматериалов и грузов;</a:t>
            </a:r>
          </a:p>
          <a:p>
            <a:pPr marL="342900" lvl="0" indent="-342900" algn="just">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rPr>
              <a:t>организации, предоставляющие услуги перевозки: сетевые</a:t>
            </a:r>
            <a:r>
              <a:rPr lang="en-US" sz="2000" dirty="0">
                <a:latin typeface="Times New Roman" panose="02020603050405020304" pitchFamily="18" charset="0"/>
                <a:ea typeface="Times New Roman" panose="02020603050405020304" pitchFamily="18" charset="0"/>
              </a:rPr>
              <a:t> </a:t>
            </a:r>
            <a:r>
              <a:rPr lang="ru-RU" sz="2000" dirty="0">
                <a:latin typeface="Times New Roman" panose="02020603050405020304" pitchFamily="18" charset="0"/>
                <a:ea typeface="Times New Roman" panose="02020603050405020304" pitchFamily="18" charset="0"/>
              </a:rPr>
              <a:t>торговые</a:t>
            </a:r>
            <a:r>
              <a:rPr lang="en-US" sz="2000" dirty="0">
                <a:latin typeface="Times New Roman" panose="02020603050405020304" pitchFamily="18" charset="0"/>
                <a:ea typeface="Times New Roman" panose="02020603050405020304" pitchFamily="18" charset="0"/>
              </a:rPr>
              <a:t> </a:t>
            </a:r>
            <a:r>
              <a:rPr lang="ru-RU" sz="2000" dirty="0">
                <a:latin typeface="Times New Roman" panose="02020603050405020304" pitchFamily="18" charset="0"/>
                <a:ea typeface="Times New Roman" panose="02020603050405020304" pitchFamily="18" charset="0"/>
              </a:rPr>
              <a:t>компании,</a:t>
            </a:r>
            <a:r>
              <a:rPr lang="en-US" sz="2000" dirty="0">
                <a:latin typeface="Times New Roman" panose="02020603050405020304" pitchFamily="18" charset="0"/>
                <a:ea typeface="Times New Roman" panose="02020603050405020304" pitchFamily="18" charset="0"/>
              </a:rPr>
              <a:t> </a:t>
            </a:r>
            <a:r>
              <a:rPr lang="ru-RU" sz="2000" dirty="0">
                <a:latin typeface="Times New Roman" panose="02020603050405020304" pitchFamily="18" charset="0"/>
                <a:ea typeface="Times New Roman" panose="02020603050405020304" pitchFamily="18" charset="0"/>
              </a:rPr>
              <a:t>сбытовые</a:t>
            </a:r>
            <a:r>
              <a:rPr lang="en-US" sz="2000" dirty="0">
                <a:latin typeface="Times New Roman" panose="02020603050405020304" pitchFamily="18" charset="0"/>
                <a:ea typeface="Times New Roman" panose="02020603050405020304" pitchFamily="18" charset="0"/>
              </a:rPr>
              <a:t> </a:t>
            </a:r>
            <a:r>
              <a:rPr lang="ru-RU" sz="2000" dirty="0">
                <a:latin typeface="Times New Roman" panose="02020603050405020304" pitchFamily="18" charset="0"/>
                <a:ea typeface="Times New Roman" panose="02020603050405020304" pitchFamily="18" charset="0"/>
              </a:rPr>
              <a:t>подразделения, коммерческие</a:t>
            </a:r>
            <a:r>
              <a:rPr lang="en-US" sz="2000" dirty="0">
                <a:latin typeface="Times New Roman" panose="02020603050405020304" pitchFamily="18" charset="0"/>
                <a:ea typeface="Times New Roman" panose="02020603050405020304" pitchFamily="18" charset="0"/>
              </a:rPr>
              <a:t> </a:t>
            </a:r>
            <a:r>
              <a:rPr lang="ru-RU" sz="2000" dirty="0">
                <a:latin typeface="Times New Roman" panose="02020603050405020304" pitchFamily="18" charset="0"/>
                <a:ea typeface="Times New Roman" panose="02020603050405020304" pitchFamily="18" charset="0"/>
              </a:rPr>
              <a:t>перевозчики, осуществляющими заказную транспортировку грузов,</a:t>
            </a:r>
            <a:r>
              <a:rPr lang="en-US" sz="2000" dirty="0">
                <a:latin typeface="Times New Roman" panose="02020603050405020304" pitchFamily="18" charset="0"/>
                <a:ea typeface="Times New Roman" panose="02020603050405020304" pitchFamily="18" charset="0"/>
              </a:rPr>
              <a:t> </a:t>
            </a:r>
            <a:r>
              <a:rPr lang="ru-RU" sz="2000" dirty="0">
                <a:latin typeface="Times New Roman" panose="02020603050405020304" pitchFamily="18" charset="0"/>
                <a:ea typeface="Times New Roman" panose="02020603050405020304" pitchFamily="18" charset="0"/>
              </a:rPr>
              <a:t>корреспонденции</a:t>
            </a:r>
            <a:r>
              <a:rPr lang="en-US" sz="2000" dirty="0">
                <a:latin typeface="Times New Roman" panose="02020603050405020304" pitchFamily="18" charset="0"/>
                <a:ea typeface="Times New Roman" panose="02020603050405020304" pitchFamily="18" charset="0"/>
              </a:rPr>
              <a:t> </a:t>
            </a:r>
            <a:r>
              <a:rPr lang="ru-RU" sz="2000" dirty="0">
                <a:latin typeface="Times New Roman" panose="02020603050405020304" pitchFamily="18" charset="0"/>
                <a:ea typeface="Times New Roman" panose="02020603050405020304" pitchFamily="18" charset="0"/>
              </a:rPr>
              <a:t>и пассажиров;</a:t>
            </a:r>
          </a:p>
          <a:p>
            <a:pPr marL="342900" lvl="0" indent="-342900" algn="just">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rPr>
              <a:t>производственные и торговые предприятия (для ежедневного контроля работы агентов и использования ими служебного автотранспорта);</a:t>
            </a:r>
          </a:p>
          <a:p>
            <a:pPr marL="342900" lvl="0" indent="-342900" algn="just">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rPr>
              <a:t>оперативные службы (охрана, МЧС, скорая помощь, аварийные службы)</a:t>
            </a:r>
          </a:p>
          <a:p>
            <a:pPr marL="342900" lvl="0" indent="-342900" algn="just">
              <a:spcAft>
                <a:spcPts val="0"/>
              </a:spcAft>
              <a:buSzPts val="1000"/>
              <a:buFont typeface="Symbol" panose="05050102010706020507" pitchFamily="18" charset="2"/>
              <a:buChar char=""/>
              <a:tabLst>
                <a:tab pos="457200" algn="l"/>
              </a:tabLst>
            </a:pPr>
            <a:r>
              <a:rPr lang="ru-RU" sz="2000" dirty="0" err="1">
                <a:latin typeface="Times New Roman" panose="02020603050405020304" pitchFamily="18" charset="0"/>
                <a:ea typeface="Times New Roman" panose="02020603050405020304" pitchFamily="18" charset="0"/>
              </a:rPr>
              <a:t>спецавтохозяйства</a:t>
            </a:r>
            <a:r>
              <a:rPr lang="ru-RU" sz="2000" dirty="0">
                <a:latin typeface="Times New Roman" panose="02020603050405020304" pitchFamily="18" charset="0"/>
                <a:ea typeface="Times New Roman" panose="02020603050405020304" pitchFamily="18" charset="0"/>
              </a:rPr>
              <a:t>;</a:t>
            </a:r>
          </a:p>
          <a:p>
            <a:pPr marL="342900" lvl="0" indent="-342900" algn="just">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rPr>
              <a:t>банки, для которых важно отследить перевозку ценных грузов и контролировать работу инкассаторских;</a:t>
            </a:r>
          </a:p>
          <a:p>
            <a:pPr marL="342900" lvl="0" indent="-342900" algn="just">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rPr>
              <a:t>простые граждане и водители авто, ежедневно нуждающиеся в информации о пробках, ремонтных работах на дорогах и т.д.</a:t>
            </a:r>
          </a:p>
        </p:txBody>
      </p:sp>
    </p:spTree>
    <p:extLst>
      <p:ext uri="{BB962C8B-B14F-4D97-AF65-F5344CB8AC3E}">
        <p14:creationId xmlns:p14="http://schemas.microsoft.com/office/powerpoint/2010/main" val="36119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520011" y="224042"/>
            <a:ext cx="5645328" cy="461665"/>
          </a:xfrm>
          <a:prstGeom prst="rect">
            <a:avLst/>
          </a:prstGeom>
        </p:spPr>
        <p:txBody>
          <a:bodyPr wrap="none">
            <a:spAutoFit/>
          </a:bodyPr>
          <a:lstStyle/>
          <a:p>
            <a:r>
              <a:rPr lang="ru-RU" sz="2400" b="1" dirty="0">
                <a:latin typeface="Calibri" panose="020F0502020204030204" pitchFamily="34" charset="0"/>
                <a:ea typeface="Calibri" panose="020F0502020204030204" pitchFamily="34" charset="0"/>
                <a:cs typeface="Times New Roman" panose="02020603050405020304" pitchFamily="18" charset="0"/>
              </a:rPr>
              <a:t>Области применения ГИС на транспорте </a:t>
            </a:r>
            <a:endParaRPr lang="ru-RU" sz="2400" b="1" dirty="0"/>
          </a:p>
        </p:txBody>
      </p:sp>
      <p:sp>
        <p:nvSpPr>
          <p:cNvPr id="3" name="Прямоугольник 2"/>
          <p:cNvSpPr/>
          <p:nvPr/>
        </p:nvSpPr>
        <p:spPr>
          <a:xfrm>
            <a:off x="246675" y="958656"/>
            <a:ext cx="6096000" cy="5324535"/>
          </a:xfrm>
          <a:prstGeom prst="rect">
            <a:avLst/>
          </a:prstGeom>
          <a:solidFill>
            <a:schemeClr val="accent1">
              <a:lumMod val="20000"/>
              <a:lumOff val="80000"/>
            </a:schemeClr>
          </a:solidFill>
        </p:spPr>
        <p:txBody>
          <a:bodyPr>
            <a:spAutoFit/>
          </a:bodyPr>
          <a:lstStyle/>
          <a:p>
            <a:pPr marL="342900" lvl="0" indent="-342900" algn="just">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rPr>
              <a:t>безопасность предприятия и прилегающих территорий:</a:t>
            </a:r>
          </a:p>
          <a:p>
            <a:pPr marL="742950" lvl="1" indent="-285750" algn="just">
              <a:spcAft>
                <a:spcPts val="0"/>
              </a:spcAft>
              <a:buSzPts val="1000"/>
              <a:buFont typeface="Courier New" panose="02070309020205020404" pitchFamily="49" charset="0"/>
              <a:buChar char="o"/>
              <a:tabLst>
                <a:tab pos="9144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моделирование чрезвычайных ситуаций;</a:t>
            </a:r>
          </a:p>
          <a:p>
            <a:pPr marL="742950" lvl="1" indent="-285750" algn="just">
              <a:spcAft>
                <a:spcPts val="0"/>
              </a:spcAft>
              <a:buSzPts val="1000"/>
              <a:buFont typeface="Courier New" panose="02070309020205020404" pitchFamily="49" charset="0"/>
              <a:buChar char="o"/>
              <a:tabLst>
                <a:tab pos="9144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экологическая оценка;</a:t>
            </a:r>
          </a:p>
          <a:p>
            <a:pPr marL="742950" lvl="1" indent="-285750" algn="just">
              <a:spcAft>
                <a:spcPts val="0"/>
              </a:spcAft>
              <a:buSzPts val="1000"/>
              <a:buFont typeface="Courier New" panose="02070309020205020404" pitchFamily="49" charset="0"/>
              <a:buChar char="o"/>
              <a:tabLst>
                <a:tab pos="9144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моделирование и мониторинг шумового загрязнения.</a:t>
            </a:r>
          </a:p>
          <a:p>
            <a:pPr marL="342900" lvl="0" indent="-342900" algn="just">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rPr>
              <a:t>управление имуществом компаний и контроль за арендой площадей;</a:t>
            </a:r>
          </a:p>
          <a:p>
            <a:pPr marL="342900" lvl="0" indent="-342900" algn="just">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rPr>
              <a:t>организация информационных сервисов для пассажиров по плану транспортного предприятия и ближайшему его окружению;</a:t>
            </a:r>
          </a:p>
          <a:p>
            <a:pPr marL="342900" lvl="0" indent="-342900" algn="just">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rPr>
              <a:t>управление складскими помещениями;</a:t>
            </a:r>
          </a:p>
          <a:p>
            <a:pPr marL="342900" lvl="0" indent="-342900" algn="just">
              <a:spcAft>
                <a:spcPts val="0"/>
              </a:spcAft>
              <a:buSzPts val="1000"/>
              <a:buFont typeface="Symbol" panose="05050102010706020507" pitchFamily="18" charset="2"/>
              <a:buChar char=""/>
              <a:tabLst>
                <a:tab pos="457200" algn="l"/>
              </a:tabLst>
            </a:pPr>
            <a:r>
              <a:rPr lang="ru-RU" sz="2000" dirty="0" smtClean="0">
                <a:latin typeface="Times New Roman" panose="02020603050405020304" pitchFamily="18" charset="0"/>
                <a:ea typeface="Times New Roman" panose="02020603050405020304" pitchFamily="18" charset="0"/>
              </a:rPr>
              <a:t>планирования и оптимизация маршрута следования;</a:t>
            </a:r>
          </a:p>
          <a:p>
            <a:pPr marL="342900" lvl="0" indent="-342900" algn="just">
              <a:spcAft>
                <a:spcPts val="0"/>
              </a:spcAft>
              <a:buSzPts val="1000"/>
              <a:buFont typeface="Symbol" panose="05050102010706020507" pitchFamily="18" charset="2"/>
              <a:buChar char=""/>
              <a:tabLst>
                <a:tab pos="457200" algn="l"/>
              </a:tabLst>
            </a:pPr>
            <a:r>
              <a:rPr lang="ru-RU" sz="2000" dirty="0" smtClean="0">
                <a:latin typeface="Times New Roman" panose="02020603050405020304" pitchFamily="18" charset="0"/>
                <a:ea typeface="Times New Roman" panose="02020603050405020304" pitchFamily="18" charset="0"/>
              </a:rPr>
              <a:t>оценки </a:t>
            </a:r>
            <a:r>
              <a:rPr lang="ru-RU" sz="2000" dirty="0">
                <a:latin typeface="Times New Roman" panose="02020603050405020304" pitchFamily="18" charset="0"/>
                <a:ea typeface="Times New Roman" panose="02020603050405020304" pitchFamily="18" charset="0"/>
              </a:rPr>
              <a:t>и планирования пропускной способности:</a:t>
            </a:r>
          </a:p>
          <a:p>
            <a:pPr marL="742950" lvl="1" indent="-285750" algn="just">
              <a:spcAft>
                <a:spcPts val="0"/>
              </a:spcAft>
              <a:buSzPts val="1000"/>
              <a:buFont typeface="Courier New" panose="02070309020205020404" pitchFamily="49" charset="0"/>
              <a:buChar char="o"/>
              <a:tabLst>
                <a:tab pos="9144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расчет пассажиропотоков;</a:t>
            </a:r>
          </a:p>
          <a:p>
            <a:pPr marL="742950" lvl="1" indent="-285750" algn="just">
              <a:spcAft>
                <a:spcPts val="0"/>
              </a:spcAft>
              <a:buSzPts val="1000"/>
              <a:buFont typeface="Courier New" panose="02070309020205020404" pitchFamily="49" charset="0"/>
              <a:buChar char="o"/>
              <a:tabLst>
                <a:tab pos="9144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анализ грузопотоков.</a:t>
            </a:r>
            <a:endParaRPr lang="ru-RU" sz="20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4" name="Прямоугольник 3"/>
          <p:cNvSpPr/>
          <p:nvPr/>
        </p:nvSpPr>
        <p:spPr>
          <a:xfrm>
            <a:off x="6594764" y="958656"/>
            <a:ext cx="5500254" cy="3785652"/>
          </a:xfrm>
          <a:prstGeom prst="rect">
            <a:avLst/>
          </a:prstGeom>
          <a:solidFill>
            <a:schemeClr val="accent1">
              <a:lumMod val="20000"/>
              <a:lumOff val="80000"/>
            </a:schemeClr>
          </a:solidFill>
        </p:spPr>
        <p:txBody>
          <a:bodyPr wrap="square">
            <a:spAutoFit/>
          </a:bodyPr>
          <a:lstStyle/>
          <a:p>
            <a:pPr marL="342900" lvl="0" indent="-342900" algn="just">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rPr>
              <a:t>управление парком транспортных средств:</a:t>
            </a:r>
          </a:p>
          <a:p>
            <a:pPr marL="742950" lvl="1" indent="-285750" algn="just">
              <a:spcAft>
                <a:spcPts val="0"/>
              </a:spcAft>
              <a:buSzPts val="1000"/>
              <a:buFont typeface="Courier New" panose="02070309020205020404" pitchFamily="49" charset="0"/>
              <a:buChar char="o"/>
              <a:tabLst>
                <a:tab pos="9144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мониторинг техники;</a:t>
            </a:r>
          </a:p>
          <a:p>
            <a:pPr marL="742950" lvl="1" indent="-285750" algn="just">
              <a:spcAft>
                <a:spcPts val="0"/>
              </a:spcAft>
              <a:buSzPts val="1000"/>
              <a:buFont typeface="Courier New" panose="02070309020205020404" pitchFamily="49" charset="0"/>
              <a:buChar char="o"/>
              <a:tabLst>
                <a:tab pos="9144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учет уровня расхода и распределения топлива;</a:t>
            </a:r>
          </a:p>
          <a:p>
            <a:pPr marL="742950" lvl="1" indent="-285750" algn="just">
              <a:spcAft>
                <a:spcPts val="0"/>
              </a:spcAft>
              <a:buSzPts val="1000"/>
              <a:buFont typeface="Courier New" panose="02070309020205020404" pitchFamily="49" charset="0"/>
              <a:buChar char="o"/>
              <a:tabLst>
                <a:tab pos="9144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анализ стиля вождения;</a:t>
            </a:r>
          </a:p>
          <a:p>
            <a:pPr marL="742950" lvl="1" indent="-285750" algn="just">
              <a:spcAft>
                <a:spcPts val="0"/>
              </a:spcAft>
              <a:buSzPts val="1000"/>
              <a:buFont typeface="Courier New" panose="02070309020205020404" pitchFamily="49" charset="0"/>
              <a:buChar char="o"/>
              <a:tabLst>
                <a:tab pos="9144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идентификации водителя;</a:t>
            </a:r>
          </a:p>
          <a:p>
            <a:pPr marL="742950" lvl="1" indent="-285750" algn="just">
              <a:spcAft>
                <a:spcPts val="0"/>
              </a:spcAft>
              <a:buSzPts val="1000"/>
              <a:buFont typeface="Courier New" panose="02070309020205020404" pitchFamily="49" charset="0"/>
              <a:buChar char="o"/>
              <a:tabLst>
                <a:tab pos="9144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учета рабочего времени;</a:t>
            </a:r>
          </a:p>
          <a:p>
            <a:pPr marL="742950" lvl="1" indent="-285750" algn="just">
              <a:spcAft>
                <a:spcPts val="0"/>
              </a:spcAft>
              <a:buSzPts val="1000"/>
              <a:buFont typeface="Courier New" panose="02070309020205020404" pitchFamily="49" charset="0"/>
              <a:buChar char="o"/>
              <a:tabLst>
                <a:tab pos="9144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мониторинг грузов.</a:t>
            </a:r>
          </a:p>
          <a:p>
            <a:pPr marL="342900" lvl="0" indent="-342900" algn="just">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rPr>
              <a:t>формирование отчетов;</a:t>
            </a:r>
          </a:p>
          <a:p>
            <a:pPr marL="342900" lvl="0" indent="-342900" algn="just">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rPr>
              <a:t>планирования развития социальной инфраструктуры, транспортной сети.</a:t>
            </a:r>
          </a:p>
          <a:p>
            <a:pPr indent="450215" algn="just">
              <a:spcAft>
                <a:spcPts val="0"/>
              </a:spcAft>
            </a:pPr>
            <a:r>
              <a:rPr lang="ru-RU" sz="2000" dirty="0">
                <a:latin typeface="Times New Roman" panose="02020603050405020304" pitchFamily="18" charset="0"/>
                <a:ea typeface="Times New Roman" panose="02020603050405020304" pitchFamily="18" charset="0"/>
              </a:rPr>
              <a:t> </a:t>
            </a:r>
            <a:endParaRPr lang="ru-RU"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556177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Схема 1"/>
          <p:cNvGraphicFramePr/>
          <p:nvPr>
            <p:extLst>
              <p:ext uri="{D42A27DB-BD31-4B8C-83A1-F6EECF244321}">
                <p14:modId xmlns:p14="http://schemas.microsoft.com/office/powerpoint/2010/main" val="659933083"/>
              </p:ext>
            </p:extLst>
          </p:nvPr>
        </p:nvGraphicFramePr>
        <p:xfrm>
          <a:off x="0" y="60386"/>
          <a:ext cx="12192000" cy="67976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933600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108364" y="237944"/>
            <a:ext cx="10723418" cy="830997"/>
          </a:xfrm>
          <a:prstGeom prst="rect">
            <a:avLst/>
          </a:prstGeom>
        </p:spPr>
        <p:txBody>
          <a:bodyPr wrap="square">
            <a:spAutoFit/>
          </a:bodyPr>
          <a:lstStyle/>
          <a:p>
            <a:pPr algn="ctr"/>
            <a:r>
              <a:rPr lang="ru-RU" sz="2400" b="1" dirty="0" smtClean="0">
                <a:latin typeface="Calibri" panose="020F0502020204030204" pitchFamily="34" charset="0"/>
                <a:ea typeface="Calibri" panose="020F0502020204030204" pitchFamily="34" charset="0"/>
                <a:cs typeface="Times New Roman" panose="02020603050405020304" pitchFamily="18" charset="0"/>
              </a:rPr>
              <a:t>Использование </a:t>
            </a:r>
            <a:r>
              <a:rPr lang="ru-RU" sz="2400" b="1" dirty="0">
                <a:latin typeface="Calibri" panose="020F0502020204030204" pitchFamily="34" charset="0"/>
                <a:ea typeface="Calibri" panose="020F0502020204030204" pitchFamily="34" charset="0"/>
                <a:cs typeface="Times New Roman" panose="02020603050405020304" pitchFamily="18" charset="0"/>
              </a:rPr>
              <a:t>ГИС-технологий при прогнозировании чрезвычайных ситуаций в транспортной сфере позволяет:</a:t>
            </a:r>
            <a:endParaRPr lang="ru-RU" sz="2400" b="1" dirty="0"/>
          </a:p>
        </p:txBody>
      </p:sp>
      <p:sp>
        <p:nvSpPr>
          <p:cNvPr id="3" name="Прямоугольник 2"/>
          <p:cNvSpPr/>
          <p:nvPr/>
        </p:nvSpPr>
        <p:spPr>
          <a:xfrm>
            <a:off x="429491" y="1582341"/>
            <a:ext cx="11540836" cy="4154984"/>
          </a:xfrm>
          <a:prstGeom prst="rect">
            <a:avLst/>
          </a:prstGeom>
        </p:spPr>
        <p:txBody>
          <a:bodyPr wrap="square">
            <a:spAutoFit/>
          </a:bodyPr>
          <a:lstStyle/>
          <a:p>
            <a:pPr marL="342900" lvl="0" indent="-342900" algn="just">
              <a:spcAft>
                <a:spcPts val="0"/>
              </a:spcAft>
              <a:buSzPts val="1000"/>
              <a:buFont typeface="Symbol" panose="05050102010706020507" pitchFamily="18" charset="2"/>
              <a:buChar char=""/>
              <a:tabLst>
                <a:tab pos="457200" algn="l"/>
              </a:tabLst>
            </a:pPr>
            <a:r>
              <a:rPr lang="ru-RU" sz="2400" dirty="0">
                <a:latin typeface="Times New Roman" panose="02020603050405020304" pitchFamily="18" charset="0"/>
                <a:ea typeface="Times New Roman" panose="02020603050405020304" pitchFamily="18" charset="0"/>
              </a:rPr>
              <a:t>моделировать последствия аварий;</a:t>
            </a:r>
          </a:p>
          <a:p>
            <a:pPr marL="342900" lvl="0" indent="-342900" algn="just">
              <a:spcAft>
                <a:spcPts val="0"/>
              </a:spcAft>
              <a:buSzPts val="1000"/>
              <a:buFont typeface="Symbol" panose="05050102010706020507" pitchFamily="18" charset="2"/>
              <a:buChar char=""/>
              <a:tabLst>
                <a:tab pos="457200" algn="l"/>
              </a:tabLst>
            </a:pPr>
            <a:r>
              <a:rPr lang="ru-RU" sz="2400" dirty="0" smtClean="0">
                <a:latin typeface="Times New Roman" panose="02020603050405020304" pitchFamily="18" charset="0"/>
                <a:ea typeface="Times New Roman" panose="02020603050405020304" pitchFamily="18" charset="0"/>
              </a:rPr>
              <a:t>рассчитывать </a:t>
            </a:r>
            <a:r>
              <a:rPr lang="ru-RU" sz="2400" dirty="0">
                <a:latin typeface="Times New Roman" panose="02020603050405020304" pitchFamily="18" charset="0"/>
                <a:ea typeface="Times New Roman" panose="02020603050405020304" pitchFamily="18" charset="0"/>
              </a:rPr>
              <a:t>поля концентрации загрязнений;</a:t>
            </a:r>
          </a:p>
          <a:p>
            <a:pPr marL="342900" lvl="0" indent="-342900" algn="just">
              <a:spcAft>
                <a:spcPts val="0"/>
              </a:spcAft>
              <a:buSzPts val="1000"/>
              <a:buFont typeface="Symbol" panose="05050102010706020507" pitchFamily="18" charset="2"/>
              <a:buChar char=""/>
              <a:tabLst>
                <a:tab pos="457200" algn="l"/>
              </a:tabLst>
            </a:pPr>
            <a:r>
              <a:rPr lang="ru-RU" sz="2400" dirty="0">
                <a:latin typeface="Times New Roman" panose="02020603050405020304" pitchFamily="18" charset="0"/>
                <a:ea typeface="Times New Roman" panose="02020603050405020304" pitchFamily="18" charset="0"/>
              </a:rPr>
              <a:t>оптимизировать маршруты следования специалистов по транспортным сетям к объектам в зоне ЧС;</a:t>
            </a:r>
          </a:p>
          <a:p>
            <a:pPr marL="342900" lvl="0" indent="-342900" algn="just">
              <a:spcAft>
                <a:spcPts val="0"/>
              </a:spcAft>
              <a:buSzPts val="1000"/>
              <a:buFont typeface="Symbol" panose="05050102010706020507" pitchFamily="18" charset="2"/>
              <a:buChar char=""/>
              <a:tabLst>
                <a:tab pos="457200" algn="l"/>
              </a:tabLst>
            </a:pPr>
            <a:r>
              <a:rPr lang="ru-RU" sz="2400" dirty="0">
                <a:latin typeface="Times New Roman" panose="02020603050405020304" pitchFamily="18" charset="0"/>
                <a:ea typeface="Times New Roman" panose="02020603050405020304" pitchFamily="18" charset="0"/>
              </a:rPr>
              <a:t>определять зоны досягаемости для спецсредств при движении по транспортным сетям;</a:t>
            </a:r>
          </a:p>
          <a:p>
            <a:pPr marL="342900" lvl="0" indent="-342900" algn="just">
              <a:spcAft>
                <a:spcPts val="0"/>
              </a:spcAft>
              <a:buSzPts val="1000"/>
              <a:buFont typeface="Symbol" panose="05050102010706020507" pitchFamily="18" charset="2"/>
              <a:buChar char=""/>
              <a:tabLst>
                <a:tab pos="457200" algn="l"/>
              </a:tabLst>
            </a:pPr>
            <a:r>
              <a:rPr lang="ru-RU" sz="2400" dirty="0">
                <a:latin typeface="Times New Roman" panose="02020603050405020304" pitchFamily="18" charset="0"/>
                <a:ea typeface="Times New Roman" panose="02020603050405020304" pitchFamily="18" charset="0"/>
              </a:rPr>
              <a:t>определять маршруты стока жидких веществ в случае их разлива или прорыва трубопроводов (более применительно к аэропортам);</a:t>
            </a:r>
          </a:p>
          <a:p>
            <a:pPr marL="342900" lvl="0" indent="-342900" algn="just">
              <a:spcAft>
                <a:spcPts val="0"/>
              </a:spcAft>
              <a:buSzPts val="1000"/>
              <a:buFont typeface="Symbol" panose="05050102010706020507" pitchFamily="18" charset="2"/>
              <a:buChar char=""/>
              <a:tabLst>
                <a:tab pos="457200" algn="l"/>
              </a:tabLst>
            </a:pPr>
            <a:r>
              <a:rPr lang="ru-RU" sz="2400" dirty="0" smtClean="0">
                <a:latin typeface="Times New Roman" panose="02020603050405020304" pitchFamily="18" charset="0"/>
                <a:ea typeface="Times New Roman" panose="02020603050405020304" pitchFamily="18" charset="0"/>
              </a:rPr>
              <a:t>рассчитывать </a:t>
            </a:r>
            <a:r>
              <a:rPr lang="ru-RU" sz="2400" dirty="0">
                <a:latin typeface="Times New Roman" panose="02020603050405020304" pitchFamily="18" charset="0"/>
                <a:ea typeface="Times New Roman" panose="02020603050405020304" pitchFamily="18" charset="0"/>
              </a:rPr>
              <a:t>зоны затопления при наводнениях и паводках;</a:t>
            </a:r>
          </a:p>
          <a:p>
            <a:pPr marL="342900" lvl="0" indent="-342900" algn="just">
              <a:spcAft>
                <a:spcPts val="0"/>
              </a:spcAft>
              <a:buSzPts val="1000"/>
              <a:buFont typeface="Symbol" panose="05050102010706020507" pitchFamily="18" charset="2"/>
              <a:buChar char=""/>
              <a:tabLst>
                <a:tab pos="457200" algn="l"/>
              </a:tabLst>
            </a:pPr>
            <a:r>
              <a:rPr lang="ru-RU" sz="2400" dirty="0">
                <a:latin typeface="Times New Roman" panose="02020603050405020304" pitchFamily="18" charset="0"/>
                <a:ea typeface="Times New Roman" panose="02020603050405020304" pitchFamily="18" charset="0"/>
              </a:rPr>
              <a:t>координировать работу информационно-справочной системы о потенциально опасных объектах.</a:t>
            </a:r>
          </a:p>
        </p:txBody>
      </p:sp>
    </p:spTree>
    <p:extLst>
      <p:ext uri="{BB962C8B-B14F-4D97-AF65-F5344CB8AC3E}">
        <p14:creationId xmlns:p14="http://schemas.microsoft.com/office/powerpoint/2010/main" val="1905083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26472" y="107744"/>
            <a:ext cx="11166763" cy="468077"/>
          </a:xfrm>
          <a:prstGeom prst="rect">
            <a:avLst/>
          </a:prstGeom>
        </p:spPr>
        <p:txBody>
          <a:bodyPr wrap="square">
            <a:spAutoFit/>
          </a:bodyPr>
          <a:lstStyle/>
          <a:p>
            <a:pPr indent="450215" algn="ctr">
              <a:lnSpc>
                <a:spcPct val="107000"/>
              </a:lnSpc>
              <a:spcBef>
                <a:spcPts val="200"/>
              </a:spcBef>
              <a:spcAft>
                <a:spcPts val="0"/>
              </a:spcAft>
            </a:pPr>
            <a:r>
              <a:rPr lang="ru-RU"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Управление имуществом компаний и контроль за арендой площадей</a:t>
            </a:r>
            <a:endParaRPr lang="ru-RU" sz="2400" b="1" dirty="0">
              <a:solidFill>
                <a:srgbClr val="FF0000"/>
              </a:solidFill>
              <a:latin typeface="Calibri Light" panose="020F0302020204030204" pitchFamily="34" charset="0"/>
              <a:ea typeface="Times New Roman" panose="02020603050405020304" pitchFamily="18" charset="0"/>
              <a:cs typeface="Times New Roman" panose="02020603050405020304" pitchFamily="18" charset="0"/>
            </a:endParaRPr>
          </a:p>
        </p:txBody>
      </p:sp>
      <p:graphicFrame>
        <p:nvGraphicFramePr>
          <p:cNvPr id="3" name="Схема 2"/>
          <p:cNvGraphicFramePr/>
          <p:nvPr>
            <p:extLst>
              <p:ext uri="{D42A27DB-BD31-4B8C-83A1-F6EECF244321}">
                <p14:modId xmlns:p14="http://schemas.microsoft.com/office/powerpoint/2010/main" val="1175406074"/>
              </p:ext>
            </p:extLst>
          </p:nvPr>
        </p:nvGraphicFramePr>
        <p:xfrm>
          <a:off x="207818" y="719666"/>
          <a:ext cx="11859491" cy="61383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97602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037087" y="117379"/>
            <a:ext cx="7840736" cy="468077"/>
          </a:xfrm>
          <a:prstGeom prst="rect">
            <a:avLst/>
          </a:prstGeom>
        </p:spPr>
        <p:txBody>
          <a:bodyPr wrap="none">
            <a:spAutoFit/>
          </a:bodyPr>
          <a:lstStyle/>
          <a:p>
            <a:pPr indent="450215" algn="just">
              <a:lnSpc>
                <a:spcPct val="107000"/>
              </a:lnSpc>
              <a:spcBef>
                <a:spcPts val="200"/>
              </a:spcBef>
              <a:spcAft>
                <a:spcPts val="0"/>
              </a:spcAft>
            </a:pPr>
            <a:r>
              <a:rPr lang="ru-RU"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Управление и оптимизация использования складов</a:t>
            </a:r>
            <a:endParaRPr lang="ru-RU" sz="2400" b="1" dirty="0">
              <a:solidFill>
                <a:srgbClr val="FF0000"/>
              </a:solidFill>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3" name="Прямоугольник 2"/>
          <p:cNvSpPr/>
          <p:nvPr/>
        </p:nvSpPr>
        <p:spPr>
          <a:xfrm>
            <a:off x="277091" y="820386"/>
            <a:ext cx="11360727" cy="4154984"/>
          </a:xfrm>
          <a:prstGeom prst="rect">
            <a:avLst/>
          </a:prstGeom>
        </p:spPr>
        <p:txBody>
          <a:bodyPr wrap="square">
            <a:spAutoFit/>
          </a:bodyPr>
          <a:lstStyle/>
          <a:p>
            <a:pPr indent="450215" algn="just">
              <a:spcAft>
                <a:spcPts val="0"/>
              </a:spcAft>
            </a:pPr>
            <a:r>
              <a:rPr lang="ru-RU" sz="2400" dirty="0">
                <a:latin typeface="Times New Roman" panose="02020603050405020304" pitchFamily="18" charset="0"/>
                <a:ea typeface="Times New Roman" panose="02020603050405020304" pitchFamily="18" charset="0"/>
              </a:rPr>
              <a:t>В настоящее время эта задача решается с использованием технологии, включающей в себя:</a:t>
            </a:r>
          </a:p>
          <a:p>
            <a:pPr marL="342900" lvl="0" indent="-342900" algn="just">
              <a:spcAft>
                <a:spcPts val="0"/>
              </a:spcAft>
              <a:buSzPts val="1000"/>
              <a:buFont typeface="Symbol" panose="05050102010706020507" pitchFamily="18" charset="2"/>
              <a:buChar char=""/>
              <a:tabLst>
                <a:tab pos="457200" algn="l"/>
              </a:tabLst>
            </a:pPr>
            <a:r>
              <a:rPr lang="ru-RU" sz="2400" dirty="0">
                <a:latin typeface="Times New Roman" panose="02020603050405020304" pitchFamily="18" charset="0"/>
                <a:ea typeface="Times New Roman" panose="02020603050405020304" pitchFamily="18" charset="0"/>
              </a:rPr>
              <a:t>глобальную космическую диагностику объектов и их ближайшего и дальнего окружения;</a:t>
            </a:r>
          </a:p>
          <a:p>
            <a:pPr marL="342900" lvl="0" indent="-342900" algn="just">
              <a:spcAft>
                <a:spcPts val="0"/>
              </a:spcAft>
              <a:buSzPts val="1000"/>
              <a:buFont typeface="Symbol" panose="05050102010706020507" pitchFamily="18" charset="2"/>
              <a:buChar char=""/>
              <a:tabLst>
                <a:tab pos="457200" algn="l"/>
              </a:tabLst>
            </a:pPr>
            <a:r>
              <a:rPr lang="ru-RU" sz="2400" dirty="0">
                <a:latin typeface="Times New Roman" panose="02020603050405020304" pitchFamily="18" charset="0"/>
                <a:ea typeface="Times New Roman" panose="02020603050405020304" pitchFamily="18" charset="0"/>
              </a:rPr>
              <a:t>локальную воздушную диагностику объектов, их участков, узлов, элементов и непосредственного окружения.</a:t>
            </a:r>
          </a:p>
          <a:p>
            <a:pPr indent="450215" algn="just">
              <a:spcAft>
                <a:spcPts val="0"/>
              </a:spcAft>
            </a:pPr>
            <a:r>
              <a:rPr lang="ru-RU" sz="2400" dirty="0">
                <a:latin typeface="Times New Roman" panose="02020603050405020304" pitchFamily="18" charset="0"/>
                <a:ea typeface="Times New Roman" panose="02020603050405020304" pitchFamily="18" charset="0"/>
              </a:rPr>
              <a:t>Систематизация, объединение и отображение на карте всех данных и результатов диагностики состояния тоннелей, рельсовых путей, автодорог, земляного полотна и мостовых сооружений является хорошим подспорьем для руководителя, принимающего решения в этой области, ведущее, в конечном итоге, к повышению конкурентоспособности и качества обслуживания.</a:t>
            </a:r>
          </a:p>
        </p:txBody>
      </p:sp>
    </p:spTree>
    <p:extLst>
      <p:ext uri="{BB962C8B-B14F-4D97-AF65-F5344CB8AC3E}">
        <p14:creationId xmlns:p14="http://schemas.microsoft.com/office/powerpoint/2010/main" val="22258209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Схема 1"/>
          <p:cNvGraphicFramePr/>
          <p:nvPr>
            <p:extLst>
              <p:ext uri="{D42A27DB-BD31-4B8C-83A1-F6EECF244321}">
                <p14:modId xmlns:p14="http://schemas.microsoft.com/office/powerpoint/2010/main" val="1125624927"/>
              </p:ext>
            </p:extLst>
          </p:nvPr>
        </p:nvGraphicFramePr>
        <p:xfrm>
          <a:off x="94890" y="146649"/>
          <a:ext cx="12006053" cy="66300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912423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Структура ГИС"/>
          <p:cNvPicPr/>
          <p:nvPr/>
        </p:nvPicPr>
        <p:blipFill>
          <a:blip r:embed="rId2">
            <a:extLst>
              <a:ext uri="{28A0092B-C50C-407E-A947-70E740481C1C}">
                <a14:useLocalDpi xmlns:a14="http://schemas.microsoft.com/office/drawing/2010/main" val="0"/>
              </a:ext>
            </a:extLst>
          </a:blip>
          <a:srcRect/>
          <a:stretch>
            <a:fillRect/>
          </a:stretch>
        </p:blipFill>
        <p:spPr bwMode="auto">
          <a:xfrm>
            <a:off x="-61912" y="455900"/>
            <a:ext cx="5637934" cy="5169045"/>
          </a:xfrm>
          <a:prstGeom prst="rect">
            <a:avLst/>
          </a:prstGeom>
          <a:noFill/>
          <a:ln>
            <a:noFill/>
          </a:ln>
        </p:spPr>
      </p:pic>
      <p:sp>
        <p:nvSpPr>
          <p:cNvPr id="3" name="Прямоугольник 2"/>
          <p:cNvSpPr/>
          <p:nvPr/>
        </p:nvSpPr>
        <p:spPr>
          <a:xfrm>
            <a:off x="5576022" y="1364258"/>
            <a:ext cx="6276108" cy="3352328"/>
          </a:xfrm>
          <a:prstGeom prst="rect">
            <a:avLst/>
          </a:prstGeom>
        </p:spPr>
        <p:txBody>
          <a:bodyPr wrap="square">
            <a:spAutoFit/>
          </a:bodyPr>
          <a:lstStyle/>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Можно привести следующую </a:t>
            </a:r>
            <a:r>
              <a:rPr lang="ru-RU" i="1" dirty="0">
                <a:latin typeface="Times New Roman" panose="02020603050405020304" pitchFamily="18" charset="0"/>
                <a:ea typeface="Times New Roman" panose="02020603050405020304" pitchFamily="18" charset="0"/>
                <a:cs typeface="Times New Roman" panose="02020603050405020304" pitchFamily="18" charset="0"/>
              </a:rPr>
              <a:t>классификацию ГИС для решения задач транспортной логистики'.</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a) автоматическая прокладка одиночных рейсов на электронной карте </a:t>
            </a:r>
            <a:r>
              <a:rPr lang="ru-RU" dirty="0" smtClean="0">
                <a:latin typeface="Times New Roman" panose="02020603050405020304" pitchFamily="18" charset="0"/>
                <a:ea typeface="Times New Roman" panose="02020603050405020304" pitchFamily="18" charset="0"/>
                <a:cs typeface="Times New Roman" panose="02020603050405020304" pitchFamily="18" charset="0"/>
              </a:rPr>
              <a:t>и </a:t>
            </a:r>
            <a:r>
              <a:rPr lang="ru-RU" dirty="0">
                <a:latin typeface="Times New Roman" panose="02020603050405020304" pitchFamily="18" charset="0"/>
                <a:ea typeface="Times New Roman" panose="02020603050405020304" pitchFamily="18" charset="0"/>
                <a:cs typeface="Times New Roman" panose="02020603050405020304" pitchFamily="18" charset="0"/>
              </a:rPr>
              <a:t>др.;</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b) автоматическое планирование массовой доставки грузов с автоматическим контролем параметров и возможностью ручной коррекции рассчитываемых </a:t>
            </a:r>
            <a:r>
              <a:rPr lang="ru-RU" dirty="0" smtClean="0">
                <a:latin typeface="Times New Roman" panose="02020603050405020304" pitchFamily="18" charset="0"/>
                <a:ea typeface="Times New Roman" panose="02020603050405020304" pitchFamily="18" charset="0"/>
                <a:cs typeface="Times New Roman" panose="02020603050405020304" pitchFamily="18" charset="0"/>
              </a:rPr>
              <a:t>рейсов;</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c) программные продукты для мониторинга местоположения и состояния мобильных </a:t>
            </a:r>
            <a:r>
              <a:rPr lang="ru-RU" dirty="0" smtClean="0">
                <a:latin typeface="Times New Roman" panose="02020603050405020304" pitchFamily="18" charset="0"/>
                <a:ea typeface="Times New Roman" panose="02020603050405020304" pitchFamily="18" charset="0"/>
                <a:cs typeface="Times New Roman" panose="02020603050405020304" pitchFamily="18" charset="0"/>
              </a:rPr>
              <a:t>объектов;</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d) комплексная автоматизация всех бизнес-процессов транспортной </a:t>
            </a:r>
            <a:r>
              <a:rPr lang="ru-RU" dirty="0" smtClean="0">
                <a:latin typeface="Times New Roman" panose="02020603050405020304" pitchFamily="18" charset="0"/>
                <a:ea typeface="Times New Roman" panose="02020603050405020304" pitchFamily="18" charset="0"/>
                <a:cs typeface="Times New Roman" panose="02020603050405020304" pitchFamily="18" charset="0"/>
              </a:rPr>
              <a:t>компании.</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422129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Схема работы системы «М2М-РЕГИОН Пассажирские перевозки»"/>
          <p:cNvPicPr/>
          <p:nvPr/>
        </p:nvPicPr>
        <p:blipFill>
          <a:blip r:embed="rId2">
            <a:extLst>
              <a:ext uri="{28A0092B-C50C-407E-A947-70E740481C1C}">
                <a14:useLocalDpi xmlns:a14="http://schemas.microsoft.com/office/drawing/2010/main" val="0"/>
              </a:ext>
            </a:extLst>
          </a:blip>
          <a:srcRect/>
          <a:stretch>
            <a:fillRect/>
          </a:stretch>
        </p:blipFill>
        <p:spPr bwMode="auto">
          <a:xfrm>
            <a:off x="0" y="706149"/>
            <a:ext cx="5686425" cy="3838575"/>
          </a:xfrm>
          <a:prstGeom prst="rect">
            <a:avLst/>
          </a:prstGeom>
          <a:noFill/>
          <a:ln>
            <a:noFill/>
          </a:ln>
        </p:spPr>
      </p:pic>
      <p:sp>
        <p:nvSpPr>
          <p:cNvPr id="3" name="Прямоугольник 2"/>
          <p:cNvSpPr/>
          <p:nvPr/>
        </p:nvSpPr>
        <p:spPr>
          <a:xfrm>
            <a:off x="5527963" y="244510"/>
            <a:ext cx="6096000" cy="5426870"/>
          </a:xfrm>
          <a:prstGeom prst="rect">
            <a:avLst/>
          </a:prstGeom>
        </p:spPr>
        <p:txBody>
          <a:bodyPr>
            <a:spAutoFit/>
          </a:bodyPr>
          <a:lstStyle/>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Система «М2М-РЕГИОН Пассажирские перевозки» призвана решать следующие функциональные задачи:</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1) автоматизация управления перевозками на пассажирских автотранспортных предприятиях;</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2) стратегическое, долгосрочное, краткосрочное и оперативное планирование работ ПАТП;</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3) оперативное управление пассажирскими перевозками и работой транспортных средств предприятия;</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4) мониторинг транспорта на маршрутах, качества оказываемых услуг, состояния автотранспорта в режиме реального времени;</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5) решение маршрутной задачи: планирование маршрутов; оперативный контроль и анализ, мониторинг нарушений маршрутизированного движения;</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6) автоматизированный анализ деятельности ПАТП: качество предоставления услуг; техническое состояние и движение транспортных средств; расход топлива и др.</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497520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Прямоугольник 12"/>
          <p:cNvSpPr>
            <a:spLocks noChangeArrowheads="1"/>
          </p:cNvSpPr>
          <p:nvPr/>
        </p:nvSpPr>
        <p:spPr bwMode="auto">
          <a:xfrm>
            <a:off x="435635" y="463138"/>
            <a:ext cx="581890" cy="843149"/>
          </a:xfrm>
          <a:prstGeom prst="rect">
            <a:avLst/>
          </a:prstGeom>
          <a:gradFill rotWithShape="1">
            <a:gsLst>
              <a:gs pos="0">
                <a:srgbClr val="770000"/>
              </a:gs>
              <a:gs pos="50000">
                <a:srgbClr val="AD0000"/>
              </a:gs>
              <a:gs pos="100000">
                <a:srgbClr val="CE0000"/>
              </a:gs>
            </a:gsLst>
            <a:lin ang="0" scaled="1"/>
          </a:gradFill>
          <a:ln w="9525" algn="ctr">
            <a:noFill/>
            <a:round/>
            <a:headEnd/>
            <a:tailEnd/>
          </a:ln>
        </p:spPr>
        <p:txBody>
          <a:bodyPr/>
          <a:lstStyle/>
          <a:p>
            <a:pPr defTabSz="1043001"/>
            <a:endParaRPr lang="ru-RU" sz="2100" dirty="0"/>
          </a:p>
        </p:txBody>
      </p:sp>
      <p:sp>
        <p:nvSpPr>
          <p:cNvPr id="9" name="Номер слайда 8"/>
          <p:cNvSpPr>
            <a:spLocks noGrp="1"/>
          </p:cNvSpPr>
          <p:nvPr>
            <p:ph type="sldNum" sz="quarter" idx="12"/>
          </p:nvPr>
        </p:nvSpPr>
        <p:spPr/>
        <p:txBody>
          <a:bodyPr/>
          <a:lstStyle/>
          <a:p>
            <a:fld id="{027F3A33-6A4A-4395-8324-C6DCD486F135}" type="slidenum">
              <a:rPr lang="ru-RU" smtClean="0">
                <a:solidFill>
                  <a:schemeClr val="bg2">
                    <a:lumMod val="75000"/>
                  </a:schemeClr>
                </a:solidFill>
              </a:rPr>
              <a:pPr/>
              <a:t>31</a:t>
            </a:fld>
            <a:endParaRPr lang="ru-RU" dirty="0">
              <a:solidFill>
                <a:schemeClr val="bg2">
                  <a:lumMod val="75000"/>
                </a:schemeClr>
              </a:solidFill>
            </a:endParaRPr>
          </a:p>
        </p:txBody>
      </p:sp>
      <p:pic>
        <p:nvPicPr>
          <p:cNvPr id="1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0250" y="463138"/>
            <a:ext cx="2827683" cy="880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922113" y="2299607"/>
            <a:ext cx="10254195" cy="1323439"/>
          </a:xfrm>
          <a:prstGeom prst="rect">
            <a:avLst/>
          </a:prstGeom>
          <a:noFill/>
        </p:spPr>
        <p:txBody>
          <a:bodyPr wrap="square" rtlCol="0">
            <a:spAutoFit/>
          </a:bodyPr>
          <a:lstStyle/>
          <a:p>
            <a:pPr lvl="0" algn="ctr"/>
            <a:r>
              <a:rPr lang="ru-RU" sz="4000" b="1" dirty="0">
                <a:solidFill>
                  <a:srgbClr val="FF0000"/>
                </a:solidFill>
              </a:rPr>
              <a:t>ГИС В СФЕРЕ НЕДВИЖИМОСТИ</a:t>
            </a:r>
          </a:p>
          <a:p>
            <a:pPr lvl="0" algn="ctr"/>
            <a:r>
              <a:rPr lang="ru-RU" sz="4000" b="1" dirty="0" smtClean="0"/>
              <a:t>Вопрос 4</a:t>
            </a:r>
            <a:endParaRPr lang="ru-RU" sz="4000" dirty="0"/>
          </a:p>
        </p:txBody>
      </p:sp>
    </p:spTree>
    <p:extLst>
      <p:ext uri="{BB962C8B-B14F-4D97-AF65-F5344CB8AC3E}">
        <p14:creationId xmlns:p14="http://schemas.microsoft.com/office/powerpoint/2010/main" val="155727306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93964" y="115602"/>
            <a:ext cx="11887200" cy="5140831"/>
          </a:xfrm>
          <a:prstGeom prst="rect">
            <a:avLst/>
          </a:prstGeom>
        </p:spPr>
        <p:txBody>
          <a:bodyPr wrap="square">
            <a:spAutoFit/>
          </a:bodyPr>
          <a:lstStyle/>
          <a:p>
            <a:pPr indent="450215" algn="just">
              <a:lnSpc>
                <a:spcPct val="107000"/>
              </a:lnSpc>
              <a:spcAft>
                <a:spcPts val="0"/>
              </a:spcAft>
            </a:pPr>
            <a:r>
              <a:rPr lang="ru-RU" sz="2800" b="1" dirty="0">
                <a:latin typeface="Times New Roman" panose="02020603050405020304" pitchFamily="18" charset="0"/>
                <a:ea typeface="Times New Roman" panose="02020603050405020304" pitchFamily="18" charset="0"/>
                <a:cs typeface="Times New Roman" panose="02020603050405020304" pitchFamily="18" charset="0"/>
              </a:rPr>
              <a:t>Геоинформационная система «Недвижимость»</a:t>
            </a:r>
            <a:r>
              <a:rPr lang="ru-RU" sz="2800" dirty="0">
                <a:latin typeface="Times New Roman" panose="02020603050405020304" pitchFamily="18" charset="0"/>
                <a:ea typeface="Times New Roman" panose="02020603050405020304" pitchFamily="18" charset="0"/>
                <a:cs typeface="Times New Roman" panose="02020603050405020304" pitchFamily="18" charset="0"/>
              </a:rPr>
              <a:t> - базовый компонент для построения муниципальной геоинформационной системы. Она предназначена для оперативного сбора, накопления, анализа кадастровых данных о земле и объектах недвижимости в целях оперативного управления территориями.</a:t>
            </a:r>
            <a:endParaRPr lang="ru-RU" sz="28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sz="2800" b="1" i="1" dirty="0">
                <a:latin typeface="Times New Roman" panose="02020603050405020304" pitchFamily="18" charset="0"/>
                <a:ea typeface="Times New Roman" panose="02020603050405020304" pitchFamily="18" charset="0"/>
                <a:cs typeface="Times New Roman" panose="02020603050405020304" pitchFamily="18" charset="0"/>
              </a:rPr>
              <a:t>Система обеспечивает решение следующих основных задач:</a:t>
            </a:r>
            <a:endParaRPr lang="ru-RU" sz="2800" b="1" i="1"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800" dirty="0">
                <a:latin typeface="Times New Roman" panose="02020603050405020304" pitchFamily="18" charset="0"/>
                <a:ea typeface="Times New Roman" panose="02020603050405020304" pitchFamily="18" charset="0"/>
                <a:cs typeface="Times New Roman" panose="02020603050405020304" pitchFamily="18" charset="0"/>
              </a:rPr>
              <a:t>· инвентаризация земельных ресурсов и объектов недвижимости;</a:t>
            </a:r>
            <a:endParaRPr lang="ru-RU"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800" dirty="0">
                <a:latin typeface="Times New Roman" panose="02020603050405020304" pitchFamily="18" charset="0"/>
                <a:ea typeface="Times New Roman" panose="02020603050405020304" pitchFamily="18" charset="0"/>
                <a:cs typeface="Times New Roman" panose="02020603050405020304" pitchFamily="18" charset="0"/>
              </a:rPr>
              <a:t>· информационная поддержка принятия управленческих решений;</a:t>
            </a:r>
            <a:endParaRPr lang="ru-RU"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800" dirty="0">
                <a:latin typeface="Times New Roman" panose="02020603050405020304" pitchFamily="18" charset="0"/>
                <a:ea typeface="Times New Roman" panose="02020603050405020304" pitchFamily="18" charset="0"/>
                <a:cs typeface="Times New Roman" panose="02020603050405020304" pitchFamily="18" charset="0"/>
              </a:rPr>
              <a:t>· оптимизация работы муниципальных и государственных служб;</a:t>
            </a:r>
            <a:endParaRPr lang="ru-RU"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800" dirty="0">
                <a:latin typeface="Times New Roman" panose="02020603050405020304" pitchFamily="18" charset="0"/>
                <a:ea typeface="Times New Roman" panose="02020603050405020304" pitchFamily="18" charset="0"/>
                <a:cs typeface="Times New Roman" panose="02020603050405020304" pitchFamily="18" charset="0"/>
              </a:rPr>
              <a:t>· улучшение взаимодействия государственных и коммерческих структур;</a:t>
            </a:r>
            <a:endParaRPr lang="ru-RU" sz="2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800" dirty="0">
                <a:latin typeface="Times New Roman" panose="02020603050405020304" pitchFamily="18" charset="0"/>
                <a:ea typeface="Times New Roman" panose="02020603050405020304" pitchFamily="18" charset="0"/>
                <a:cs typeface="Times New Roman" panose="02020603050405020304" pitchFamily="18" charset="0"/>
              </a:rPr>
              <a:t>· повышение собираемости налогов на имущество.</a:t>
            </a:r>
            <a:endParaRPr lang="ru-RU"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263416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93964" y="315603"/>
            <a:ext cx="11887200" cy="5674502"/>
          </a:xfrm>
          <a:prstGeom prst="rect">
            <a:avLst/>
          </a:prstGeom>
        </p:spPr>
        <p:txBody>
          <a:bodyPr wrap="square">
            <a:spAutoFit/>
          </a:bodyPr>
          <a:lstStyle/>
          <a:p>
            <a:pPr indent="450215" algn="just">
              <a:lnSpc>
                <a:spcPct val="107000"/>
              </a:lnSpc>
              <a:spcAft>
                <a:spcPts val="0"/>
              </a:spcAft>
            </a:pPr>
            <a:r>
              <a:rPr lang="ru-RU" sz="2000" b="1" i="1" dirty="0">
                <a:latin typeface="Times New Roman" panose="02020603050405020304" pitchFamily="18" charset="0"/>
                <a:ea typeface="Times New Roman" panose="02020603050405020304" pitchFamily="18" charset="0"/>
                <a:cs typeface="Times New Roman" panose="02020603050405020304" pitchFamily="18" charset="0"/>
              </a:rPr>
              <a:t>Основные функции ГИС «Недвижимость»:</a:t>
            </a:r>
            <a:endParaRPr lang="ru-RU" sz="2000" b="1" i="1"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Количественный и качественный учет земель с разделением их по категориям, целям использования;</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Учет объектов недвижимости по различным критериям;</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Создание и ведение электронной карты города (района) с возможностью настройки системы условных знаков средствами ГИС «Карта 2008» или «Панорама-редактор»;</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Ведение арендных договоров;</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Ведение договоров купли-продажи;</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Ведение адресного плана и адресного реестра;</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Учет субъектов прав (юридических и физических лиц, индивидуальных предпринимателей);</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Прием и регистрация заявок посетителей;</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Ведение кадастрового деления территории;</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Формирование отчетных документов;</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Поддержка документооборота;</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Учет правоустанавливающих и </a:t>
            </a:r>
            <a:r>
              <a:rPr lang="ru-RU" sz="2000" dirty="0" err="1">
                <a:latin typeface="Times New Roman" panose="02020603050405020304" pitchFamily="18" charset="0"/>
                <a:ea typeface="Times New Roman" panose="02020603050405020304" pitchFamily="18" charset="0"/>
                <a:cs typeface="Times New Roman" panose="02020603050405020304" pitchFamily="18" charset="0"/>
              </a:rPr>
              <a:t>правоудостоверяющих</a:t>
            </a:r>
            <a:r>
              <a:rPr lang="ru-RU" sz="2000" dirty="0">
                <a:latin typeface="Times New Roman" panose="02020603050405020304" pitchFamily="18" charset="0"/>
                <a:ea typeface="Times New Roman" panose="02020603050405020304" pitchFamily="18" charset="0"/>
                <a:cs typeface="Times New Roman" panose="02020603050405020304" pitchFamily="18" charset="0"/>
              </a:rPr>
              <a:t> документов на землю и объекты недвижимости;</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Отслеживание поступления земельных платежей;</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Выполнение сложных запросов и быстрый поиск информации;</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Ведение архивной информации о земельных участках и правообладателях.</a:t>
            </a: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223003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gisweb.ru/bitrix/components/bitrix/forum.interface/show_file.php?fid=2475&amp;width=500&amp;height=5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61109"/>
            <a:ext cx="4762500" cy="3971925"/>
          </a:xfrm>
          <a:prstGeom prst="rect">
            <a:avLst/>
          </a:prstGeom>
          <a:noFill/>
          <a:extLst>
            <a:ext uri="{909E8E84-426E-40DD-AFC4-6F175D3DCCD1}">
              <a14:hiddenFill xmlns:a14="http://schemas.microsoft.com/office/drawing/2010/main">
                <a:solidFill>
                  <a:srgbClr val="FFFFFF"/>
                </a:solidFill>
              </a14:hiddenFill>
            </a:ext>
          </a:extLst>
        </p:spPr>
      </p:pic>
      <p:sp>
        <p:nvSpPr>
          <p:cNvPr id="2" name="Прямоугольник 1"/>
          <p:cNvSpPr/>
          <p:nvPr/>
        </p:nvSpPr>
        <p:spPr>
          <a:xfrm>
            <a:off x="5223164" y="302328"/>
            <a:ext cx="6774872" cy="4027898"/>
          </a:xfrm>
          <a:prstGeom prst="rect">
            <a:avLst/>
          </a:prstGeom>
          <a:solidFill>
            <a:schemeClr val="accent3">
              <a:lumMod val="20000"/>
              <a:lumOff val="80000"/>
            </a:schemeClr>
          </a:solidFill>
        </p:spPr>
        <p:txBody>
          <a:bodyPr wrap="square">
            <a:spAutoFit/>
          </a:bodyPr>
          <a:lstStyle/>
          <a:p>
            <a:pPr indent="450215" algn="just">
              <a:lnSpc>
                <a:spcPct val="107000"/>
              </a:lnSpc>
              <a:spcAft>
                <a:spcPts val="0"/>
              </a:spcAf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В системе предусмотрен удобный поиск информации по различным критериям:</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кадастровому номеру;</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местоположению на карте;</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субъекту права;</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типу права на участок;</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цели использования;</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почтовому адресу;</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дате регистрации;</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признаку </a:t>
            </a:r>
            <a:r>
              <a:rPr lang="ru-RU" sz="2000" dirty="0" err="1">
                <a:latin typeface="Times New Roman" panose="02020603050405020304" pitchFamily="18" charset="0"/>
                <a:ea typeface="Times New Roman" panose="02020603050405020304" pitchFamily="18" charset="0"/>
                <a:cs typeface="Times New Roman" panose="02020603050405020304" pitchFamily="18" charset="0"/>
              </a:rPr>
              <a:t>архивности</a:t>
            </a:r>
            <a:r>
              <a:rPr lang="ru-RU" sz="2000" dirty="0">
                <a:latin typeface="Times New Roman" panose="02020603050405020304" pitchFamily="18" charset="0"/>
                <a:ea typeface="Times New Roman" panose="02020603050405020304" pitchFamily="18" charset="0"/>
                <a:cs typeface="Times New Roman" panose="02020603050405020304" pitchFamily="18" charset="0"/>
              </a:rPr>
              <a:t>;</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дате начала или окончания действия права;</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и другим.</a:t>
            </a: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Прямоугольник 2"/>
          <p:cNvSpPr/>
          <p:nvPr/>
        </p:nvSpPr>
        <p:spPr>
          <a:xfrm>
            <a:off x="443345" y="4757998"/>
            <a:ext cx="11457709" cy="2051972"/>
          </a:xfrm>
          <a:prstGeom prst="rect">
            <a:avLst/>
          </a:prstGeom>
          <a:solidFill>
            <a:schemeClr val="accent4">
              <a:lumMod val="20000"/>
              <a:lumOff val="80000"/>
            </a:schemeClr>
          </a:solidFill>
        </p:spPr>
        <p:txBody>
          <a:bodyPr wrap="square">
            <a:spAutoFit/>
          </a:bodyPr>
          <a:lstStyle/>
          <a:p>
            <a:pPr indent="450215" algn="just">
              <a:lnSpc>
                <a:spcPct val="107000"/>
              </a:lnSpc>
              <a:spcAft>
                <a:spcPts val="0"/>
              </a:spcAf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Административно-территориальное деление представлено в виде иерархического списка. Ведется жесткий контроль корректности каждого адресного элемента. Для получения полного адреса достаточно указать улицу. Благодаря иерархическому делению расширяются возможности поиска и группировки информации при создании отчетных и статистических документов. Для идентификации объектов используется общепринятые классификаторы и справочники адресных объектов (ОКАТО, КЛАДР).</a:t>
            </a: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13642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ugi.ru/uploadedFiles/images/uslugi/01MGIS.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139" y="0"/>
            <a:ext cx="5457825"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Прямоугольник 1"/>
          <p:cNvSpPr/>
          <p:nvPr/>
        </p:nvSpPr>
        <p:spPr>
          <a:xfrm>
            <a:off x="5654964" y="0"/>
            <a:ext cx="6537036" cy="6930808"/>
          </a:xfrm>
          <a:prstGeom prst="rect">
            <a:avLst/>
          </a:prstGeom>
        </p:spPr>
        <p:txBody>
          <a:bodyPr wrap="square">
            <a:spAutoFit/>
          </a:bodyPr>
          <a:lstStyle/>
          <a:p>
            <a:pPr indent="450215" algn="just">
              <a:lnSpc>
                <a:spcPct val="107000"/>
              </a:lnSpc>
              <a:spcAft>
                <a:spcPts val="0"/>
              </a:spcAft>
            </a:pPr>
            <a:r>
              <a:rPr lang="ru-RU" sz="1300" dirty="0">
                <a:latin typeface="Times New Roman" panose="02020603050405020304" pitchFamily="18" charset="0"/>
                <a:ea typeface="Times New Roman" panose="02020603050405020304" pitchFamily="18" charset="0"/>
                <a:cs typeface="Times New Roman" panose="02020603050405020304" pitchFamily="18" charset="0"/>
              </a:rPr>
              <a:t>Муниципальная геоинформационная система «Недвижимость» предназначена для выполнения следующих операций:</a:t>
            </a:r>
            <a:endParaRPr lang="ru-RU" sz="13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1300" dirty="0">
                <a:latin typeface="Times New Roman" panose="02020603050405020304" pitchFamily="18" charset="0"/>
                <a:ea typeface="Times New Roman" panose="02020603050405020304" pitchFamily="18" charset="0"/>
                <a:cs typeface="Times New Roman" panose="02020603050405020304" pitchFamily="18" charset="0"/>
              </a:rPr>
              <a:t>· ведение базы данных в </a:t>
            </a:r>
            <a:r>
              <a:rPr lang="ru-RU" sz="1300" dirty="0" err="1">
                <a:latin typeface="Times New Roman" panose="02020603050405020304" pitchFamily="18" charset="0"/>
                <a:ea typeface="Times New Roman" panose="02020603050405020304" pitchFamily="18" charset="0"/>
                <a:cs typeface="Times New Roman" panose="02020603050405020304" pitchFamily="18" charset="0"/>
              </a:rPr>
              <a:t>Microsoft</a:t>
            </a:r>
            <a:r>
              <a:rPr lang="ru-RU" sz="1300" dirty="0">
                <a:latin typeface="Times New Roman" panose="02020603050405020304" pitchFamily="18" charset="0"/>
                <a:ea typeface="Times New Roman" panose="02020603050405020304" pitchFamily="18" charset="0"/>
                <a:cs typeface="Times New Roman" panose="02020603050405020304" pitchFamily="18" charset="0"/>
              </a:rPr>
              <a:t> SQL </a:t>
            </a:r>
            <a:r>
              <a:rPr lang="ru-RU" sz="1300" dirty="0" err="1">
                <a:latin typeface="Times New Roman" panose="02020603050405020304" pitchFamily="18" charset="0"/>
                <a:ea typeface="Times New Roman" panose="02020603050405020304" pitchFamily="18" charset="0"/>
                <a:cs typeface="Times New Roman" panose="02020603050405020304" pitchFamily="18" charset="0"/>
              </a:rPr>
              <a:t>Server</a:t>
            </a:r>
            <a:r>
              <a:rPr lang="ru-RU" sz="1300" dirty="0">
                <a:latin typeface="Times New Roman" panose="02020603050405020304" pitchFamily="18" charset="0"/>
                <a:ea typeface="Times New Roman" panose="02020603050405020304" pitchFamily="18" charset="0"/>
                <a:cs typeface="Times New Roman" panose="02020603050405020304" pitchFamily="18" charset="0"/>
              </a:rPr>
              <a:t>, содержащей сведения об объектах недвижимости, сведения о земельном участке, на котором расположены объекты, и сведения об организациях (индивидуальных предпринимателях), осуществляющих деятельность на данных объектах и / или имеющих имущественные права на них;</a:t>
            </a:r>
            <a:endParaRPr lang="ru-RU" sz="13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1300" dirty="0">
                <a:latin typeface="Times New Roman" panose="02020603050405020304" pitchFamily="18" charset="0"/>
                <a:ea typeface="Times New Roman" panose="02020603050405020304" pitchFamily="18" charset="0"/>
                <a:cs typeface="Times New Roman" panose="02020603050405020304" pitchFamily="18" charset="0"/>
              </a:rPr>
              <a:t>· установление связи между учитываемыми объектами и объектами электронной карты;</a:t>
            </a:r>
            <a:endParaRPr lang="ru-RU" sz="13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1300" dirty="0">
                <a:latin typeface="Times New Roman" panose="02020603050405020304" pitchFamily="18" charset="0"/>
                <a:ea typeface="Times New Roman" panose="02020603050405020304" pitchFamily="18" charset="0"/>
                <a:cs typeface="Times New Roman" panose="02020603050405020304" pitchFamily="18" charset="0"/>
              </a:rPr>
              <a:t>· поиск и оперативное отображение информации о земельном участке, объекте недвижимости с одновременным показом его на электронной карте;</a:t>
            </a:r>
            <a:endParaRPr lang="ru-RU" sz="13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1300" dirty="0">
                <a:latin typeface="Times New Roman" panose="02020603050405020304" pitchFamily="18" charset="0"/>
                <a:ea typeface="Times New Roman" panose="02020603050405020304" pitchFamily="18" charset="0"/>
                <a:cs typeface="Times New Roman" panose="02020603050405020304" pitchFamily="18" charset="0"/>
              </a:rPr>
              <a:t>· ведение арендных договоров;</a:t>
            </a:r>
            <a:endParaRPr lang="ru-RU" sz="13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1300" dirty="0">
                <a:latin typeface="Times New Roman" panose="02020603050405020304" pitchFamily="18" charset="0"/>
                <a:ea typeface="Times New Roman" panose="02020603050405020304" pitchFamily="18" charset="0"/>
                <a:cs typeface="Times New Roman" panose="02020603050405020304" pitchFamily="18" charset="0"/>
              </a:rPr>
              <a:t>· мониторинг объектов недвижимости и организаций, осуществляющих деятельность на данных объектах и / или имеющих имущественные права на них;</a:t>
            </a:r>
            <a:endParaRPr lang="ru-RU" sz="13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1300" dirty="0">
                <a:latin typeface="Times New Roman" panose="02020603050405020304" pitchFamily="18" charset="0"/>
                <a:ea typeface="Times New Roman" panose="02020603050405020304" pitchFamily="18" charset="0"/>
                <a:cs typeface="Times New Roman" panose="02020603050405020304" pitchFamily="18" charset="0"/>
              </a:rPr>
              <a:t>· анализ результатов мониторинга, позволяющего оценить положение дел на каждом объекте недвижимости и принять управленческие решения по оценке эффективности деятельности организаций (индивидуальных предпринимателей), осуществляющих деятельность на них;</a:t>
            </a:r>
            <a:endParaRPr lang="ru-RU" sz="13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1300" dirty="0">
                <a:latin typeface="Times New Roman" panose="02020603050405020304" pitchFamily="18" charset="0"/>
                <a:ea typeface="Times New Roman" panose="02020603050405020304" pitchFamily="18" charset="0"/>
                <a:cs typeface="Times New Roman" panose="02020603050405020304" pitchFamily="18" charset="0"/>
              </a:rPr>
              <a:t>· сокращение объема трудоемких рутинных операций по ведению кадастрового учета земельных участков и объектов недвижимости, организаций, осуществляющих деятельность на данных объектах и / или имеющих имущественные права на них;</a:t>
            </a:r>
            <a:endParaRPr lang="ru-RU" sz="13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1300" dirty="0">
                <a:latin typeface="Times New Roman" panose="02020603050405020304" pitchFamily="18" charset="0"/>
                <a:ea typeface="Times New Roman" panose="02020603050405020304" pitchFamily="18" charset="0"/>
                <a:cs typeface="Times New Roman" panose="02020603050405020304" pitchFamily="18" charset="0"/>
              </a:rPr>
              <a:t>· повышение достоверности получаемой, обрабатываемой и хранимой информации;</a:t>
            </a:r>
            <a:endParaRPr lang="ru-RU" sz="13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1300" dirty="0">
                <a:latin typeface="Times New Roman" panose="02020603050405020304" pitchFamily="18" charset="0"/>
                <a:ea typeface="Times New Roman" panose="02020603050405020304" pitchFamily="18" charset="0"/>
                <a:cs typeface="Times New Roman" panose="02020603050405020304" pitchFamily="18" charset="0"/>
              </a:rPr>
              <a:t>· сокращение сроков и повышение качества проведения технологических процессов по ведению учета земельных участков, объектов недвижимости, а также подготовки и оформления документов;</a:t>
            </a:r>
            <a:endParaRPr lang="ru-RU" sz="13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1300" dirty="0">
                <a:latin typeface="Times New Roman" panose="02020603050405020304" pitchFamily="18" charset="0"/>
                <a:ea typeface="Times New Roman" panose="02020603050405020304" pitchFamily="18" charset="0"/>
                <a:cs typeface="Times New Roman" panose="02020603050405020304" pitchFamily="18" charset="0"/>
              </a:rPr>
              <a:t>· возможность формирования различных форм отчетности в области земельных отношений, представляемых руководству;</a:t>
            </a:r>
            <a:endParaRPr lang="ru-RU" sz="13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1300" dirty="0">
                <a:latin typeface="Times New Roman" panose="02020603050405020304" pitchFamily="18" charset="0"/>
                <a:ea typeface="Times New Roman" panose="02020603050405020304" pitchFamily="18" charset="0"/>
                <a:cs typeface="Times New Roman" panose="02020603050405020304" pitchFamily="18" charset="0"/>
              </a:rPr>
              <a:t>· поддержка деятельности по анализу ситуаций и выработке оптимальных управленческих решений;</a:t>
            </a:r>
            <a:endParaRPr lang="ru-RU" sz="13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1300" dirty="0">
                <a:latin typeface="Times New Roman" panose="02020603050405020304" pitchFamily="18" charset="0"/>
                <a:ea typeface="Times New Roman" panose="02020603050405020304" pitchFamily="18" charset="0"/>
                <a:cs typeface="Times New Roman" panose="02020603050405020304" pitchFamily="18" charset="0"/>
              </a:rPr>
              <a:t>· ведение библиотеки слайдов, позволяющей накапливать графическую информацию в виде изображений (фотографий) объекта учета;</a:t>
            </a:r>
            <a:endParaRPr lang="ru-RU" sz="13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1300" dirty="0">
                <a:latin typeface="Times New Roman" panose="02020603050405020304" pitchFamily="18" charset="0"/>
                <a:ea typeface="Times New Roman" panose="02020603050405020304" pitchFamily="18" charset="0"/>
                <a:cs typeface="Times New Roman" panose="02020603050405020304" pitchFamily="18" charset="0"/>
              </a:rPr>
              <a:t>· обеспечение наглядности обрабатываемой информации.</a:t>
            </a:r>
            <a:endParaRPr lang="ru-RU" sz="13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258930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21672" y="0"/>
            <a:ext cx="6096000" cy="5015860"/>
          </a:xfrm>
          <a:prstGeom prst="rect">
            <a:avLst/>
          </a:prstGeom>
          <a:solidFill>
            <a:schemeClr val="accent3">
              <a:lumMod val="20000"/>
              <a:lumOff val="80000"/>
            </a:schemeClr>
          </a:solidFill>
        </p:spPr>
        <p:txBody>
          <a:bodyPr>
            <a:spAutoFit/>
          </a:bodyPr>
          <a:lstStyle/>
          <a:p>
            <a:pPr indent="450215" algn="just">
              <a:lnSpc>
                <a:spcPct val="107000"/>
              </a:lnSpc>
              <a:spcAft>
                <a:spcPts val="0"/>
              </a:spcAf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Модуль ведения арендных договоров объектов недвижимости позволяет производить расчеты по определению размера арендной платы за использование объектов учета. Арендная плата за использование земельных участков устанавливается от их кадастровой стоимости. Учитывается порядок, условия и сроки внесения арендной платы.</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sz="2000" b="1" i="1" dirty="0">
                <a:latin typeface="Times New Roman" panose="02020603050405020304" pitchFamily="18" charset="0"/>
                <a:ea typeface="Times New Roman" panose="02020603050405020304" pitchFamily="18" charset="0"/>
                <a:cs typeface="Times New Roman" panose="02020603050405020304" pitchFamily="18" charset="0"/>
              </a:rPr>
              <a:t>Основными задачами модуля ведения арендных договоров являются:</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ведение базы арендных договоров;</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учет информации, влияющей на сумму арендной платы;</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учет изменений арендной платы;</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 контроль реальных платежей за аренду земельных участков.</a:t>
            </a: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Прямоугольник 2"/>
          <p:cNvSpPr/>
          <p:nvPr/>
        </p:nvSpPr>
        <p:spPr>
          <a:xfrm>
            <a:off x="6442363" y="207818"/>
            <a:ext cx="5749637" cy="6296596"/>
          </a:xfrm>
          <a:prstGeom prst="rect">
            <a:avLst/>
          </a:prstGeom>
          <a:solidFill>
            <a:schemeClr val="accent4">
              <a:lumMod val="20000"/>
              <a:lumOff val="80000"/>
            </a:schemeClr>
          </a:solidFill>
        </p:spPr>
        <p:txBody>
          <a:bodyPr wrap="square">
            <a:spAutoFit/>
          </a:bodyPr>
          <a:lstStyle/>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Учет информации, влияющей на сумму арендной платы, представляет собой параметры расчета к конкретному договору, по условиям которого рассчитываются суммы необходимые к оплате до даты истечения договора. </a:t>
            </a:r>
            <a:r>
              <a:rPr lang="ru-RU" dirty="0" smtClean="0">
                <a:latin typeface="Times New Roman" panose="02020603050405020304" pitchFamily="18" charset="0"/>
                <a:ea typeface="Times New Roman" panose="02020603050405020304" pitchFamily="18" charset="0"/>
                <a:cs typeface="Times New Roman" panose="02020603050405020304" pitchFamily="18" charset="0"/>
              </a:rPr>
              <a:t>Параметры </a:t>
            </a:r>
            <a:r>
              <a:rPr lang="ru-RU" dirty="0">
                <a:latin typeface="Times New Roman" panose="02020603050405020304" pitchFamily="18" charset="0"/>
                <a:ea typeface="Times New Roman" panose="02020603050405020304" pitchFamily="18" charset="0"/>
                <a:cs typeface="Times New Roman" panose="02020603050405020304" pitchFamily="18" charset="0"/>
              </a:rPr>
              <a:t>расчетов включают:</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 порядковый номер;</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 основание расчета;</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 период (с какой даты по какую);</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 количество месяцев, входящих в период;</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 общая площадь (кв. м.);</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 удельный показатель кадастровой стоимости земельного участка;</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 коэффициент, устанавливаемый в зависимости от вида разрешенного использования и категории земельного участка;</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 коэффициент инфляции;</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 стоимость за 1 кв. м в год;</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 общая сумма (руб.);</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 сумма за год (руб.);</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 сумма за квартал (руб.);</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r>
              <a:rPr lang="ru-RU" dirty="0">
                <a:latin typeface="Times New Roman" panose="02020603050405020304" pitchFamily="18" charset="0"/>
                <a:ea typeface="Times New Roman" panose="02020603050405020304" pitchFamily="18" charset="0"/>
              </a:rPr>
              <a:t>· сумма за месяц (руб.).</a:t>
            </a:r>
            <a:endParaRPr lang="ru-RU" dirty="0"/>
          </a:p>
        </p:txBody>
      </p:sp>
    </p:spTree>
    <p:extLst>
      <p:ext uri="{BB962C8B-B14F-4D97-AF65-F5344CB8AC3E}">
        <p14:creationId xmlns:p14="http://schemas.microsoft.com/office/powerpoint/2010/main" val="27916869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63237" y="67167"/>
            <a:ext cx="11443854" cy="6790833"/>
          </a:xfrm>
          <a:prstGeom prst="rect">
            <a:avLst/>
          </a:prstGeom>
        </p:spPr>
        <p:txBody>
          <a:bodyPr wrap="square">
            <a:spAutoFit/>
          </a:bodyPr>
          <a:lstStyle/>
          <a:p>
            <a:pPr indent="450215" algn="just">
              <a:lnSpc>
                <a:spcPct val="107000"/>
              </a:lnSpc>
              <a:spcAft>
                <a:spcPts val="0"/>
              </a:spcAft>
            </a:pPr>
            <a:r>
              <a:rPr lang="ru-RU" sz="2400" b="1" i="1">
                <a:latin typeface="Times New Roman" panose="02020603050405020304" pitchFamily="18" charset="0"/>
                <a:ea typeface="Times New Roman" panose="02020603050405020304" pitchFamily="18" charset="0"/>
                <a:cs typeface="Times New Roman" panose="02020603050405020304" pitchFamily="18" charset="0"/>
              </a:rPr>
              <a:t>Модуль ведения договоров купли-продажи объектов недвижимости</a:t>
            </a:r>
            <a:r>
              <a:rPr lang="ru-RU" sz="2400" b="1">
                <a:latin typeface="Times New Roman" panose="02020603050405020304" pitchFamily="18" charset="0"/>
                <a:ea typeface="Times New Roman" panose="02020603050405020304" pitchFamily="18" charset="0"/>
                <a:cs typeface="Times New Roman" panose="02020603050405020304" pitchFamily="18" charset="0"/>
              </a:rPr>
              <a:t> </a:t>
            </a:r>
            <a:r>
              <a:rPr lang="ru-RU" sz="2400">
                <a:latin typeface="Times New Roman" panose="02020603050405020304" pitchFamily="18" charset="0"/>
                <a:ea typeface="Times New Roman" panose="02020603050405020304" pitchFamily="18" charset="0"/>
                <a:cs typeface="Times New Roman" panose="02020603050405020304" pitchFamily="18" charset="0"/>
              </a:rPr>
              <a:t>позволяет формировать договоры купли-продажи.</a:t>
            </a:r>
            <a:endParaRPr lang="ru-RU" sz="240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sz="2400" b="1" i="1" dirty="0">
                <a:latin typeface="Times New Roman" panose="02020603050405020304" pitchFamily="18" charset="0"/>
                <a:ea typeface="Times New Roman" panose="02020603050405020304" pitchFamily="18" charset="0"/>
                <a:cs typeface="Times New Roman" panose="02020603050405020304" pitchFamily="18" charset="0"/>
              </a:rPr>
              <a:t>Модуль передачи сведений в налоговые органы</a:t>
            </a:r>
            <a:r>
              <a:rPr lang="ru-RU" sz="2400" dirty="0">
                <a:latin typeface="Times New Roman" panose="02020603050405020304" pitchFamily="18" charset="0"/>
                <a:ea typeface="Times New Roman" panose="02020603050405020304" pitchFamily="18" charset="0"/>
                <a:cs typeface="Times New Roman" panose="02020603050405020304" pitchFamily="18" charset="0"/>
              </a:rPr>
              <a:t> позволяет формировать данные о земельных участках и правообладателях в электронном виде (в форматах XML и </a:t>
            </a:r>
            <a:r>
              <a:rPr lang="ru-RU" sz="2400" dirty="0" err="1">
                <a:latin typeface="Times New Roman" panose="02020603050405020304" pitchFamily="18" charset="0"/>
                <a:ea typeface="Times New Roman" panose="02020603050405020304" pitchFamily="18" charset="0"/>
                <a:cs typeface="Times New Roman" panose="02020603050405020304" pitchFamily="18" charset="0"/>
              </a:rPr>
              <a:t>Microsoft</a:t>
            </a:r>
            <a:r>
              <a:rPr lang="ru-RU" sz="2400" dirty="0">
                <a:latin typeface="Times New Roman" panose="02020603050405020304" pitchFamily="18" charset="0"/>
                <a:ea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ea typeface="Times New Roman" panose="02020603050405020304" pitchFamily="18" charset="0"/>
                <a:cs typeface="Times New Roman" panose="02020603050405020304" pitchFamily="18" charset="0"/>
              </a:rPr>
              <a:t>Word</a:t>
            </a:r>
            <a:r>
              <a:rPr lang="ru-RU" sz="2400" dirty="0">
                <a:latin typeface="Times New Roman" panose="02020603050405020304" pitchFamily="18" charset="0"/>
                <a:ea typeface="Times New Roman" panose="02020603050405020304" pitchFamily="18" charset="0"/>
                <a:cs typeface="Times New Roman" panose="02020603050405020304" pitchFamily="18" charset="0"/>
              </a:rPr>
              <a:t>) и на бумажном носителе в соответствии с приказом Федеральной налоговой службы. Ведется архив передачи данных в налоговые органы.</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sz="2400" b="1" i="1" dirty="0">
                <a:latin typeface="Times New Roman" panose="02020603050405020304" pitchFamily="18" charset="0"/>
                <a:ea typeface="Times New Roman" panose="02020603050405020304" pitchFamily="18" charset="0"/>
                <a:cs typeface="Times New Roman" panose="02020603050405020304" pitchFamily="18" charset="0"/>
              </a:rPr>
              <a:t>Модуль загрузки сведений из налоговых органов</a:t>
            </a:r>
            <a:r>
              <a:rPr lang="ru-RU" sz="2400" dirty="0">
                <a:latin typeface="Times New Roman" panose="02020603050405020304" pitchFamily="18" charset="0"/>
                <a:ea typeface="Times New Roman" panose="02020603050405020304" pitchFamily="18" charset="0"/>
                <a:cs typeface="Times New Roman" panose="02020603050405020304" pitchFamily="18" charset="0"/>
              </a:rPr>
              <a:t> позволяет добавлять новые или обновлять существующие данные о земельных участках и правообладателях. Модуль выполняет импорт данных из формата XML и заполняет протокол выполненных операций.</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sz="2400" b="1" i="1" dirty="0">
                <a:latin typeface="Times New Roman" panose="02020603050405020304" pitchFamily="18" charset="0"/>
                <a:ea typeface="Times New Roman" panose="02020603050405020304" pitchFamily="18" charset="0"/>
                <a:cs typeface="Times New Roman" panose="02020603050405020304" pitchFamily="18" charset="0"/>
              </a:rPr>
              <a:t>Модуль ведения адресного реестра</a:t>
            </a:r>
            <a:r>
              <a:rPr lang="ru-RU" sz="2400" dirty="0">
                <a:latin typeface="Times New Roman" panose="02020603050405020304" pitchFamily="18" charset="0"/>
                <a:ea typeface="Times New Roman" panose="02020603050405020304" pitchFamily="18" charset="0"/>
                <a:cs typeface="Times New Roman" panose="02020603050405020304" pitchFamily="18" charset="0"/>
              </a:rPr>
              <a:t> формирует единую систему адресации объектов недвижимости в базе данных и на карте, которая позволяет вести централизованный учет адресной привязки.</a:t>
            </a:r>
            <a:endParaRPr lang="ru-RU" sz="24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sz="2400" b="1" i="1" dirty="0">
                <a:latin typeface="Times New Roman" panose="02020603050405020304" pitchFamily="18" charset="0"/>
                <a:ea typeface="Times New Roman" panose="02020603050405020304" pitchFamily="18" charset="0"/>
                <a:cs typeface="Times New Roman" panose="02020603050405020304" pitchFamily="18" charset="0"/>
              </a:rPr>
              <a:t>Модуль приема и регистрации заявок</a:t>
            </a:r>
            <a:r>
              <a:rPr lang="ru-RU" sz="2400" dirty="0">
                <a:latin typeface="Times New Roman" panose="02020603050405020304" pitchFamily="18" charset="0"/>
                <a:ea typeface="Times New Roman" panose="02020603050405020304" pitchFamily="18" charset="0"/>
                <a:cs typeface="Times New Roman" panose="02020603050405020304" pitchFamily="18" charset="0"/>
              </a:rPr>
              <a:t> позволяет вести постоянный учет заявок физических или юридических лиц на уровне муниципального органа с возможностью контроля текущего состояния заявки (выполнена, не выполнена, на каком этапе рассмотрения находится, ответственный исполнитель).</a:t>
            </a:r>
            <a:endParaRPr lang="ru-RU"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312229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gisinfo.ru/images/pancad/image01.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43346"/>
            <a:ext cx="7820025" cy="5819776"/>
          </a:xfrm>
          <a:prstGeom prst="rect">
            <a:avLst/>
          </a:prstGeom>
          <a:noFill/>
          <a:extLst>
            <a:ext uri="{909E8E84-426E-40DD-AFC4-6F175D3DCCD1}">
              <a14:hiddenFill xmlns:a14="http://schemas.microsoft.com/office/drawing/2010/main">
                <a:solidFill>
                  <a:srgbClr val="FFFFFF"/>
                </a:solidFill>
              </a14:hiddenFill>
            </a:ext>
          </a:extLst>
        </p:spPr>
      </p:pic>
      <p:sp>
        <p:nvSpPr>
          <p:cNvPr id="2" name="Прямоугольник 1"/>
          <p:cNvSpPr/>
          <p:nvPr/>
        </p:nvSpPr>
        <p:spPr>
          <a:xfrm>
            <a:off x="7820025" y="2152905"/>
            <a:ext cx="4233430" cy="3046988"/>
          </a:xfrm>
          <a:prstGeom prst="rect">
            <a:avLst/>
          </a:prstGeom>
        </p:spPr>
        <p:txBody>
          <a:bodyPr wrap="square">
            <a:spAutoFit/>
          </a:bodyPr>
          <a:lstStyle/>
          <a:p>
            <a:pPr algn="ctr"/>
            <a:r>
              <a:rPr lang="ru-RU" sz="2400" b="1" i="1" dirty="0">
                <a:latin typeface="Times New Roman" panose="02020603050405020304" pitchFamily="18" charset="0"/>
                <a:ea typeface="Times New Roman" panose="02020603050405020304" pitchFamily="18" charset="0"/>
              </a:rPr>
              <a:t>Процедура импорта данных из СУРЗ «Земля и Право»</a:t>
            </a:r>
            <a:r>
              <a:rPr lang="ru-RU" sz="2400" dirty="0">
                <a:latin typeface="Times New Roman" panose="02020603050405020304" pitchFamily="18" charset="0"/>
                <a:ea typeface="Times New Roman" panose="02020603050405020304" pitchFamily="18" charset="0"/>
              </a:rPr>
              <a:t> позволяет перенести информацию из справочников, адресного и территориального классификатора, данные о земельных участках и правообладателях.</a:t>
            </a:r>
            <a:endParaRPr lang="ru-RU" sz="2400" dirty="0"/>
          </a:p>
        </p:txBody>
      </p:sp>
    </p:spTree>
    <p:extLst>
      <p:ext uri="{BB962C8B-B14F-4D97-AF65-F5344CB8AC3E}">
        <p14:creationId xmlns:p14="http://schemas.microsoft.com/office/powerpoint/2010/main" val="20967303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Прямоугольник 12"/>
          <p:cNvSpPr>
            <a:spLocks noChangeArrowheads="1"/>
          </p:cNvSpPr>
          <p:nvPr/>
        </p:nvSpPr>
        <p:spPr bwMode="auto">
          <a:xfrm>
            <a:off x="435635" y="463138"/>
            <a:ext cx="581890" cy="843149"/>
          </a:xfrm>
          <a:prstGeom prst="rect">
            <a:avLst/>
          </a:prstGeom>
          <a:gradFill rotWithShape="1">
            <a:gsLst>
              <a:gs pos="0">
                <a:srgbClr val="770000"/>
              </a:gs>
              <a:gs pos="50000">
                <a:srgbClr val="AD0000"/>
              </a:gs>
              <a:gs pos="100000">
                <a:srgbClr val="CE0000"/>
              </a:gs>
            </a:gsLst>
            <a:lin ang="0" scaled="1"/>
          </a:gradFill>
          <a:ln w="9525" algn="ctr">
            <a:noFill/>
            <a:round/>
            <a:headEnd/>
            <a:tailEnd/>
          </a:ln>
        </p:spPr>
        <p:txBody>
          <a:bodyPr/>
          <a:lstStyle/>
          <a:p>
            <a:pPr defTabSz="1043001"/>
            <a:endParaRPr lang="ru-RU" sz="2100" dirty="0"/>
          </a:p>
        </p:txBody>
      </p:sp>
      <p:sp>
        <p:nvSpPr>
          <p:cNvPr id="9" name="Номер слайда 8"/>
          <p:cNvSpPr>
            <a:spLocks noGrp="1"/>
          </p:cNvSpPr>
          <p:nvPr>
            <p:ph type="sldNum" sz="quarter" idx="12"/>
          </p:nvPr>
        </p:nvSpPr>
        <p:spPr/>
        <p:txBody>
          <a:bodyPr/>
          <a:lstStyle/>
          <a:p>
            <a:fld id="{027F3A33-6A4A-4395-8324-C6DCD486F135}" type="slidenum">
              <a:rPr lang="ru-RU" smtClean="0">
                <a:solidFill>
                  <a:schemeClr val="bg2">
                    <a:lumMod val="75000"/>
                  </a:schemeClr>
                </a:solidFill>
              </a:rPr>
              <a:pPr/>
              <a:t>39</a:t>
            </a:fld>
            <a:endParaRPr lang="ru-RU" dirty="0">
              <a:solidFill>
                <a:schemeClr val="bg2">
                  <a:lumMod val="75000"/>
                </a:schemeClr>
              </a:solidFill>
            </a:endParaRPr>
          </a:p>
        </p:txBody>
      </p:sp>
      <p:pic>
        <p:nvPicPr>
          <p:cNvPr id="1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0250" y="463138"/>
            <a:ext cx="2827683" cy="880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726580" y="2341171"/>
            <a:ext cx="10254195" cy="1323439"/>
          </a:xfrm>
          <a:prstGeom prst="rect">
            <a:avLst/>
          </a:prstGeom>
          <a:noFill/>
        </p:spPr>
        <p:txBody>
          <a:bodyPr wrap="square" rtlCol="0">
            <a:spAutoFit/>
          </a:bodyPr>
          <a:lstStyle/>
          <a:p>
            <a:pPr lvl="0" algn="ctr"/>
            <a:r>
              <a:rPr lang="ru-RU" sz="4000" b="1" dirty="0">
                <a:solidFill>
                  <a:srgbClr val="FF0000"/>
                </a:solidFill>
              </a:rPr>
              <a:t>КОРПОРАТИВНЫЕ </a:t>
            </a:r>
            <a:r>
              <a:rPr lang="ru-RU" sz="4000" b="1" dirty="0" smtClean="0">
                <a:solidFill>
                  <a:srgbClr val="FF0000"/>
                </a:solidFill>
              </a:rPr>
              <a:t>ГИС</a:t>
            </a:r>
          </a:p>
          <a:p>
            <a:pPr lvl="0" algn="ctr"/>
            <a:r>
              <a:rPr lang="ru-RU" sz="4000" b="1" dirty="0" smtClean="0"/>
              <a:t>Вопрос 5</a:t>
            </a:r>
            <a:endParaRPr lang="ru-RU" sz="4000" dirty="0"/>
          </a:p>
        </p:txBody>
      </p:sp>
    </p:spTree>
    <p:extLst>
      <p:ext uri="{BB962C8B-B14F-4D97-AF65-F5344CB8AC3E}">
        <p14:creationId xmlns:p14="http://schemas.microsoft.com/office/powerpoint/2010/main" val="280734832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s://gisinfo.ru/images/item/75/imgs1.gif">
            <a:hlinkClick r:id="rId2" tooltip="&quot;&quot;"/>
          </p:cNvPr>
          <p:cNvPicPr/>
          <p:nvPr/>
        </p:nvPicPr>
        <p:blipFill>
          <a:blip r:embed="rId3">
            <a:extLst>
              <a:ext uri="{28A0092B-C50C-407E-A947-70E740481C1C}">
                <a14:useLocalDpi xmlns:a14="http://schemas.microsoft.com/office/drawing/2010/main" val="0"/>
              </a:ext>
            </a:extLst>
          </a:blip>
          <a:srcRect/>
          <a:stretch>
            <a:fillRect/>
          </a:stretch>
        </p:blipFill>
        <p:spPr bwMode="auto">
          <a:xfrm>
            <a:off x="0" y="845126"/>
            <a:ext cx="5763491" cy="4599709"/>
          </a:xfrm>
          <a:prstGeom prst="rect">
            <a:avLst/>
          </a:prstGeom>
          <a:noFill/>
          <a:ln>
            <a:noFill/>
          </a:ln>
        </p:spPr>
      </p:pic>
      <p:sp>
        <p:nvSpPr>
          <p:cNvPr id="3" name="Прямоугольник 2"/>
          <p:cNvSpPr/>
          <p:nvPr/>
        </p:nvSpPr>
        <p:spPr>
          <a:xfrm>
            <a:off x="5888182" y="240292"/>
            <a:ext cx="6096000" cy="6003823"/>
          </a:xfrm>
          <a:prstGeom prst="rect">
            <a:avLst/>
          </a:prstGeom>
        </p:spPr>
        <p:txBody>
          <a:bodyPr>
            <a:spAutoFit/>
          </a:bodyPr>
          <a:lstStyle/>
          <a:p>
            <a:pPr indent="450215" algn="just" fontAlgn="base">
              <a:lnSpc>
                <a:spcPct val="107000"/>
              </a:lnSpc>
              <a:spcAft>
                <a:spcPts val="0"/>
              </a:spcAf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Корпоративная ГИС - это многопользовательская, комплексная географическая информационная система, основанная на общем и согласованном доступе, управлении пространственными данными, внутри и между организациями. Корпоративная ГИС предназначена для анализа и визуализации пространственных данных и связанной с ними информации. Главным отличием корпоративной ГИС от обычной является возможность работы с пространственными данными в многопользовательской среде. Независимо от того, сколько подразделений компании работают в ГИС и как далеко они расположены друг от друга, какое программное обеспечение используют - корпоративная ГИС позволяет одновременно редактировать, просматривать и анализировать пространственную информацию, размещенную в единой системе пространственных баз данных.</a:t>
            </a: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611881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s://gisinfo.ru/images/item/75/img2.png">
            <a:hlinkClick r:id="rId2" tooltip="&quot;&quot;"/>
          </p:cNvPr>
          <p:cNvPicPr/>
          <p:nvPr/>
        </p:nvPicPr>
        <p:blipFill>
          <a:blip r:embed="rId3">
            <a:extLst>
              <a:ext uri="{28A0092B-C50C-407E-A947-70E740481C1C}">
                <a14:useLocalDpi xmlns:a14="http://schemas.microsoft.com/office/drawing/2010/main" val="0"/>
              </a:ext>
            </a:extLst>
          </a:blip>
          <a:srcRect/>
          <a:stretch>
            <a:fillRect/>
          </a:stretch>
        </p:blipFill>
        <p:spPr bwMode="auto">
          <a:xfrm>
            <a:off x="181841" y="562406"/>
            <a:ext cx="5914159" cy="5159521"/>
          </a:xfrm>
          <a:prstGeom prst="rect">
            <a:avLst/>
          </a:prstGeom>
          <a:noFill/>
          <a:ln>
            <a:noFill/>
          </a:ln>
        </p:spPr>
      </p:pic>
      <p:sp>
        <p:nvSpPr>
          <p:cNvPr id="3" name="Прямоугольник 2"/>
          <p:cNvSpPr/>
          <p:nvPr/>
        </p:nvSpPr>
        <p:spPr>
          <a:xfrm>
            <a:off x="6096000" y="835861"/>
            <a:ext cx="6096000" cy="3369256"/>
          </a:xfrm>
          <a:prstGeom prst="rect">
            <a:avLst/>
          </a:prstGeom>
        </p:spPr>
        <p:txBody>
          <a:bodyPr>
            <a:spAutoFit/>
          </a:bodyPr>
          <a:lstStyle/>
          <a:p>
            <a:pPr indent="450215" algn="just" fontAlgn="base">
              <a:lnSpc>
                <a:spcPct val="107000"/>
              </a:lnSpc>
              <a:spcAft>
                <a:spcPts val="0"/>
              </a:spcAf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Модуль позволяет выполнять следующие задачи:</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отображение ресурсов сети связи (Сети) на фоне картографической основы;</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информационную поддержку проектирования линий связи, проведения ремонтно-профилактических и аварийных работ;</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анализ и проектирование трасс линейно-кабельных сетей;</a:t>
            </a:r>
            <a:endParaRPr lang="ru-RU" sz="20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ru-RU" sz="2000" dirty="0">
                <a:latin typeface="Times New Roman" panose="02020603050405020304" pitchFamily="18" charset="0"/>
                <a:ea typeface="Times New Roman" panose="02020603050405020304" pitchFamily="18" charset="0"/>
                <a:cs typeface="Times New Roman" panose="02020603050405020304" pitchFamily="18" charset="0"/>
              </a:rPr>
              <a:t>представление элементов Сети в виде функциональных схем.</a:t>
            </a: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415544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s://gisinfo.ru/images/products/gisserver/0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890" y="0"/>
            <a:ext cx="9950739" cy="7056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62165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5888182" y="93950"/>
            <a:ext cx="6096000" cy="6019597"/>
          </a:xfrm>
          <a:prstGeom prst="rect">
            <a:avLst/>
          </a:prstGeom>
        </p:spPr>
        <p:txBody>
          <a:bodyPr>
            <a:spAutoFit/>
          </a:bodyPr>
          <a:lstStyle/>
          <a:p>
            <a:pPr indent="450215" algn="just" fontAlgn="base">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"Сервер ГИС-приложений" - серверное приложение, предназначенное для доступа через сети Интернет/</a:t>
            </a:r>
            <a:r>
              <a:rPr lang="ru-RU" dirty="0" err="1">
                <a:latin typeface="Times New Roman" panose="02020603050405020304" pitchFamily="18" charset="0"/>
                <a:ea typeface="Times New Roman" panose="02020603050405020304" pitchFamily="18" charset="0"/>
                <a:cs typeface="Times New Roman" panose="02020603050405020304" pitchFamily="18" charset="0"/>
              </a:rPr>
              <a:t>Интранет</a:t>
            </a:r>
            <a:r>
              <a:rPr lang="ru-RU" dirty="0">
                <a:latin typeface="Times New Roman" panose="02020603050405020304" pitchFamily="18" charset="0"/>
                <a:ea typeface="Times New Roman" panose="02020603050405020304" pitchFamily="18" charset="0"/>
                <a:cs typeface="Times New Roman" panose="02020603050405020304" pitchFamily="18" charset="0"/>
              </a:rPr>
              <a:t> к банку пространственных данных "тонким" клиентам. Сервер ГИС-приложений предоставляет пользователю </a:t>
            </a:r>
            <a:r>
              <a:rPr lang="ru-RU" dirty="0" err="1">
                <a:latin typeface="Times New Roman" panose="02020603050405020304" pitchFamily="18" charset="0"/>
                <a:ea typeface="Times New Roman" panose="02020603050405020304" pitchFamily="18" charset="0"/>
                <a:cs typeface="Times New Roman" panose="02020603050405020304" pitchFamily="18" charset="0"/>
              </a:rPr>
              <a:t>Web</a:t>
            </a:r>
            <a:r>
              <a:rPr lang="ru-RU" dirty="0">
                <a:latin typeface="Times New Roman" panose="02020603050405020304" pitchFamily="18" charset="0"/>
                <a:ea typeface="Times New Roman" panose="02020603050405020304" pitchFamily="18" charset="0"/>
                <a:cs typeface="Times New Roman" panose="02020603050405020304" pitchFamily="18" charset="0"/>
              </a:rPr>
              <a:t>-интерфейс для работы с картами и таблицами БД в виде сгенерированных </a:t>
            </a:r>
            <a:r>
              <a:rPr lang="ru-RU" dirty="0" err="1">
                <a:latin typeface="Times New Roman" panose="02020603050405020304" pitchFamily="18" charset="0"/>
                <a:ea typeface="Times New Roman" panose="02020603050405020304" pitchFamily="18" charset="0"/>
                <a:cs typeface="Times New Roman" panose="02020603050405020304" pitchFamily="18" charset="0"/>
              </a:rPr>
              <a:t>Web</a:t>
            </a:r>
            <a:r>
              <a:rPr lang="ru-RU" dirty="0">
                <a:latin typeface="Times New Roman" panose="02020603050405020304" pitchFamily="18" charset="0"/>
                <a:ea typeface="Times New Roman" panose="02020603050405020304" pitchFamily="18" charset="0"/>
                <a:cs typeface="Times New Roman" panose="02020603050405020304" pitchFamily="18" charset="0"/>
              </a:rPr>
              <a:t>-страниц. Вид и состав страниц определяется описанием темы, выбранной в данный момент времени. Программа дает возможность пользователю решать следующие задачи:</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отображение и редактирование пространственных данных;</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поиск объектов по заданным условиям;</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формирование информационных таблиц (деревьев), содержащих информацию об объектах местности;</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выбор оптимального маршрута при выполнении транспортной задачи;</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выполнение различных запросов по имеющимся данным с выводом результатов в виде таблиц, с наглядным их отображением на базе картографической информации и т.д.</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122" name="Picture 2" descr="https://softservis24.ru/images/%D0%9F%D0%B0%D0%BD%D0%BE%D1%80%D0%B0%D0%BC%D0%B0/SpatialDB%20Service/0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84" y="1339417"/>
            <a:ext cx="6274706" cy="44379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08442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7439891" y="1540456"/>
            <a:ext cx="4752109" cy="2308324"/>
          </a:xfrm>
          <a:prstGeom prst="rect">
            <a:avLst/>
          </a:prstGeom>
        </p:spPr>
        <p:txBody>
          <a:bodyPr wrap="square">
            <a:spAutoFit/>
          </a:bodyPr>
          <a:lstStyle/>
          <a:p>
            <a:r>
              <a:rPr lang="ru-RU" dirty="0">
                <a:latin typeface="Times New Roman" panose="02020603050405020304" pitchFamily="18" charset="0"/>
                <a:ea typeface="Times New Roman" panose="02020603050405020304" pitchFamily="18" charset="0"/>
              </a:rPr>
              <a:t>Подсистема "Ресурсы-ГИС" позволяет обеспечить выполнение на "тонком" клиенте в среде АИС "Ресурсы" все задачи, которые выполняются при эксплуатации модуля анализа, проектирования и визуализации трасс ЛКС (на "толстом" клиенте), и тем самым расширяет аппаратный ряд среды выполнения</a:t>
            </a:r>
            <a:endParaRPr lang="ru-RU" dirty="0"/>
          </a:p>
        </p:txBody>
      </p:sp>
      <p:pic>
        <p:nvPicPr>
          <p:cNvPr id="4" name="Рисунок 3" descr="https://gisinfo.ru/images/item/75/img3.png">
            <a:hlinkClick r:id="rId2" tooltip="&quot;&quo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775854"/>
            <a:ext cx="7439890" cy="5112327"/>
          </a:xfrm>
          <a:prstGeom prst="rect">
            <a:avLst/>
          </a:prstGeom>
          <a:noFill/>
          <a:ln>
            <a:noFill/>
          </a:ln>
        </p:spPr>
      </p:pic>
    </p:spTree>
    <p:extLst>
      <p:ext uri="{BB962C8B-B14F-4D97-AF65-F5344CB8AC3E}">
        <p14:creationId xmlns:p14="http://schemas.microsoft.com/office/powerpoint/2010/main" val="24696266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s://gisinfo.ru/images/item/75/img4.png">
            <a:hlinkClick r:id="rId2" tooltip="&quot;&quo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011382"/>
            <a:ext cx="5692487" cy="3979285"/>
          </a:xfrm>
          <a:prstGeom prst="rect">
            <a:avLst/>
          </a:prstGeom>
          <a:noFill/>
          <a:ln>
            <a:noFill/>
          </a:ln>
        </p:spPr>
      </p:pic>
      <p:sp>
        <p:nvSpPr>
          <p:cNvPr id="3" name="Прямоугольник 2"/>
          <p:cNvSpPr/>
          <p:nvPr/>
        </p:nvSpPr>
        <p:spPr>
          <a:xfrm>
            <a:off x="5486400" y="0"/>
            <a:ext cx="6096000" cy="6908686"/>
          </a:xfrm>
          <a:prstGeom prst="rect">
            <a:avLst/>
          </a:prstGeom>
        </p:spPr>
        <p:txBody>
          <a:bodyPr>
            <a:spAutoFit/>
          </a:bodyPr>
          <a:lstStyle/>
          <a:p>
            <a:pPr indent="450215" algn="just" fontAlgn="base">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Геоинформационная система "ГИС-АЗК" выполняет следующие задачи:</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организует доступ пользователей из сети Интернет к информации об объектах топливно-заправочного комплекса, содержащихся в БД системы;</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отображение текущего местоположения клиента на карте (с поиском по геодезическим координатам, по названию ближайшего населенного пункта, по номеру или названию дороги и номеру километра);</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поиск местонахождения ближайшей АЗС с учетом выбранных параметров (направления движения, наличия указанного сервиса и набора услуг);</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установка фильтра для списка АЗС по различным параметрам (статус, собственность, местоположение, набор услуг и др.);</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автоматическая запись информации по обращению клиента (в базе данных);</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расчет расстояний и прокладка оптимальных маршрутов перемещения до выбранного населенного пункта;</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формирование отчетов по статистике обращений к системе;</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ru-RU" dirty="0">
                <a:latin typeface="Times New Roman" panose="02020603050405020304" pitchFamily="18" charset="0"/>
                <a:ea typeface="Times New Roman" panose="02020603050405020304" pitchFamily="18" charset="0"/>
                <a:cs typeface="Times New Roman" panose="02020603050405020304" pitchFamily="18" charset="0"/>
              </a:rPr>
              <a:t>вывод указанного фрагмента карты на внешние устройства печати.</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333953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Прямоугольник 12"/>
          <p:cNvSpPr>
            <a:spLocks noChangeArrowheads="1"/>
          </p:cNvSpPr>
          <p:nvPr/>
        </p:nvSpPr>
        <p:spPr bwMode="auto">
          <a:xfrm>
            <a:off x="435635" y="463138"/>
            <a:ext cx="581890" cy="843149"/>
          </a:xfrm>
          <a:prstGeom prst="rect">
            <a:avLst/>
          </a:prstGeom>
          <a:gradFill rotWithShape="1">
            <a:gsLst>
              <a:gs pos="0">
                <a:srgbClr val="770000"/>
              </a:gs>
              <a:gs pos="50000">
                <a:srgbClr val="AD0000"/>
              </a:gs>
              <a:gs pos="100000">
                <a:srgbClr val="CE0000"/>
              </a:gs>
            </a:gsLst>
            <a:lin ang="0" scaled="1"/>
          </a:gradFill>
          <a:ln w="9525" algn="ctr">
            <a:noFill/>
            <a:round/>
            <a:headEnd/>
            <a:tailEnd/>
          </a:ln>
        </p:spPr>
        <p:txBody>
          <a:bodyPr/>
          <a:lstStyle/>
          <a:p>
            <a:pPr defTabSz="1043001"/>
            <a:endParaRPr lang="ru-RU" sz="2100" dirty="0"/>
          </a:p>
        </p:txBody>
      </p:sp>
      <p:sp>
        <p:nvSpPr>
          <p:cNvPr id="9" name="Номер слайда 8"/>
          <p:cNvSpPr>
            <a:spLocks noGrp="1"/>
          </p:cNvSpPr>
          <p:nvPr>
            <p:ph type="sldNum" sz="quarter" idx="12"/>
          </p:nvPr>
        </p:nvSpPr>
        <p:spPr/>
        <p:txBody>
          <a:bodyPr/>
          <a:lstStyle/>
          <a:p>
            <a:fld id="{027F3A33-6A4A-4395-8324-C6DCD486F135}" type="slidenum">
              <a:rPr lang="ru-RU" smtClean="0">
                <a:solidFill>
                  <a:schemeClr val="bg2">
                    <a:lumMod val="75000"/>
                  </a:schemeClr>
                </a:solidFill>
              </a:rPr>
              <a:pPr/>
              <a:t>46</a:t>
            </a:fld>
            <a:endParaRPr lang="ru-RU" dirty="0">
              <a:solidFill>
                <a:schemeClr val="bg2">
                  <a:lumMod val="75000"/>
                </a:schemeClr>
              </a:solidFill>
            </a:endParaRPr>
          </a:p>
        </p:txBody>
      </p:sp>
      <p:pic>
        <p:nvPicPr>
          <p:cNvPr id="1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0250" y="463138"/>
            <a:ext cx="2827683" cy="880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435636" y="2341171"/>
            <a:ext cx="10545140" cy="1938992"/>
          </a:xfrm>
          <a:prstGeom prst="rect">
            <a:avLst/>
          </a:prstGeom>
          <a:noFill/>
        </p:spPr>
        <p:txBody>
          <a:bodyPr wrap="square" rtlCol="0">
            <a:spAutoFit/>
          </a:bodyPr>
          <a:lstStyle/>
          <a:p>
            <a:pPr lvl="0" algn="ctr"/>
            <a:r>
              <a:rPr lang="ru-RU" sz="4000" b="1" dirty="0">
                <a:solidFill>
                  <a:srgbClr val="FF0000"/>
                </a:solidFill>
              </a:rPr>
              <a:t>ГИС В ГОРОДСКОМ ПЛАНИРОВАНИИ И МОДЕЛИРОВАНИИ.</a:t>
            </a:r>
            <a:endParaRPr lang="ru-RU" sz="4000" dirty="0">
              <a:solidFill>
                <a:srgbClr val="FF0000"/>
              </a:solidFill>
            </a:endParaRPr>
          </a:p>
          <a:p>
            <a:pPr lvl="1" algn="ctr"/>
            <a:r>
              <a:rPr lang="ru-RU" sz="4000" b="1" dirty="0" smtClean="0"/>
              <a:t>Вопрос 6</a:t>
            </a:r>
            <a:endParaRPr lang="ru-RU" sz="4000" dirty="0"/>
          </a:p>
        </p:txBody>
      </p:sp>
    </p:spTree>
    <p:extLst>
      <p:ext uri="{BB962C8B-B14F-4D97-AF65-F5344CB8AC3E}">
        <p14:creationId xmlns:p14="http://schemas.microsoft.com/office/powerpoint/2010/main" val="74636739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konspekta.net/poisk-ruru/baza9/3841997243625.files/image002.jpg"/>
          <p:cNvPicPr/>
          <p:nvPr/>
        </p:nvPicPr>
        <p:blipFill>
          <a:blip r:embed="rId2">
            <a:extLst>
              <a:ext uri="{28A0092B-C50C-407E-A947-70E740481C1C}">
                <a14:useLocalDpi xmlns:a14="http://schemas.microsoft.com/office/drawing/2010/main" val="0"/>
              </a:ext>
            </a:extLst>
          </a:blip>
          <a:srcRect/>
          <a:stretch>
            <a:fillRect/>
          </a:stretch>
        </p:blipFill>
        <p:spPr bwMode="auto">
          <a:xfrm>
            <a:off x="221673" y="138546"/>
            <a:ext cx="11499272" cy="6303818"/>
          </a:xfrm>
          <a:prstGeom prst="rect">
            <a:avLst/>
          </a:prstGeom>
          <a:noFill/>
          <a:ln>
            <a:noFill/>
          </a:ln>
        </p:spPr>
      </p:pic>
    </p:spTree>
    <p:extLst>
      <p:ext uri="{BB962C8B-B14F-4D97-AF65-F5344CB8AC3E}">
        <p14:creationId xmlns:p14="http://schemas.microsoft.com/office/powerpoint/2010/main" val="1840179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konspekta.net/poisk-ruru/baza9/3841997243625.files/image003.jpg"/>
          <p:cNvPicPr/>
          <p:nvPr/>
        </p:nvPicPr>
        <p:blipFill>
          <a:blip r:embed="rId2">
            <a:extLst>
              <a:ext uri="{28A0092B-C50C-407E-A947-70E740481C1C}">
                <a14:useLocalDpi xmlns:a14="http://schemas.microsoft.com/office/drawing/2010/main" val="0"/>
              </a:ext>
            </a:extLst>
          </a:blip>
          <a:srcRect/>
          <a:stretch>
            <a:fillRect/>
          </a:stretch>
        </p:blipFill>
        <p:spPr bwMode="auto">
          <a:xfrm>
            <a:off x="-142010" y="-1"/>
            <a:ext cx="12334009" cy="7024255"/>
          </a:xfrm>
          <a:prstGeom prst="rect">
            <a:avLst/>
          </a:prstGeom>
          <a:noFill/>
          <a:ln>
            <a:noFill/>
          </a:ln>
        </p:spPr>
      </p:pic>
    </p:spTree>
    <p:extLst>
      <p:ext uri="{BB962C8B-B14F-4D97-AF65-F5344CB8AC3E}">
        <p14:creationId xmlns:p14="http://schemas.microsoft.com/office/powerpoint/2010/main" val="20393026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860472" y="348248"/>
            <a:ext cx="6096000" cy="4776051"/>
          </a:xfrm>
          <a:prstGeom prst="rect">
            <a:avLst/>
          </a:prstGeom>
        </p:spPr>
        <p:txBody>
          <a:bodyPr>
            <a:spAutoFit/>
          </a:bodyPr>
          <a:lstStyle/>
          <a:p>
            <a:pPr indent="450215" algn="just">
              <a:lnSpc>
                <a:spcPct val="107000"/>
              </a:lnSpc>
              <a:spcAft>
                <a:spcPts val="0"/>
              </a:spcAft>
            </a:pPr>
            <a:r>
              <a:rPr lang="ru-RU"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ru-RU" dirty="0">
                <a:latin typeface="Times New Roman" panose="02020603050405020304" pitchFamily="18" charset="0"/>
                <a:ea typeface="Times New Roman" panose="02020603050405020304" pitchFamily="18" charset="0"/>
                <a:cs typeface="Times New Roman" panose="02020603050405020304" pitchFamily="18" charset="0"/>
              </a:rPr>
              <a:t>ГИС «Генеральный план» состоит из следующих блоков:</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1. Вспомогательный блок:</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 Цифровая топографическая основа</a:t>
            </a:r>
            <a:br>
              <a:rPr lang="ru-RU" dirty="0">
                <a:latin typeface="Times New Roman" panose="02020603050405020304" pitchFamily="18" charset="0"/>
                <a:ea typeface="Times New Roman" panose="02020603050405020304" pitchFamily="18" charset="0"/>
                <a:cs typeface="Times New Roman" panose="02020603050405020304" pitchFamily="18" charset="0"/>
              </a:rPr>
            </a:br>
            <a:r>
              <a:rPr lang="ru-RU" dirty="0">
                <a:latin typeface="Times New Roman" panose="02020603050405020304" pitchFamily="18" charset="0"/>
                <a:ea typeface="Times New Roman" panose="02020603050405020304" pitchFamily="18" charset="0"/>
                <a:cs typeface="Times New Roman" panose="02020603050405020304" pitchFamily="18" charset="0"/>
              </a:rPr>
              <a:t>- Цифровое космическое изображение</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2. Архитектурно-планировочный блок:</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 архитектурно-планировочная организация территории</a:t>
            </a:r>
            <a:br>
              <a:rPr lang="ru-RU" dirty="0">
                <a:latin typeface="Times New Roman" panose="02020603050405020304" pitchFamily="18" charset="0"/>
                <a:ea typeface="Times New Roman" panose="02020603050405020304" pitchFamily="18" charset="0"/>
                <a:cs typeface="Times New Roman" panose="02020603050405020304" pitchFamily="18" charset="0"/>
              </a:rPr>
            </a:br>
            <a:r>
              <a:rPr lang="ru-RU" dirty="0">
                <a:latin typeface="Times New Roman" panose="02020603050405020304" pitchFamily="18" charset="0"/>
                <a:ea typeface="Times New Roman" panose="02020603050405020304" pitchFamily="18" charset="0"/>
                <a:cs typeface="Times New Roman" panose="02020603050405020304" pitchFamily="18" charset="0"/>
              </a:rPr>
              <a:t>- градостроительная экономика</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3. Природно-экологический блок:</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 природные и инженерно-геологические условия</a:t>
            </a:r>
            <a:br>
              <a:rPr lang="ru-RU" dirty="0">
                <a:latin typeface="Times New Roman" panose="02020603050405020304" pitchFamily="18" charset="0"/>
                <a:ea typeface="Times New Roman" panose="02020603050405020304" pitchFamily="18" charset="0"/>
                <a:cs typeface="Times New Roman" panose="02020603050405020304" pitchFamily="18" charset="0"/>
              </a:rPr>
            </a:br>
            <a:r>
              <a:rPr lang="ru-RU" dirty="0">
                <a:latin typeface="Times New Roman" panose="02020603050405020304" pitchFamily="18" charset="0"/>
                <a:ea typeface="Times New Roman" panose="02020603050405020304" pitchFamily="18" charset="0"/>
                <a:cs typeface="Times New Roman" panose="02020603050405020304" pitchFamily="18" charset="0"/>
              </a:rPr>
              <a:t>- загрязнение окружающей среды</a:t>
            </a:r>
            <a:br>
              <a:rPr lang="ru-RU" dirty="0">
                <a:latin typeface="Times New Roman" panose="02020603050405020304" pitchFamily="18" charset="0"/>
                <a:ea typeface="Times New Roman" panose="02020603050405020304" pitchFamily="18" charset="0"/>
                <a:cs typeface="Times New Roman" panose="02020603050405020304" pitchFamily="18" charset="0"/>
              </a:rPr>
            </a:br>
            <a:r>
              <a:rPr lang="ru-RU" dirty="0">
                <a:latin typeface="Times New Roman" panose="02020603050405020304" pitchFamily="18" charset="0"/>
                <a:ea typeface="Times New Roman" panose="02020603050405020304" pitchFamily="18" charset="0"/>
                <a:cs typeface="Times New Roman" panose="02020603050405020304" pitchFamily="18" charset="0"/>
              </a:rPr>
              <a:t>- охрана окружающей среды</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4. Инженерно-инфраструктурный блок:</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r>
              <a:rPr lang="ru-RU" dirty="0">
                <a:latin typeface="Times New Roman" panose="02020603050405020304" pitchFamily="18" charset="0"/>
                <a:ea typeface="Times New Roman" panose="02020603050405020304" pitchFamily="18" charset="0"/>
              </a:rPr>
              <a:t>- транспортное обслуживание</a:t>
            </a:r>
            <a:br>
              <a:rPr lang="ru-RU" dirty="0">
                <a:latin typeface="Times New Roman" panose="02020603050405020304" pitchFamily="18" charset="0"/>
                <a:ea typeface="Times New Roman" panose="02020603050405020304" pitchFamily="18" charset="0"/>
              </a:rPr>
            </a:br>
            <a:r>
              <a:rPr lang="ru-RU" dirty="0">
                <a:latin typeface="Times New Roman" panose="02020603050405020304" pitchFamily="18" charset="0"/>
                <a:ea typeface="Times New Roman" panose="02020603050405020304" pitchFamily="18" charset="0"/>
              </a:rPr>
              <a:t>- инженерная инфраструктура</a:t>
            </a:r>
            <a:br>
              <a:rPr lang="ru-RU" dirty="0">
                <a:latin typeface="Times New Roman" panose="02020603050405020304" pitchFamily="18" charset="0"/>
                <a:ea typeface="Times New Roman" panose="02020603050405020304" pitchFamily="18" charset="0"/>
              </a:rPr>
            </a:br>
            <a:r>
              <a:rPr lang="ru-RU" dirty="0">
                <a:latin typeface="Times New Roman" panose="02020603050405020304" pitchFamily="18" charset="0"/>
                <a:ea typeface="Times New Roman" panose="02020603050405020304" pitchFamily="18" charset="0"/>
              </a:rPr>
              <a:t>- инженерная </a:t>
            </a:r>
            <a:endParaRPr lang="ru-RU" dirty="0"/>
          </a:p>
        </p:txBody>
      </p:sp>
      <p:pic>
        <p:nvPicPr>
          <p:cNvPr id="3" name="Рисунок 2" descr="http://konspekta.net/poisk-ruru/baza9/3841997243625.files/image005.jpg"/>
          <p:cNvPicPr/>
          <p:nvPr/>
        </p:nvPicPr>
        <p:blipFill>
          <a:blip r:embed="rId2">
            <a:extLst>
              <a:ext uri="{28A0092B-C50C-407E-A947-70E740481C1C}">
                <a14:useLocalDpi xmlns:a14="http://schemas.microsoft.com/office/drawing/2010/main" val="0"/>
              </a:ext>
            </a:extLst>
          </a:blip>
          <a:srcRect/>
          <a:stretch>
            <a:fillRect/>
          </a:stretch>
        </p:blipFill>
        <p:spPr bwMode="auto">
          <a:xfrm>
            <a:off x="0" y="20782"/>
            <a:ext cx="3352800" cy="3484418"/>
          </a:xfrm>
          <a:prstGeom prst="rect">
            <a:avLst/>
          </a:prstGeom>
          <a:noFill/>
          <a:ln>
            <a:noFill/>
          </a:ln>
        </p:spPr>
      </p:pic>
      <p:pic>
        <p:nvPicPr>
          <p:cNvPr id="4" name="Рисунок 3" descr="http://konspekta.net/poisk-ruru/baza9/3841997243625.files/image006.jpg"/>
          <p:cNvPicPr/>
          <p:nvPr/>
        </p:nvPicPr>
        <p:blipFill>
          <a:blip r:embed="rId3">
            <a:extLst>
              <a:ext uri="{28A0092B-C50C-407E-A947-70E740481C1C}">
                <a14:useLocalDpi xmlns:a14="http://schemas.microsoft.com/office/drawing/2010/main" val="0"/>
              </a:ext>
            </a:extLst>
          </a:blip>
          <a:srcRect/>
          <a:stretch>
            <a:fillRect/>
          </a:stretch>
        </p:blipFill>
        <p:spPr bwMode="auto">
          <a:xfrm>
            <a:off x="2805978" y="3491346"/>
            <a:ext cx="3213389" cy="3366654"/>
          </a:xfrm>
          <a:prstGeom prst="rect">
            <a:avLst/>
          </a:prstGeom>
          <a:noFill/>
          <a:ln>
            <a:noFill/>
          </a:ln>
        </p:spPr>
      </p:pic>
    </p:spTree>
    <p:extLst>
      <p:ext uri="{BB962C8B-B14F-4D97-AF65-F5344CB8AC3E}">
        <p14:creationId xmlns:p14="http://schemas.microsoft.com/office/powerpoint/2010/main" val="1282799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http://konspekta.net/poisk-ruru/baza9/3841997243625.files/image008.jpg"/>
          <p:cNvPicPr/>
          <p:nvPr/>
        </p:nvPicPr>
        <p:blipFill>
          <a:blip r:embed="rId2">
            <a:extLst>
              <a:ext uri="{28A0092B-C50C-407E-A947-70E740481C1C}">
                <a14:useLocalDpi xmlns:a14="http://schemas.microsoft.com/office/drawing/2010/main" val="0"/>
              </a:ext>
            </a:extLst>
          </a:blip>
          <a:srcRect/>
          <a:stretch>
            <a:fillRect/>
          </a:stretch>
        </p:blipFill>
        <p:spPr bwMode="auto">
          <a:xfrm>
            <a:off x="182706" y="915266"/>
            <a:ext cx="5010150" cy="4667250"/>
          </a:xfrm>
          <a:prstGeom prst="rect">
            <a:avLst/>
          </a:prstGeom>
          <a:noFill/>
          <a:ln>
            <a:noFill/>
          </a:ln>
        </p:spPr>
      </p:pic>
      <p:sp>
        <p:nvSpPr>
          <p:cNvPr id="3" name="Прямоугольник 2"/>
          <p:cNvSpPr/>
          <p:nvPr/>
        </p:nvSpPr>
        <p:spPr>
          <a:xfrm>
            <a:off x="5389418" y="192926"/>
            <a:ext cx="6096000" cy="3055965"/>
          </a:xfrm>
          <a:prstGeom prst="rect">
            <a:avLst/>
          </a:prstGeom>
        </p:spPr>
        <p:txBody>
          <a:bodyPr>
            <a:spAutoFit/>
          </a:bodyPr>
          <a:lstStyle/>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блок 2а - архитектурно-планировочная организация территории - содержит следующие темы:</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 Опорный план (план существующего города);</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 Зоны охраны и собственно памятники истории и культуры;</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 Структура землепользования;</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 Концепция планировочной модели города;</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 Планировочные мероприятия по основным функциональным зонам города;</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 Проектный план и проектное зонирование.</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741555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Схема 1"/>
          <p:cNvGraphicFramePr/>
          <p:nvPr>
            <p:extLst>
              <p:ext uri="{D42A27DB-BD31-4B8C-83A1-F6EECF244321}">
                <p14:modId xmlns:p14="http://schemas.microsoft.com/office/powerpoint/2010/main" val="3736059373"/>
              </p:ext>
            </p:extLst>
          </p:nvPr>
        </p:nvGraphicFramePr>
        <p:xfrm>
          <a:off x="0" y="0"/>
          <a:ext cx="121920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778999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32509" y="309565"/>
            <a:ext cx="6096000" cy="5130507"/>
          </a:xfrm>
          <a:prstGeom prst="rect">
            <a:avLst/>
          </a:prstGeom>
        </p:spPr>
        <p:txBody>
          <a:bodyPr>
            <a:spAutoFit/>
          </a:bodyPr>
          <a:lstStyle/>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Трехмерное компьютерное представление местности застройки значительно повышает возможности визуального анализа при изучении и управлении городской территорией, оно позволяет:</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 выполнить фотореалистичное отображение исследуемой территории и виртуальное перемещение по и над моделью местности;</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 оценить возможности существующей и варианты проектируемой городской застройки и городского ландшафта;</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 провести анализ проектных решений, в том числе на соответствие генеральному плану развития города;</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 компилировать необходимые тематические слои с внедренными 3D объектами;</a:t>
            </a:r>
            <a:endParaRPr lang="ru-RU" sz="1600" dirty="0">
              <a:latin typeface="Calibri" panose="020F0502020204030204" pitchFamily="34" charset="0"/>
              <a:ea typeface="Calibri" panose="020F0502020204030204" pitchFamily="34" charset="0"/>
              <a:cs typeface="Times New Roman" panose="02020603050405020304" pitchFamily="18" charset="0"/>
            </a:endParaRPr>
          </a:p>
          <a:p>
            <a:pPr indent="450215" algn="just">
              <a:lnSpc>
                <a:spcPct val="107000"/>
              </a:lnSpc>
              <a:spcAft>
                <a:spcPts val="0"/>
              </a:spcAft>
            </a:pPr>
            <a:r>
              <a:rPr lang="ru-RU" dirty="0">
                <a:latin typeface="Times New Roman" panose="02020603050405020304" pitchFamily="18" charset="0"/>
                <a:ea typeface="Times New Roman" panose="02020603050405020304" pitchFamily="18" charset="0"/>
                <a:cs typeface="Times New Roman" panose="02020603050405020304" pitchFamily="18" charset="0"/>
              </a:rPr>
              <a:t>· развивать методы подготовки перспективных трехмерных топологических ГИС-данных и моделей и совмещения их с данными САПР.</a:t>
            </a:r>
            <a:endParaRPr lang="ru-RU"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146" name="Picture 2" descr="https://www.ucuncubinyil.net/wp-content/uploads/2018/02/SketchUp-Arazi-Modellemesi-ve-3d-Warehouse-Kullan%C4%B1m%C4%B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13418" y="142009"/>
            <a:ext cx="4599420" cy="2502031"/>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ttps://www.djimsk.ru/guides/wp-content/uploads/2020/11/jasa-pemetaan-fotografi-lahan-tambang-kebun-lidar-topografi_lidar-2-1024x73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8232" y="3130693"/>
            <a:ext cx="4678287" cy="3367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88513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body" idx="1"/>
          </p:nvPr>
        </p:nvSpPr>
        <p:spPr>
          <a:xfrm>
            <a:off x="2208214" y="1700213"/>
            <a:ext cx="1811337" cy="533400"/>
          </a:xfrm>
        </p:spPr>
        <p:txBody>
          <a:bodyPr/>
          <a:lstStyle/>
          <a:p>
            <a:pPr>
              <a:buFontTx/>
              <a:buNone/>
            </a:pPr>
            <a:r>
              <a:rPr lang="ru-RU">
                <a:solidFill>
                  <a:srgbClr val="C0C0C0"/>
                </a:solidFill>
              </a:rPr>
              <a:t>Спасибо</a:t>
            </a:r>
          </a:p>
        </p:txBody>
      </p:sp>
      <p:sp>
        <p:nvSpPr>
          <p:cNvPr id="36866" name="Rectangle 3"/>
          <p:cNvSpPr>
            <a:spLocks noChangeArrowheads="1"/>
          </p:cNvSpPr>
          <p:nvPr/>
        </p:nvSpPr>
        <p:spPr bwMode="auto">
          <a:xfrm rot="-1966961">
            <a:off x="4249739" y="1474788"/>
            <a:ext cx="237648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thank you</a:t>
            </a:r>
          </a:p>
        </p:txBody>
      </p:sp>
      <p:sp>
        <p:nvSpPr>
          <p:cNvPr id="36867" name="Rectangle 4"/>
          <p:cNvSpPr>
            <a:spLocks noChangeArrowheads="1"/>
          </p:cNvSpPr>
          <p:nvPr/>
        </p:nvSpPr>
        <p:spPr bwMode="auto">
          <a:xfrm rot="1339931">
            <a:off x="3287714" y="3429000"/>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68" name="Rectangle 5"/>
          <p:cNvSpPr>
            <a:spLocks noChangeArrowheads="1"/>
          </p:cNvSpPr>
          <p:nvPr/>
        </p:nvSpPr>
        <p:spPr bwMode="auto">
          <a:xfrm rot="932178">
            <a:off x="5016500" y="2347913"/>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69" name="Rectangle 6"/>
          <p:cNvSpPr>
            <a:spLocks noChangeArrowheads="1"/>
          </p:cNvSpPr>
          <p:nvPr/>
        </p:nvSpPr>
        <p:spPr bwMode="auto">
          <a:xfrm>
            <a:off x="6024564" y="3068638"/>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70" name="Rectangle 7"/>
          <p:cNvSpPr>
            <a:spLocks noChangeArrowheads="1"/>
          </p:cNvSpPr>
          <p:nvPr/>
        </p:nvSpPr>
        <p:spPr bwMode="auto">
          <a:xfrm rot="-634205">
            <a:off x="2063751" y="2060575"/>
            <a:ext cx="2879725"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thank you</a:t>
            </a:r>
          </a:p>
        </p:txBody>
      </p:sp>
      <p:sp>
        <p:nvSpPr>
          <p:cNvPr id="36871" name="Rectangle 8"/>
          <p:cNvSpPr>
            <a:spLocks noChangeArrowheads="1"/>
          </p:cNvSpPr>
          <p:nvPr/>
        </p:nvSpPr>
        <p:spPr bwMode="auto">
          <a:xfrm>
            <a:off x="6743700" y="1484313"/>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gracias</a:t>
            </a:r>
          </a:p>
        </p:txBody>
      </p:sp>
      <p:sp>
        <p:nvSpPr>
          <p:cNvPr id="36872" name="Rectangle 9"/>
          <p:cNvSpPr>
            <a:spLocks noChangeArrowheads="1"/>
          </p:cNvSpPr>
          <p:nvPr/>
        </p:nvSpPr>
        <p:spPr bwMode="auto">
          <a:xfrm rot="-2708425">
            <a:off x="1353344" y="1331119"/>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73" name="Rectangle 10"/>
          <p:cNvSpPr>
            <a:spLocks noChangeArrowheads="1"/>
          </p:cNvSpPr>
          <p:nvPr/>
        </p:nvSpPr>
        <p:spPr bwMode="auto">
          <a:xfrm rot="-1124404">
            <a:off x="7175500" y="4437063"/>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74" name="Rectangle 11"/>
          <p:cNvSpPr>
            <a:spLocks noChangeArrowheads="1"/>
          </p:cNvSpPr>
          <p:nvPr/>
        </p:nvSpPr>
        <p:spPr bwMode="auto">
          <a:xfrm>
            <a:off x="2486025" y="3465513"/>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merci</a:t>
            </a:r>
          </a:p>
        </p:txBody>
      </p:sp>
      <p:sp>
        <p:nvSpPr>
          <p:cNvPr id="36875" name="Rectangle 12"/>
          <p:cNvSpPr>
            <a:spLocks noChangeArrowheads="1"/>
          </p:cNvSpPr>
          <p:nvPr/>
        </p:nvSpPr>
        <p:spPr bwMode="auto">
          <a:xfrm rot="-1966961">
            <a:off x="3000375" y="620713"/>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danke</a:t>
            </a:r>
          </a:p>
        </p:txBody>
      </p:sp>
      <p:sp>
        <p:nvSpPr>
          <p:cNvPr id="36876" name="Rectangle 13"/>
          <p:cNvSpPr>
            <a:spLocks noChangeArrowheads="1"/>
          </p:cNvSpPr>
          <p:nvPr/>
        </p:nvSpPr>
        <p:spPr bwMode="auto">
          <a:xfrm rot="1339931">
            <a:off x="3071814" y="5078413"/>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77" name="Rectangle 14"/>
          <p:cNvSpPr>
            <a:spLocks noChangeArrowheads="1"/>
          </p:cNvSpPr>
          <p:nvPr/>
        </p:nvSpPr>
        <p:spPr bwMode="auto">
          <a:xfrm rot="932178">
            <a:off x="5521325" y="4357688"/>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gracias</a:t>
            </a:r>
          </a:p>
        </p:txBody>
      </p:sp>
      <p:sp>
        <p:nvSpPr>
          <p:cNvPr id="36878" name="Rectangle 15"/>
          <p:cNvSpPr>
            <a:spLocks noChangeArrowheads="1"/>
          </p:cNvSpPr>
          <p:nvPr/>
        </p:nvSpPr>
        <p:spPr bwMode="auto">
          <a:xfrm>
            <a:off x="6529389" y="5078413"/>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danke</a:t>
            </a:r>
          </a:p>
        </p:txBody>
      </p:sp>
      <p:sp>
        <p:nvSpPr>
          <p:cNvPr id="36879" name="Rectangle 16"/>
          <p:cNvSpPr>
            <a:spLocks noChangeArrowheads="1"/>
          </p:cNvSpPr>
          <p:nvPr/>
        </p:nvSpPr>
        <p:spPr bwMode="auto">
          <a:xfrm rot="-634205">
            <a:off x="3144839" y="4141788"/>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80" name="Rectangle 17"/>
          <p:cNvSpPr>
            <a:spLocks noChangeArrowheads="1"/>
          </p:cNvSpPr>
          <p:nvPr/>
        </p:nvSpPr>
        <p:spPr bwMode="auto">
          <a:xfrm rot="932178">
            <a:off x="7608889" y="3571875"/>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81" name="Rectangle 18"/>
          <p:cNvSpPr>
            <a:spLocks noChangeArrowheads="1"/>
          </p:cNvSpPr>
          <p:nvPr/>
        </p:nvSpPr>
        <p:spPr bwMode="auto">
          <a:xfrm rot="-2708425">
            <a:off x="4945857" y="4933157"/>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82" name="Rectangle 19"/>
          <p:cNvSpPr>
            <a:spLocks noChangeArrowheads="1"/>
          </p:cNvSpPr>
          <p:nvPr/>
        </p:nvSpPr>
        <p:spPr bwMode="auto">
          <a:xfrm rot="-2055057">
            <a:off x="8616950" y="5589588"/>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83" name="Rectangle 20"/>
          <p:cNvSpPr>
            <a:spLocks noChangeArrowheads="1"/>
          </p:cNvSpPr>
          <p:nvPr/>
        </p:nvSpPr>
        <p:spPr bwMode="auto">
          <a:xfrm rot="-1966961">
            <a:off x="8856664" y="2132013"/>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gracias</a:t>
            </a:r>
          </a:p>
        </p:txBody>
      </p:sp>
      <p:sp>
        <p:nvSpPr>
          <p:cNvPr id="36884" name="Rectangle 21"/>
          <p:cNvSpPr>
            <a:spLocks noChangeArrowheads="1"/>
          </p:cNvSpPr>
          <p:nvPr/>
        </p:nvSpPr>
        <p:spPr bwMode="auto">
          <a:xfrm rot="932178">
            <a:off x="7535864" y="2276475"/>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85" name="Rectangle 22"/>
          <p:cNvSpPr>
            <a:spLocks noChangeArrowheads="1"/>
          </p:cNvSpPr>
          <p:nvPr/>
        </p:nvSpPr>
        <p:spPr bwMode="auto">
          <a:xfrm>
            <a:off x="8543925" y="2997200"/>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86" name="Rectangle 23"/>
          <p:cNvSpPr>
            <a:spLocks noChangeArrowheads="1"/>
          </p:cNvSpPr>
          <p:nvPr/>
        </p:nvSpPr>
        <p:spPr bwMode="auto">
          <a:xfrm rot="550398">
            <a:off x="5664200" y="1916113"/>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thanks</a:t>
            </a:r>
          </a:p>
        </p:txBody>
      </p:sp>
      <p:sp>
        <p:nvSpPr>
          <p:cNvPr id="36887" name="Rectangle 24"/>
          <p:cNvSpPr>
            <a:spLocks noChangeArrowheads="1"/>
          </p:cNvSpPr>
          <p:nvPr/>
        </p:nvSpPr>
        <p:spPr bwMode="auto">
          <a:xfrm>
            <a:off x="5005389" y="3394075"/>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danke</a:t>
            </a:r>
          </a:p>
        </p:txBody>
      </p:sp>
      <p:sp>
        <p:nvSpPr>
          <p:cNvPr id="36888" name="Rectangle 25"/>
          <p:cNvSpPr>
            <a:spLocks noChangeArrowheads="1"/>
          </p:cNvSpPr>
          <p:nvPr/>
        </p:nvSpPr>
        <p:spPr bwMode="auto">
          <a:xfrm rot="1339931">
            <a:off x="4151314" y="4724400"/>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grazie</a:t>
            </a:r>
          </a:p>
        </p:txBody>
      </p:sp>
      <p:sp>
        <p:nvSpPr>
          <p:cNvPr id="36889" name="Rectangle 26"/>
          <p:cNvSpPr>
            <a:spLocks noChangeArrowheads="1"/>
          </p:cNvSpPr>
          <p:nvPr/>
        </p:nvSpPr>
        <p:spPr bwMode="auto">
          <a:xfrm rot="-1966961">
            <a:off x="3333750" y="2349500"/>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merci</a:t>
            </a:r>
          </a:p>
        </p:txBody>
      </p:sp>
      <p:sp>
        <p:nvSpPr>
          <p:cNvPr id="36890" name="Rectangle 27"/>
          <p:cNvSpPr>
            <a:spLocks noChangeArrowheads="1"/>
          </p:cNvSpPr>
          <p:nvPr/>
        </p:nvSpPr>
        <p:spPr bwMode="auto">
          <a:xfrm rot="932178">
            <a:off x="6240464" y="3716338"/>
            <a:ext cx="1811337"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91" name="Rectangle 28"/>
          <p:cNvSpPr>
            <a:spLocks noChangeArrowheads="1"/>
          </p:cNvSpPr>
          <p:nvPr/>
        </p:nvSpPr>
        <p:spPr bwMode="auto">
          <a:xfrm>
            <a:off x="6888164" y="2563813"/>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grazie</a:t>
            </a:r>
          </a:p>
        </p:txBody>
      </p:sp>
      <p:sp>
        <p:nvSpPr>
          <p:cNvPr id="36892" name="Rectangle 29"/>
          <p:cNvSpPr>
            <a:spLocks noChangeArrowheads="1"/>
          </p:cNvSpPr>
          <p:nvPr/>
        </p:nvSpPr>
        <p:spPr bwMode="auto">
          <a:xfrm rot="-634205">
            <a:off x="1524000" y="2708275"/>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grazie</a:t>
            </a:r>
          </a:p>
        </p:txBody>
      </p:sp>
      <p:sp>
        <p:nvSpPr>
          <p:cNvPr id="36893" name="Rectangle 30"/>
          <p:cNvSpPr>
            <a:spLocks noChangeArrowheads="1"/>
          </p:cNvSpPr>
          <p:nvPr/>
        </p:nvSpPr>
        <p:spPr bwMode="auto">
          <a:xfrm>
            <a:off x="1524000" y="4076700"/>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thank you</a:t>
            </a:r>
          </a:p>
        </p:txBody>
      </p:sp>
      <p:sp>
        <p:nvSpPr>
          <p:cNvPr id="36894" name="Rectangle 31"/>
          <p:cNvSpPr>
            <a:spLocks noChangeArrowheads="1"/>
          </p:cNvSpPr>
          <p:nvPr/>
        </p:nvSpPr>
        <p:spPr bwMode="auto">
          <a:xfrm rot="1339931">
            <a:off x="1524000" y="5948363"/>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95" name="Rectangle 32"/>
          <p:cNvSpPr>
            <a:spLocks noChangeArrowheads="1"/>
          </p:cNvSpPr>
          <p:nvPr/>
        </p:nvSpPr>
        <p:spPr bwMode="auto">
          <a:xfrm>
            <a:off x="2351089" y="5516563"/>
            <a:ext cx="1811337" cy="533400"/>
          </a:xfrm>
          <a:prstGeom prst="rect">
            <a:avLst/>
          </a:prstGeom>
          <a:noFill/>
          <a:ln w="9525">
            <a:noFill/>
            <a:miter lim="800000"/>
            <a:headEnd/>
            <a:tailEnd/>
          </a:ln>
        </p:spPr>
        <p:txBody>
          <a:bodyPr/>
          <a:lstStyle/>
          <a:p>
            <a:pPr marL="342900" indent="-342900" eaLnBrk="0" hangingPunct="0">
              <a:spcBef>
                <a:spcPct val="20000"/>
              </a:spcBef>
            </a:pPr>
            <a:r>
              <a:rPr lang="en-US" sz="3200">
                <a:solidFill>
                  <a:srgbClr val="C0C0C0"/>
                </a:solidFill>
              </a:rPr>
              <a:t>thanks</a:t>
            </a:r>
            <a:endParaRPr lang="ru-RU" sz="3200">
              <a:solidFill>
                <a:srgbClr val="C0C0C0"/>
              </a:solidFill>
            </a:endParaRPr>
          </a:p>
        </p:txBody>
      </p:sp>
      <p:sp>
        <p:nvSpPr>
          <p:cNvPr id="36896" name="Rectangle 33"/>
          <p:cNvSpPr>
            <a:spLocks noChangeArrowheads="1"/>
          </p:cNvSpPr>
          <p:nvPr/>
        </p:nvSpPr>
        <p:spPr bwMode="auto">
          <a:xfrm>
            <a:off x="6743700" y="6021388"/>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897" name="Rectangle 34"/>
          <p:cNvSpPr>
            <a:spLocks noChangeArrowheads="1"/>
          </p:cNvSpPr>
          <p:nvPr/>
        </p:nvSpPr>
        <p:spPr bwMode="auto">
          <a:xfrm rot="932178">
            <a:off x="7896225" y="5156200"/>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merci</a:t>
            </a:r>
          </a:p>
        </p:txBody>
      </p:sp>
      <p:sp>
        <p:nvSpPr>
          <p:cNvPr id="36898" name="Rectangle 35"/>
          <p:cNvSpPr>
            <a:spLocks noChangeArrowheads="1"/>
          </p:cNvSpPr>
          <p:nvPr/>
        </p:nvSpPr>
        <p:spPr bwMode="auto">
          <a:xfrm rot="-634205">
            <a:off x="4943476" y="5589588"/>
            <a:ext cx="2447925"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thank you</a:t>
            </a:r>
          </a:p>
        </p:txBody>
      </p:sp>
      <p:sp>
        <p:nvSpPr>
          <p:cNvPr id="36899" name="Rectangle 36"/>
          <p:cNvSpPr>
            <a:spLocks noChangeArrowheads="1"/>
          </p:cNvSpPr>
          <p:nvPr/>
        </p:nvSpPr>
        <p:spPr bwMode="auto">
          <a:xfrm rot="-1966961">
            <a:off x="3478214" y="5805488"/>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merci</a:t>
            </a:r>
          </a:p>
        </p:txBody>
      </p:sp>
      <p:sp>
        <p:nvSpPr>
          <p:cNvPr id="36900" name="Rectangle 37"/>
          <p:cNvSpPr>
            <a:spLocks noGrp="1" noChangeArrowheads="1"/>
          </p:cNvSpPr>
          <p:nvPr>
            <p:ph type="title"/>
          </p:nvPr>
        </p:nvSpPr>
        <p:spPr>
          <a:xfrm>
            <a:off x="2063750" y="2492376"/>
            <a:ext cx="8229600" cy="1439863"/>
          </a:xfrm>
        </p:spPr>
        <p:txBody>
          <a:bodyPr/>
          <a:lstStyle/>
          <a:p>
            <a:r>
              <a:rPr lang="ru-RU" sz="4800" b="1">
                <a:solidFill>
                  <a:srgbClr val="000099"/>
                </a:solidFill>
              </a:rPr>
              <a:t>Спасибо за внимание!</a:t>
            </a:r>
          </a:p>
        </p:txBody>
      </p:sp>
      <p:sp>
        <p:nvSpPr>
          <p:cNvPr id="36901" name="Rectangle 38"/>
          <p:cNvSpPr>
            <a:spLocks noChangeArrowheads="1"/>
          </p:cNvSpPr>
          <p:nvPr/>
        </p:nvSpPr>
        <p:spPr bwMode="auto">
          <a:xfrm>
            <a:off x="1847850" y="260350"/>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902" name="Rectangle 39"/>
          <p:cNvSpPr>
            <a:spLocks noChangeArrowheads="1"/>
          </p:cNvSpPr>
          <p:nvPr/>
        </p:nvSpPr>
        <p:spPr bwMode="auto">
          <a:xfrm rot="-1966961">
            <a:off x="6743700" y="260350"/>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merci</a:t>
            </a:r>
          </a:p>
        </p:txBody>
      </p:sp>
      <p:sp>
        <p:nvSpPr>
          <p:cNvPr id="36903" name="Rectangle 40"/>
          <p:cNvSpPr>
            <a:spLocks noChangeArrowheads="1"/>
          </p:cNvSpPr>
          <p:nvPr/>
        </p:nvSpPr>
        <p:spPr bwMode="auto">
          <a:xfrm rot="932178">
            <a:off x="8543925" y="260350"/>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904" name="Rectangle 41"/>
          <p:cNvSpPr>
            <a:spLocks noChangeArrowheads="1"/>
          </p:cNvSpPr>
          <p:nvPr/>
        </p:nvSpPr>
        <p:spPr bwMode="auto">
          <a:xfrm rot="-634205">
            <a:off x="5303839" y="836613"/>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grazie</a:t>
            </a:r>
          </a:p>
        </p:txBody>
      </p:sp>
      <p:sp>
        <p:nvSpPr>
          <p:cNvPr id="36905" name="Rectangle 42"/>
          <p:cNvSpPr>
            <a:spLocks noChangeArrowheads="1"/>
          </p:cNvSpPr>
          <p:nvPr/>
        </p:nvSpPr>
        <p:spPr bwMode="auto">
          <a:xfrm rot="-1966961">
            <a:off x="3719514" y="1123950"/>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gracias</a:t>
            </a:r>
          </a:p>
        </p:txBody>
      </p:sp>
      <p:sp>
        <p:nvSpPr>
          <p:cNvPr id="36906" name="Rectangle 43"/>
          <p:cNvSpPr>
            <a:spLocks noChangeArrowheads="1"/>
          </p:cNvSpPr>
          <p:nvPr/>
        </p:nvSpPr>
        <p:spPr bwMode="auto">
          <a:xfrm rot="1073047">
            <a:off x="7535864" y="1052513"/>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grazie</a:t>
            </a:r>
          </a:p>
        </p:txBody>
      </p:sp>
      <p:sp>
        <p:nvSpPr>
          <p:cNvPr id="36907" name="Rectangle 44"/>
          <p:cNvSpPr>
            <a:spLocks noChangeArrowheads="1"/>
          </p:cNvSpPr>
          <p:nvPr/>
        </p:nvSpPr>
        <p:spPr bwMode="auto">
          <a:xfrm rot="-1124404">
            <a:off x="8856664" y="4292600"/>
            <a:ext cx="18113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danke</a:t>
            </a:r>
          </a:p>
        </p:txBody>
      </p:sp>
      <p:sp>
        <p:nvSpPr>
          <p:cNvPr id="36908" name="Rectangle 45"/>
          <p:cNvSpPr>
            <a:spLocks noChangeArrowheads="1"/>
          </p:cNvSpPr>
          <p:nvPr/>
        </p:nvSpPr>
        <p:spPr bwMode="auto">
          <a:xfrm rot="-1966961">
            <a:off x="8129589" y="1374775"/>
            <a:ext cx="2484437"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thank you</a:t>
            </a:r>
          </a:p>
        </p:txBody>
      </p:sp>
      <p:sp>
        <p:nvSpPr>
          <p:cNvPr id="36909" name="Rectangle 46"/>
          <p:cNvSpPr>
            <a:spLocks noChangeArrowheads="1"/>
          </p:cNvSpPr>
          <p:nvPr/>
        </p:nvSpPr>
        <p:spPr bwMode="auto">
          <a:xfrm rot="-634205">
            <a:off x="4800600" y="188913"/>
            <a:ext cx="1811338" cy="533400"/>
          </a:xfrm>
          <a:prstGeom prst="rect">
            <a:avLst/>
          </a:prstGeom>
          <a:noFill/>
          <a:ln w="9525">
            <a:noFill/>
            <a:miter lim="800000"/>
            <a:headEnd/>
            <a:tailEnd/>
          </a:ln>
        </p:spPr>
        <p:txBody>
          <a:bodyPr/>
          <a:lstStyle/>
          <a:p>
            <a:pPr marL="342900" indent="-342900" eaLnBrk="0" hangingPunct="0">
              <a:spcBef>
                <a:spcPct val="20000"/>
              </a:spcBef>
            </a:pPr>
            <a:r>
              <a:rPr lang="ru-RU" sz="2800">
                <a:solidFill>
                  <a:srgbClr val="C0C0C0"/>
                </a:solidFill>
              </a:rPr>
              <a:t>Спасибо</a:t>
            </a:r>
          </a:p>
        </p:txBody>
      </p:sp>
      <p:sp>
        <p:nvSpPr>
          <p:cNvPr id="36910" name="Rectangle 47"/>
          <p:cNvSpPr>
            <a:spLocks noChangeArrowheads="1"/>
          </p:cNvSpPr>
          <p:nvPr/>
        </p:nvSpPr>
        <p:spPr bwMode="auto">
          <a:xfrm rot="932178">
            <a:off x="8975725" y="3571875"/>
            <a:ext cx="1811338" cy="533400"/>
          </a:xfrm>
          <a:prstGeom prst="rect">
            <a:avLst/>
          </a:prstGeom>
          <a:noFill/>
          <a:ln w="9525">
            <a:noFill/>
            <a:miter lim="800000"/>
            <a:headEnd/>
            <a:tailEnd/>
          </a:ln>
        </p:spPr>
        <p:txBody>
          <a:bodyPr/>
          <a:lstStyle/>
          <a:p>
            <a:pPr marL="342900" indent="-342900" eaLnBrk="0" hangingPunct="0">
              <a:spcBef>
                <a:spcPct val="20000"/>
              </a:spcBef>
            </a:pPr>
            <a:r>
              <a:rPr lang="ru-RU" sz="3200">
                <a:solidFill>
                  <a:srgbClr val="C0C0C0"/>
                </a:solidFill>
              </a:rPr>
              <a:t>merci</a:t>
            </a:r>
          </a:p>
        </p:txBody>
      </p:sp>
    </p:spTree>
    <p:extLst>
      <p:ext uri="{BB962C8B-B14F-4D97-AF65-F5344CB8AC3E}">
        <p14:creationId xmlns:p14="http://schemas.microsoft.com/office/powerpoint/2010/main" val="3378127626"/>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1107</TotalTime>
  <Words>2888</Words>
  <Application>Microsoft Office PowerPoint</Application>
  <PresentationFormat>Широкоэкранный</PresentationFormat>
  <Paragraphs>372</Paragraphs>
  <Slides>53</Slides>
  <Notes>2</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53</vt:i4>
      </vt:variant>
    </vt:vector>
  </HeadingPairs>
  <TitlesOfParts>
    <vt:vector size="61" baseType="lpstr">
      <vt:lpstr>Arial</vt:lpstr>
      <vt:lpstr>Calibri</vt:lpstr>
      <vt:lpstr>Calibri Light</vt:lpstr>
      <vt:lpstr>Courier New</vt:lpstr>
      <vt:lpstr>Symbol</vt:lpstr>
      <vt:lpstr>Tahoma</vt:lpstr>
      <vt:lpstr>Times New Roman</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Спасибо за внимание!</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26. Информационно-вычислительные и ситуационные центры в государственном и региональном управлении.</dc:title>
  <dc:creator>Андрей Руфеев</dc:creator>
  <cp:lastModifiedBy>Андрей</cp:lastModifiedBy>
  <cp:revision>101</cp:revision>
  <dcterms:created xsi:type="dcterms:W3CDTF">2021-10-24T19:59:40Z</dcterms:created>
  <dcterms:modified xsi:type="dcterms:W3CDTF">2026-03-24T19:00:45Z</dcterms:modified>
</cp:coreProperties>
</file>